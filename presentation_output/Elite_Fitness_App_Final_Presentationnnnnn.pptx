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78" r:id="rId2"/>
    <p:sldId id="279" r:id="rId3"/>
    <p:sldId id="280" r:id="rId4"/>
    <p:sldId id="281" r:id="rId5"/>
    <p:sldId id="277" r:id="rId6"/>
    <p:sldId id="259" r:id="rId7"/>
    <p:sldId id="260" r:id="rId8"/>
    <p:sldId id="261" r:id="rId9"/>
    <p:sldId id="262" r:id="rId10"/>
    <p:sldId id="263" r:id="rId11"/>
    <p:sldId id="264" r:id="rId12"/>
    <p:sldId id="265" r:id="rId13"/>
    <p:sldId id="266" r:id="rId14"/>
    <p:sldId id="267" r:id="rId15"/>
    <p:sldId id="268" r:id="rId16"/>
    <p:sldId id="269" r:id="rId17"/>
    <p:sldId id="282" r:id="rId18"/>
    <p:sldId id="272" r:id="rId19"/>
    <p:sldId id="273" r:id="rId20"/>
    <p:sldId id="274" r:id="rId21"/>
    <p:sldId id="283"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Visuals generated with Microsoft Copilot. Title visual is a conceptual application mockup because original application screenshots were not provided.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Visuals generated with Microsoft Copilot.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Visuals generated with Microsoft Copilot.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Visuals generated with Microsoft Copilot.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Visuals generated with Microsoft Copilot. Test outcomes are based on the supplied final report summary.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Visuals generated with Microsoft Copilot. Background is a conceptual application mockup because original application screenshots were not provided.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B981"/>
          </a:solidFill>
          <a:ln w="12700">
            <a:solidFill>
              <a:srgbClr val="10B981"/>
            </a:solidFill>
            <a:prstDash val="solid"/>
          </a:ln>
        </p:spPr>
      </p:sp>
      <p:sp>
        <p:nvSpPr>
          <p:cNvPr id="3" name="Text 1"/>
          <p:cNvSpPr/>
          <p:nvPr/>
        </p:nvSpPr>
        <p:spPr>
          <a:xfrm>
            <a:off x="502920" y="6492240"/>
            <a:ext cx="1920240" cy="164592"/>
          </a:xfrm>
          <a:prstGeom prst="rect">
            <a:avLst/>
          </a:prstGeom>
          <a:noFill/>
          <a:ln/>
        </p:spPr>
        <p:txBody>
          <a:bodyPr wrap="square" lIns="0" tIns="0" rIns="0" bIns="0" rtlCol="0" anchor="ctr"/>
          <a:lstStyle/>
          <a:p>
            <a:pPr marL="0" indent="0">
              <a:buNone/>
            </a:pPr>
            <a:r>
              <a:rPr lang="en-US" sz="800" b="1" dirty="0">
                <a:solidFill>
                  <a:srgbClr val="64748B"/>
                </a:solidFill>
                <a:latin typeface="Aptos" pitchFamily="34" charset="0"/>
                <a:ea typeface="Aptos" pitchFamily="34" charset="-122"/>
                <a:cs typeface="Aptos" pitchFamily="34" charset="-120"/>
              </a:rPr>
              <a:t>ELITE FITNESS</a:t>
            </a:r>
            <a:endParaRPr lang="en-US" sz="800" dirty="0"/>
          </a:p>
        </p:txBody>
      </p:sp>
      <p:sp>
        <p:nvSpPr>
          <p:cNvPr id="4" name="Text 2"/>
          <p:cNvSpPr/>
          <p:nvPr/>
        </p:nvSpPr>
        <p:spPr>
          <a:xfrm>
            <a:off x="9784080" y="6492240"/>
            <a:ext cx="1874520" cy="164592"/>
          </a:xfrm>
          <a:prstGeom prst="rect">
            <a:avLst/>
          </a:prstGeom>
          <a:noFill/>
          <a:ln/>
        </p:spPr>
        <p:txBody>
          <a:bodyPr wrap="square" lIns="0" tIns="0" rIns="0" bIns="0" rtlCol="0" anchor="ctr"/>
          <a:lstStyle/>
          <a:p>
            <a:pPr marL="0" indent="0" algn="r">
              <a:buNone/>
            </a:pPr>
            <a:r>
              <a:rPr lang="en-US" sz="800" dirty="0">
                <a:solidFill>
                  <a:srgbClr val="94A3B8"/>
                </a:solidFill>
                <a:latin typeface="Aptos" pitchFamily="34" charset="0"/>
                <a:ea typeface="Aptos" pitchFamily="34" charset="-122"/>
                <a:cs typeface="Aptos" pitchFamily="34" charset="-120"/>
              </a:rPr>
              <a:t>FINAL YEAR PROJECT</a:t>
            </a:r>
            <a:endParaRPr lang="en-US" sz="800" dirty="0"/>
          </a:p>
        </p:txBody>
      </p:sp>
      <p:sp>
        <p:nvSpPr>
          <p:cNvPr id="25"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55627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2" name="Image 0" descr="/mnt/data/generated_image_31AA42183EA5_04.png"/>
          <p:cNvPicPr>
            <a:picLocks noChangeAspect="1"/>
          </p:cNvPicPr>
          <p:nvPr/>
        </p:nvPicPr>
        <p:blipFill>
          <a:blip r:embed="rId3"/>
          <a:srcRect l="20311" r="20311"/>
          <a:stretch/>
        </p:blipFill>
        <p:spPr>
          <a:xfrm>
            <a:off x="6080760" y="0"/>
            <a:ext cx="6108192" cy="6858000"/>
          </a:xfrm>
          <a:prstGeom prst="rect">
            <a:avLst/>
          </a:prstGeom>
        </p:spPr>
      </p:pic>
      <p:sp>
        <p:nvSpPr>
          <p:cNvPr id="3" name="Shape 0"/>
          <p:cNvSpPr/>
          <p:nvPr/>
        </p:nvSpPr>
        <p:spPr>
          <a:xfrm>
            <a:off x="5760720" y="0"/>
            <a:ext cx="2011680" cy="6858000"/>
          </a:xfrm>
          <a:prstGeom prst="rect">
            <a:avLst/>
          </a:prstGeom>
          <a:solidFill>
            <a:srgbClr val="F7FAFC">
              <a:alpha val="95000"/>
            </a:srgbClr>
          </a:solidFill>
          <a:ln w="12700">
            <a:solidFill>
              <a:srgbClr val="F7FAFC">
                <a:alpha val="0"/>
              </a:srgbClr>
            </a:solidFill>
            <a:prstDash val="solid"/>
          </a:ln>
        </p:spPr>
      </p:sp>
      <p:sp>
        <p:nvSpPr>
          <p:cNvPr id="4" name="Shape 1"/>
          <p:cNvSpPr/>
          <p:nvPr/>
        </p:nvSpPr>
        <p:spPr>
          <a:xfrm>
            <a:off x="0" y="0"/>
            <a:ext cx="6583680" cy="6858000"/>
          </a:xfrm>
          <a:prstGeom prst="rect">
            <a:avLst/>
          </a:prstGeom>
          <a:solidFill>
            <a:srgbClr val="F7FAFC"/>
          </a:solidFill>
          <a:ln w="12700">
            <a:solidFill>
              <a:srgbClr val="F7FAFC"/>
            </a:solidFill>
            <a:prstDash val="solid"/>
          </a:ln>
        </p:spPr>
      </p:sp>
      <p:sp>
        <p:nvSpPr>
          <p:cNvPr id="5" name="Shape 2"/>
          <p:cNvSpPr/>
          <p:nvPr/>
        </p:nvSpPr>
        <p:spPr>
          <a:xfrm>
            <a:off x="5303520" y="-274320"/>
            <a:ext cx="1828800" cy="7406640"/>
          </a:xfrm>
          <a:prstGeom prst="arc">
            <a:avLst/>
          </a:prstGeom>
          <a:solidFill>
            <a:srgbClr val="F7FAFC"/>
          </a:solidFill>
          <a:ln w="12700">
            <a:solidFill>
              <a:srgbClr val="F7FAFC"/>
            </a:solidFill>
            <a:prstDash val="solid"/>
          </a:ln>
        </p:spPr>
      </p:sp>
      <p:sp>
        <p:nvSpPr>
          <p:cNvPr id="6" name="Shape 3"/>
          <p:cNvSpPr/>
          <p:nvPr/>
        </p:nvSpPr>
        <p:spPr>
          <a:xfrm>
            <a:off x="594360" y="502920"/>
            <a:ext cx="1645920" cy="274320"/>
          </a:xfrm>
          <a:prstGeom prst="roundRect">
            <a:avLst>
              <a:gd name="adj" fmla="val 50000"/>
            </a:avLst>
          </a:prstGeom>
          <a:solidFill>
            <a:srgbClr val="EAF9F4"/>
          </a:solidFill>
          <a:ln w="12700">
            <a:solidFill>
              <a:srgbClr val="EAF9F4"/>
            </a:solidFill>
            <a:prstDash val="solid"/>
          </a:ln>
        </p:spPr>
      </p:sp>
      <p:sp>
        <p:nvSpPr>
          <p:cNvPr id="7" name="Text 4"/>
          <p:cNvSpPr/>
          <p:nvPr/>
        </p:nvSpPr>
        <p:spPr>
          <a:xfrm>
            <a:off x="667512" y="553212"/>
            <a:ext cx="1499616" cy="118872"/>
          </a:xfrm>
          <a:prstGeom prst="rect">
            <a:avLst/>
          </a:prstGeom>
          <a:noFill/>
          <a:ln/>
        </p:spPr>
        <p:txBody>
          <a:bodyPr wrap="square" lIns="0" tIns="0" rIns="0" bIns="0" rtlCol="0" anchor="ctr"/>
          <a:lstStyle/>
          <a:p>
            <a:pPr marL="0" indent="0" algn="ctr">
              <a:buNone/>
            </a:pPr>
            <a:r>
              <a:rPr lang="en-US" sz="950" b="1" dirty="0">
                <a:solidFill>
                  <a:srgbClr val="16C79A"/>
                </a:solidFill>
              </a:rPr>
              <a:t>FINAL YEAR PROJECT</a:t>
            </a:r>
            <a:endParaRPr lang="en-US" sz="950" dirty="0"/>
          </a:p>
        </p:txBody>
      </p:sp>
      <p:sp>
        <p:nvSpPr>
          <p:cNvPr id="8" name="Text 5"/>
          <p:cNvSpPr/>
          <p:nvPr/>
        </p:nvSpPr>
        <p:spPr>
          <a:xfrm>
            <a:off x="594360" y="1051560"/>
            <a:ext cx="5212080" cy="1234440"/>
          </a:xfrm>
          <a:prstGeom prst="rect">
            <a:avLst/>
          </a:prstGeom>
          <a:noFill/>
          <a:ln/>
        </p:spPr>
        <p:txBody>
          <a:bodyPr wrap="square" lIns="0" tIns="0" rIns="0" bIns="0" rtlCol="0" anchor="ctr">
            <a:normAutofit/>
          </a:bodyPr>
          <a:lstStyle/>
          <a:p>
            <a:pPr marL="0" indent="0">
              <a:buNone/>
            </a:pPr>
            <a:r>
              <a:rPr lang="en-US" sz="3900" b="1" dirty="0">
                <a:solidFill>
                  <a:srgbClr val="0B1F33"/>
                </a:solidFill>
              </a:rPr>
              <a:t>ELITE</a:t>
            </a:r>
            <a:endParaRPr lang="en-US" sz="3900" dirty="0"/>
          </a:p>
          <a:p>
            <a:pPr marL="0" indent="0">
              <a:buNone/>
            </a:pPr>
            <a:r>
              <a:rPr lang="en-US" sz="3900" b="1" dirty="0">
                <a:solidFill>
                  <a:srgbClr val="0B1F33"/>
                </a:solidFill>
              </a:rPr>
              <a:t>FITNESS APP</a:t>
            </a:r>
            <a:endParaRPr lang="en-US" sz="3900" dirty="0"/>
          </a:p>
        </p:txBody>
      </p:sp>
      <p:sp>
        <p:nvSpPr>
          <p:cNvPr id="9" name="Text 6"/>
          <p:cNvSpPr/>
          <p:nvPr/>
        </p:nvSpPr>
        <p:spPr>
          <a:xfrm>
            <a:off x="612648" y="2450592"/>
            <a:ext cx="4846320" cy="713232"/>
          </a:xfrm>
          <a:prstGeom prst="rect">
            <a:avLst/>
          </a:prstGeom>
          <a:noFill/>
          <a:ln/>
        </p:spPr>
        <p:txBody>
          <a:bodyPr wrap="square" lIns="0" tIns="0" rIns="0" bIns="0" rtlCol="0" anchor="ctr">
            <a:normAutofit/>
          </a:bodyPr>
          <a:lstStyle/>
          <a:p>
            <a:pPr marL="0" indent="0">
              <a:buNone/>
            </a:pPr>
            <a:r>
              <a:rPr lang="en-US" sz="1900" b="1" dirty="0">
                <a:solidFill>
                  <a:srgbClr val="1677FF"/>
                </a:solidFill>
              </a:rPr>
              <a:t>AI-Powered Personalized Fitness, Nutrition &amp; Exercise Analysis Platform</a:t>
            </a:r>
            <a:endParaRPr lang="en-US" sz="1900" dirty="0"/>
          </a:p>
        </p:txBody>
      </p:sp>
      <p:sp>
        <p:nvSpPr>
          <p:cNvPr id="10" name="Shape 7"/>
          <p:cNvSpPr/>
          <p:nvPr/>
        </p:nvSpPr>
        <p:spPr>
          <a:xfrm>
            <a:off x="612648" y="3310128"/>
            <a:ext cx="4297680" cy="1"/>
          </a:xfrm>
          <a:prstGeom prst="line">
            <a:avLst/>
          </a:prstGeom>
          <a:noFill/>
          <a:ln w="19050">
            <a:solidFill>
              <a:srgbClr val="DCE6EE"/>
            </a:solidFill>
            <a:prstDash val="solid"/>
          </a:ln>
        </p:spPr>
      </p:sp>
      <p:sp>
        <p:nvSpPr>
          <p:cNvPr id="11" name="Text 8"/>
          <p:cNvSpPr/>
          <p:nvPr/>
        </p:nvSpPr>
        <p:spPr>
          <a:xfrm>
            <a:off x="612648" y="3566160"/>
            <a:ext cx="4937760" cy="274320"/>
          </a:xfrm>
          <a:prstGeom prst="rect">
            <a:avLst/>
          </a:prstGeom>
          <a:noFill/>
          <a:ln/>
        </p:spPr>
        <p:txBody>
          <a:bodyPr wrap="square" lIns="0" tIns="0" rIns="0" bIns="0" rtlCol="0" anchor="ctr"/>
          <a:lstStyle/>
          <a:p>
            <a:pPr marL="0" indent="0">
              <a:buNone/>
            </a:pPr>
            <a:r>
              <a:rPr lang="en-US" sz="1600" b="1" dirty="0">
                <a:solidFill>
                  <a:srgbClr val="182230"/>
                </a:solidFill>
              </a:rPr>
              <a:t>Nour Fakih  •  Oliver Mattar</a:t>
            </a:r>
            <a:endParaRPr lang="en-US" sz="1600" dirty="0"/>
          </a:p>
        </p:txBody>
      </p:sp>
      <p:sp>
        <p:nvSpPr>
          <p:cNvPr id="12" name="Text 9"/>
          <p:cNvSpPr/>
          <p:nvPr/>
        </p:nvSpPr>
        <p:spPr>
          <a:xfrm>
            <a:off x="612648" y="4041648"/>
            <a:ext cx="4937760" cy="914400"/>
          </a:xfrm>
          <a:prstGeom prst="rect">
            <a:avLst/>
          </a:prstGeom>
          <a:noFill/>
          <a:ln/>
        </p:spPr>
        <p:txBody>
          <a:bodyPr wrap="square" lIns="0" tIns="0" rIns="0" bIns="0" rtlCol="0" anchor="ctr"/>
          <a:lstStyle/>
          <a:p>
            <a:pPr marL="0" indent="0">
              <a:buNone/>
            </a:pPr>
            <a:r>
              <a:rPr lang="en-US" sz="1250" dirty="0">
                <a:solidFill>
                  <a:srgbClr val="667085"/>
                </a:solidFill>
              </a:rPr>
              <a:t>Supervisor: Dr. Joseph Gmayel</a:t>
            </a:r>
            <a:endParaRPr lang="en-US" sz="1250" dirty="0"/>
          </a:p>
          <a:p>
            <a:pPr marL="0" indent="0">
              <a:buNone/>
            </a:pPr>
            <a:r>
              <a:rPr lang="en-US" sz="1250" dirty="0">
                <a:solidFill>
                  <a:srgbClr val="667085"/>
                </a:solidFill>
              </a:rPr>
              <a:t>Antonine University  |  Faculty of Engineering</a:t>
            </a:r>
            <a:endParaRPr lang="en-US" sz="1250" dirty="0"/>
          </a:p>
          <a:p>
            <a:pPr marL="0" indent="0">
              <a:buNone/>
            </a:pPr>
            <a:r>
              <a:rPr lang="en-US" sz="1250" dirty="0">
                <a:solidFill>
                  <a:srgbClr val="667085"/>
                </a:solidFill>
              </a:rPr>
              <a:t>Computer Science</a:t>
            </a:r>
            <a:endParaRPr lang="en-US" sz="1250" dirty="0"/>
          </a:p>
        </p:txBody>
      </p:sp>
      <p:sp>
        <p:nvSpPr>
          <p:cNvPr id="13" name="Text 10"/>
          <p:cNvSpPr/>
          <p:nvPr/>
        </p:nvSpPr>
        <p:spPr>
          <a:xfrm>
            <a:off x="612648" y="5998464"/>
            <a:ext cx="4892040" cy="219456"/>
          </a:xfrm>
          <a:prstGeom prst="rect">
            <a:avLst/>
          </a:prstGeom>
          <a:noFill/>
          <a:ln/>
        </p:spPr>
        <p:txBody>
          <a:bodyPr wrap="square" lIns="0" tIns="0" rIns="0" bIns="0" rtlCol="0" anchor="ctr"/>
          <a:lstStyle/>
          <a:p>
            <a:pPr marL="0" indent="0">
              <a:buNone/>
            </a:pPr>
            <a:r>
              <a:rPr lang="en-US" sz="1000" b="1" kern="0" spc="110" dirty="0">
                <a:solidFill>
                  <a:srgbClr val="16C79A"/>
                </a:solidFill>
              </a:rPr>
              <a:t>PERSONALIZE  •  ANALYZE  •  PROGRESS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502920" y="301752"/>
            <a:ext cx="2743200" cy="201168"/>
          </a:xfrm>
          <a:prstGeom prst="rect">
            <a:avLst/>
          </a:prstGeom>
          <a:noFill/>
          <a:ln/>
        </p:spPr>
        <p:txBody>
          <a:bodyPr wrap="square" lIns="0" tIns="0" rIns="0" bIns="0" rtlCol="0" anchor="ctr"/>
          <a:lstStyle/>
          <a:p>
            <a:pPr marL="0" indent="0">
              <a:buNone/>
            </a:pPr>
            <a:r>
              <a:rPr lang="en-US" sz="1000" b="1" kern="0" spc="150" dirty="0">
                <a:solidFill>
                  <a:srgbClr val="16C79A"/>
                </a:solidFill>
              </a:rPr>
              <a:t>01 — MOTIVATION</a:t>
            </a:r>
            <a:endParaRPr lang="en-US" sz="1000" dirty="0"/>
          </a:p>
        </p:txBody>
      </p:sp>
      <p:sp>
        <p:nvSpPr>
          <p:cNvPr id="3" name="Text 1"/>
          <p:cNvSpPr/>
          <p:nvPr/>
        </p:nvSpPr>
        <p:spPr>
          <a:xfrm>
            <a:off x="502920" y="530352"/>
            <a:ext cx="11109960" cy="438912"/>
          </a:xfrm>
          <a:prstGeom prst="rect">
            <a:avLst/>
          </a:prstGeom>
          <a:noFill/>
          <a:ln/>
        </p:spPr>
        <p:txBody>
          <a:bodyPr wrap="square" lIns="0" tIns="0" rIns="0" bIns="0" rtlCol="0" anchor="ctr"/>
          <a:lstStyle/>
          <a:p>
            <a:pPr marL="0" indent="0">
              <a:buNone/>
            </a:pPr>
            <a:r>
              <a:rPr lang="en-US" sz="2700" b="1" dirty="0">
                <a:solidFill>
                  <a:srgbClr val="0B1F33"/>
                </a:solidFill>
              </a:rPr>
              <a:t>The Problem</a:t>
            </a:r>
            <a:endParaRPr lang="en-US" sz="2700" dirty="0"/>
          </a:p>
        </p:txBody>
      </p:sp>
      <p:sp>
        <p:nvSpPr>
          <p:cNvPr id="4" name="Shape 2"/>
          <p:cNvSpPr/>
          <p:nvPr/>
        </p:nvSpPr>
        <p:spPr>
          <a:xfrm>
            <a:off x="502920" y="1042416"/>
            <a:ext cx="822960" cy="1"/>
          </a:xfrm>
          <a:prstGeom prst="line">
            <a:avLst/>
          </a:prstGeom>
          <a:noFill/>
          <a:ln w="38100">
            <a:solidFill>
              <a:srgbClr val="16C79A"/>
            </a:solidFill>
            <a:prstDash val="solid"/>
          </a:ln>
        </p:spPr>
      </p:sp>
      <p:pic>
        <p:nvPicPr>
          <p:cNvPr id="5" name="Image 0" descr="/mnt/data/generated_image_31AA42183EA5_01.png"/>
          <p:cNvPicPr>
            <a:picLocks noChangeAspect="1"/>
          </p:cNvPicPr>
          <p:nvPr/>
        </p:nvPicPr>
        <p:blipFill>
          <a:blip r:embed="rId3"/>
          <a:srcRect l="13509" r="13509"/>
          <a:stretch/>
        </p:blipFill>
        <p:spPr>
          <a:xfrm>
            <a:off x="6903720" y="1188720"/>
            <a:ext cx="4754880" cy="4343400"/>
          </a:xfrm>
          <a:prstGeom prst="rect">
            <a:avLst/>
          </a:prstGeom>
        </p:spPr>
      </p:pic>
      <p:sp>
        <p:nvSpPr>
          <p:cNvPr id="6" name="Shape 3"/>
          <p:cNvSpPr/>
          <p:nvPr/>
        </p:nvSpPr>
        <p:spPr>
          <a:xfrm>
            <a:off x="548640" y="1234440"/>
            <a:ext cx="5897880" cy="768096"/>
          </a:xfrm>
          <a:prstGeom prst="roundRect">
            <a:avLst>
              <a:gd name="adj" fmla="val 19048"/>
            </a:avLst>
          </a:prstGeom>
          <a:solidFill>
            <a:srgbClr val="F1FBF7"/>
          </a:solidFill>
          <a:ln w="12700">
            <a:solidFill>
              <a:srgbClr val="DCE6EE"/>
            </a:solidFill>
            <a:prstDash val="solid"/>
          </a:ln>
          <a:effectLst>
            <a:outerShdw blurRad="25400" dist="12700" dir="2700000" algn="bl" rotWithShape="0">
              <a:srgbClr val="000000">
                <a:alpha val="12000"/>
              </a:srgbClr>
            </a:outerShdw>
          </a:effectLst>
        </p:spPr>
      </p:sp>
      <p:sp>
        <p:nvSpPr>
          <p:cNvPr id="7" name="Text 4"/>
          <p:cNvSpPr/>
          <p:nvPr/>
        </p:nvSpPr>
        <p:spPr>
          <a:xfrm>
            <a:off x="713232" y="1380744"/>
            <a:ext cx="365760" cy="228600"/>
          </a:xfrm>
          <a:prstGeom prst="rect">
            <a:avLst/>
          </a:prstGeom>
          <a:noFill/>
          <a:ln/>
        </p:spPr>
        <p:txBody>
          <a:bodyPr wrap="square" lIns="0" tIns="0" rIns="0" bIns="0" rtlCol="0" anchor="ctr"/>
          <a:lstStyle/>
          <a:p>
            <a:pPr marL="0" indent="0">
              <a:buNone/>
            </a:pPr>
            <a:r>
              <a:rPr lang="en-US" sz="1300" b="1" dirty="0">
                <a:solidFill>
                  <a:srgbClr val="16C79A"/>
                </a:solidFill>
              </a:rPr>
              <a:t>01</a:t>
            </a:r>
            <a:endParaRPr lang="en-US" sz="1300" dirty="0"/>
          </a:p>
        </p:txBody>
      </p:sp>
      <p:sp>
        <p:nvSpPr>
          <p:cNvPr id="8" name="Text 5"/>
          <p:cNvSpPr/>
          <p:nvPr/>
        </p:nvSpPr>
        <p:spPr>
          <a:xfrm>
            <a:off x="1188720" y="1344168"/>
            <a:ext cx="2148840" cy="201168"/>
          </a:xfrm>
          <a:prstGeom prst="rect">
            <a:avLst/>
          </a:prstGeom>
          <a:noFill/>
          <a:ln/>
        </p:spPr>
        <p:txBody>
          <a:bodyPr wrap="square" lIns="0" tIns="0" rIns="0" bIns="0" rtlCol="0" anchor="ctr"/>
          <a:lstStyle/>
          <a:p>
            <a:pPr marL="0" indent="0">
              <a:buNone/>
            </a:pPr>
            <a:r>
              <a:rPr lang="en-US" sz="1300" b="1" dirty="0">
                <a:solidFill>
                  <a:srgbClr val="0B1F33"/>
                </a:solidFill>
              </a:rPr>
              <a:t>Generic Fitness Plans</a:t>
            </a:r>
            <a:endParaRPr lang="en-US" sz="1300" dirty="0"/>
          </a:p>
        </p:txBody>
      </p:sp>
      <p:sp>
        <p:nvSpPr>
          <p:cNvPr id="9" name="Text 6"/>
          <p:cNvSpPr/>
          <p:nvPr/>
        </p:nvSpPr>
        <p:spPr>
          <a:xfrm>
            <a:off x="3310128" y="1344168"/>
            <a:ext cx="2852928" cy="365760"/>
          </a:xfrm>
          <a:prstGeom prst="rect">
            <a:avLst/>
          </a:prstGeom>
          <a:noFill/>
          <a:ln/>
        </p:spPr>
        <p:txBody>
          <a:bodyPr wrap="square" lIns="0" tIns="0" rIns="0" bIns="0" rtlCol="0" anchor="ctr">
            <a:normAutofit/>
          </a:bodyPr>
          <a:lstStyle/>
          <a:p>
            <a:pPr marL="0" indent="0">
              <a:buNone/>
            </a:pPr>
            <a:r>
              <a:rPr lang="en-US" sz="1050" dirty="0">
                <a:solidFill>
                  <a:srgbClr val="667085"/>
                </a:solidFill>
              </a:rPr>
              <a:t>Recommendations are rarely deeply personalized.</a:t>
            </a:r>
            <a:endParaRPr lang="en-US" sz="1050" dirty="0"/>
          </a:p>
        </p:txBody>
      </p:sp>
      <p:sp>
        <p:nvSpPr>
          <p:cNvPr id="10" name="Shape 7"/>
          <p:cNvSpPr/>
          <p:nvPr/>
        </p:nvSpPr>
        <p:spPr>
          <a:xfrm>
            <a:off x="548640" y="2194560"/>
            <a:ext cx="5897880" cy="768096"/>
          </a:xfrm>
          <a:prstGeom prst="roundRect">
            <a:avLst>
              <a:gd name="adj" fmla="val 19048"/>
            </a:avLst>
          </a:prstGeom>
          <a:solidFill>
            <a:srgbClr val="FFFFFF"/>
          </a:solidFill>
          <a:ln w="12700">
            <a:solidFill>
              <a:srgbClr val="DCE6EE"/>
            </a:solidFill>
            <a:prstDash val="solid"/>
          </a:ln>
          <a:effectLst/>
        </p:spPr>
      </p:sp>
      <p:sp>
        <p:nvSpPr>
          <p:cNvPr id="11" name="Text 8"/>
          <p:cNvSpPr/>
          <p:nvPr/>
        </p:nvSpPr>
        <p:spPr>
          <a:xfrm>
            <a:off x="713232" y="2340864"/>
            <a:ext cx="365760" cy="228600"/>
          </a:xfrm>
          <a:prstGeom prst="rect">
            <a:avLst/>
          </a:prstGeom>
          <a:noFill/>
          <a:ln/>
        </p:spPr>
        <p:txBody>
          <a:bodyPr wrap="square" lIns="0" tIns="0" rIns="0" bIns="0" rtlCol="0" anchor="ctr"/>
          <a:lstStyle/>
          <a:p>
            <a:pPr marL="0" indent="0">
              <a:buNone/>
            </a:pPr>
            <a:r>
              <a:rPr lang="en-US" sz="1300" b="1" dirty="0">
                <a:solidFill>
                  <a:srgbClr val="16C79A"/>
                </a:solidFill>
              </a:rPr>
              <a:t>02</a:t>
            </a:r>
            <a:endParaRPr lang="en-US" sz="1300" dirty="0"/>
          </a:p>
        </p:txBody>
      </p:sp>
      <p:sp>
        <p:nvSpPr>
          <p:cNvPr id="12" name="Text 9"/>
          <p:cNvSpPr/>
          <p:nvPr/>
        </p:nvSpPr>
        <p:spPr>
          <a:xfrm>
            <a:off x="1188720" y="2304288"/>
            <a:ext cx="2148840" cy="201168"/>
          </a:xfrm>
          <a:prstGeom prst="rect">
            <a:avLst/>
          </a:prstGeom>
          <a:noFill/>
          <a:ln/>
        </p:spPr>
        <p:txBody>
          <a:bodyPr wrap="square" lIns="0" tIns="0" rIns="0" bIns="0" rtlCol="0" anchor="ctr"/>
          <a:lstStyle/>
          <a:p>
            <a:pPr marL="0" indent="0">
              <a:buNone/>
            </a:pPr>
            <a:r>
              <a:rPr lang="en-US" sz="1300" b="1" dirty="0">
                <a:solidFill>
                  <a:srgbClr val="0B1F33"/>
                </a:solidFill>
              </a:rPr>
              <a:t>Fragmented Experience</a:t>
            </a:r>
            <a:endParaRPr lang="en-US" sz="1300" dirty="0"/>
          </a:p>
        </p:txBody>
      </p:sp>
      <p:sp>
        <p:nvSpPr>
          <p:cNvPr id="13" name="Text 10"/>
          <p:cNvSpPr/>
          <p:nvPr/>
        </p:nvSpPr>
        <p:spPr>
          <a:xfrm>
            <a:off x="3310128" y="2304288"/>
            <a:ext cx="2852928" cy="365760"/>
          </a:xfrm>
          <a:prstGeom prst="rect">
            <a:avLst/>
          </a:prstGeom>
          <a:noFill/>
          <a:ln/>
        </p:spPr>
        <p:txBody>
          <a:bodyPr wrap="square" lIns="0" tIns="0" rIns="0" bIns="0" rtlCol="0" anchor="ctr">
            <a:normAutofit/>
          </a:bodyPr>
          <a:lstStyle/>
          <a:p>
            <a:pPr marL="0" indent="0">
              <a:buNone/>
            </a:pPr>
            <a:r>
              <a:rPr lang="en-US" sz="1050" dirty="0">
                <a:solidFill>
                  <a:srgbClr val="667085"/>
                </a:solidFill>
              </a:rPr>
              <a:t>Workout, nutrition, tracking and motivation stay separated.</a:t>
            </a:r>
            <a:endParaRPr lang="en-US" sz="1050" dirty="0"/>
          </a:p>
        </p:txBody>
      </p:sp>
      <p:sp>
        <p:nvSpPr>
          <p:cNvPr id="14" name="Shape 11"/>
          <p:cNvSpPr/>
          <p:nvPr/>
        </p:nvSpPr>
        <p:spPr>
          <a:xfrm>
            <a:off x="548640" y="3154680"/>
            <a:ext cx="5897880" cy="768096"/>
          </a:xfrm>
          <a:prstGeom prst="roundRect">
            <a:avLst>
              <a:gd name="adj" fmla="val 19048"/>
            </a:avLst>
          </a:prstGeom>
          <a:solidFill>
            <a:srgbClr val="F1FBF7"/>
          </a:solidFill>
          <a:ln w="12700">
            <a:solidFill>
              <a:srgbClr val="DCE6EE"/>
            </a:solidFill>
            <a:prstDash val="solid"/>
          </a:ln>
          <a:effectLst/>
        </p:spPr>
      </p:sp>
      <p:sp>
        <p:nvSpPr>
          <p:cNvPr id="15" name="Text 12"/>
          <p:cNvSpPr/>
          <p:nvPr/>
        </p:nvSpPr>
        <p:spPr>
          <a:xfrm>
            <a:off x="713232" y="3300984"/>
            <a:ext cx="365760" cy="228600"/>
          </a:xfrm>
          <a:prstGeom prst="rect">
            <a:avLst/>
          </a:prstGeom>
          <a:noFill/>
          <a:ln/>
        </p:spPr>
        <p:txBody>
          <a:bodyPr wrap="square" lIns="0" tIns="0" rIns="0" bIns="0" rtlCol="0" anchor="ctr"/>
          <a:lstStyle/>
          <a:p>
            <a:pPr marL="0" indent="0">
              <a:buNone/>
            </a:pPr>
            <a:r>
              <a:rPr lang="en-US" sz="1300" b="1" dirty="0">
                <a:solidFill>
                  <a:srgbClr val="16C79A"/>
                </a:solidFill>
              </a:rPr>
              <a:t>03</a:t>
            </a:r>
            <a:endParaRPr lang="en-US" sz="1300" dirty="0"/>
          </a:p>
        </p:txBody>
      </p:sp>
      <p:sp>
        <p:nvSpPr>
          <p:cNvPr id="16" name="Text 13"/>
          <p:cNvSpPr/>
          <p:nvPr/>
        </p:nvSpPr>
        <p:spPr>
          <a:xfrm>
            <a:off x="1188720" y="3264408"/>
            <a:ext cx="2148840" cy="201168"/>
          </a:xfrm>
          <a:prstGeom prst="rect">
            <a:avLst/>
          </a:prstGeom>
          <a:noFill/>
          <a:ln/>
        </p:spPr>
        <p:txBody>
          <a:bodyPr wrap="square" lIns="0" tIns="0" rIns="0" bIns="0" rtlCol="0" anchor="ctr"/>
          <a:lstStyle/>
          <a:p>
            <a:pPr marL="0" indent="0">
              <a:buNone/>
            </a:pPr>
            <a:r>
              <a:rPr lang="en-US" sz="1300" b="1" dirty="0">
                <a:solidFill>
                  <a:srgbClr val="0B1F33"/>
                </a:solidFill>
              </a:rPr>
              <a:t>Safety &amp; Restrictions</a:t>
            </a:r>
            <a:endParaRPr lang="en-US" sz="1300" dirty="0"/>
          </a:p>
        </p:txBody>
      </p:sp>
      <p:sp>
        <p:nvSpPr>
          <p:cNvPr id="17" name="Text 14"/>
          <p:cNvSpPr/>
          <p:nvPr/>
        </p:nvSpPr>
        <p:spPr>
          <a:xfrm>
            <a:off x="3310128" y="3264408"/>
            <a:ext cx="2852928" cy="365760"/>
          </a:xfrm>
          <a:prstGeom prst="rect">
            <a:avLst/>
          </a:prstGeom>
          <a:noFill/>
          <a:ln/>
        </p:spPr>
        <p:txBody>
          <a:bodyPr wrap="square" lIns="0" tIns="0" rIns="0" bIns="0" rtlCol="0" anchor="ctr">
            <a:normAutofit/>
          </a:bodyPr>
          <a:lstStyle/>
          <a:p>
            <a:pPr marL="0" indent="0">
              <a:buNone/>
            </a:pPr>
            <a:r>
              <a:rPr lang="en-US" sz="1050" dirty="0">
                <a:solidFill>
                  <a:srgbClr val="667085"/>
                </a:solidFill>
              </a:rPr>
              <a:t>Injuries, allergies and dietary restrictions require care.</a:t>
            </a:r>
            <a:endParaRPr lang="en-US" sz="1050" dirty="0"/>
          </a:p>
        </p:txBody>
      </p:sp>
      <p:sp>
        <p:nvSpPr>
          <p:cNvPr id="18" name="Shape 15"/>
          <p:cNvSpPr/>
          <p:nvPr/>
        </p:nvSpPr>
        <p:spPr>
          <a:xfrm>
            <a:off x="548640" y="4114800"/>
            <a:ext cx="5897880" cy="768096"/>
          </a:xfrm>
          <a:prstGeom prst="roundRect">
            <a:avLst>
              <a:gd name="adj" fmla="val 19048"/>
            </a:avLst>
          </a:prstGeom>
          <a:solidFill>
            <a:srgbClr val="FFFFFF"/>
          </a:solidFill>
          <a:ln w="12700">
            <a:solidFill>
              <a:srgbClr val="DCE6EE"/>
            </a:solidFill>
            <a:prstDash val="solid"/>
          </a:ln>
          <a:effectLst/>
        </p:spPr>
      </p:sp>
      <p:sp>
        <p:nvSpPr>
          <p:cNvPr id="19" name="Text 16"/>
          <p:cNvSpPr/>
          <p:nvPr/>
        </p:nvSpPr>
        <p:spPr>
          <a:xfrm>
            <a:off x="713232" y="4261104"/>
            <a:ext cx="365760" cy="228600"/>
          </a:xfrm>
          <a:prstGeom prst="rect">
            <a:avLst/>
          </a:prstGeom>
          <a:noFill/>
          <a:ln/>
        </p:spPr>
        <p:txBody>
          <a:bodyPr wrap="square" lIns="0" tIns="0" rIns="0" bIns="0" rtlCol="0" anchor="ctr"/>
          <a:lstStyle/>
          <a:p>
            <a:pPr marL="0" indent="0">
              <a:buNone/>
            </a:pPr>
            <a:r>
              <a:rPr lang="en-US" sz="1300" b="1" dirty="0">
                <a:solidFill>
                  <a:srgbClr val="16C79A"/>
                </a:solidFill>
              </a:rPr>
              <a:t>04</a:t>
            </a:r>
            <a:endParaRPr lang="en-US" sz="1300" dirty="0"/>
          </a:p>
        </p:txBody>
      </p:sp>
      <p:sp>
        <p:nvSpPr>
          <p:cNvPr id="20" name="Text 17"/>
          <p:cNvSpPr/>
          <p:nvPr/>
        </p:nvSpPr>
        <p:spPr>
          <a:xfrm>
            <a:off x="1188720" y="4224528"/>
            <a:ext cx="2148840" cy="201168"/>
          </a:xfrm>
          <a:prstGeom prst="rect">
            <a:avLst/>
          </a:prstGeom>
          <a:noFill/>
          <a:ln/>
        </p:spPr>
        <p:txBody>
          <a:bodyPr wrap="square" lIns="0" tIns="0" rIns="0" bIns="0" rtlCol="0" anchor="ctr"/>
          <a:lstStyle/>
          <a:p>
            <a:pPr marL="0" indent="0">
              <a:buNone/>
            </a:pPr>
            <a:r>
              <a:rPr lang="en-US" sz="1300" b="1" dirty="0">
                <a:solidFill>
                  <a:srgbClr val="0B1F33"/>
                </a:solidFill>
              </a:rPr>
              <a:t>Lack of Exercise Feedback</a:t>
            </a:r>
            <a:endParaRPr lang="en-US" sz="1300" dirty="0"/>
          </a:p>
        </p:txBody>
      </p:sp>
      <p:sp>
        <p:nvSpPr>
          <p:cNvPr id="21" name="Text 18"/>
          <p:cNvSpPr/>
          <p:nvPr/>
        </p:nvSpPr>
        <p:spPr>
          <a:xfrm>
            <a:off x="3310128" y="4224528"/>
            <a:ext cx="2852928" cy="365760"/>
          </a:xfrm>
          <a:prstGeom prst="rect">
            <a:avLst/>
          </a:prstGeom>
          <a:noFill/>
          <a:ln/>
        </p:spPr>
        <p:txBody>
          <a:bodyPr wrap="square" lIns="0" tIns="0" rIns="0" bIns="0" rtlCol="0" anchor="ctr">
            <a:normAutofit/>
          </a:bodyPr>
          <a:lstStyle/>
          <a:p>
            <a:pPr marL="0" indent="0">
              <a:buNone/>
            </a:pPr>
            <a:r>
              <a:rPr lang="en-US" sz="1050" dirty="0">
                <a:solidFill>
                  <a:srgbClr val="667085"/>
                </a:solidFill>
              </a:rPr>
              <a:t>A plan does not guarantee correct execution.</a:t>
            </a:r>
            <a:endParaRPr lang="en-US" sz="1050" dirty="0"/>
          </a:p>
        </p:txBody>
      </p:sp>
      <p:sp>
        <p:nvSpPr>
          <p:cNvPr id="22" name="Shape 19"/>
          <p:cNvSpPr/>
          <p:nvPr/>
        </p:nvSpPr>
        <p:spPr>
          <a:xfrm>
            <a:off x="548640" y="5321808"/>
            <a:ext cx="11109960" cy="713232"/>
          </a:xfrm>
          <a:prstGeom prst="roundRect">
            <a:avLst>
              <a:gd name="adj" fmla="val 23077"/>
            </a:avLst>
          </a:prstGeom>
          <a:solidFill>
            <a:srgbClr val="0B1F33"/>
          </a:solidFill>
          <a:ln w="12700">
            <a:solidFill>
              <a:srgbClr val="0B1F33"/>
            </a:solidFill>
            <a:prstDash val="solid"/>
          </a:ln>
        </p:spPr>
      </p:sp>
      <p:sp>
        <p:nvSpPr>
          <p:cNvPr id="23" name="Text 20"/>
          <p:cNvSpPr/>
          <p:nvPr/>
        </p:nvSpPr>
        <p:spPr>
          <a:xfrm>
            <a:off x="868680" y="5541264"/>
            <a:ext cx="10469880" cy="22860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Users need one system that understands their profile, adapts recommendations and continuously tracks progress.</a:t>
            </a:r>
            <a:endParaRPr lang="en-US" sz="1500" dirty="0"/>
          </a:p>
        </p:txBody>
      </p:sp>
      <p:sp>
        <p:nvSpPr>
          <p:cNvPr id="25" name="Slide Number Placeholder 0"/>
          <p:cNvSpPr>
            <a:spLocks noGrp="1"/>
          </p:cNvSpPr>
          <p:nvPr>
            <p:ph type="sldNum" sz="quarter" idx="4294967295"/>
          </p:nvPr>
        </p:nvSpPr>
        <p:spPr>
          <a:xfrm>
            <a:off x="11777472" y="6510528"/>
            <a:ext cx="201168"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98A2B3"/>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502920" y="301752"/>
            <a:ext cx="2743200" cy="201168"/>
          </a:xfrm>
          <a:prstGeom prst="rect">
            <a:avLst/>
          </a:prstGeom>
          <a:noFill/>
          <a:ln/>
        </p:spPr>
        <p:txBody>
          <a:bodyPr wrap="square" lIns="0" tIns="0" rIns="0" bIns="0" rtlCol="0" anchor="ctr"/>
          <a:lstStyle/>
          <a:p>
            <a:pPr marL="0" indent="0">
              <a:buNone/>
            </a:pPr>
            <a:r>
              <a:rPr lang="en-US" sz="1000" b="1" kern="0" spc="150" dirty="0">
                <a:solidFill>
                  <a:srgbClr val="16C79A"/>
                </a:solidFill>
              </a:rPr>
              <a:t>02 — PRODUCT VISION</a:t>
            </a:r>
            <a:endParaRPr lang="en-US" sz="1000" dirty="0"/>
          </a:p>
        </p:txBody>
      </p:sp>
      <p:sp>
        <p:nvSpPr>
          <p:cNvPr id="3" name="Text 1"/>
          <p:cNvSpPr/>
          <p:nvPr/>
        </p:nvSpPr>
        <p:spPr>
          <a:xfrm>
            <a:off x="502920" y="530352"/>
            <a:ext cx="11109960" cy="438912"/>
          </a:xfrm>
          <a:prstGeom prst="rect">
            <a:avLst/>
          </a:prstGeom>
          <a:noFill/>
          <a:ln/>
        </p:spPr>
        <p:txBody>
          <a:bodyPr wrap="square" lIns="0" tIns="0" rIns="0" bIns="0" rtlCol="0" anchor="ctr"/>
          <a:lstStyle/>
          <a:p>
            <a:pPr marL="0" indent="0">
              <a:buNone/>
            </a:pPr>
            <a:r>
              <a:rPr lang="en-US" sz="2700" b="1" dirty="0">
                <a:solidFill>
                  <a:srgbClr val="0B1F33"/>
                </a:solidFill>
              </a:rPr>
              <a:t>Our Proposed Solution</a:t>
            </a:r>
            <a:endParaRPr lang="en-US" sz="2700" dirty="0"/>
          </a:p>
        </p:txBody>
      </p:sp>
      <p:sp>
        <p:nvSpPr>
          <p:cNvPr id="4" name="Shape 2"/>
          <p:cNvSpPr/>
          <p:nvPr/>
        </p:nvSpPr>
        <p:spPr>
          <a:xfrm>
            <a:off x="502920" y="1042416"/>
            <a:ext cx="822960" cy="1"/>
          </a:xfrm>
          <a:prstGeom prst="line">
            <a:avLst/>
          </a:prstGeom>
          <a:noFill/>
          <a:ln w="38100">
            <a:solidFill>
              <a:srgbClr val="16C79A"/>
            </a:solidFill>
            <a:prstDash val="solid"/>
          </a:ln>
        </p:spPr>
      </p:sp>
      <p:pic>
        <p:nvPicPr>
          <p:cNvPr id="5" name="Image 0" descr="/mnt/data/generated_image_31AA42183EA5_02.png"/>
          <p:cNvPicPr>
            <a:picLocks noChangeAspect="1"/>
          </p:cNvPicPr>
          <p:nvPr/>
        </p:nvPicPr>
        <p:blipFill>
          <a:blip r:embed="rId3"/>
          <a:srcRect l="20068" r="20068"/>
          <a:stretch/>
        </p:blipFill>
        <p:spPr>
          <a:xfrm>
            <a:off x="548640" y="1234440"/>
            <a:ext cx="4023360" cy="4480560"/>
          </a:xfrm>
          <a:prstGeom prst="rect">
            <a:avLst/>
          </a:prstGeom>
        </p:spPr>
      </p:pic>
      <p:sp>
        <p:nvSpPr>
          <p:cNvPr id="6" name="Shape 3"/>
          <p:cNvSpPr/>
          <p:nvPr/>
        </p:nvSpPr>
        <p:spPr>
          <a:xfrm>
            <a:off x="4846320" y="1234440"/>
            <a:ext cx="6812280" cy="4480560"/>
          </a:xfrm>
          <a:prstGeom prst="roundRect">
            <a:avLst>
              <a:gd name="adj" fmla="val 3265"/>
            </a:avLst>
          </a:prstGeom>
          <a:solidFill>
            <a:srgbClr val="FFFFFF"/>
          </a:solidFill>
          <a:ln w="12700">
            <a:solidFill>
              <a:srgbClr val="DCE6EE"/>
            </a:solidFill>
            <a:prstDash val="solid"/>
          </a:ln>
          <a:effectLst/>
        </p:spPr>
      </p:sp>
      <p:sp>
        <p:nvSpPr>
          <p:cNvPr id="7" name="Text 4"/>
          <p:cNvSpPr/>
          <p:nvPr/>
        </p:nvSpPr>
        <p:spPr>
          <a:xfrm>
            <a:off x="5257800" y="1554480"/>
            <a:ext cx="5989320" cy="502920"/>
          </a:xfrm>
          <a:prstGeom prst="rect">
            <a:avLst/>
          </a:prstGeom>
          <a:noFill/>
          <a:ln/>
        </p:spPr>
        <p:txBody>
          <a:bodyPr wrap="square" lIns="0" tIns="0" rIns="0" bIns="0" rtlCol="0" anchor="ctr">
            <a:normAutofit fontScale="92500" lnSpcReduction="20000"/>
          </a:bodyPr>
          <a:lstStyle/>
          <a:p>
            <a:pPr marL="0" indent="0" algn="ctr">
              <a:buNone/>
            </a:pPr>
            <a:r>
              <a:rPr lang="en-US" sz="2200" b="1" dirty="0">
                <a:solidFill>
                  <a:srgbClr val="0B1F33"/>
                </a:solidFill>
              </a:rPr>
              <a:t>One intelligent platform for the complete fitness journey.</a:t>
            </a:r>
            <a:endParaRPr lang="en-US" sz="2200" dirty="0"/>
          </a:p>
        </p:txBody>
      </p:sp>
      <p:sp>
        <p:nvSpPr>
          <p:cNvPr id="8" name="Shape 5"/>
          <p:cNvSpPr/>
          <p:nvPr/>
        </p:nvSpPr>
        <p:spPr>
          <a:xfrm>
            <a:off x="5257800" y="2395728"/>
            <a:ext cx="438912" cy="438912"/>
          </a:xfrm>
          <a:prstGeom prst="ellipse">
            <a:avLst/>
          </a:prstGeom>
          <a:solidFill>
            <a:srgbClr val="16C79A"/>
          </a:solidFill>
          <a:ln w="12700">
            <a:solidFill>
              <a:srgbClr val="16C79A"/>
            </a:solidFill>
            <a:prstDash val="solid"/>
          </a:ln>
        </p:spPr>
      </p:sp>
      <p:sp>
        <p:nvSpPr>
          <p:cNvPr id="9" name="Text 6"/>
          <p:cNvSpPr/>
          <p:nvPr/>
        </p:nvSpPr>
        <p:spPr>
          <a:xfrm>
            <a:off x="5257800" y="2468880"/>
            <a:ext cx="438912" cy="201168"/>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10" name="Text 7"/>
          <p:cNvSpPr/>
          <p:nvPr/>
        </p:nvSpPr>
        <p:spPr>
          <a:xfrm>
            <a:off x="5852160" y="2487168"/>
            <a:ext cx="4937760" cy="228600"/>
          </a:xfrm>
          <a:prstGeom prst="rect">
            <a:avLst/>
          </a:prstGeom>
          <a:noFill/>
          <a:ln/>
        </p:spPr>
        <p:txBody>
          <a:bodyPr wrap="square" lIns="0" tIns="0" rIns="0" bIns="0" rtlCol="0" anchor="ctr"/>
          <a:lstStyle/>
          <a:p>
            <a:pPr marL="0" indent="0">
              <a:buNone/>
            </a:pPr>
            <a:r>
              <a:rPr lang="en-US" sz="1400" b="1" dirty="0">
                <a:solidFill>
                  <a:srgbClr val="182230"/>
                </a:solidFill>
              </a:rPr>
              <a:t>Personalized Workouts</a:t>
            </a:r>
            <a:endParaRPr lang="en-US" sz="1400" dirty="0"/>
          </a:p>
        </p:txBody>
      </p:sp>
      <p:sp>
        <p:nvSpPr>
          <p:cNvPr id="11" name="Shape 8"/>
          <p:cNvSpPr/>
          <p:nvPr/>
        </p:nvSpPr>
        <p:spPr>
          <a:xfrm>
            <a:off x="5477256" y="2825496"/>
            <a:ext cx="1" cy="201168"/>
          </a:xfrm>
          <a:prstGeom prst="line">
            <a:avLst/>
          </a:prstGeom>
          <a:noFill/>
          <a:ln w="25400">
            <a:solidFill>
              <a:srgbClr val="DCE6EE"/>
            </a:solidFill>
            <a:prstDash val="solid"/>
            <a:headEnd type="none"/>
            <a:tailEnd type="triangle"/>
          </a:ln>
        </p:spPr>
      </p:sp>
      <p:sp>
        <p:nvSpPr>
          <p:cNvPr id="12" name="Shape 9"/>
          <p:cNvSpPr/>
          <p:nvPr/>
        </p:nvSpPr>
        <p:spPr>
          <a:xfrm>
            <a:off x="5257800" y="3008376"/>
            <a:ext cx="438912" cy="438912"/>
          </a:xfrm>
          <a:prstGeom prst="ellipse">
            <a:avLst/>
          </a:prstGeom>
          <a:solidFill>
            <a:srgbClr val="16C79A"/>
          </a:solidFill>
          <a:ln w="12700">
            <a:solidFill>
              <a:srgbClr val="16C79A"/>
            </a:solidFill>
            <a:prstDash val="solid"/>
          </a:ln>
        </p:spPr>
      </p:sp>
      <p:sp>
        <p:nvSpPr>
          <p:cNvPr id="13" name="Text 10"/>
          <p:cNvSpPr/>
          <p:nvPr/>
        </p:nvSpPr>
        <p:spPr>
          <a:xfrm>
            <a:off x="5257800" y="3081528"/>
            <a:ext cx="438912" cy="201168"/>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14" name="Text 11"/>
          <p:cNvSpPr/>
          <p:nvPr/>
        </p:nvSpPr>
        <p:spPr>
          <a:xfrm>
            <a:off x="5852160" y="3099816"/>
            <a:ext cx="4937760" cy="228600"/>
          </a:xfrm>
          <a:prstGeom prst="rect">
            <a:avLst/>
          </a:prstGeom>
          <a:noFill/>
          <a:ln/>
        </p:spPr>
        <p:txBody>
          <a:bodyPr wrap="square" lIns="0" tIns="0" rIns="0" bIns="0" rtlCol="0" anchor="ctr"/>
          <a:lstStyle/>
          <a:p>
            <a:pPr marL="0" indent="0">
              <a:buNone/>
            </a:pPr>
            <a:r>
              <a:rPr lang="en-US" sz="1400" b="1" dirty="0">
                <a:solidFill>
                  <a:srgbClr val="182230"/>
                </a:solidFill>
              </a:rPr>
              <a:t>Personalized Nutrition</a:t>
            </a:r>
            <a:endParaRPr lang="en-US" sz="1400" dirty="0"/>
          </a:p>
        </p:txBody>
      </p:sp>
      <p:sp>
        <p:nvSpPr>
          <p:cNvPr id="15" name="Shape 12"/>
          <p:cNvSpPr/>
          <p:nvPr/>
        </p:nvSpPr>
        <p:spPr>
          <a:xfrm>
            <a:off x="5477256" y="3438144"/>
            <a:ext cx="1" cy="201168"/>
          </a:xfrm>
          <a:prstGeom prst="line">
            <a:avLst/>
          </a:prstGeom>
          <a:noFill/>
          <a:ln w="25400">
            <a:solidFill>
              <a:srgbClr val="DCE6EE"/>
            </a:solidFill>
            <a:prstDash val="solid"/>
            <a:headEnd type="none"/>
            <a:tailEnd type="triangle"/>
          </a:ln>
        </p:spPr>
      </p:sp>
      <p:sp>
        <p:nvSpPr>
          <p:cNvPr id="16" name="Shape 13"/>
          <p:cNvSpPr/>
          <p:nvPr/>
        </p:nvSpPr>
        <p:spPr>
          <a:xfrm>
            <a:off x="5257800" y="3621024"/>
            <a:ext cx="438912" cy="438912"/>
          </a:xfrm>
          <a:prstGeom prst="ellipse">
            <a:avLst/>
          </a:prstGeom>
          <a:solidFill>
            <a:srgbClr val="16C79A"/>
          </a:solidFill>
          <a:ln w="12700">
            <a:solidFill>
              <a:srgbClr val="16C79A"/>
            </a:solidFill>
            <a:prstDash val="solid"/>
          </a:ln>
        </p:spPr>
      </p:sp>
      <p:sp>
        <p:nvSpPr>
          <p:cNvPr id="17" name="Text 14"/>
          <p:cNvSpPr/>
          <p:nvPr/>
        </p:nvSpPr>
        <p:spPr>
          <a:xfrm>
            <a:off x="5257800" y="3694176"/>
            <a:ext cx="438912" cy="201168"/>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18" name="Text 15"/>
          <p:cNvSpPr/>
          <p:nvPr/>
        </p:nvSpPr>
        <p:spPr>
          <a:xfrm>
            <a:off x="5852160" y="3712464"/>
            <a:ext cx="4937760" cy="228600"/>
          </a:xfrm>
          <a:prstGeom prst="rect">
            <a:avLst/>
          </a:prstGeom>
          <a:noFill/>
          <a:ln/>
        </p:spPr>
        <p:txBody>
          <a:bodyPr wrap="square" lIns="0" tIns="0" rIns="0" bIns="0" rtlCol="0" anchor="ctr"/>
          <a:lstStyle/>
          <a:p>
            <a:pPr marL="0" indent="0">
              <a:buNone/>
            </a:pPr>
            <a:r>
              <a:rPr lang="en-US" sz="1400" b="1" dirty="0">
                <a:solidFill>
                  <a:srgbClr val="182230"/>
                </a:solidFill>
              </a:rPr>
              <a:t>Progress Tracking</a:t>
            </a:r>
            <a:endParaRPr lang="en-US" sz="1400" dirty="0"/>
          </a:p>
        </p:txBody>
      </p:sp>
      <p:sp>
        <p:nvSpPr>
          <p:cNvPr id="19" name="Shape 16"/>
          <p:cNvSpPr/>
          <p:nvPr/>
        </p:nvSpPr>
        <p:spPr>
          <a:xfrm>
            <a:off x="5477256" y="4050792"/>
            <a:ext cx="1" cy="201168"/>
          </a:xfrm>
          <a:prstGeom prst="line">
            <a:avLst/>
          </a:prstGeom>
          <a:noFill/>
          <a:ln w="25400">
            <a:solidFill>
              <a:srgbClr val="DCE6EE"/>
            </a:solidFill>
            <a:prstDash val="solid"/>
            <a:headEnd type="none"/>
            <a:tailEnd type="triangle"/>
          </a:ln>
        </p:spPr>
      </p:sp>
      <p:sp>
        <p:nvSpPr>
          <p:cNvPr id="20" name="Shape 17"/>
          <p:cNvSpPr/>
          <p:nvPr/>
        </p:nvSpPr>
        <p:spPr>
          <a:xfrm>
            <a:off x="5257800" y="4233672"/>
            <a:ext cx="438912" cy="438912"/>
          </a:xfrm>
          <a:prstGeom prst="ellipse">
            <a:avLst/>
          </a:prstGeom>
          <a:solidFill>
            <a:srgbClr val="16C79A"/>
          </a:solidFill>
          <a:ln w="12700">
            <a:solidFill>
              <a:srgbClr val="16C79A"/>
            </a:solidFill>
            <a:prstDash val="solid"/>
          </a:ln>
        </p:spPr>
      </p:sp>
      <p:sp>
        <p:nvSpPr>
          <p:cNvPr id="21" name="Text 18"/>
          <p:cNvSpPr/>
          <p:nvPr/>
        </p:nvSpPr>
        <p:spPr>
          <a:xfrm>
            <a:off x="5257800" y="4306824"/>
            <a:ext cx="438912" cy="201168"/>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22" name="Text 19"/>
          <p:cNvSpPr/>
          <p:nvPr/>
        </p:nvSpPr>
        <p:spPr>
          <a:xfrm>
            <a:off x="5852160" y="4325112"/>
            <a:ext cx="4937760" cy="228600"/>
          </a:xfrm>
          <a:prstGeom prst="rect">
            <a:avLst/>
          </a:prstGeom>
          <a:noFill/>
          <a:ln/>
        </p:spPr>
        <p:txBody>
          <a:bodyPr wrap="square" lIns="0" tIns="0" rIns="0" bIns="0" rtlCol="0" anchor="ctr"/>
          <a:lstStyle/>
          <a:p>
            <a:pPr marL="0" indent="0">
              <a:buNone/>
            </a:pPr>
            <a:r>
              <a:rPr lang="en-US" sz="1400" b="1" dirty="0">
                <a:solidFill>
                  <a:srgbClr val="182230"/>
                </a:solidFill>
              </a:rPr>
              <a:t>Exercise Analysis</a:t>
            </a:r>
            <a:endParaRPr lang="en-US" sz="1400" dirty="0"/>
          </a:p>
        </p:txBody>
      </p:sp>
      <p:sp>
        <p:nvSpPr>
          <p:cNvPr id="23" name="Shape 20"/>
          <p:cNvSpPr/>
          <p:nvPr/>
        </p:nvSpPr>
        <p:spPr>
          <a:xfrm>
            <a:off x="5477256" y="4663440"/>
            <a:ext cx="1" cy="201168"/>
          </a:xfrm>
          <a:prstGeom prst="line">
            <a:avLst/>
          </a:prstGeom>
          <a:noFill/>
          <a:ln w="25400">
            <a:solidFill>
              <a:srgbClr val="DCE6EE"/>
            </a:solidFill>
            <a:prstDash val="solid"/>
            <a:headEnd type="none"/>
            <a:tailEnd type="triangle"/>
          </a:ln>
        </p:spPr>
      </p:sp>
      <p:sp>
        <p:nvSpPr>
          <p:cNvPr id="24" name="Shape 21"/>
          <p:cNvSpPr/>
          <p:nvPr/>
        </p:nvSpPr>
        <p:spPr>
          <a:xfrm>
            <a:off x="5257800" y="4846320"/>
            <a:ext cx="438912" cy="438912"/>
          </a:xfrm>
          <a:prstGeom prst="ellipse">
            <a:avLst/>
          </a:prstGeom>
          <a:solidFill>
            <a:srgbClr val="16C79A"/>
          </a:solidFill>
          <a:ln w="12700">
            <a:solidFill>
              <a:srgbClr val="16C79A"/>
            </a:solidFill>
            <a:prstDash val="solid"/>
          </a:ln>
        </p:spPr>
      </p:sp>
      <p:sp>
        <p:nvSpPr>
          <p:cNvPr id="25" name="Text 22"/>
          <p:cNvSpPr/>
          <p:nvPr/>
        </p:nvSpPr>
        <p:spPr>
          <a:xfrm>
            <a:off x="5257800" y="4919472"/>
            <a:ext cx="438912" cy="201168"/>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26" name="Text 23"/>
          <p:cNvSpPr/>
          <p:nvPr/>
        </p:nvSpPr>
        <p:spPr>
          <a:xfrm>
            <a:off x="5852160" y="4937760"/>
            <a:ext cx="4937760" cy="228600"/>
          </a:xfrm>
          <a:prstGeom prst="rect">
            <a:avLst/>
          </a:prstGeom>
          <a:noFill/>
          <a:ln/>
        </p:spPr>
        <p:txBody>
          <a:bodyPr wrap="square" lIns="0" tIns="0" rIns="0" bIns="0" rtlCol="0" anchor="ctr"/>
          <a:lstStyle/>
          <a:p>
            <a:pPr marL="0" indent="0">
              <a:buNone/>
            </a:pPr>
            <a:r>
              <a:rPr lang="en-US" sz="1400" b="1" dirty="0">
                <a:solidFill>
                  <a:srgbClr val="182230"/>
                </a:solidFill>
              </a:rPr>
              <a:t>Community &amp; Gamification</a:t>
            </a:r>
            <a:endParaRPr lang="en-US" sz="1400" dirty="0"/>
          </a:p>
        </p:txBody>
      </p:sp>
      <p:sp>
        <p:nvSpPr>
          <p:cNvPr id="27" name="Shape 24"/>
          <p:cNvSpPr/>
          <p:nvPr/>
        </p:nvSpPr>
        <p:spPr>
          <a:xfrm>
            <a:off x="5230368" y="5276088"/>
            <a:ext cx="6053328" cy="438912"/>
          </a:xfrm>
          <a:prstGeom prst="roundRect">
            <a:avLst>
              <a:gd name="adj" fmla="val 33333"/>
            </a:avLst>
          </a:prstGeom>
          <a:solidFill>
            <a:srgbClr val="EAF2FF"/>
          </a:solidFill>
          <a:ln w="12700">
            <a:solidFill>
              <a:srgbClr val="CFE0FF"/>
            </a:solidFill>
            <a:prstDash val="solid"/>
          </a:ln>
        </p:spPr>
      </p:sp>
      <p:sp>
        <p:nvSpPr>
          <p:cNvPr id="28" name="Text 25"/>
          <p:cNvSpPr/>
          <p:nvPr/>
        </p:nvSpPr>
        <p:spPr>
          <a:xfrm>
            <a:off x="5394960" y="5413248"/>
            <a:ext cx="5715000" cy="137160"/>
          </a:xfrm>
          <a:prstGeom prst="rect">
            <a:avLst/>
          </a:prstGeom>
          <a:noFill/>
          <a:ln/>
        </p:spPr>
        <p:txBody>
          <a:bodyPr wrap="square" lIns="0" tIns="0" rIns="0" bIns="0" rtlCol="0" anchor="ctr"/>
          <a:lstStyle/>
          <a:p>
            <a:pPr marL="0" indent="0" algn="ctr">
              <a:buNone/>
            </a:pPr>
            <a:r>
              <a:rPr lang="en-US" sz="1150" b="1" dirty="0">
                <a:solidFill>
                  <a:srgbClr val="1677FF"/>
                </a:solidFill>
              </a:rPr>
              <a:t>AI  +  PERSONALIZATION  +  SAFETY  +  MOTIVATION</a:t>
            </a:r>
            <a:endParaRPr lang="en-US" sz="1150" dirty="0"/>
          </a:p>
        </p:txBody>
      </p:sp>
      <p:sp>
        <p:nvSpPr>
          <p:cNvPr id="29" name="Shape 26"/>
          <p:cNvSpPr/>
          <p:nvPr/>
        </p:nvSpPr>
        <p:spPr>
          <a:xfrm>
            <a:off x="5184648" y="5925312"/>
            <a:ext cx="1874520" cy="274320"/>
          </a:xfrm>
          <a:prstGeom prst="roundRect">
            <a:avLst>
              <a:gd name="adj" fmla="val 50000"/>
            </a:avLst>
          </a:prstGeom>
          <a:solidFill>
            <a:srgbClr val="0B1F33"/>
          </a:solidFill>
          <a:ln w="12700">
            <a:solidFill>
              <a:srgbClr val="0B1F33"/>
            </a:solidFill>
            <a:prstDash val="solid"/>
          </a:ln>
        </p:spPr>
      </p:sp>
      <p:sp>
        <p:nvSpPr>
          <p:cNvPr id="30" name="Text 27"/>
          <p:cNvSpPr/>
          <p:nvPr/>
        </p:nvSpPr>
        <p:spPr>
          <a:xfrm>
            <a:off x="5257800" y="5975604"/>
            <a:ext cx="1728216" cy="118872"/>
          </a:xfrm>
          <a:prstGeom prst="rect">
            <a:avLst/>
          </a:prstGeom>
          <a:noFill/>
          <a:ln/>
        </p:spPr>
        <p:txBody>
          <a:bodyPr wrap="square" lIns="0" tIns="0" rIns="0" bIns="0" rtlCol="0" anchor="ctr"/>
          <a:lstStyle/>
          <a:p>
            <a:pPr marL="0" indent="0" algn="ctr">
              <a:buNone/>
            </a:pPr>
            <a:r>
              <a:rPr lang="en-US" sz="950" b="1" dirty="0">
                <a:solidFill>
                  <a:srgbClr val="FFFFFF"/>
                </a:solidFill>
              </a:rPr>
              <a:t>WHAT DID WE BUILD?</a:t>
            </a:r>
            <a:endParaRPr lang="en-US" sz="950" dirty="0"/>
          </a:p>
        </p:txBody>
      </p:sp>
      <p:sp>
        <p:nvSpPr>
          <p:cNvPr id="31" name="Text 28"/>
          <p:cNvSpPr/>
          <p:nvPr/>
        </p:nvSpPr>
        <p:spPr>
          <a:xfrm>
            <a:off x="7223760" y="5961888"/>
            <a:ext cx="3977640" cy="201168"/>
          </a:xfrm>
          <a:prstGeom prst="rect">
            <a:avLst/>
          </a:prstGeom>
          <a:noFill/>
          <a:ln/>
        </p:spPr>
        <p:txBody>
          <a:bodyPr wrap="square" lIns="0" tIns="0" rIns="0" bIns="0" rtlCol="0" anchor="ctr"/>
          <a:lstStyle/>
          <a:p>
            <a:pPr marL="0" indent="0">
              <a:buNone/>
            </a:pPr>
            <a:r>
              <a:rPr lang="en-US" sz="1400" b="1" dirty="0">
                <a:solidFill>
                  <a:srgbClr val="0B1F33"/>
                </a:solidFill>
              </a:rPr>
              <a:t>A complete, integrated fitness platform.</a:t>
            </a:r>
            <a:endParaRPr lang="en-US" sz="1400" dirty="0"/>
          </a:p>
        </p:txBody>
      </p:sp>
      <p:sp>
        <p:nvSpPr>
          <p:cNvPr id="32" name="Slide Number Placeholder 0"/>
          <p:cNvSpPr>
            <a:spLocks noGrp="1"/>
          </p:cNvSpPr>
          <p:nvPr>
            <p:ph type="sldNum" sz="quarter" idx="4294967295"/>
          </p:nvPr>
        </p:nvSpPr>
        <p:spPr>
          <a:xfrm>
            <a:off x="11777472" y="6510528"/>
            <a:ext cx="201168"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98A2B3"/>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502920" y="301752"/>
            <a:ext cx="2743200" cy="201168"/>
          </a:xfrm>
          <a:prstGeom prst="rect">
            <a:avLst/>
          </a:prstGeom>
          <a:noFill/>
          <a:ln/>
        </p:spPr>
        <p:txBody>
          <a:bodyPr wrap="square" lIns="0" tIns="0" rIns="0" bIns="0" rtlCol="0" anchor="ctr"/>
          <a:lstStyle/>
          <a:p>
            <a:pPr marL="0" indent="0">
              <a:buNone/>
            </a:pPr>
            <a:r>
              <a:rPr lang="en-US" sz="1000" b="1" kern="0" spc="150" dirty="0">
                <a:solidFill>
                  <a:srgbClr val="16C79A"/>
                </a:solidFill>
              </a:rPr>
              <a:t>03 — OBJECTIVES</a:t>
            </a:r>
            <a:endParaRPr lang="en-US" sz="1000" dirty="0"/>
          </a:p>
        </p:txBody>
      </p:sp>
      <p:sp>
        <p:nvSpPr>
          <p:cNvPr id="3" name="Text 1"/>
          <p:cNvSpPr/>
          <p:nvPr/>
        </p:nvSpPr>
        <p:spPr>
          <a:xfrm>
            <a:off x="502920" y="530352"/>
            <a:ext cx="11109960" cy="438912"/>
          </a:xfrm>
          <a:prstGeom prst="rect">
            <a:avLst/>
          </a:prstGeom>
          <a:noFill/>
          <a:ln/>
        </p:spPr>
        <p:txBody>
          <a:bodyPr wrap="square" lIns="0" tIns="0" rIns="0" bIns="0" rtlCol="0" anchor="ctr"/>
          <a:lstStyle/>
          <a:p>
            <a:pPr marL="0" indent="0">
              <a:buNone/>
            </a:pPr>
            <a:r>
              <a:rPr lang="en-US" sz="2700" b="1" dirty="0">
                <a:solidFill>
                  <a:srgbClr val="0B1F33"/>
                </a:solidFill>
              </a:rPr>
              <a:t>Project Objectives</a:t>
            </a:r>
            <a:endParaRPr lang="en-US" sz="2700" dirty="0"/>
          </a:p>
        </p:txBody>
      </p:sp>
      <p:sp>
        <p:nvSpPr>
          <p:cNvPr id="4" name="Shape 2"/>
          <p:cNvSpPr/>
          <p:nvPr/>
        </p:nvSpPr>
        <p:spPr>
          <a:xfrm>
            <a:off x="502920" y="1042416"/>
            <a:ext cx="822960" cy="1"/>
          </a:xfrm>
          <a:prstGeom prst="line">
            <a:avLst/>
          </a:prstGeom>
          <a:noFill/>
          <a:ln w="38100">
            <a:solidFill>
              <a:srgbClr val="16C79A"/>
            </a:solidFill>
            <a:prstDash val="solid"/>
          </a:ln>
        </p:spPr>
      </p:sp>
      <p:sp>
        <p:nvSpPr>
          <p:cNvPr id="5" name="Shape 3"/>
          <p:cNvSpPr/>
          <p:nvPr/>
        </p:nvSpPr>
        <p:spPr>
          <a:xfrm>
            <a:off x="566928" y="1325880"/>
            <a:ext cx="3474720" cy="1783080"/>
          </a:xfrm>
          <a:prstGeom prst="roundRect">
            <a:avLst>
              <a:gd name="adj" fmla="val 8205"/>
            </a:avLst>
          </a:prstGeom>
          <a:solidFill>
            <a:srgbClr val="FFFFFF"/>
          </a:solidFill>
          <a:ln w="12700">
            <a:solidFill>
              <a:srgbClr val="DCE6EE"/>
            </a:solidFill>
            <a:prstDash val="solid"/>
          </a:ln>
          <a:effectLst/>
        </p:spPr>
      </p:sp>
      <p:sp>
        <p:nvSpPr>
          <p:cNvPr id="6" name="Text 4"/>
          <p:cNvSpPr/>
          <p:nvPr/>
        </p:nvSpPr>
        <p:spPr>
          <a:xfrm>
            <a:off x="768096" y="1508760"/>
            <a:ext cx="411480" cy="256032"/>
          </a:xfrm>
          <a:prstGeom prst="rect">
            <a:avLst/>
          </a:prstGeom>
          <a:noFill/>
          <a:ln/>
        </p:spPr>
        <p:txBody>
          <a:bodyPr wrap="square" lIns="0" tIns="0" rIns="0" bIns="0" rtlCol="0" anchor="ctr"/>
          <a:lstStyle/>
          <a:p>
            <a:pPr marL="0" indent="0">
              <a:buNone/>
            </a:pPr>
            <a:r>
              <a:rPr lang="en-US" sz="1300" b="1" dirty="0">
                <a:solidFill>
                  <a:srgbClr val="16C79A"/>
                </a:solidFill>
              </a:rPr>
              <a:t>01</a:t>
            </a:r>
            <a:endParaRPr lang="en-US" sz="1300" dirty="0"/>
          </a:p>
        </p:txBody>
      </p:sp>
      <p:sp>
        <p:nvSpPr>
          <p:cNvPr id="7" name="Shape 5"/>
          <p:cNvSpPr/>
          <p:nvPr/>
        </p:nvSpPr>
        <p:spPr>
          <a:xfrm>
            <a:off x="3447288" y="1490472"/>
            <a:ext cx="347472" cy="347472"/>
          </a:xfrm>
          <a:prstGeom prst="ellipse">
            <a:avLst/>
          </a:prstGeom>
          <a:solidFill>
            <a:srgbClr val="16C79A">
              <a:alpha val="90000"/>
            </a:srgbClr>
          </a:solidFill>
          <a:ln w="12700">
            <a:solidFill>
              <a:srgbClr val="16C79A"/>
            </a:solidFill>
            <a:prstDash val="solid"/>
          </a:ln>
        </p:spPr>
      </p:sp>
      <p:sp>
        <p:nvSpPr>
          <p:cNvPr id="8" name="Text 6"/>
          <p:cNvSpPr/>
          <p:nvPr/>
        </p:nvSpPr>
        <p:spPr>
          <a:xfrm>
            <a:off x="768096" y="2011680"/>
            <a:ext cx="2971800" cy="256032"/>
          </a:xfrm>
          <a:prstGeom prst="rect">
            <a:avLst/>
          </a:prstGeom>
          <a:noFill/>
          <a:ln/>
        </p:spPr>
        <p:txBody>
          <a:bodyPr wrap="square" lIns="0" tIns="0" rIns="0" bIns="0" rtlCol="0" anchor="ctr">
            <a:normAutofit/>
          </a:bodyPr>
          <a:lstStyle/>
          <a:p>
            <a:pPr marL="0" indent="0">
              <a:buNone/>
            </a:pPr>
            <a:r>
              <a:rPr lang="en-US" sz="1600" b="1" dirty="0">
                <a:solidFill>
                  <a:srgbClr val="0B1F33"/>
                </a:solidFill>
              </a:rPr>
              <a:t>Personalization</a:t>
            </a:r>
            <a:endParaRPr lang="en-US" sz="1600" dirty="0"/>
          </a:p>
        </p:txBody>
      </p:sp>
      <p:sp>
        <p:nvSpPr>
          <p:cNvPr id="9" name="Text 7"/>
          <p:cNvSpPr/>
          <p:nvPr/>
        </p:nvSpPr>
        <p:spPr>
          <a:xfrm>
            <a:off x="768096" y="2395728"/>
            <a:ext cx="2926080" cy="420624"/>
          </a:xfrm>
          <a:prstGeom prst="rect">
            <a:avLst/>
          </a:prstGeom>
          <a:noFill/>
          <a:ln/>
        </p:spPr>
        <p:txBody>
          <a:bodyPr wrap="square" lIns="0" tIns="0" rIns="0" bIns="0" rtlCol="0" anchor="ctr">
            <a:normAutofit/>
          </a:bodyPr>
          <a:lstStyle/>
          <a:p>
            <a:pPr marL="0" indent="0">
              <a:buNone/>
            </a:pPr>
            <a:r>
              <a:rPr lang="en-US" sz="1100" dirty="0">
                <a:solidFill>
                  <a:srgbClr val="667085"/>
                </a:solidFill>
              </a:rPr>
              <a:t>Workouts and nutrition for each profile.</a:t>
            </a:r>
            <a:endParaRPr lang="en-US" sz="1100" dirty="0"/>
          </a:p>
        </p:txBody>
      </p:sp>
      <p:sp>
        <p:nvSpPr>
          <p:cNvPr id="10" name="Shape 8"/>
          <p:cNvSpPr/>
          <p:nvPr/>
        </p:nvSpPr>
        <p:spPr>
          <a:xfrm>
            <a:off x="4379976" y="1325880"/>
            <a:ext cx="3474720" cy="1783080"/>
          </a:xfrm>
          <a:prstGeom prst="roundRect">
            <a:avLst>
              <a:gd name="adj" fmla="val 8205"/>
            </a:avLst>
          </a:prstGeom>
          <a:solidFill>
            <a:srgbClr val="FFFFFF"/>
          </a:solidFill>
          <a:ln w="12700">
            <a:solidFill>
              <a:srgbClr val="DCE6EE"/>
            </a:solidFill>
            <a:prstDash val="solid"/>
          </a:ln>
          <a:effectLst/>
        </p:spPr>
      </p:sp>
      <p:sp>
        <p:nvSpPr>
          <p:cNvPr id="11" name="Text 9"/>
          <p:cNvSpPr/>
          <p:nvPr/>
        </p:nvSpPr>
        <p:spPr>
          <a:xfrm>
            <a:off x="4581144" y="1508760"/>
            <a:ext cx="411480" cy="256032"/>
          </a:xfrm>
          <a:prstGeom prst="rect">
            <a:avLst/>
          </a:prstGeom>
          <a:noFill/>
          <a:ln/>
        </p:spPr>
        <p:txBody>
          <a:bodyPr wrap="square" lIns="0" tIns="0" rIns="0" bIns="0" rtlCol="0" anchor="ctr"/>
          <a:lstStyle/>
          <a:p>
            <a:pPr marL="0" indent="0">
              <a:buNone/>
            </a:pPr>
            <a:r>
              <a:rPr lang="en-US" sz="1300" b="1" dirty="0">
                <a:solidFill>
                  <a:srgbClr val="1677FF"/>
                </a:solidFill>
              </a:rPr>
              <a:t>02</a:t>
            </a:r>
            <a:endParaRPr lang="en-US" sz="1300" dirty="0"/>
          </a:p>
        </p:txBody>
      </p:sp>
      <p:sp>
        <p:nvSpPr>
          <p:cNvPr id="12" name="Shape 10"/>
          <p:cNvSpPr/>
          <p:nvPr/>
        </p:nvSpPr>
        <p:spPr>
          <a:xfrm>
            <a:off x="7260336" y="1490472"/>
            <a:ext cx="347472" cy="347472"/>
          </a:xfrm>
          <a:prstGeom prst="ellipse">
            <a:avLst/>
          </a:prstGeom>
          <a:solidFill>
            <a:srgbClr val="1677FF">
              <a:alpha val="90000"/>
            </a:srgbClr>
          </a:solidFill>
          <a:ln w="12700">
            <a:solidFill>
              <a:srgbClr val="1677FF"/>
            </a:solidFill>
            <a:prstDash val="solid"/>
          </a:ln>
        </p:spPr>
      </p:sp>
      <p:sp>
        <p:nvSpPr>
          <p:cNvPr id="13" name="Text 11"/>
          <p:cNvSpPr/>
          <p:nvPr/>
        </p:nvSpPr>
        <p:spPr>
          <a:xfrm>
            <a:off x="4581144" y="2011680"/>
            <a:ext cx="2971800" cy="256032"/>
          </a:xfrm>
          <a:prstGeom prst="rect">
            <a:avLst/>
          </a:prstGeom>
          <a:noFill/>
          <a:ln/>
        </p:spPr>
        <p:txBody>
          <a:bodyPr wrap="square" lIns="0" tIns="0" rIns="0" bIns="0" rtlCol="0" anchor="ctr">
            <a:normAutofit/>
          </a:bodyPr>
          <a:lstStyle/>
          <a:p>
            <a:pPr marL="0" indent="0">
              <a:buNone/>
            </a:pPr>
            <a:r>
              <a:rPr lang="en-US" sz="1600" b="1" dirty="0">
                <a:solidFill>
                  <a:srgbClr val="0B1F33"/>
                </a:solidFill>
              </a:rPr>
              <a:t>Artificial Intelligence</a:t>
            </a:r>
            <a:endParaRPr lang="en-US" sz="1600" dirty="0"/>
          </a:p>
        </p:txBody>
      </p:sp>
      <p:sp>
        <p:nvSpPr>
          <p:cNvPr id="14" name="Text 12"/>
          <p:cNvSpPr/>
          <p:nvPr/>
        </p:nvSpPr>
        <p:spPr>
          <a:xfrm>
            <a:off x="4581144" y="2395728"/>
            <a:ext cx="2926080" cy="420624"/>
          </a:xfrm>
          <a:prstGeom prst="rect">
            <a:avLst/>
          </a:prstGeom>
          <a:noFill/>
          <a:ln/>
        </p:spPr>
        <p:txBody>
          <a:bodyPr wrap="square" lIns="0" tIns="0" rIns="0" bIns="0" rtlCol="0" anchor="ctr">
            <a:normAutofit/>
          </a:bodyPr>
          <a:lstStyle/>
          <a:p>
            <a:pPr marL="0" indent="0">
              <a:buNone/>
            </a:pPr>
            <a:r>
              <a:rPr lang="en-US" sz="1100" dirty="0">
                <a:solidFill>
                  <a:srgbClr val="667085"/>
                </a:solidFill>
              </a:rPr>
              <a:t>Multiple AI modules for recommendations.</a:t>
            </a:r>
            <a:endParaRPr lang="en-US" sz="1100" dirty="0"/>
          </a:p>
        </p:txBody>
      </p:sp>
      <p:sp>
        <p:nvSpPr>
          <p:cNvPr id="15" name="Shape 13"/>
          <p:cNvSpPr/>
          <p:nvPr/>
        </p:nvSpPr>
        <p:spPr>
          <a:xfrm>
            <a:off x="8193024" y="1325880"/>
            <a:ext cx="3474720" cy="1783080"/>
          </a:xfrm>
          <a:prstGeom prst="roundRect">
            <a:avLst>
              <a:gd name="adj" fmla="val 8205"/>
            </a:avLst>
          </a:prstGeom>
          <a:solidFill>
            <a:srgbClr val="FFFFFF"/>
          </a:solidFill>
          <a:ln w="12700">
            <a:solidFill>
              <a:srgbClr val="DCE6EE"/>
            </a:solidFill>
            <a:prstDash val="solid"/>
          </a:ln>
          <a:effectLst/>
        </p:spPr>
      </p:sp>
      <p:sp>
        <p:nvSpPr>
          <p:cNvPr id="16" name="Text 14"/>
          <p:cNvSpPr/>
          <p:nvPr/>
        </p:nvSpPr>
        <p:spPr>
          <a:xfrm>
            <a:off x="8394192" y="1508760"/>
            <a:ext cx="411480" cy="256032"/>
          </a:xfrm>
          <a:prstGeom prst="rect">
            <a:avLst/>
          </a:prstGeom>
          <a:noFill/>
          <a:ln/>
        </p:spPr>
        <p:txBody>
          <a:bodyPr wrap="square" lIns="0" tIns="0" rIns="0" bIns="0" rtlCol="0" anchor="ctr"/>
          <a:lstStyle/>
          <a:p>
            <a:pPr marL="0" indent="0">
              <a:buNone/>
            </a:pPr>
            <a:r>
              <a:rPr lang="en-US" sz="1300" b="1" dirty="0">
                <a:solidFill>
                  <a:srgbClr val="FFB547"/>
                </a:solidFill>
              </a:rPr>
              <a:t>03</a:t>
            </a:r>
            <a:endParaRPr lang="en-US" sz="1300" dirty="0"/>
          </a:p>
        </p:txBody>
      </p:sp>
      <p:sp>
        <p:nvSpPr>
          <p:cNvPr id="17" name="Shape 15"/>
          <p:cNvSpPr/>
          <p:nvPr/>
        </p:nvSpPr>
        <p:spPr>
          <a:xfrm>
            <a:off x="11073384" y="1490472"/>
            <a:ext cx="347472" cy="347472"/>
          </a:xfrm>
          <a:prstGeom prst="ellipse">
            <a:avLst/>
          </a:prstGeom>
          <a:solidFill>
            <a:srgbClr val="FFB547">
              <a:alpha val="90000"/>
            </a:srgbClr>
          </a:solidFill>
          <a:ln w="12700">
            <a:solidFill>
              <a:srgbClr val="FFB547"/>
            </a:solidFill>
            <a:prstDash val="solid"/>
          </a:ln>
        </p:spPr>
      </p:sp>
      <p:sp>
        <p:nvSpPr>
          <p:cNvPr id="18" name="Text 16"/>
          <p:cNvSpPr/>
          <p:nvPr/>
        </p:nvSpPr>
        <p:spPr>
          <a:xfrm>
            <a:off x="8394192" y="2011680"/>
            <a:ext cx="2971800" cy="256032"/>
          </a:xfrm>
          <a:prstGeom prst="rect">
            <a:avLst/>
          </a:prstGeom>
          <a:noFill/>
          <a:ln/>
        </p:spPr>
        <p:txBody>
          <a:bodyPr wrap="square" lIns="0" tIns="0" rIns="0" bIns="0" rtlCol="0" anchor="ctr">
            <a:normAutofit/>
          </a:bodyPr>
          <a:lstStyle/>
          <a:p>
            <a:pPr marL="0" indent="0">
              <a:buNone/>
            </a:pPr>
            <a:r>
              <a:rPr lang="en-US" sz="1600" b="1" dirty="0">
                <a:solidFill>
                  <a:srgbClr val="0B1F33"/>
                </a:solidFill>
              </a:rPr>
              <a:t>Nutrition</a:t>
            </a:r>
            <a:endParaRPr lang="en-US" sz="1600" dirty="0"/>
          </a:p>
        </p:txBody>
      </p:sp>
      <p:sp>
        <p:nvSpPr>
          <p:cNvPr id="19" name="Text 17"/>
          <p:cNvSpPr/>
          <p:nvPr/>
        </p:nvSpPr>
        <p:spPr>
          <a:xfrm>
            <a:off x="8394192" y="2395728"/>
            <a:ext cx="2926080" cy="420624"/>
          </a:xfrm>
          <a:prstGeom prst="rect">
            <a:avLst/>
          </a:prstGeom>
          <a:noFill/>
          <a:ln/>
        </p:spPr>
        <p:txBody>
          <a:bodyPr wrap="square" lIns="0" tIns="0" rIns="0" bIns="0" rtlCol="0" anchor="ctr">
            <a:normAutofit/>
          </a:bodyPr>
          <a:lstStyle/>
          <a:p>
            <a:pPr marL="0" indent="0">
              <a:buNone/>
            </a:pPr>
            <a:r>
              <a:rPr lang="en-US" sz="1100" dirty="0">
                <a:solidFill>
                  <a:srgbClr val="667085"/>
                </a:solidFill>
              </a:rPr>
              <a:t>Meals respecting allergies and preferences.</a:t>
            </a:r>
            <a:endParaRPr lang="en-US" sz="1100" dirty="0"/>
          </a:p>
        </p:txBody>
      </p:sp>
      <p:sp>
        <p:nvSpPr>
          <p:cNvPr id="20" name="Shape 18"/>
          <p:cNvSpPr/>
          <p:nvPr/>
        </p:nvSpPr>
        <p:spPr>
          <a:xfrm>
            <a:off x="566928" y="3474720"/>
            <a:ext cx="3474720" cy="1783080"/>
          </a:xfrm>
          <a:prstGeom prst="roundRect">
            <a:avLst>
              <a:gd name="adj" fmla="val 8205"/>
            </a:avLst>
          </a:prstGeom>
          <a:solidFill>
            <a:srgbClr val="FFFFFF"/>
          </a:solidFill>
          <a:ln w="12700">
            <a:solidFill>
              <a:srgbClr val="DCE6EE"/>
            </a:solidFill>
            <a:prstDash val="solid"/>
          </a:ln>
          <a:effectLst/>
        </p:spPr>
      </p:sp>
      <p:sp>
        <p:nvSpPr>
          <p:cNvPr id="21" name="Text 19"/>
          <p:cNvSpPr/>
          <p:nvPr/>
        </p:nvSpPr>
        <p:spPr>
          <a:xfrm>
            <a:off x="768096" y="3657600"/>
            <a:ext cx="411480" cy="256032"/>
          </a:xfrm>
          <a:prstGeom prst="rect">
            <a:avLst/>
          </a:prstGeom>
          <a:noFill/>
          <a:ln/>
        </p:spPr>
        <p:txBody>
          <a:bodyPr wrap="square" lIns="0" tIns="0" rIns="0" bIns="0" rtlCol="0" anchor="ctr"/>
          <a:lstStyle/>
          <a:p>
            <a:pPr marL="0" indent="0">
              <a:buNone/>
            </a:pPr>
            <a:r>
              <a:rPr lang="en-US" sz="1300" b="1" dirty="0">
                <a:solidFill>
                  <a:srgbClr val="20B8CD"/>
                </a:solidFill>
              </a:rPr>
              <a:t>04</a:t>
            </a:r>
            <a:endParaRPr lang="en-US" sz="1300" dirty="0"/>
          </a:p>
        </p:txBody>
      </p:sp>
      <p:sp>
        <p:nvSpPr>
          <p:cNvPr id="22" name="Shape 20"/>
          <p:cNvSpPr/>
          <p:nvPr/>
        </p:nvSpPr>
        <p:spPr>
          <a:xfrm>
            <a:off x="3447288" y="3639312"/>
            <a:ext cx="347472" cy="347472"/>
          </a:xfrm>
          <a:prstGeom prst="ellipse">
            <a:avLst/>
          </a:prstGeom>
          <a:solidFill>
            <a:srgbClr val="20B8CD">
              <a:alpha val="90000"/>
            </a:srgbClr>
          </a:solidFill>
          <a:ln w="12700">
            <a:solidFill>
              <a:srgbClr val="20B8CD"/>
            </a:solidFill>
            <a:prstDash val="solid"/>
          </a:ln>
        </p:spPr>
      </p:sp>
      <p:sp>
        <p:nvSpPr>
          <p:cNvPr id="23" name="Text 21"/>
          <p:cNvSpPr/>
          <p:nvPr/>
        </p:nvSpPr>
        <p:spPr>
          <a:xfrm>
            <a:off x="768096" y="4160520"/>
            <a:ext cx="2971800" cy="256032"/>
          </a:xfrm>
          <a:prstGeom prst="rect">
            <a:avLst/>
          </a:prstGeom>
          <a:noFill/>
          <a:ln/>
        </p:spPr>
        <p:txBody>
          <a:bodyPr wrap="square" lIns="0" tIns="0" rIns="0" bIns="0" rtlCol="0" anchor="ctr">
            <a:normAutofit/>
          </a:bodyPr>
          <a:lstStyle/>
          <a:p>
            <a:pPr marL="0" indent="0">
              <a:buNone/>
            </a:pPr>
            <a:r>
              <a:rPr lang="en-US" sz="1600" b="1" dirty="0">
                <a:solidFill>
                  <a:srgbClr val="0B1F33"/>
                </a:solidFill>
              </a:rPr>
              <a:t>Exercise Analysis</a:t>
            </a:r>
            <a:endParaRPr lang="en-US" sz="1600" dirty="0"/>
          </a:p>
        </p:txBody>
      </p:sp>
      <p:sp>
        <p:nvSpPr>
          <p:cNvPr id="24" name="Text 22"/>
          <p:cNvSpPr/>
          <p:nvPr/>
        </p:nvSpPr>
        <p:spPr>
          <a:xfrm>
            <a:off x="768096" y="4544568"/>
            <a:ext cx="2926080" cy="420624"/>
          </a:xfrm>
          <a:prstGeom prst="rect">
            <a:avLst/>
          </a:prstGeom>
          <a:noFill/>
          <a:ln/>
        </p:spPr>
        <p:txBody>
          <a:bodyPr wrap="square" lIns="0" tIns="0" rIns="0" bIns="0" rtlCol="0" anchor="ctr">
            <a:normAutofit/>
          </a:bodyPr>
          <a:lstStyle/>
          <a:p>
            <a:pPr marL="0" indent="0">
              <a:buNone/>
            </a:pPr>
            <a:r>
              <a:rPr lang="en-US" sz="1100" dirty="0">
                <a:solidFill>
                  <a:srgbClr val="667085"/>
                </a:solidFill>
              </a:rPr>
              <a:t>Video-based form feedback.</a:t>
            </a:r>
            <a:endParaRPr lang="en-US" sz="1100" dirty="0"/>
          </a:p>
        </p:txBody>
      </p:sp>
      <p:sp>
        <p:nvSpPr>
          <p:cNvPr id="25" name="Shape 23"/>
          <p:cNvSpPr/>
          <p:nvPr/>
        </p:nvSpPr>
        <p:spPr>
          <a:xfrm>
            <a:off x="4379976" y="3474720"/>
            <a:ext cx="3474720" cy="1783080"/>
          </a:xfrm>
          <a:prstGeom prst="roundRect">
            <a:avLst>
              <a:gd name="adj" fmla="val 8205"/>
            </a:avLst>
          </a:prstGeom>
          <a:solidFill>
            <a:srgbClr val="FFFFFF"/>
          </a:solidFill>
          <a:ln w="12700">
            <a:solidFill>
              <a:srgbClr val="DCE6EE"/>
            </a:solidFill>
            <a:prstDash val="solid"/>
          </a:ln>
          <a:effectLst/>
        </p:spPr>
      </p:sp>
      <p:sp>
        <p:nvSpPr>
          <p:cNvPr id="26" name="Text 24"/>
          <p:cNvSpPr/>
          <p:nvPr/>
        </p:nvSpPr>
        <p:spPr>
          <a:xfrm>
            <a:off x="4581144" y="3657600"/>
            <a:ext cx="411480" cy="256032"/>
          </a:xfrm>
          <a:prstGeom prst="rect">
            <a:avLst/>
          </a:prstGeom>
          <a:noFill/>
          <a:ln/>
        </p:spPr>
        <p:txBody>
          <a:bodyPr wrap="square" lIns="0" tIns="0" rIns="0" bIns="0" rtlCol="0" anchor="ctr"/>
          <a:lstStyle/>
          <a:p>
            <a:pPr marL="0" indent="0">
              <a:buNone/>
            </a:pPr>
            <a:r>
              <a:rPr lang="en-US" sz="1300" b="1" dirty="0">
                <a:solidFill>
                  <a:srgbClr val="12B76A"/>
                </a:solidFill>
              </a:rPr>
              <a:t>05</a:t>
            </a:r>
            <a:endParaRPr lang="en-US" sz="1300" dirty="0"/>
          </a:p>
        </p:txBody>
      </p:sp>
      <p:sp>
        <p:nvSpPr>
          <p:cNvPr id="27" name="Shape 25"/>
          <p:cNvSpPr/>
          <p:nvPr/>
        </p:nvSpPr>
        <p:spPr>
          <a:xfrm>
            <a:off x="7260336" y="3639312"/>
            <a:ext cx="347472" cy="347472"/>
          </a:xfrm>
          <a:prstGeom prst="ellipse">
            <a:avLst/>
          </a:prstGeom>
          <a:solidFill>
            <a:srgbClr val="12B76A">
              <a:alpha val="90000"/>
            </a:srgbClr>
          </a:solidFill>
          <a:ln w="12700">
            <a:solidFill>
              <a:srgbClr val="12B76A"/>
            </a:solidFill>
            <a:prstDash val="solid"/>
          </a:ln>
        </p:spPr>
      </p:sp>
      <p:sp>
        <p:nvSpPr>
          <p:cNvPr id="28" name="Text 26"/>
          <p:cNvSpPr/>
          <p:nvPr/>
        </p:nvSpPr>
        <p:spPr>
          <a:xfrm>
            <a:off x="4581144" y="4160520"/>
            <a:ext cx="2971800" cy="256032"/>
          </a:xfrm>
          <a:prstGeom prst="rect">
            <a:avLst/>
          </a:prstGeom>
          <a:noFill/>
          <a:ln/>
        </p:spPr>
        <p:txBody>
          <a:bodyPr wrap="square" lIns="0" tIns="0" rIns="0" bIns="0" rtlCol="0" anchor="ctr">
            <a:normAutofit/>
          </a:bodyPr>
          <a:lstStyle/>
          <a:p>
            <a:pPr marL="0" indent="0">
              <a:buNone/>
            </a:pPr>
            <a:r>
              <a:rPr lang="en-US" sz="1600" b="1" dirty="0">
                <a:solidFill>
                  <a:srgbClr val="0B1F33"/>
                </a:solidFill>
              </a:rPr>
              <a:t>Progress Tracking</a:t>
            </a:r>
            <a:endParaRPr lang="en-US" sz="1600" dirty="0"/>
          </a:p>
        </p:txBody>
      </p:sp>
      <p:sp>
        <p:nvSpPr>
          <p:cNvPr id="29" name="Text 27"/>
          <p:cNvSpPr/>
          <p:nvPr/>
        </p:nvSpPr>
        <p:spPr>
          <a:xfrm>
            <a:off x="4581144" y="4544568"/>
            <a:ext cx="2926080" cy="420624"/>
          </a:xfrm>
          <a:prstGeom prst="rect">
            <a:avLst/>
          </a:prstGeom>
          <a:noFill/>
          <a:ln/>
        </p:spPr>
        <p:txBody>
          <a:bodyPr wrap="square" lIns="0" tIns="0" rIns="0" bIns="0" rtlCol="0" anchor="ctr">
            <a:normAutofit/>
          </a:bodyPr>
          <a:lstStyle/>
          <a:p>
            <a:pPr marL="0" indent="0">
              <a:buNone/>
            </a:pPr>
            <a:r>
              <a:rPr lang="en-US" sz="1100" dirty="0">
                <a:solidFill>
                  <a:srgbClr val="667085"/>
                </a:solidFill>
              </a:rPr>
              <a:t>Weight, measurements and activity.</a:t>
            </a:r>
            <a:endParaRPr lang="en-US" sz="1100" dirty="0"/>
          </a:p>
        </p:txBody>
      </p:sp>
      <p:sp>
        <p:nvSpPr>
          <p:cNvPr id="30" name="Shape 28"/>
          <p:cNvSpPr/>
          <p:nvPr/>
        </p:nvSpPr>
        <p:spPr>
          <a:xfrm>
            <a:off x="8193024" y="3474720"/>
            <a:ext cx="3474720" cy="1783080"/>
          </a:xfrm>
          <a:prstGeom prst="roundRect">
            <a:avLst>
              <a:gd name="adj" fmla="val 8205"/>
            </a:avLst>
          </a:prstGeom>
          <a:solidFill>
            <a:srgbClr val="FFFFFF"/>
          </a:solidFill>
          <a:ln w="12700">
            <a:solidFill>
              <a:srgbClr val="DCE6EE"/>
            </a:solidFill>
            <a:prstDash val="solid"/>
          </a:ln>
          <a:effectLst/>
        </p:spPr>
      </p:sp>
      <p:sp>
        <p:nvSpPr>
          <p:cNvPr id="31" name="Text 29"/>
          <p:cNvSpPr/>
          <p:nvPr/>
        </p:nvSpPr>
        <p:spPr>
          <a:xfrm>
            <a:off x="8394192" y="3657600"/>
            <a:ext cx="411480" cy="256032"/>
          </a:xfrm>
          <a:prstGeom prst="rect">
            <a:avLst/>
          </a:prstGeom>
          <a:noFill/>
          <a:ln/>
        </p:spPr>
        <p:txBody>
          <a:bodyPr wrap="square" lIns="0" tIns="0" rIns="0" bIns="0" rtlCol="0" anchor="ctr"/>
          <a:lstStyle/>
          <a:p>
            <a:pPr marL="0" indent="0">
              <a:buNone/>
            </a:pPr>
            <a:r>
              <a:rPr lang="en-US" sz="1300" b="1" dirty="0">
                <a:solidFill>
                  <a:srgbClr val="F97066"/>
                </a:solidFill>
              </a:rPr>
              <a:t>06</a:t>
            </a:r>
            <a:endParaRPr lang="en-US" sz="1300" dirty="0"/>
          </a:p>
        </p:txBody>
      </p:sp>
      <p:sp>
        <p:nvSpPr>
          <p:cNvPr id="32" name="Shape 30"/>
          <p:cNvSpPr/>
          <p:nvPr/>
        </p:nvSpPr>
        <p:spPr>
          <a:xfrm>
            <a:off x="11073384" y="3639312"/>
            <a:ext cx="347472" cy="347472"/>
          </a:xfrm>
          <a:prstGeom prst="ellipse">
            <a:avLst/>
          </a:prstGeom>
          <a:solidFill>
            <a:srgbClr val="F97066">
              <a:alpha val="90000"/>
            </a:srgbClr>
          </a:solidFill>
          <a:ln w="12700">
            <a:solidFill>
              <a:srgbClr val="F97066"/>
            </a:solidFill>
            <a:prstDash val="solid"/>
          </a:ln>
        </p:spPr>
      </p:sp>
      <p:sp>
        <p:nvSpPr>
          <p:cNvPr id="33" name="Text 31"/>
          <p:cNvSpPr/>
          <p:nvPr/>
        </p:nvSpPr>
        <p:spPr>
          <a:xfrm>
            <a:off x="8394192" y="4160520"/>
            <a:ext cx="2971800" cy="256032"/>
          </a:xfrm>
          <a:prstGeom prst="rect">
            <a:avLst/>
          </a:prstGeom>
          <a:noFill/>
          <a:ln/>
        </p:spPr>
        <p:txBody>
          <a:bodyPr wrap="square" lIns="0" tIns="0" rIns="0" bIns="0" rtlCol="0" anchor="ctr">
            <a:normAutofit/>
          </a:bodyPr>
          <a:lstStyle/>
          <a:p>
            <a:pPr marL="0" indent="0">
              <a:buNone/>
            </a:pPr>
            <a:r>
              <a:rPr lang="en-US" sz="1600" b="1" dirty="0">
                <a:solidFill>
                  <a:srgbClr val="0B1F33"/>
                </a:solidFill>
              </a:rPr>
              <a:t>Engagement</a:t>
            </a:r>
            <a:endParaRPr lang="en-US" sz="1600" dirty="0"/>
          </a:p>
        </p:txBody>
      </p:sp>
      <p:sp>
        <p:nvSpPr>
          <p:cNvPr id="34" name="Text 32"/>
          <p:cNvSpPr/>
          <p:nvPr/>
        </p:nvSpPr>
        <p:spPr>
          <a:xfrm>
            <a:off x="8394192" y="4544568"/>
            <a:ext cx="2926080" cy="420624"/>
          </a:xfrm>
          <a:prstGeom prst="rect">
            <a:avLst/>
          </a:prstGeom>
          <a:noFill/>
          <a:ln/>
        </p:spPr>
        <p:txBody>
          <a:bodyPr wrap="square" lIns="0" tIns="0" rIns="0" bIns="0" rtlCol="0" anchor="ctr">
            <a:normAutofit/>
          </a:bodyPr>
          <a:lstStyle/>
          <a:p>
            <a:pPr marL="0" indent="0">
              <a:buNone/>
            </a:pPr>
            <a:r>
              <a:rPr lang="en-US" sz="1100" dirty="0">
                <a:solidFill>
                  <a:srgbClr val="667085"/>
                </a:solidFill>
              </a:rPr>
              <a:t>Challenges, rewards and community.</a:t>
            </a:r>
            <a:endParaRPr lang="en-US" sz="1100" dirty="0"/>
          </a:p>
        </p:txBody>
      </p:sp>
      <p:sp>
        <p:nvSpPr>
          <p:cNvPr id="35" name="Slide Number Placeholder 0"/>
          <p:cNvSpPr>
            <a:spLocks noGrp="1"/>
          </p:cNvSpPr>
          <p:nvPr>
            <p:ph type="sldNum" sz="quarter" idx="4294967295"/>
          </p:nvPr>
        </p:nvSpPr>
        <p:spPr>
          <a:xfrm>
            <a:off x="11777472" y="6510528"/>
            <a:ext cx="201168"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98A2B3"/>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5029200" cy="256032"/>
          </a:xfrm>
          <a:prstGeom prst="rect">
            <a:avLst/>
          </a:prstGeom>
          <a:noFill/>
        </p:spPr>
        <p:txBody>
          <a:bodyPr wrap="square" anchor="t">
            <a:spAutoFit/>
          </a:bodyPr>
          <a:lstStyle/>
          <a:p>
            <a:pPr algn="l"/>
            <a:r>
              <a:rPr sz="1000" b="1">
                <a:solidFill>
                  <a:srgbClr val="109669"/>
                </a:solidFill>
                <a:latin typeface="Aptos"/>
              </a:rPr>
              <a:t>03 — COMPETITIVE EDGE</a:t>
            </a:r>
          </a:p>
        </p:txBody>
      </p:sp>
      <p:sp>
        <p:nvSpPr>
          <p:cNvPr id="4" name="TextBox 3"/>
          <p:cNvSpPr txBox="1"/>
          <p:nvPr/>
        </p:nvSpPr>
        <p:spPr>
          <a:xfrm>
            <a:off x="594360" y="621792"/>
            <a:ext cx="10972800" cy="566928"/>
          </a:xfrm>
          <a:prstGeom prst="rect">
            <a:avLst/>
          </a:prstGeom>
          <a:noFill/>
        </p:spPr>
        <p:txBody>
          <a:bodyPr wrap="square" anchor="t">
            <a:spAutoFit/>
          </a:bodyPr>
          <a:lstStyle/>
          <a:p>
            <a:pPr algn="l"/>
            <a:r>
              <a:rPr sz="2700" b="1">
                <a:solidFill>
                  <a:srgbClr val="141F27"/>
                </a:solidFill>
                <a:latin typeface="Aptos"/>
              </a:rPr>
              <a:t>What makes Elite Fitness different?</a:t>
            </a:r>
          </a:p>
        </p:txBody>
      </p:sp>
      <p:sp>
        <p:nvSpPr>
          <p:cNvPr id="5" name="Rectangle 4"/>
          <p:cNvSpPr/>
          <p:nvPr/>
        </p:nvSpPr>
        <p:spPr>
          <a:xfrm>
            <a:off x="502920" y="1325880"/>
            <a:ext cx="2377440" cy="566928"/>
          </a:xfrm>
          <a:prstGeom prst="rect">
            <a:avLst/>
          </a:prstGeom>
          <a:solidFill>
            <a:srgbClr val="141F2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35607"/>
            <a:ext cx="2286000" cy="320040"/>
          </a:xfrm>
          <a:prstGeom prst="rect">
            <a:avLst/>
          </a:prstGeom>
          <a:noFill/>
        </p:spPr>
        <p:txBody>
          <a:bodyPr wrap="square" anchor="t">
            <a:spAutoFit/>
          </a:bodyPr>
          <a:lstStyle/>
          <a:p>
            <a:pPr algn="ctr"/>
            <a:r>
              <a:rPr sz="1000" b="1">
                <a:solidFill>
                  <a:srgbClr val="FFFFFF"/>
                </a:solidFill>
                <a:latin typeface="Aptos"/>
              </a:rPr>
              <a:t>Capability</a:t>
            </a:r>
          </a:p>
        </p:txBody>
      </p:sp>
      <p:sp>
        <p:nvSpPr>
          <p:cNvPr id="7" name="Rectangle 6"/>
          <p:cNvSpPr/>
          <p:nvPr/>
        </p:nvSpPr>
        <p:spPr>
          <a:xfrm>
            <a:off x="2880360" y="1325880"/>
            <a:ext cx="1783080" cy="566928"/>
          </a:xfrm>
          <a:prstGeom prst="rect">
            <a:avLst/>
          </a:prstGeom>
          <a:solidFill>
            <a:srgbClr val="141F2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26080" y="1435607"/>
            <a:ext cx="1691639" cy="320040"/>
          </a:xfrm>
          <a:prstGeom prst="rect">
            <a:avLst/>
          </a:prstGeom>
          <a:noFill/>
        </p:spPr>
        <p:txBody>
          <a:bodyPr wrap="square" anchor="t">
            <a:spAutoFit/>
          </a:bodyPr>
          <a:lstStyle/>
          <a:p>
            <a:pPr algn="ctr"/>
            <a:r>
              <a:rPr sz="1000" b="1">
                <a:solidFill>
                  <a:srgbClr val="FFFFFF"/>
                </a:solidFill>
                <a:latin typeface="Aptos"/>
              </a:rPr>
              <a:t>Nike Training Club</a:t>
            </a:r>
          </a:p>
        </p:txBody>
      </p:sp>
      <p:sp>
        <p:nvSpPr>
          <p:cNvPr id="9" name="Rectangle 8"/>
          <p:cNvSpPr/>
          <p:nvPr/>
        </p:nvSpPr>
        <p:spPr>
          <a:xfrm>
            <a:off x="4663440" y="1325880"/>
            <a:ext cx="1417320" cy="566928"/>
          </a:xfrm>
          <a:prstGeom prst="rect">
            <a:avLst/>
          </a:prstGeom>
          <a:solidFill>
            <a:srgbClr val="141F2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09160" y="1435607"/>
            <a:ext cx="1325880" cy="320040"/>
          </a:xfrm>
          <a:prstGeom prst="rect">
            <a:avLst/>
          </a:prstGeom>
          <a:noFill/>
        </p:spPr>
        <p:txBody>
          <a:bodyPr wrap="square" anchor="t">
            <a:spAutoFit/>
          </a:bodyPr>
          <a:lstStyle/>
          <a:p>
            <a:pPr algn="ctr"/>
            <a:r>
              <a:rPr sz="1000" b="1">
                <a:solidFill>
                  <a:srgbClr val="FFFFFF"/>
                </a:solidFill>
                <a:latin typeface="Aptos"/>
              </a:rPr>
              <a:t>Fitbod</a:t>
            </a:r>
          </a:p>
        </p:txBody>
      </p:sp>
      <p:sp>
        <p:nvSpPr>
          <p:cNvPr id="11" name="Rectangle 10"/>
          <p:cNvSpPr/>
          <p:nvPr/>
        </p:nvSpPr>
        <p:spPr>
          <a:xfrm>
            <a:off x="6080760" y="1325880"/>
            <a:ext cx="1600200" cy="566928"/>
          </a:xfrm>
          <a:prstGeom prst="rect">
            <a:avLst/>
          </a:prstGeom>
          <a:solidFill>
            <a:srgbClr val="141F2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1435607"/>
            <a:ext cx="1508760" cy="320040"/>
          </a:xfrm>
          <a:prstGeom prst="rect">
            <a:avLst/>
          </a:prstGeom>
          <a:noFill/>
        </p:spPr>
        <p:txBody>
          <a:bodyPr wrap="square" anchor="t">
            <a:spAutoFit/>
          </a:bodyPr>
          <a:lstStyle/>
          <a:p>
            <a:pPr algn="ctr"/>
            <a:r>
              <a:rPr sz="1000" b="1">
                <a:solidFill>
                  <a:srgbClr val="FFFFFF"/>
                </a:solidFill>
                <a:latin typeface="Aptos"/>
              </a:rPr>
              <a:t>MyFitnessPal</a:t>
            </a:r>
          </a:p>
        </p:txBody>
      </p:sp>
      <p:sp>
        <p:nvSpPr>
          <p:cNvPr id="13" name="Rectangle 12"/>
          <p:cNvSpPr/>
          <p:nvPr/>
        </p:nvSpPr>
        <p:spPr>
          <a:xfrm>
            <a:off x="7680960" y="1325880"/>
            <a:ext cx="1417320" cy="566928"/>
          </a:xfrm>
          <a:prstGeom prst="rect">
            <a:avLst/>
          </a:prstGeom>
          <a:solidFill>
            <a:srgbClr val="141F2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26680" y="1435607"/>
            <a:ext cx="1325880" cy="320040"/>
          </a:xfrm>
          <a:prstGeom prst="rect">
            <a:avLst/>
          </a:prstGeom>
          <a:noFill/>
        </p:spPr>
        <p:txBody>
          <a:bodyPr wrap="square" anchor="t">
            <a:spAutoFit/>
          </a:bodyPr>
          <a:lstStyle/>
          <a:p>
            <a:pPr algn="ctr"/>
            <a:r>
              <a:rPr sz="1000" b="1">
                <a:solidFill>
                  <a:srgbClr val="FFFFFF"/>
                </a:solidFill>
                <a:latin typeface="Aptos"/>
              </a:rPr>
              <a:t>Strava</a:t>
            </a:r>
          </a:p>
        </p:txBody>
      </p:sp>
      <p:sp>
        <p:nvSpPr>
          <p:cNvPr id="15" name="Rectangle 14"/>
          <p:cNvSpPr/>
          <p:nvPr/>
        </p:nvSpPr>
        <p:spPr>
          <a:xfrm>
            <a:off x="9098280" y="1325880"/>
            <a:ext cx="2057400" cy="566928"/>
          </a:xfrm>
          <a:prstGeom prst="rect">
            <a:avLst/>
          </a:prstGeom>
          <a:solidFill>
            <a:srgbClr val="10966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1435607"/>
            <a:ext cx="1965960" cy="320040"/>
          </a:xfrm>
          <a:prstGeom prst="rect">
            <a:avLst/>
          </a:prstGeom>
          <a:noFill/>
        </p:spPr>
        <p:txBody>
          <a:bodyPr wrap="square" anchor="t">
            <a:spAutoFit/>
          </a:bodyPr>
          <a:lstStyle/>
          <a:p>
            <a:pPr algn="ctr"/>
            <a:r>
              <a:rPr sz="1000" b="1">
                <a:solidFill>
                  <a:srgbClr val="FFFFFF"/>
                </a:solidFill>
                <a:latin typeface="Aptos"/>
              </a:rPr>
              <a:t>Elite Fitness</a:t>
            </a:r>
          </a:p>
        </p:txBody>
      </p:sp>
      <p:sp>
        <p:nvSpPr>
          <p:cNvPr id="17" name="Rectangle 16"/>
          <p:cNvSpPr/>
          <p:nvPr/>
        </p:nvSpPr>
        <p:spPr>
          <a:xfrm>
            <a:off x="502920" y="1892807"/>
            <a:ext cx="237744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2011679"/>
            <a:ext cx="2286000" cy="292608"/>
          </a:xfrm>
          <a:prstGeom prst="rect">
            <a:avLst/>
          </a:prstGeom>
          <a:noFill/>
        </p:spPr>
        <p:txBody>
          <a:bodyPr wrap="square" anchor="t">
            <a:spAutoFit/>
          </a:bodyPr>
          <a:lstStyle/>
          <a:p>
            <a:pPr algn="ctr"/>
            <a:r>
              <a:rPr sz="1050" b="1">
                <a:solidFill>
                  <a:srgbClr val="141F27"/>
                </a:solidFill>
                <a:latin typeface="Aptos"/>
              </a:rPr>
              <a:t>Personalized workout</a:t>
            </a:r>
          </a:p>
        </p:txBody>
      </p:sp>
      <p:sp>
        <p:nvSpPr>
          <p:cNvPr id="19" name="Rectangle 18"/>
          <p:cNvSpPr/>
          <p:nvPr/>
        </p:nvSpPr>
        <p:spPr>
          <a:xfrm>
            <a:off x="2880360" y="1892807"/>
            <a:ext cx="178308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0" y="2011679"/>
            <a:ext cx="1691639" cy="292608"/>
          </a:xfrm>
          <a:prstGeom prst="rect">
            <a:avLst/>
          </a:prstGeom>
          <a:noFill/>
        </p:spPr>
        <p:txBody>
          <a:bodyPr wrap="square" anchor="t">
            <a:spAutoFit/>
          </a:bodyPr>
          <a:lstStyle/>
          <a:p>
            <a:pPr algn="ctr"/>
            <a:r>
              <a:rPr sz="1050" b="0">
                <a:solidFill>
                  <a:srgbClr val="141F27"/>
                </a:solidFill>
                <a:latin typeface="Aptos"/>
              </a:rPr>
              <a:t>✓</a:t>
            </a:r>
          </a:p>
        </p:txBody>
      </p:sp>
      <p:sp>
        <p:nvSpPr>
          <p:cNvPr id="21" name="Rectangle 20"/>
          <p:cNvSpPr/>
          <p:nvPr/>
        </p:nvSpPr>
        <p:spPr>
          <a:xfrm>
            <a:off x="4663440" y="1892807"/>
            <a:ext cx="141732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09160" y="2011679"/>
            <a:ext cx="1325880" cy="292608"/>
          </a:xfrm>
          <a:prstGeom prst="rect">
            <a:avLst/>
          </a:prstGeom>
          <a:noFill/>
        </p:spPr>
        <p:txBody>
          <a:bodyPr wrap="square" anchor="t">
            <a:spAutoFit/>
          </a:bodyPr>
          <a:lstStyle/>
          <a:p>
            <a:pPr algn="ctr"/>
            <a:r>
              <a:rPr sz="1050" b="0">
                <a:solidFill>
                  <a:srgbClr val="141F27"/>
                </a:solidFill>
                <a:latin typeface="Aptos"/>
              </a:rPr>
              <a:t>✓</a:t>
            </a:r>
          </a:p>
        </p:txBody>
      </p:sp>
      <p:sp>
        <p:nvSpPr>
          <p:cNvPr id="23" name="Rectangle 22"/>
          <p:cNvSpPr/>
          <p:nvPr/>
        </p:nvSpPr>
        <p:spPr>
          <a:xfrm>
            <a:off x="6080760" y="1892807"/>
            <a:ext cx="160020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6480" y="2011679"/>
            <a:ext cx="1508760" cy="292608"/>
          </a:xfrm>
          <a:prstGeom prst="rect">
            <a:avLst/>
          </a:prstGeom>
          <a:noFill/>
        </p:spPr>
        <p:txBody>
          <a:bodyPr wrap="square" anchor="t">
            <a:spAutoFit/>
          </a:bodyPr>
          <a:lstStyle/>
          <a:p>
            <a:pPr algn="ctr"/>
            <a:r>
              <a:rPr sz="1050" b="0">
                <a:solidFill>
                  <a:srgbClr val="5C6970"/>
                </a:solidFill>
                <a:latin typeface="Aptos"/>
              </a:rPr>
              <a:t>—</a:t>
            </a:r>
          </a:p>
        </p:txBody>
      </p:sp>
      <p:sp>
        <p:nvSpPr>
          <p:cNvPr id="25" name="Rectangle 24"/>
          <p:cNvSpPr/>
          <p:nvPr/>
        </p:nvSpPr>
        <p:spPr>
          <a:xfrm>
            <a:off x="7680960" y="1892807"/>
            <a:ext cx="141732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26680" y="2011679"/>
            <a:ext cx="1325880" cy="292608"/>
          </a:xfrm>
          <a:prstGeom prst="rect">
            <a:avLst/>
          </a:prstGeom>
          <a:noFill/>
        </p:spPr>
        <p:txBody>
          <a:bodyPr wrap="square" anchor="t">
            <a:spAutoFit/>
          </a:bodyPr>
          <a:lstStyle/>
          <a:p>
            <a:pPr algn="ctr"/>
            <a:r>
              <a:rPr sz="1050" b="0">
                <a:solidFill>
                  <a:srgbClr val="5C6970"/>
                </a:solidFill>
                <a:latin typeface="Aptos"/>
              </a:rPr>
              <a:t>—</a:t>
            </a:r>
          </a:p>
        </p:txBody>
      </p:sp>
      <p:sp>
        <p:nvSpPr>
          <p:cNvPr id="27" name="Rectangle 26"/>
          <p:cNvSpPr/>
          <p:nvPr/>
        </p:nvSpPr>
        <p:spPr>
          <a:xfrm>
            <a:off x="9098280" y="1892807"/>
            <a:ext cx="205740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0" y="2011679"/>
            <a:ext cx="1965960" cy="292608"/>
          </a:xfrm>
          <a:prstGeom prst="rect">
            <a:avLst/>
          </a:prstGeom>
          <a:noFill/>
        </p:spPr>
        <p:txBody>
          <a:bodyPr wrap="square" anchor="t">
            <a:spAutoFit/>
          </a:bodyPr>
          <a:lstStyle/>
          <a:p>
            <a:pPr algn="ctr"/>
            <a:r>
              <a:rPr sz="1050" b="1">
                <a:solidFill>
                  <a:srgbClr val="109669"/>
                </a:solidFill>
                <a:latin typeface="Aptos"/>
              </a:rPr>
              <a:t>✓</a:t>
            </a:r>
          </a:p>
        </p:txBody>
      </p:sp>
      <p:sp>
        <p:nvSpPr>
          <p:cNvPr id="29" name="Rectangle 28"/>
          <p:cNvSpPr/>
          <p:nvPr/>
        </p:nvSpPr>
        <p:spPr>
          <a:xfrm>
            <a:off x="502920" y="2459736"/>
            <a:ext cx="237744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2578608"/>
            <a:ext cx="2286000" cy="292608"/>
          </a:xfrm>
          <a:prstGeom prst="rect">
            <a:avLst/>
          </a:prstGeom>
          <a:noFill/>
        </p:spPr>
        <p:txBody>
          <a:bodyPr wrap="square" anchor="t">
            <a:spAutoFit/>
          </a:bodyPr>
          <a:lstStyle/>
          <a:p>
            <a:pPr algn="ctr"/>
            <a:r>
              <a:rPr sz="1050" b="1">
                <a:solidFill>
                  <a:srgbClr val="141F27"/>
                </a:solidFill>
                <a:latin typeface="Aptos"/>
              </a:rPr>
              <a:t>Nutrition generation</a:t>
            </a:r>
          </a:p>
        </p:txBody>
      </p:sp>
      <p:sp>
        <p:nvSpPr>
          <p:cNvPr id="31" name="Rectangle 30"/>
          <p:cNvSpPr/>
          <p:nvPr/>
        </p:nvSpPr>
        <p:spPr>
          <a:xfrm>
            <a:off x="2880360" y="2459736"/>
            <a:ext cx="178308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26080" y="2578608"/>
            <a:ext cx="1691639" cy="292608"/>
          </a:xfrm>
          <a:prstGeom prst="rect">
            <a:avLst/>
          </a:prstGeom>
          <a:noFill/>
        </p:spPr>
        <p:txBody>
          <a:bodyPr wrap="square" anchor="t">
            <a:spAutoFit/>
          </a:bodyPr>
          <a:lstStyle/>
          <a:p>
            <a:pPr algn="ctr"/>
            <a:r>
              <a:rPr sz="1050" b="0">
                <a:solidFill>
                  <a:srgbClr val="5C6970"/>
                </a:solidFill>
                <a:latin typeface="Aptos"/>
              </a:rPr>
              <a:t>—</a:t>
            </a:r>
          </a:p>
        </p:txBody>
      </p:sp>
      <p:sp>
        <p:nvSpPr>
          <p:cNvPr id="33" name="Rectangle 32"/>
          <p:cNvSpPr/>
          <p:nvPr/>
        </p:nvSpPr>
        <p:spPr>
          <a:xfrm>
            <a:off x="4663440" y="2459736"/>
            <a:ext cx="141732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09160" y="2578608"/>
            <a:ext cx="1325880" cy="292608"/>
          </a:xfrm>
          <a:prstGeom prst="rect">
            <a:avLst/>
          </a:prstGeom>
          <a:noFill/>
        </p:spPr>
        <p:txBody>
          <a:bodyPr wrap="square" anchor="t">
            <a:spAutoFit/>
          </a:bodyPr>
          <a:lstStyle/>
          <a:p>
            <a:pPr algn="ctr"/>
            <a:r>
              <a:rPr sz="1050" b="0">
                <a:solidFill>
                  <a:srgbClr val="5C6970"/>
                </a:solidFill>
                <a:latin typeface="Aptos"/>
              </a:rPr>
              <a:t>—</a:t>
            </a:r>
          </a:p>
        </p:txBody>
      </p:sp>
      <p:sp>
        <p:nvSpPr>
          <p:cNvPr id="35" name="Rectangle 34"/>
          <p:cNvSpPr/>
          <p:nvPr/>
        </p:nvSpPr>
        <p:spPr>
          <a:xfrm>
            <a:off x="6080760" y="2459736"/>
            <a:ext cx="160020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126480" y="2578608"/>
            <a:ext cx="1508760" cy="292608"/>
          </a:xfrm>
          <a:prstGeom prst="rect">
            <a:avLst/>
          </a:prstGeom>
          <a:noFill/>
        </p:spPr>
        <p:txBody>
          <a:bodyPr wrap="square" anchor="t">
            <a:spAutoFit/>
          </a:bodyPr>
          <a:lstStyle/>
          <a:p>
            <a:pPr algn="ctr"/>
            <a:r>
              <a:rPr sz="1050" b="0">
                <a:solidFill>
                  <a:srgbClr val="141F27"/>
                </a:solidFill>
                <a:latin typeface="Aptos"/>
              </a:rPr>
              <a:t>Limited</a:t>
            </a:r>
          </a:p>
        </p:txBody>
      </p:sp>
      <p:sp>
        <p:nvSpPr>
          <p:cNvPr id="37" name="Rectangle 36"/>
          <p:cNvSpPr/>
          <p:nvPr/>
        </p:nvSpPr>
        <p:spPr>
          <a:xfrm>
            <a:off x="7680960" y="2459736"/>
            <a:ext cx="141732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726680" y="2578608"/>
            <a:ext cx="1325880" cy="292608"/>
          </a:xfrm>
          <a:prstGeom prst="rect">
            <a:avLst/>
          </a:prstGeom>
          <a:noFill/>
        </p:spPr>
        <p:txBody>
          <a:bodyPr wrap="square" anchor="t">
            <a:spAutoFit/>
          </a:bodyPr>
          <a:lstStyle/>
          <a:p>
            <a:pPr algn="ctr"/>
            <a:r>
              <a:rPr sz="1050" b="0">
                <a:solidFill>
                  <a:srgbClr val="5C6970"/>
                </a:solidFill>
                <a:latin typeface="Aptos"/>
              </a:rPr>
              <a:t>—</a:t>
            </a:r>
          </a:p>
        </p:txBody>
      </p:sp>
      <p:sp>
        <p:nvSpPr>
          <p:cNvPr id="39" name="Rectangle 38"/>
          <p:cNvSpPr/>
          <p:nvPr/>
        </p:nvSpPr>
        <p:spPr>
          <a:xfrm>
            <a:off x="9098280" y="2459736"/>
            <a:ext cx="205740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144000" y="2578608"/>
            <a:ext cx="1965960" cy="292608"/>
          </a:xfrm>
          <a:prstGeom prst="rect">
            <a:avLst/>
          </a:prstGeom>
          <a:noFill/>
        </p:spPr>
        <p:txBody>
          <a:bodyPr wrap="square" anchor="t">
            <a:spAutoFit/>
          </a:bodyPr>
          <a:lstStyle/>
          <a:p>
            <a:pPr algn="ctr"/>
            <a:r>
              <a:rPr sz="1050" b="1">
                <a:solidFill>
                  <a:srgbClr val="109669"/>
                </a:solidFill>
                <a:latin typeface="Aptos"/>
              </a:rPr>
              <a:t>✓</a:t>
            </a:r>
          </a:p>
        </p:txBody>
      </p:sp>
      <p:sp>
        <p:nvSpPr>
          <p:cNvPr id="41" name="Rectangle 40"/>
          <p:cNvSpPr/>
          <p:nvPr/>
        </p:nvSpPr>
        <p:spPr>
          <a:xfrm>
            <a:off x="502920" y="3026663"/>
            <a:ext cx="237744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8640" y="3145535"/>
            <a:ext cx="2286000" cy="292608"/>
          </a:xfrm>
          <a:prstGeom prst="rect">
            <a:avLst/>
          </a:prstGeom>
          <a:noFill/>
        </p:spPr>
        <p:txBody>
          <a:bodyPr wrap="square" anchor="t">
            <a:spAutoFit/>
          </a:bodyPr>
          <a:lstStyle/>
          <a:p>
            <a:pPr algn="ctr"/>
            <a:r>
              <a:rPr sz="1050" b="1">
                <a:solidFill>
                  <a:srgbClr val="141F27"/>
                </a:solidFill>
                <a:latin typeface="Aptos"/>
              </a:rPr>
              <a:t>Fridge-based swaps</a:t>
            </a:r>
          </a:p>
        </p:txBody>
      </p:sp>
      <p:sp>
        <p:nvSpPr>
          <p:cNvPr id="43" name="Rectangle 42"/>
          <p:cNvSpPr/>
          <p:nvPr/>
        </p:nvSpPr>
        <p:spPr>
          <a:xfrm>
            <a:off x="2880360" y="3026663"/>
            <a:ext cx="178308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926080" y="3145535"/>
            <a:ext cx="1691639" cy="292608"/>
          </a:xfrm>
          <a:prstGeom prst="rect">
            <a:avLst/>
          </a:prstGeom>
          <a:noFill/>
        </p:spPr>
        <p:txBody>
          <a:bodyPr wrap="square" anchor="t">
            <a:spAutoFit/>
          </a:bodyPr>
          <a:lstStyle/>
          <a:p>
            <a:pPr algn="ctr"/>
            <a:r>
              <a:rPr sz="1050" b="0">
                <a:solidFill>
                  <a:srgbClr val="5C6970"/>
                </a:solidFill>
                <a:latin typeface="Aptos"/>
              </a:rPr>
              <a:t>—</a:t>
            </a:r>
          </a:p>
        </p:txBody>
      </p:sp>
      <p:sp>
        <p:nvSpPr>
          <p:cNvPr id="45" name="Rectangle 44"/>
          <p:cNvSpPr/>
          <p:nvPr/>
        </p:nvSpPr>
        <p:spPr>
          <a:xfrm>
            <a:off x="4663440" y="3026663"/>
            <a:ext cx="141732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709160" y="3145535"/>
            <a:ext cx="1325880" cy="292608"/>
          </a:xfrm>
          <a:prstGeom prst="rect">
            <a:avLst/>
          </a:prstGeom>
          <a:noFill/>
        </p:spPr>
        <p:txBody>
          <a:bodyPr wrap="square" anchor="t">
            <a:spAutoFit/>
          </a:bodyPr>
          <a:lstStyle/>
          <a:p>
            <a:pPr algn="ctr"/>
            <a:r>
              <a:rPr sz="1050" b="0">
                <a:solidFill>
                  <a:srgbClr val="5C6970"/>
                </a:solidFill>
                <a:latin typeface="Aptos"/>
              </a:rPr>
              <a:t>—</a:t>
            </a:r>
          </a:p>
        </p:txBody>
      </p:sp>
      <p:sp>
        <p:nvSpPr>
          <p:cNvPr id="47" name="Rectangle 46"/>
          <p:cNvSpPr/>
          <p:nvPr/>
        </p:nvSpPr>
        <p:spPr>
          <a:xfrm>
            <a:off x="6080760" y="3026663"/>
            <a:ext cx="160020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126480" y="3145535"/>
            <a:ext cx="1508760" cy="292608"/>
          </a:xfrm>
          <a:prstGeom prst="rect">
            <a:avLst/>
          </a:prstGeom>
          <a:noFill/>
        </p:spPr>
        <p:txBody>
          <a:bodyPr wrap="square" anchor="t">
            <a:spAutoFit/>
          </a:bodyPr>
          <a:lstStyle/>
          <a:p>
            <a:pPr algn="ctr"/>
            <a:r>
              <a:rPr sz="1050" b="0">
                <a:solidFill>
                  <a:srgbClr val="5C6970"/>
                </a:solidFill>
                <a:latin typeface="Aptos"/>
              </a:rPr>
              <a:t>—</a:t>
            </a:r>
          </a:p>
        </p:txBody>
      </p:sp>
      <p:sp>
        <p:nvSpPr>
          <p:cNvPr id="49" name="Rectangle 48"/>
          <p:cNvSpPr/>
          <p:nvPr/>
        </p:nvSpPr>
        <p:spPr>
          <a:xfrm>
            <a:off x="7680960" y="3026663"/>
            <a:ext cx="141732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726680" y="3145535"/>
            <a:ext cx="1325880" cy="292608"/>
          </a:xfrm>
          <a:prstGeom prst="rect">
            <a:avLst/>
          </a:prstGeom>
          <a:noFill/>
        </p:spPr>
        <p:txBody>
          <a:bodyPr wrap="square" anchor="t">
            <a:spAutoFit/>
          </a:bodyPr>
          <a:lstStyle/>
          <a:p>
            <a:pPr algn="ctr"/>
            <a:r>
              <a:rPr sz="1050" b="0">
                <a:solidFill>
                  <a:srgbClr val="5C6970"/>
                </a:solidFill>
                <a:latin typeface="Aptos"/>
              </a:rPr>
              <a:t>—</a:t>
            </a:r>
          </a:p>
        </p:txBody>
      </p:sp>
      <p:sp>
        <p:nvSpPr>
          <p:cNvPr id="51" name="Rectangle 50"/>
          <p:cNvSpPr/>
          <p:nvPr/>
        </p:nvSpPr>
        <p:spPr>
          <a:xfrm>
            <a:off x="9098280" y="3026663"/>
            <a:ext cx="205740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144000" y="3145535"/>
            <a:ext cx="1965960" cy="292608"/>
          </a:xfrm>
          <a:prstGeom prst="rect">
            <a:avLst/>
          </a:prstGeom>
          <a:noFill/>
        </p:spPr>
        <p:txBody>
          <a:bodyPr wrap="square" anchor="t">
            <a:spAutoFit/>
          </a:bodyPr>
          <a:lstStyle/>
          <a:p>
            <a:pPr algn="ctr"/>
            <a:r>
              <a:rPr sz="1050" b="1">
                <a:solidFill>
                  <a:srgbClr val="109669"/>
                </a:solidFill>
                <a:latin typeface="Aptos"/>
              </a:rPr>
              <a:t>✓</a:t>
            </a:r>
          </a:p>
        </p:txBody>
      </p:sp>
      <p:sp>
        <p:nvSpPr>
          <p:cNvPr id="53" name="Rectangle 52"/>
          <p:cNvSpPr/>
          <p:nvPr/>
        </p:nvSpPr>
        <p:spPr>
          <a:xfrm>
            <a:off x="502920" y="3593591"/>
            <a:ext cx="237744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8640" y="3712463"/>
            <a:ext cx="2286000" cy="292608"/>
          </a:xfrm>
          <a:prstGeom prst="rect">
            <a:avLst/>
          </a:prstGeom>
          <a:noFill/>
        </p:spPr>
        <p:txBody>
          <a:bodyPr wrap="square" anchor="t">
            <a:spAutoFit/>
          </a:bodyPr>
          <a:lstStyle/>
          <a:p>
            <a:pPr algn="ctr"/>
            <a:r>
              <a:rPr sz="1050" b="1">
                <a:solidFill>
                  <a:srgbClr val="141F27"/>
                </a:solidFill>
                <a:latin typeface="Aptos"/>
              </a:rPr>
              <a:t>Expert meal approval</a:t>
            </a:r>
          </a:p>
        </p:txBody>
      </p:sp>
      <p:sp>
        <p:nvSpPr>
          <p:cNvPr id="55" name="Rectangle 54"/>
          <p:cNvSpPr/>
          <p:nvPr/>
        </p:nvSpPr>
        <p:spPr>
          <a:xfrm>
            <a:off x="2880360" y="3593591"/>
            <a:ext cx="178308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926080" y="3712463"/>
            <a:ext cx="1691639" cy="292608"/>
          </a:xfrm>
          <a:prstGeom prst="rect">
            <a:avLst/>
          </a:prstGeom>
          <a:noFill/>
        </p:spPr>
        <p:txBody>
          <a:bodyPr wrap="square" anchor="t">
            <a:spAutoFit/>
          </a:bodyPr>
          <a:lstStyle/>
          <a:p>
            <a:pPr algn="ctr"/>
            <a:r>
              <a:rPr sz="1050" b="0">
                <a:solidFill>
                  <a:srgbClr val="5C6970"/>
                </a:solidFill>
                <a:latin typeface="Aptos"/>
              </a:rPr>
              <a:t>—</a:t>
            </a:r>
          </a:p>
        </p:txBody>
      </p:sp>
      <p:sp>
        <p:nvSpPr>
          <p:cNvPr id="57" name="Rectangle 56"/>
          <p:cNvSpPr/>
          <p:nvPr/>
        </p:nvSpPr>
        <p:spPr>
          <a:xfrm>
            <a:off x="4663440" y="3593591"/>
            <a:ext cx="141732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709160" y="3712463"/>
            <a:ext cx="1325880" cy="292608"/>
          </a:xfrm>
          <a:prstGeom prst="rect">
            <a:avLst/>
          </a:prstGeom>
          <a:noFill/>
        </p:spPr>
        <p:txBody>
          <a:bodyPr wrap="square" anchor="t">
            <a:spAutoFit/>
          </a:bodyPr>
          <a:lstStyle/>
          <a:p>
            <a:pPr algn="ctr"/>
            <a:r>
              <a:rPr sz="1050" b="0">
                <a:solidFill>
                  <a:srgbClr val="5C6970"/>
                </a:solidFill>
                <a:latin typeface="Aptos"/>
              </a:rPr>
              <a:t>—</a:t>
            </a:r>
          </a:p>
        </p:txBody>
      </p:sp>
      <p:sp>
        <p:nvSpPr>
          <p:cNvPr id="59" name="Rectangle 58"/>
          <p:cNvSpPr/>
          <p:nvPr/>
        </p:nvSpPr>
        <p:spPr>
          <a:xfrm>
            <a:off x="6080760" y="3593591"/>
            <a:ext cx="160020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126480" y="3712463"/>
            <a:ext cx="1508760" cy="292608"/>
          </a:xfrm>
          <a:prstGeom prst="rect">
            <a:avLst/>
          </a:prstGeom>
          <a:noFill/>
        </p:spPr>
        <p:txBody>
          <a:bodyPr wrap="square" anchor="t">
            <a:spAutoFit/>
          </a:bodyPr>
          <a:lstStyle/>
          <a:p>
            <a:pPr algn="ctr"/>
            <a:r>
              <a:rPr sz="1050" b="0">
                <a:solidFill>
                  <a:srgbClr val="5C6970"/>
                </a:solidFill>
                <a:latin typeface="Aptos"/>
              </a:rPr>
              <a:t>—</a:t>
            </a:r>
          </a:p>
        </p:txBody>
      </p:sp>
      <p:sp>
        <p:nvSpPr>
          <p:cNvPr id="61" name="Rectangle 60"/>
          <p:cNvSpPr/>
          <p:nvPr/>
        </p:nvSpPr>
        <p:spPr>
          <a:xfrm>
            <a:off x="7680960" y="3593591"/>
            <a:ext cx="141732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726680" y="3712463"/>
            <a:ext cx="1325880" cy="292608"/>
          </a:xfrm>
          <a:prstGeom prst="rect">
            <a:avLst/>
          </a:prstGeom>
          <a:noFill/>
        </p:spPr>
        <p:txBody>
          <a:bodyPr wrap="square" anchor="t">
            <a:spAutoFit/>
          </a:bodyPr>
          <a:lstStyle/>
          <a:p>
            <a:pPr algn="ctr"/>
            <a:r>
              <a:rPr sz="1050" b="0">
                <a:solidFill>
                  <a:srgbClr val="5C6970"/>
                </a:solidFill>
                <a:latin typeface="Aptos"/>
              </a:rPr>
              <a:t>—</a:t>
            </a:r>
          </a:p>
        </p:txBody>
      </p:sp>
      <p:sp>
        <p:nvSpPr>
          <p:cNvPr id="63" name="Rectangle 62"/>
          <p:cNvSpPr/>
          <p:nvPr/>
        </p:nvSpPr>
        <p:spPr>
          <a:xfrm>
            <a:off x="9098280" y="3593591"/>
            <a:ext cx="205740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144000" y="3712463"/>
            <a:ext cx="1965960" cy="292608"/>
          </a:xfrm>
          <a:prstGeom prst="rect">
            <a:avLst/>
          </a:prstGeom>
          <a:noFill/>
        </p:spPr>
        <p:txBody>
          <a:bodyPr wrap="square" anchor="t">
            <a:spAutoFit/>
          </a:bodyPr>
          <a:lstStyle/>
          <a:p>
            <a:pPr algn="ctr"/>
            <a:r>
              <a:rPr sz="1050" b="1">
                <a:solidFill>
                  <a:srgbClr val="109669"/>
                </a:solidFill>
                <a:latin typeface="Aptos"/>
              </a:rPr>
              <a:t>✓</a:t>
            </a:r>
          </a:p>
        </p:txBody>
      </p:sp>
      <p:sp>
        <p:nvSpPr>
          <p:cNvPr id="65" name="Rectangle 64"/>
          <p:cNvSpPr/>
          <p:nvPr/>
        </p:nvSpPr>
        <p:spPr>
          <a:xfrm>
            <a:off x="502920" y="4160520"/>
            <a:ext cx="237744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48640" y="4279392"/>
            <a:ext cx="2286000" cy="292608"/>
          </a:xfrm>
          <a:prstGeom prst="rect">
            <a:avLst/>
          </a:prstGeom>
          <a:noFill/>
        </p:spPr>
        <p:txBody>
          <a:bodyPr wrap="square" anchor="t">
            <a:spAutoFit/>
          </a:bodyPr>
          <a:lstStyle/>
          <a:p>
            <a:pPr algn="ctr"/>
            <a:r>
              <a:rPr sz="1050" b="1">
                <a:solidFill>
                  <a:srgbClr val="141F27"/>
                </a:solidFill>
                <a:latin typeface="Aptos"/>
              </a:rPr>
              <a:t>Exercise form analysis</a:t>
            </a:r>
          </a:p>
        </p:txBody>
      </p:sp>
      <p:sp>
        <p:nvSpPr>
          <p:cNvPr id="67" name="Rectangle 66"/>
          <p:cNvSpPr/>
          <p:nvPr/>
        </p:nvSpPr>
        <p:spPr>
          <a:xfrm>
            <a:off x="2880360" y="4160520"/>
            <a:ext cx="178308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926080" y="4279392"/>
            <a:ext cx="1691639" cy="292608"/>
          </a:xfrm>
          <a:prstGeom prst="rect">
            <a:avLst/>
          </a:prstGeom>
          <a:noFill/>
        </p:spPr>
        <p:txBody>
          <a:bodyPr wrap="square" anchor="t">
            <a:spAutoFit/>
          </a:bodyPr>
          <a:lstStyle/>
          <a:p>
            <a:pPr algn="ctr"/>
            <a:r>
              <a:rPr sz="1050" b="0">
                <a:solidFill>
                  <a:srgbClr val="141F27"/>
                </a:solidFill>
                <a:latin typeface="Aptos"/>
              </a:rPr>
              <a:t>Limited</a:t>
            </a:r>
          </a:p>
        </p:txBody>
      </p:sp>
      <p:sp>
        <p:nvSpPr>
          <p:cNvPr id="69" name="Rectangle 68"/>
          <p:cNvSpPr/>
          <p:nvPr/>
        </p:nvSpPr>
        <p:spPr>
          <a:xfrm>
            <a:off x="4663440" y="4160520"/>
            <a:ext cx="141732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709160" y="4279392"/>
            <a:ext cx="1325880" cy="292608"/>
          </a:xfrm>
          <a:prstGeom prst="rect">
            <a:avLst/>
          </a:prstGeom>
          <a:noFill/>
        </p:spPr>
        <p:txBody>
          <a:bodyPr wrap="square" anchor="t">
            <a:spAutoFit/>
          </a:bodyPr>
          <a:lstStyle/>
          <a:p>
            <a:pPr algn="ctr"/>
            <a:r>
              <a:rPr sz="1050" b="0">
                <a:solidFill>
                  <a:srgbClr val="5C6970"/>
                </a:solidFill>
                <a:latin typeface="Aptos"/>
              </a:rPr>
              <a:t>—</a:t>
            </a:r>
          </a:p>
        </p:txBody>
      </p:sp>
      <p:sp>
        <p:nvSpPr>
          <p:cNvPr id="71" name="Rectangle 70"/>
          <p:cNvSpPr/>
          <p:nvPr/>
        </p:nvSpPr>
        <p:spPr>
          <a:xfrm>
            <a:off x="6080760" y="4160520"/>
            <a:ext cx="160020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126480" y="4279392"/>
            <a:ext cx="1508760" cy="292608"/>
          </a:xfrm>
          <a:prstGeom prst="rect">
            <a:avLst/>
          </a:prstGeom>
          <a:noFill/>
        </p:spPr>
        <p:txBody>
          <a:bodyPr wrap="square" anchor="t">
            <a:spAutoFit/>
          </a:bodyPr>
          <a:lstStyle/>
          <a:p>
            <a:pPr algn="ctr"/>
            <a:r>
              <a:rPr sz="1050" b="0">
                <a:solidFill>
                  <a:srgbClr val="5C6970"/>
                </a:solidFill>
                <a:latin typeface="Aptos"/>
              </a:rPr>
              <a:t>—</a:t>
            </a:r>
          </a:p>
        </p:txBody>
      </p:sp>
      <p:sp>
        <p:nvSpPr>
          <p:cNvPr id="73" name="Rectangle 72"/>
          <p:cNvSpPr/>
          <p:nvPr/>
        </p:nvSpPr>
        <p:spPr>
          <a:xfrm>
            <a:off x="7680960" y="4160520"/>
            <a:ext cx="141732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726680" y="4279392"/>
            <a:ext cx="1325880" cy="292608"/>
          </a:xfrm>
          <a:prstGeom prst="rect">
            <a:avLst/>
          </a:prstGeom>
          <a:noFill/>
        </p:spPr>
        <p:txBody>
          <a:bodyPr wrap="square" anchor="t">
            <a:spAutoFit/>
          </a:bodyPr>
          <a:lstStyle/>
          <a:p>
            <a:pPr algn="ctr"/>
            <a:r>
              <a:rPr sz="1050" b="0">
                <a:solidFill>
                  <a:srgbClr val="5C6970"/>
                </a:solidFill>
                <a:latin typeface="Aptos"/>
              </a:rPr>
              <a:t>—</a:t>
            </a:r>
          </a:p>
        </p:txBody>
      </p:sp>
      <p:sp>
        <p:nvSpPr>
          <p:cNvPr id="75" name="Rectangle 74"/>
          <p:cNvSpPr/>
          <p:nvPr/>
        </p:nvSpPr>
        <p:spPr>
          <a:xfrm>
            <a:off x="9098280" y="4160520"/>
            <a:ext cx="205740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9144000" y="4279392"/>
            <a:ext cx="1965960" cy="292608"/>
          </a:xfrm>
          <a:prstGeom prst="rect">
            <a:avLst/>
          </a:prstGeom>
          <a:noFill/>
        </p:spPr>
        <p:txBody>
          <a:bodyPr wrap="square" anchor="t">
            <a:spAutoFit/>
          </a:bodyPr>
          <a:lstStyle/>
          <a:p>
            <a:pPr algn="ctr"/>
            <a:r>
              <a:rPr sz="1050" b="1">
                <a:solidFill>
                  <a:srgbClr val="109669"/>
                </a:solidFill>
                <a:latin typeface="Aptos"/>
              </a:rPr>
              <a:t>✓</a:t>
            </a:r>
          </a:p>
        </p:txBody>
      </p:sp>
      <p:sp>
        <p:nvSpPr>
          <p:cNvPr id="77" name="Rectangle 76"/>
          <p:cNvSpPr/>
          <p:nvPr/>
        </p:nvSpPr>
        <p:spPr>
          <a:xfrm>
            <a:off x="502920" y="4727448"/>
            <a:ext cx="237744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48640" y="4846320"/>
            <a:ext cx="2286000" cy="292608"/>
          </a:xfrm>
          <a:prstGeom prst="rect">
            <a:avLst/>
          </a:prstGeom>
          <a:noFill/>
        </p:spPr>
        <p:txBody>
          <a:bodyPr wrap="square" anchor="t">
            <a:spAutoFit/>
          </a:bodyPr>
          <a:lstStyle/>
          <a:p>
            <a:pPr algn="ctr"/>
            <a:r>
              <a:rPr sz="1050" b="1">
                <a:solidFill>
                  <a:srgbClr val="141F27"/>
                </a:solidFill>
                <a:latin typeface="Aptos"/>
              </a:rPr>
              <a:t>Injury-aware planning</a:t>
            </a:r>
          </a:p>
        </p:txBody>
      </p:sp>
      <p:sp>
        <p:nvSpPr>
          <p:cNvPr id="79" name="Rectangle 78"/>
          <p:cNvSpPr/>
          <p:nvPr/>
        </p:nvSpPr>
        <p:spPr>
          <a:xfrm>
            <a:off x="2880360" y="4727448"/>
            <a:ext cx="178308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926080" y="4846320"/>
            <a:ext cx="1691639" cy="292608"/>
          </a:xfrm>
          <a:prstGeom prst="rect">
            <a:avLst/>
          </a:prstGeom>
          <a:noFill/>
        </p:spPr>
        <p:txBody>
          <a:bodyPr wrap="square" anchor="t">
            <a:spAutoFit/>
          </a:bodyPr>
          <a:lstStyle/>
          <a:p>
            <a:pPr algn="ctr"/>
            <a:r>
              <a:rPr sz="1050" b="0">
                <a:solidFill>
                  <a:srgbClr val="141F27"/>
                </a:solidFill>
                <a:latin typeface="Aptos"/>
              </a:rPr>
              <a:t>Limited</a:t>
            </a:r>
          </a:p>
        </p:txBody>
      </p:sp>
      <p:sp>
        <p:nvSpPr>
          <p:cNvPr id="81" name="Rectangle 80"/>
          <p:cNvSpPr/>
          <p:nvPr/>
        </p:nvSpPr>
        <p:spPr>
          <a:xfrm>
            <a:off x="4663440" y="4727448"/>
            <a:ext cx="141732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4709160" y="4846320"/>
            <a:ext cx="1325880" cy="292608"/>
          </a:xfrm>
          <a:prstGeom prst="rect">
            <a:avLst/>
          </a:prstGeom>
          <a:noFill/>
        </p:spPr>
        <p:txBody>
          <a:bodyPr wrap="square" anchor="t">
            <a:spAutoFit/>
          </a:bodyPr>
          <a:lstStyle/>
          <a:p>
            <a:pPr algn="ctr"/>
            <a:r>
              <a:rPr sz="1050" b="0">
                <a:solidFill>
                  <a:srgbClr val="141F27"/>
                </a:solidFill>
                <a:latin typeface="Aptos"/>
              </a:rPr>
              <a:t>Limited</a:t>
            </a:r>
          </a:p>
        </p:txBody>
      </p:sp>
      <p:sp>
        <p:nvSpPr>
          <p:cNvPr id="83" name="Rectangle 82"/>
          <p:cNvSpPr/>
          <p:nvPr/>
        </p:nvSpPr>
        <p:spPr>
          <a:xfrm>
            <a:off x="6080760" y="4727448"/>
            <a:ext cx="160020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6126480" y="4846320"/>
            <a:ext cx="1508760" cy="292608"/>
          </a:xfrm>
          <a:prstGeom prst="rect">
            <a:avLst/>
          </a:prstGeom>
          <a:noFill/>
        </p:spPr>
        <p:txBody>
          <a:bodyPr wrap="square" anchor="t">
            <a:spAutoFit/>
          </a:bodyPr>
          <a:lstStyle/>
          <a:p>
            <a:pPr algn="ctr"/>
            <a:r>
              <a:rPr sz="1050" b="0">
                <a:solidFill>
                  <a:srgbClr val="5C6970"/>
                </a:solidFill>
                <a:latin typeface="Aptos"/>
              </a:rPr>
              <a:t>—</a:t>
            </a:r>
          </a:p>
        </p:txBody>
      </p:sp>
      <p:sp>
        <p:nvSpPr>
          <p:cNvPr id="85" name="Rectangle 84"/>
          <p:cNvSpPr/>
          <p:nvPr/>
        </p:nvSpPr>
        <p:spPr>
          <a:xfrm>
            <a:off x="7680960" y="4727448"/>
            <a:ext cx="141732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7726680" y="4846320"/>
            <a:ext cx="1325880" cy="292608"/>
          </a:xfrm>
          <a:prstGeom prst="rect">
            <a:avLst/>
          </a:prstGeom>
          <a:noFill/>
        </p:spPr>
        <p:txBody>
          <a:bodyPr wrap="square" anchor="t">
            <a:spAutoFit/>
          </a:bodyPr>
          <a:lstStyle/>
          <a:p>
            <a:pPr algn="ctr"/>
            <a:r>
              <a:rPr sz="1050" b="0">
                <a:solidFill>
                  <a:srgbClr val="5C6970"/>
                </a:solidFill>
                <a:latin typeface="Aptos"/>
              </a:rPr>
              <a:t>—</a:t>
            </a:r>
          </a:p>
        </p:txBody>
      </p:sp>
      <p:sp>
        <p:nvSpPr>
          <p:cNvPr id="87" name="Rectangle 86"/>
          <p:cNvSpPr/>
          <p:nvPr/>
        </p:nvSpPr>
        <p:spPr>
          <a:xfrm>
            <a:off x="9098280" y="4727448"/>
            <a:ext cx="2057400" cy="566928"/>
          </a:xfrm>
          <a:prstGeom prst="rect">
            <a:avLst/>
          </a:prstGeom>
          <a:solidFill>
            <a:srgbClr val="EEF9F4"/>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9144000" y="4846320"/>
            <a:ext cx="1965960" cy="292608"/>
          </a:xfrm>
          <a:prstGeom prst="rect">
            <a:avLst/>
          </a:prstGeom>
          <a:noFill/>
        </p:spPr>
        <p:txBody>
          <a:bodyPr wrap="square" anchor="t">
            <a:spAutoFit/>
          </a:bodyPr>
          <a:lstStyle/>
          <a:p>
            <a:pPr algn="ctr"/>
            <a:r>
              <a:rPr sz="1050" b="1">
                <a:solidFill>
                  <a:srgbClr val="109669"/>
                </a:solidFill>
                <a:latin typeface="Aptos"/>
              </a:rPr>
              <a:t>✓</a:t>
            </a:r>
          </a:p>
        </p:txBody>
      </p:sp>
      <p:sp>
        <p:nvSpPr>
          <p:cNvPr id="89" name="Rectangle 88"/>
          <p:cNvSpPr/>
          <p:nvPr/>
        </p:nvSpPr>
        <p:spPr>
          <a:xfrm>
            <a:off x="502920" y="5294375"/>
            <a:ext cx="237744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548640" y="5413247"/>
            <a:ext cx="2286000" cy="292608"/>
          </a:xfrm>
          <a:prstGeom prst="rect">
            <a:avLst/>
          </a:prstGeom>
          <a:noFill/>
        </p:spPr>
        <p:txBody>
          <a:bodyPr wrap="square" anchor="t">
            <a:spAutoFit/>
          </a:bodyPr>
          <a:lstStyle/>
          <a:p>
            <a:pPr algn="ctr"/>
            <a:r>
              <a:rPr sz="1050" b="1">
                <a:solidFill>
                  <a:srgbClr val="141F27"/>
                </a:solidFill>
                <a:latin typeface="Aptos"/>
              </a:rPr>
              <a:t>Social + rewards</a:t>
            </a:r>
          </a:p>
        </p:txBody>
      </p:sp>
      <p:sp>
        <p:nvSpPr>
          <p:cNvPr id="91" name="Rectangle 90"/>
          <p:cNvSpPr/>
          <p:nvPr/>
        </p:nvSpPr>
        <p:spPr>
          <a:xfrm>
            <a:off x="2880360" y="5294375"/>
            <a:ext cx="178308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2926080" y="5413247"/>
            <a:ext cx="1691639" cy="292608"/>
          </a:xfrm>
          <a:prstGeom prst="rect">
            <a:avLst/>
          </a:prstGeom>
          <a:noFill/>
        </p:spPr>
        <p:txBody>
          <a:bodyPr wrap="square" anchor="t">
            <a:spAutoFit/>
          </a:bodyPr>
          <a:lstStyle/>
          <a:p>
            <a:pPr algn="ctr"/>
            <a:r>
              <a:rPr sz="1050" b="0">
                <a:solidFill>
                  <a:srgbClr val="141F27"/>
                </a:solidFill>
                <a:latin typeface="Aptos"/>
              </a:rPr>
              <a:t>Limited</a:t>
            </a:r>
          </a:p>
        </p:txBody>
      </p:sp>
      <p:sp>
        <p:nvSpPr>
          <p:cNvPr id="93" name="Rectangle 92"/>
          <p:cNvSpPr/>
          <p:nvPr/>
        </p:nvSpPr>
        <p:spPr>
          <a:xfrm>
            <a:off x="4663440" y="5294375"/>
            <a:ext cx="141732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4709160" y="5413247"/>
            <a:ext cx="1325880" cy="292608"/>
          </a:xfrm>
          <a:prstGeom prst="rect">
            <a:avLst/>
          </a:prstGeom>
          <a:noFill/>
        </p:spPr>
        <p:txBody>
          <a:bodyPr wrap="square" anchor="t">
            <a:spAutoFit/>
          </a:bodyPr>
          <a:lstStyle/>
          <a:p>
            <a:pPr algn="ctr"/>
            <a:r>
              <a:rPr sz="1050" b="0">
                <a:solidFill>
                  <a:srgbClr val="141F27"/>
                </a:solidFill>
                <a:latin typeface="Aptos"/>
              </a:rPr>
              <a:t>Limited</a:t>
            </a:r>
          </a:p>
        </p:txBody>
      </p:sp>
      <p:sp>
        <p:nvSpPr>
          <p:cNvPr id="95" name="Rectangle 94"/>
          <p:cNvSpPr/>
          <p:nvPr/>
        </p:nvSpPr>
        <p:spPr>
          <a:xfrm>
            <a:off x="6080760" y="5294375"/>
            <a:ext cx="160020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6126480" y="5413247"/>
            <a:ext cx="1508760" cy="292608"/>
          </a:xfrm>
          <a:prstGeom prst="rect">
            <a:avLst/>
          </a:prstGeom>
          <a:noFill/>
        </p:spPr>
        <p:txBody>
          <a:bodyPr wrap="square" anchor="t">
            <a:spAutoFit/>
          </a:bodyPr>
          <a:lstStyle/>
          <a:p>
            <a:pPr algn="ctr"/>
            <a:r>
              <a:rPr sz="1050" b="0">
                <a:solidFill>
                  <a:srgbClr val="141F27"/>
                </a:solidFill>
                <a:latin typeface="Aptos"/>
              </a:rPr>
              <a:t>Limited</a:t>
            </a:r>
          </a:p>
        </p:txBody>
      </p:sp>
      <p:sp>
        <p:nvSpPr>
          <p:cNvPr id="97" name="Rectangle 96"/>
          <p:cNvSpPr/>
          <p:nvPr/>
        </p:nvSpPr>
        <p:spPr>
          <a:xfrm>
            <a:off x="7680960" y="5294375"/>
            <a:ext cx="141732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7726680" y="5413247"/>
            <a:ext cx="1325880" cy="292608"/>
          </a:xfrm>
          <a:prstGeom prst="rect">
            <a:avLst/>
          </a:prstGeom>
          <a:noFill/>
        </p:spPr>
        <p:txBody>
          <a:bodyPr wrap="square" anchor="t">
            <a:spAutoFit/>
          </a:bodyPr>
          <a:lstStyle/>
          <a:p>
            <a:pPr algn="ctr"/>
            <a:r>
              <a:rPr sz="1050" b="0">
                <a:solidFill>
                  <a:srgbClr val="141F27"/>
                </a:solidFill>
                <a:latin typeface="Aptos"/>
              </a:rPr>
              <a:t>✓</a:t>
            </a:r>
          </a:p>
        </p:txBody>
      </p:sp>
      <p:sp>
        <p:nvSpPr>
          <p:cNvPr id="99" name="Rectangle 98"/>
          <p:cNvSpPr/>
          <p:nvPr/>
        </p:nvSpPr>
        <p:spPr>
          <a:xfrm>
            <a:off x="9098280" y="5294375"/>
            <a:ext cx="2057400" cy="566928"/>
          </a:xfrm>
          <a:prstGeom prst="rect">
            <a:avLst/>
          </a:prstGeom>
          <a:solidFill>
            <a:srgbClr val="FFFFFF"/>
          </a:solidFill>
          <a:ln>
            <a:solidFill>
              <a:srgbClr val="E2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9144000" y="5413247"/>
            <a:ext cx="1965960" cy="292608"/>
          </a:xfrm>
          <a:prstGeom prst="rect">
            <a:avLst/>
          </a:prstGeom>
          <a:noFill/>
        </p:spPr>
        <p:txBody>
          <a:bodyPr wrap="square" anchor="t">
            <a:spAutoFit/>
          </a:bodyPr>
          <a:lstStyle/>
          <a:p>
            <a:pPr algn="ctr"/>
            <a:r>
              <a:rPr sz="1050" b="1">
                <a:solidFill>
                  <a:srgbClr val="109669"/>
                </a:solidFill>
                <a:latin typeface="Aptos"/>
              </a:rPr>
              <a:t>✓</a:t>
            </a:r>
          </a:p>
        </p:txBody>
      </p:sp>
      <p:sp>
        <p:nvSpPr>
          <p:cNvPr id="101" name="TextBox 100"/>
          <p:cNvSpPr txBox="1"/>
          <p:nvPr/>
        </p:nvSpPr>
        <p:spPr>
          <a:xfrm>
            <a:off x="731520" y="6035040"/>
            <a:ext cx="10789920" cy="365760"/>
          </a:xfrm>
          <a:prstGeom prst="rect">
            <a:avLst/>
          </a:prstGeom>
          <a:noFill/>
        </p:spPr>
        <p:txBody>
          <a:bodyPr wrap="square" anchor="t">
            <a:spAutoFit/>
          </a:bodyPr>
          <a:lstStyle/>
          <a:p>
            <a:pPr algn="ctr"/>
            <a:r>
              <a:rPr sz="1400" b="1">
                <a:solidFill>
                  <a:srgbClr val="109669"/>
                </a:solidFill>
                <a:latin typeface="Aptos"/>
              </a:rPr>
              <a:t>The key value is not one isolated feature — it is the integration of the entire journey in one system.</a:t>
            </a:r>
          </a:p>
        </p:txBody>
      </p:sp>
      <p:sp>
        <p:nvSpPr>
          <p:cNvPr id="102" name="TextBox 101"/>
          <p:cNvSpPr txBox="1"/>
          <p:nvPr/>
        </p:nvSpPr>
        <p:spPr>
          <a:xfrm>
            <a:off x="594360" y="6510528"/>
            <a:ext cx="5029200" cy="182880"/>
          </a:xfrm>
          <a:prstGeom prst="rect">
            <a:avLst/>
          </a:prstGeom>
          <a:noFill/>
        </p:spPr>
        <p:txBody>
          <a:bodyPr wrap="square" anchor="t">
            <a:spAutoFit/>
          </a:bodyPr>
          <a:lstStyle/>
          <a:p>
            <a:pPr algn="l"/>
            <a:r>
              <a:rPr sz="800" b="1">
                <a:solidFill>
                  <a:srgbClr val="5C6970"/>
                </a:solidFill>
                <a:latin typeface="Aptos"/>
              </a:rPr>
              <a:t>ELITE FITNESS APP  •  FYP 2026</a:t>
            </a:r>
          </a:p>
        </p:txBody>
      </p:sp>
      <p:sp>
        <p:nvSpPr>
          <p:cNvPr id="103" name="TextBox 102"/>
          <p:cNvSpPr txBox="1"/>
          <p:nvPr/>
        </p:nvSpPr>
        <p:spPr>
          <a:xfrm>
            <a:off x="11064240" y="6473952"/>
            <a:ext cx="502920" cy="228600"/>
          </a:xfrm>
          <a:prstGeom prst="rect">
            <a:avLst/>
          </a:prstGeom>
          <a:noFill/>
        </p:spPr>
        <p:txBody>
          <a:bodyPr wrap="square" anchor="t">
            <a:spAutoFit/>
          </a:bodyPr>
          <a:lstStyle/>
          <a:p>
            <a:pPr algn="r"/>
            <a:r>
              <a:rPr sz="900" b="1">
                <a:solidFill>
                  <a:srgbClr val="5C6970"/>
                </a:solidFill>
                <a:latin typeface="Aptos"/>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TECHNICAL FOUNDATION</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System Architecture</a:t>
            </a:r>
            <a:endParaRPr lang="en-US" sz="2800" dirty="0"/>
          </a:p>
        </p:txBody>
      </p:sp>
      <p:sp>
        <p:nvSpPr>
          <p:cNvPr id="4" name="Shape 2"/>
          <p:cNvSpPr/>
          <p:nvPr/>
        </p:nvSpPr>
        <p:spPr>
          <a:xfrm>
            <a:off x="685800" y="1417320"/>
            <a:ext cx="2331720" cy="1920240"/>
          </a:xfrm>
          <a:prstGeom prst="roundRect">
            <a:avLst>
              <a:gd name="adj" fmla="val 4762"/>
            </a:avLst>
          </a:prstGeom>
          <a:solidFill>
            <a:srgbClr val="FFFFFF"/>
          </a:solidFill>
          <a:ln w="12700">
            <a:solidFill>
              <a:srgbClr val="E2E8F0"/>
            </a:solidFill>
            <a:prstDash val="solid"/>
          </a:ln>
          <a:effectLst/>
        </p:spPr>
      </p:sp>
      <p:sp>
        <p:nvSpPr>
          <p:cNvPr id="5" name="Shape 3"/>
          <p:cNvSpPr/>
          <p:nvPr/>
        </p:nvSpPr>
        <p:spPr>
          <a:xfrm>
            <a:off x="1554480" y="1691640"/>
            <a:ext cx="502920" cy="502920"/>
          </a:xfrm>
          <a:prstGeom prst="ellipse">
            <a:avLst/>
          </a:prstGeom>
          <a:solidFill>
            <a:srgbClr val="0EA5E9"/>
          </a:solidFill>
          <a:ln w="12700">
            <a:solidFill>
              <a:srgbClr val="0EA5E9"/>
            </a:solidFill>
            <a:prstDash val="solid"/>
          </a:ln>
        </p:spPr>
      </p:sp>
      <p:sp>
        <p:nvSpPr>
          <p:cNvPr id="6" name="Text 4"/>
          <p:cNvSpPr/>
          <p:nvPr/>
        </p:nvSpPr>
        <p:spPr>
          <a:xfrm>
            <a:off x="1600200" y="1801368"/>
            <a:ext cx="411480" cy="2011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M</a:t>
            </a:r>
            <a:endParaRPr lang="en-US" sz="1300" dirty="0"/>
          </a:p>
        </p:txBody>
      </p:sp>
      <p:sp>
        <p:nvSpPr>
          <p:cNvPr id="7" name="Text 5"/>
          <p:cNvSpPr/>
          <p:nvPr/>
        </p:nvSpPr>
        <p:spPr>
          <a:xfrm>
            <a:off x="868680" y="2423160"/>
            <a:ext cx="1965960" cy="228600"/>
          </a:xfrm>
          <a:prstGeom prst="rect">
            <a:avLst/>
          </a:prstGeom>
          <a:noFill/>
          <a:ln/>
        </p:spPr>
        <p:txBody>
          <a:bodyPr wrap="square" lIns="0" tIns="0" rIns="0" bIns="0" rtlCol="0" anchor="ctr">
            <a:normAutofit/>
          </a:bodyPr>
          <a:lstStyle/>
          <a:p>
            <a:pPr marL="0" indent="0" algn="ctr">
              <a:buNone/>
            </a:pPr>
            <a:r>
              <a:rPr lang="en-US" sz="1200" b="1" dirty="0">
                <a:solidFill>
                  <a:srgbClr val="111827"/>
                </a:solidFill>
              </a:rPr>
              <a:t>MOBILE LAYER</a:t>
            </a:r>
            <a:endParaRPr lang="en-US" sz="1200" dirty="0"/>
          </a:p>
        </p:txBody>
      </p:sp>
      <p:sp>
        <p:nvSpPr>
          <p:cNvPr id="8" name="Text 6"/>
          <p:cNvSpPr/>
          <p:nvPr/>
        </p:nvSpPr>
        <p:spPr>
          <a:xfrm>
            <a:off x="868680" y="2761488"/>
            <a:ext cx="1965960" cy="228600"/>
          </a:xfrm>
          <a:prstGeom prst="rect">
            <a:avLst/>
          </a:prstGeom>
          <a:noFill/>
          <a:ln/>
        </p:spPr>
        <p:txBody>
          <a:bodyPr wrap="square" lIns="0" tIns="0" rIns="0" bIns="0" rtlCol="0" anchor="ctr">
            <a:normAutofit/>
          </a:bodyPr>
          <a:lstStyle/>
          <a:p>
            <a:pPr marL="0" indent="0" algn="ctr">
              <a:buNone/>
            </a:pPr>
            <a:r>
              <a:rPr lang="en-US" sz="1100" dirty="0">
                <a:solidFill>
                  <a:srgbClr val="64748B"/>
                </a:solidFill>
              </a:rPr>
              <a:t>React Native + Expo</a:t>
            </a:r>
            <a:endParaRPr lang="en-US" sz="1100" dirty="0"/>
          </a:p>
        </p:txBody>
      </p:sp>
      <p:sp>
        <p:nvSpPr>
          <p:cNvPr id="9" name="Shape 7"/>
          <p:cNvSpPr/>
          <p:nvPr/>
        </p:nvSpPr>
        <p:spPr>
          <a:xfrm>
            <a:off x="3063240" y="2377440"/>
            <a:ext cx="365760" cy="1"/>
          </a:xfrm>
          <a:prstGeom prst="line">
            <a:avLst/>
          </a:prstGeom>
          <a:noFill/>
          <a:ln w="25400">
            <a:solidFill>
              <a:srgbClr val="10B981"/>
            </a:solidFill>
            <a:prstDash val="solid"/>
            <a:headEnd type="none"/>
            <a:tailEnd type="triangle"/>
          </a:ln>
        </p:spPr>
      </p:sp>
      <p:sp>
        <p:nvSpPr>
          <p:cNvPr id="10" name="Shape 8"/>
          <p:cNvSpPr/>
          <p:nvPr/>
        </p:nvSpPr>
        <p:spPr>
          <a:xfrm>
            <a:off x="3520440" y="1417320"/>
            <a:ext cx="2331720" cy="1920240"/>
          </a:xfrm>
          <a:prstGeom prst="roundRect">
            <a:avLst>
              <a:gd name="adj" fmla="val 4762"/>
            </a:avLst>
          </a:prstGeom>
          <a:solidFill>
            <a:srgbClr val="FFFFFF"/>
          </a:solidFill>
          <a:ln w="12700">
            <a:solidFill>
              <a:srgbClr val="E2E8F0"/>
            </a:solidFill>
            <a:prstDash val="solid"/>
          </a:ln>
          <a:effectLst/>
        </p:spPr>
      </p:sp>
      <p:sp>
        <p:nvSpPr>
          <p:cNvPr id="11" name="Shape 9"/>
          <p:cNvSpPr/>
          <p:nvPr/>
        </p:nvSpPr>
        <p:spPr>
          <a:xfrm>
            <a:off x="4389120" y="1691640"/>
            <a:ext cx="502920" cy="502920"/>
          </a:xfrm>
          <a:prstGeom prst="ellipse">
            <a:avLst/>
          </a:prstGeom>
          <a:solidFill>
            <a:srgbClr val="8B5CF6"/>
          </a:solidFill>
          <a:ln w="12700">
            <a:solidFill>
              <a:srgbClr val="8B5CF6"/>
            </a:solidFill>
            <a:prstDash val="solid"/>
          </a:ln>
        </p:spPr>
      </p:sp>
      <p:sp>
        <p:nvSpPr>
          <p:cNvPr id="12" name="Text 10"/>
          <p:cNvSpPr/>
          <p:nvPr/>
        </p:nvSpPr>
        <p:spPr>
          <a:xfrm>
            <a:off x="4434840" y="1801368"/>
            <a:ext cx="411480" cy="2011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B</a:t>
            </a:r>
            <a:endParaRPr lang="en-US" sz="1300" dirty="0"/>
          </a:p>
        </p:txBody>
      </p:sp>
      <p:sp>
        <p:nvSpPr>
          <p:cNvPr id="13" name="Text 11"/>
          <p:cNvSpPr/>
          <p:nvPr/>
        </p:nvSpPr>
        <p:spPr>
          <a:xfrm>
            <a:off x="3703320" y="2423160"/>
            <a:ext cx="1965960" cy="228600"/>
          </a:xfrm>
          <a:prstGeom prst="rect">
            <a:avLst/>
          </a:prstGeom>
          <a:noFill/>
          <a:ln/>
        </p:spPr>
        <p:txBody>
          <a:bodyPr wrap="square" lIns="0" tIns="0" rIns="0" bIns="0" rtlCol="0" anchor="ctr">
            <a:normAutofit/>
          </a:bodyPr>
          <a:lstStyle/>
          <a:p>
            <a:pPr marL="0" indent="0" algn="ctr">
              <a:buNone/>
            </a:pPr>
            <a:r>
              <a:rPr lang="en-US" sz="1200" b="1" dirty="0">
                <a:solidFill>
                  <a:srgbClr val="111827"/>
                </a:solidFill>
              </a:rPr>
              <a:t>BACKEND &amp; DATA</a:t>
            </a:r>
            <a:endParaRPr lang="en-US" sz="1200" dirty="0"/>
          </a:p>
        </p:txBody>
      </p:sp>
      <p:sp>
        <p:nvSpPr>
          <p:cNvPr id="14" name="Text 12"/>
          <p:cNvSpPr/>
          <p:nvPr/>
        </p:nvSpPr>
        <p:spPr>
          <a:xfrm>
            <a:off x="3703320" y="2761488"/>
            <a:ext cx="1965960" cy="228600"/>
          </a:xfrm>
          <a:prstGeom prst="rect">
            <a:avLst/>
          </a:prstGeom>
          <a:noFill/>
          <a:ln/>
        </p:spPr>
        <p:txBody>
          <a:bodyPr wrap="square" lIns="0" tIns="0" rIns="0" bIns="0" rtlCol="0" anchor="ctr">
            <a:normAutofit/>
          </a:bodyPr>
          <a:lstStyle/>
          <a:p>
            <a:pPr marL="0" indent="0" algn="ctr">
              <a:buNone/>
            </a:pPr>
            <a:r>
              <a:rPr lang="en-US" sz="1100" dirty="0">
                <a:solidFill>
                  <a:srgbClr val="64748B"/>
                </a:solidFill>
              </a:rPr>
              <a:t>PHP API + MySQL</a:t>
            </a:r>
            <a:endParaRPr lang="en-US" sz="1100" dirty="0"/>
          </a:p>
        </p:txBody>
      </p:sp>
      <p:sp>
        <p:nvSpPr>
          <p:cNvPr id="15" name="Shape 13"/>
          <p:cNvSpPr/>
          <p:nvPr/>
        </p:nvSpPr>
        <p:spPr>
          <a:xfrm>
            <a:off x="5897880" y="2377440"/>
            <a:ext cx="365760" cy="1"/>
          </a:xfrm>
          <a:prstGeom prst="line">
            <a:avLst/>
          </a:prstGeom>
          <a:noFill/>
          <a:ln w="25400">
            <a:solidFill>
              <a:srgbClr val="10B981"/>
            </a:solidFill>
            <a:prstDash val="solid"/>
            <a:headEnd type="none"/>
            <a:tailEnd type="triangle"/>
          </a:ln>
        </p:spPr>
      </p:sp>
      <p:sp>
        <p:nvSpPr>
          <p:cNvPr id="16" name="Shape 14"/>
          <p:cNvSpPr/>
          <p:nvPr/>
        </p:nvSpPr>
        <p:spPr>
          <a:xfrm>
            <a:off x="6355080" y="1417320"/>
            <a:ext cx="2331720" cy="1920240"/>
          </a:xfrm>
          <a:prstGeom prst="roundRect">
            <a:avLst>
              <a:gd name="adj" fmla="val 4762"/>
            </a:avLst>
          </a:prstGeom>
          <a:solidFill>
            <a:srgbClr val="FFFFFF"/>
          </a:solidFill>
          <a:ln w="12700">
            <a:solidFill>
              <a:srgbClr val="E2E8F0"/>
            </a:solidFill>
            <a:prstDash val="solid"/>
          </a:ln>
          <a:effectLst/>
        </p:spPr>
      </p:sp>
      <p:sp>
        <p:nvSpPr>
          <p:cNvPr id="17" name="Shape 15"/>
          <p:cNvSpPr/>
          <p:nvPr/>
        </p:nvSpPr>
        <p:spPr>
          <a:xfrm>
            <a:off x="7223760" y="1691640"/>
            <a:ext cx="502920" cy="502920"/>
          </a:xfrm>
          <a:prstGeom prst="ellipse">
            <a:avLst/>
          </a:prstGeom>
          <a:solidFill>
            <a:srgbClr val="10B981"/>
          </a:solidFill>
          <a:ln w="12700">
            <a:solidFill>
              <a:srgbClr val="10B981"/>
            </a:solidFill>
            <a:prstDash val="solid"/>
          </a:ln>
        </p:spPr>
      </p:sp>
      <p:sp>
        <p:nvSpPr>
          <p:cNvPr id="18" name="Text 16"/>
          <p:cNvSpPr/>
          <p:nvPr/>
        </p:nvSpPr>
        <p:spPr>
          <a:xfrm>
            <a:off x="7269480" y="1801368"/>
            <a:ext cx="411480" cy="2011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AI</a:t>
            </a:r>
            <a:endParaRPr lang="en-US" sz="1300" dirty="0"/>
          </a:p>
        </p:txBody>
      </p:sp>
      <p:sp>
        <p:nvSpPr>
          <p:cNvPr id="19" name="Text 17"/>
          <p:cNvSpPr/>
          <p:nvPr/>
        </p:nvSpPr>
        <p:spPr>
          <a:xfrm>
            <a:off x="6537960" y="2423160"/>
            <a:ext cx="1965960" cy="228600"/>
          </a:xfrm>
          <a:prstGeom prst="rect">
            <a:avLst/>
          </a:prstGeom>
          <a:noFill/>
          <a:ln/>
        </p:spPr>
        <p:txBody>
          <a:bodyPr wrap="square" lIns="0" tIns="0" rIns="0" bIns="0" rtlCol="0" anchor="ctr">
            <a:normAutofit/>
          </a:bodyPr>
          <a:lstStyle/>
          <a:p>
            <a:pPr marL="0" indent="0" algn="ctr">
              <a:buNone/>
            </a:pPr>
            <a:r>
              <a:rPr lang="en-US" sz="1200" b="1" dirty="0">
                <a:solidFill>
                  <a:srgbClr val="111827"/>
                </a:solidFill>
              </a:rPr>
              <a:t>INTELLIGENCE</a:t>
            </a:r>
            <a:endParaRPr lang="en-US" sz="1200" dirty="0"/>
          </a:p>
        </p:txBody>
      </p:sp>
      <p:sp>
        <p:nvSpPr>
          <p:cNvPr id="20" name="Text 18"/>
          <p:cNvSpPr/>
          <p:nvPr/>
        </p:nvSpPr>
        <p:spPr>
          <a:xfrm>
            <a:off x="6537960" y="2761488"/>
            <a:ext cx="1965960" cy="228600"/>
          </a:xfrm>
          <a:prstGeom prst="rect">
            <a:avLst/>
          </a:prstGeom>
          <a:noFill/>
          <a:ln/>
        </p:spPr>
        <p:txBody>
          <a:bodyPr wrap="square" lIns="0" tIns="0" rIns="0" bIns="0" rtlCol="0" anchor="ctr">
            <a:normAutofit/>
          </a:bodyPr>
          <a:lstStyle/>
          <a:p>
            <a:pPr marL="0" indent="0" algn="ctr">
              <a:buNone/>
            </a:pPr>
            <a:r>
              <a:rPr lang="en-US" sz="1100" dirty="0">
                <a:solidFill>
                  <a:srgbClr val="64748B"/>
                </a:solidFill>
              </a:rPr>
              <a:t>4 Specialized AI Modules</a:t>
            </a:r>
            <a:endParaRPr lang="en-US" sz="1100" dirty="0"/>
          </a:p>
        </p:txBody>
      </p:sp>
      <p:sp>
        <p:nvSpPr>
          <p:cNvPr id="21" name="Shape 19"/>
          <p:cNvSpPr/>
          <p:nvPr/>
        </p:nvSpPr>
        <p:spPr>
          <a:xfrm>
            <a:off x="8732520" y="2377440"/>
            <a:ext cx="365760" cy="1"/>
          </a:xfrm>
          <a:prstGeom prst="line">
            <a:avLst/>
          </a:prstGeom>
          <a:noFill/>
          <a:ln w="25400">
            <a:solidFill>
              <a:srgbClr val="10B981"/>
            </a:solidFill>
            <a:prstDash val="solid"/>
            <a:headEnd type="none"/>
            <a:tailEnd type="triangle"/>
          </a:ln>
        </p:spPr>
      </p:sp>
      <p:sp>
        <p:nvSpPr>
          <p:cNvPr id="22" name="Shape 20"/>
          <p:cNvSpPr/>
          <p:nvPr/>
        </p:nvSpPr>
        <p:spPr>
          <a:xfrm>
            <a:off x="9189720" y="1417320"/>
            <a:ext cx="2331720" cy="1920240"/>
          </a:xfrm>
          <a:prstGeom prst="roundRect">
            <a:avLst>
              <a:gd name="adj" fmla="val 4762"/>
            </a:avLst>
          </a:prstGeom>
          <a:solidFill>
            <a:srgbClr val="FFFFFF"/>
          </a:solidFill>
          <a:ln w="12700">
            <a:solidFill>
              <a:srgbClr val="E2E8F0"/>
            </a:solidFill>
            <a:prstDash val="solid"/>
          </a:ln>
          <a:effectLst/>
        </p:spPr>
      </p:sp>
      <p:sp>
        <p:nvSpPr>
          <p:cNvPr id="23" name="Shape 21"/>
          <p:cNvSpPr/>
          <p:nvPr/>
        </p:nvSpPr>
        <p:spPr>
          <a:xfrm>
            <a:off x="10058400" y="1691640"/>
            <a:ext cx="502920" cy="502920"/>
          </a:xfrm>
          <a:prstGeom prst="ellipse">
            <a:avLst/>
          </a:prstGeom>
          <a:solidFill>
            <a:srgbClr val="F59E0B"/>
          </a:solidFill>
          <a:ln w="12700">
            <a:solidFill>
              <a:srgbClr val="F59E0B"/>
            </a:solidFill>
            <a:prstDash val="solid"/>
          </a:ln>
        </p:spPr>
      </p:sp>
      <p:sp>
        <p:nvSpPr>
          <p:cNvPr id="24" name="Text 22"/>
          <p:cNvSpPr/>
          <p:nvPr/>
        </p:nvSpPr>
        <p:spPr>
          <a:xfrm>
            <a:off x="10104120" y="1801368"/>
            <a:ext cx="411480" cy="2011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H</a:t>
            </a:r>
            <a:endParaRPr lang="en-US" sz="1300" dirty="0"/>
          </a:p>
        </p:txBody>
      </p:sp>
      <p:sp>
        <p:nvSpPr>
          <p:cNvPr id="25" name="Text 23"/>
          <p:cNvSpPr/>
          <p:nvPr/>
        </p:nvSpPr>
        <p:spPr>
          <a:xfrm>
            <a:off x="9372600" y="2423160"/>
            <a:ext cx="1965960" cy="228600"/>
          </a:xfrm>
          <a:prstGeom prst="rect">
            <a:avLst/>
          </a:prstGeom>
          <a:noFill/>
          <a:ln/>
        </p:spPr>
        <p:txBody>
          <a:bodyPr wrap="square" lIns="0" tIns="0" rIns="0" bIns="0" rtlCol="0" anchor="ctr">
            <a:normAutofit/>
          </a:bodyPr>
          <a:lstStyle/>
          <a:p>
            <a:pPr marL="0" indent="0" algn="ctr">
              <a:buNone/>
            </a:pPr>
            <a:r>
              <a:rPr lang="en-US" sz="1200" b="1" dirty="0">
                <a:solidFill>
                  <a:srgbClr val="111827"/>
                </a:solidFill>
              </a:rPr>
              <a:t>EXPERT CONTROL</a:t>
            </a:r>
            <a:endParaRPr lang="en-US" sz="1200" dirty="0"/>
          </a:p>
        </p:txBody>
      </p:sp>
      <p:sp>
        <p:nvSpPr>
          <p:cNvPr id="26" name="Text 24"/>
          <p:cNvSpPr/>
          <p:nvPr/>
        </p:nvSpPr>
        <p:spPr>
          <a:xfrm>
            <a:off x="9372600" y="2761488"/>
            <a:ext cx="1965960" cy="228600"/>
          </a:xfrm>
          <a:prstGeom prst="rect">
            <a:avLst/>
          </a:prstGeom>
          <a:noFill/>
          <a:ln/>
        </p:spPr>
        <p:txBody>
          <a:bodyPr wrap="square" lIns="0" tIns="0" rIns="0" bIns="0" rtlCol="0" anchor="ctr">
            <a:normAutofit/>
          </a:bodyPr>
          <a:lstStyle/>
          <a:p>
            <a:pPr marL="0" indent="0" algn="ctr">
              <a:buNone/>
            </a:pPr>
            <a:r>
              <a:rPr lang="en-US" sz="1100" dirty="0">
                <a:solidFill>
                  <a:srgbClr val="64748B"/>
                </a:solidFill>
              </a:rPr>
              <a:t>Human-in-the-Loop</a:t>
            </a:r>
            <a:endParaRPr lang="en-US" sz="1100" dirty="0"/>
          </a:p>
        </p:txBody>
      </p:sp>
      <p:sp>
        <p:nvSpPr>
          <p:cNvPr id="27" name="Shape 25"/>
          <p:cNvSpPr/>
          <p:nvPr/>
        </p:nvSpPr>
        <p:spPr>
          <a:xfrm>
            <a:off x="685800" y="3886200"/>
            <a:ext cx="10835640" cy="1481328"/>
          </a:xfrm>
          <a:prstGeom prst="roundRect">
            <a:avLst>
              <a:gd name="adj" fmla="val 6173"/>
            </a:avLst>
          </a:prstGeom>
          <a:solidFill>
            <a:srgbClr val="0F172A"/>
          </a:solidFill>
          <a:ln w="12700">
            <a:solidFill>
              <a:srgbClr val="0F172A"/>
            </a:solidFill>
            <a:prstDash val="solid"/>
          </a:ln>
          <a:effectLst/>
        </p:spPr>
      </p:sp>
      <p:sp>
        <p:nvSpPr>
          <p:cNvPr id="28" name="Text 26"/>
          <p:cNvSpPr/>
          <p:nvPr/>
        </p:nvSpPr>
        <p:spPr>
          <a:xfrm>
            <a:off x="960120" y="4160520"/>
            <a:ext cx="10241280" cy="274320"/>
          </a:xfrm>
          <a:prstGeom prst="rect">
            <a:avLst/>
          </a:prstGeom>
          <a:noFill/>
          <a:ln/>
        </p:spPr>
        <p:txBody>
          <a:bodyPr wrap="square" lIns="0" tIns="0" rIns="0" bIns="0" rtlCol="0" anchor="ctr"/>
          <a:lstStyle/>
          <a:p>
            <a:pPr marL="0" indent="0" algn="ctr">
              <a:buNone/>
            </a:pPr>
            <a:r>
              <a:rPr lang="en-US" sz="1800" b="1" dirty="0">
                <a:solidFill>
                  <a:srgbClr val="FFFFFF"/>
                </a:solidFill>
              </a:rPr>
              <a:t>The mobile application never communicates directly with the AI models or database.</a:t>
            </a:r>
            <a:endParaRPr lang="en-US" sz="1800" dirty="0"/>
          </a:p>
        </p:txBody>
      </p:sp>
      <p:sp>
        <p:nvSpPr>
          <p:cNvPr id="29" name="Text 27"/>
          <p:cNvSpPr/>
          <p:nvPr/>
        </p:nvSpPr>
        <p:spPr>
          <a:xfrm>
            <a:off x="1097280" y="4617720"/>
            <a:ext cx="9966960" cy="457200"/>
          </a:xfrm>
          <a:prstGeom prst="rect">
            <a:avLst/>
          </a:prstGeom>
          <a:noFill/>
          <a:ln/>
        </p:spPr>
        <p:txBody>
          <a:bodyPr wrap="square" lIns="0" tIns="0" rIns="0" bIns="0" rtlCol="0" anchor="ctr">
            <a:normAutofit/>
          </a:bodyPr>
          <a:lstStyle/>
          <a:p>
            <a:pPr marL="0" indent="0" algn="ctr">
              <a:buNone/>
            </a:pPr>
            <a:r>
              <a:rPr lang="en-US" sz="1300" dirty="0">
                <a:solidFill>
                  <a:srgbClr val="CBD5E1"/>
                </a:solidFill>
              </a:rPr>
              <a:t>Requests pass through the PHP backend for authentication, business logic, database operations and routing. Structured AI results are then processed and returned to the mobile interface.</a:t>
            </a:r>
            <a:endParaRPr lang="en-US" sz="1300" dirty="0"/>
          </a:p>
        </p:txBody>
      </p:sp>
      <p:sp>
        <p:nvSpPr>
          <p:cNvPr id="30"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AI ENGINE</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Four AI Components, Four Different Problems</a:t>
            </a:r>
            <a:endParaRPr lang="en-US" sz="2800" dirty="0"/>
          </a:p>
        </p:txBody>
      </p:sp>
      <p:sp>
        <p:nvSpPr>
          <p:cNvPr id="4" name="Shape 2"/>
          <p:cNvSpPr/>
          <p:nvPr/>
        </p:nvSpPr>
        <p:spPr>
          <a:xfrm>
            <a:off x="640080" y="1325880"/>
            <a:ext cx="5257800" cy="1508760"/>
          </a:xfrm>
          <a:prstGeom prst="roundRect">
            <a:avLst>
              <a:gd name="adj" fmla="val 6061"/>
            </a:avLst>
          </a:prstGeom>
          <a:solidFill>
            <a:srgbClr val="FFFFFF"/>
          </a:solidFill>
          <a:ln w="12700">
            <a:solidFill>
              <a:srgbClr val="E2E8F0"/>
            </a:solidFill>
            <a:prstDash val="solid"/>
          </a:ln>
          <a:effectLst/>
        </p:spPr>
      </p:sp>
      <p:sp>
        <p:nvSpPr>
          <p:cNvPr id="5" name="Shape 3"/>
          <p:cNvSpPr/>
          <p:nvPr/>
        </p:nvSpPr>
        <p:spPr>
          <a:xfrm>
            <a:off x="896112" y="1600200"/>
            <a:ext cx="502920" cy="502920"/>
          </a:xfrm>
          <a:prstGeom prst="ellipse">
            <a:avLst/>
          </a:prstGeom>
          <a:solidFill>
            <a:srgbClr val="10B981"/>
          </a:solidFill>
          <a:ln w="12700">
            <a:solidFill>
              <a:srgbClr val="10B981"/>
            </a:solidFill>
            <a:prstDash val="solid"/>
          </a:ln>
        </p:spPr>
      </p:sp>
      <p:sp>
        <p:nvSpPr>
          <p:cNvPr id="6" name="Text 4"/>
          <p:cNvSpPr/>
          <p:nvPr/>
        </p:nvSpPr>
        <p:spPr>
          <a:xfrm>
            <a:off x="941832" y="1709928"/>
            <a:ext cx="411480" cy="2011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T</a:t>
            </a:r>
            <a:endParaRPr lang="en-US" sz="1300" dirty="0"/>
          </a:p>
        </p:txBody>
      </p:sp>
      <p:sp>
        <p:nvSpPr>
          <p:cNvPr id="7" name="Text 5"/>
          <p:cNvSpPr/>
          <p:nvPr/>
        </p:nvSpPr>
        <p:spPr>
          <a:xfrm>
            <a:off x="1554480" y="1554480"/>
            <a:ext cx="1920240" cy="256032"/>
          </a:xfrm>
          <a:prstGeom prst="rect">
            <a:avLst/>
          </a:prstGeom>
          <a:noFill/>
          <a:ln/>
        </p:spPr>
        <p:txBody>
          <a:bodyPr wrap="square" lIns="0" tIns="0" rIns="0" bIns="0" rtlCol="0" anchor="ctr"/>
          <a:lstStyle/>
          <a:p>
            <a:pPr marL="0" indent="0">
              <a:buNone/>
            </a:pPr>
            <a:r>
              <a:rPr lang="en-US" sz="1700" b="1" dirty="0">
                <a:solidFill>
                  <a:srgbClr val="111827"/>
                </a:solidFill>
              </a:rPr>
              <a:t>TrainCore AI</a:t>
            </a:r>
            <a:endParaRPr lang="en-US" sz="1700" dirty="0"/>
          </a:p>
        </p:txBody>
      </p:sp>
      <p:sp>
        <p:nvSpPr>
          <p:cNvPr id="8" name="Shape 6"/>
          <p:cNvSpPr/>
          <p:nvPr/>
        </p:nvSpPr>
        <p:spPr>
          <a:xfrm>
            <a:off x="3611880" y="1536192"/>
            <a:ext cx="1965960" cy="329184"/>
          </a:xfrm>
          <a:prstGeom prst="roundRect">
            <a:avLst>
              <a:gd name="adj" fmla="val 44444"/>
            </a:avLst>
          </a:prstGeom>
          <a:solidFill>
            <a:srgbClr val="D1FAE5"/>
          </a:solidFill>
          <a:ln w="12700">
            <a:solidFill>
              <a:srgbClr val="D1FAE5"/>
            </a:solidFill>
            <a:prstDash val="solid"/>
          </a:ln>
        </p:spPr>
      </p:sp>
      <p:sp>
        <p:nvSpPr>
          <p:cNvPr id="9" name="Text 7"/>
          <p:cNvSpPr/>
          <p:nvPr/>
        </p:nvSpPr>
        <p:spPr>
          <a:xfrm>
            <a:off x="3685032" y="1600200"/>
            <a:ext cx="1819656" cy="146304"/>
          </a:xfrm>
          <a:prstGeom prst="rect">
            <a:avLst/>
          </a:prstGeom>
          <a:noFill/>
          <a:ln/>
        </p:spPr>
        <p:txBody>
          <a:bodyPr wrap="square" lIns="0" tIns="0" rIns="0" bIns="0" rtlCol="0" anchor="ctr">
            <a:normAutofit lnSpcReduction="10000"/>
          </a:bodyPr>
          <a:lstStyle/>
          <a:p>
            <a:pPr marL="0" indent="0" algn="ctr">
              <a:buNone/>
            </a:pPr>
            <a:r>
              <a:rPr lang="en-US" sz="1000" b="1" dirty="0">
                <a:solidFill>
                  <a:srgbClr val="10B981"/>
                </a:solidFill>
              </a:rPr>
              <a:t>Workout Recommendation</a:t>
            </a:r>
            <a:endParaRPr lang="en-US" sz="1000" dirty="0"/>
          </a:p>
        </p:txBody>
      </p:sp>
      <p:sp>
        <p:nvSpPr>
          <p:cNvPr id="10" name="Text 8"/>
          <p:cNvSpPr/>
          <p:nvPr/>
        </p:nvSpPr>
        <p:spPr>
          <a:xfrm>
            <a:off x="1554480" y="2039112"/>
            <a:ext cx="3886200" cy="438912"/>
          </a:xfrm>
          <a:prstGeom prst="rect">
            <a:avLst/>
          </a:prstGeom>
          <a:noFill/>
          <a:ln/>
        </p:spPr>
        <p:txBody>
          <a:bodyPr wrap="square" lIns="0" tIns="0" rIns="0" bIns="0" rtlCol="0" anchor="ctr">
            <a:normAutofit/>
          </a:bodyPr>
          <a:lstStyle/>
          <a:p>
            <a:pPr marL="0" indent="0">
              <a:buNone/>
            </a:pPr>
            <a:r>
              <a:rPr lang="en-US" sz="1250" dirty="0">
                <a:solidFill>
                  <a:srgbClr val="64748B"/>
                </a:solidFill>
              </a:rPr>
              <a:t>Builds personalized plans from exercise suitability scores.</a:t>
            </a:r>
            <a:endParaRPr lang="en-US" sz="1250" dirty="0"/>
          </a:p>
        </p:txBody>
      </p:sp>
      <p:sp>
        <p:nvSpPr>
          <p:cNvPr id="11" name="Shape 9"/>
          <p:cNvSpPr/>
          <p:nvPr/>
        </p:nvSpPr>
        <p:spPr>
          <a:xfrm>
            <a:off x="6263640" y="1325880"/>
            <a:ext cx="5257800" cy="1508760"/>
          </a:xfrm>
          <a:prstGeom prst="roundRect">
            <a:avLst>
              <a:gd name="adj" fmla="val 6061"/>
            </a:avLst>
          </a:prstGeom>
          <a:solidFill>
            <a:srgbClr val="FFFFFF"/>
          </a:solidFill>
          <a:ln w="12700">
            <a:solidFill>
              <a:srgbClr val="E2E8F0"/>
            </a:solidFill>
            <a:prstDash val="solid"/>
          </a:ln>
          <a:effectLst/>
        </p:spPr>
      </p:sp>
      <p:sp>
        <p:nvSpPr>
          <p:cNvPr id="12" name="Shape 10"/>
          <p:cNvSpPr/>
          <p:nvPr/>
        </p:nvSpPr>
        <p:spPr>
          <a:xfrm>
            <a:off x="6519672" y="1600200"/>
            <a:ext cx="502920" cy="502920"/>
          </a:xfrm>
          <a:prstGeom prst="ellipse">
            <a:avLst/>
          </a:prstGeom>
          <a:solidFill>
            <a:srgbClr val="F59E0B"/>
          </a:solidFill>
          <a:ln w="12700">
            <a:solidFill>
              <a:srgbClr val="F59E0B"/>
            </a:solidFill>
            <a:prstDash val="solid"/>
          </a:ln>
        </p:spPr>
      </p:sp>
      <p:sp>
        <p:nvSpPr>
          <p:cNvPr id="13" name="Text 11"/>
          <p:cNvSpPr/>
          <p:nvPr/>
        </p:nvSpPr>
        <p:spPr>
          <a:xfrm>
            <a:off x="6565392" y="1709928"/>
            <a:ext cx="411480" cy="2011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N</a:t>
            </a:r>
            <a:endParaRPr lang="en-US" sz="1300" dirty="0"/>
          </a:p>
        </p:txBody>
      </p:sp>
      <p:sp>
        <p:nvSpPr>
          <p:cNvPr id="14" name="Text 12"/>
          <p:cNvSpPr/>
          <p:nvPr/>
        </p:nvSpPr>
        <p:spPr>
          <a:xfrm>
            <a:off x="7178040" y="1554480"/>
            <a:ext cx="1920240" cy="256032"/>
          </a:xfrm>
          <a:prstGeom prst="rect">
            <a:avLst/>
          </a:prstGeom>
          <a:noFill/>
          <a:ln/>
        </p:spPr>
        <p:txBody>
          <a:bodyPr wrap="square" lIns="0" tIns="0" rIns="0" bIns="0" rtlCol="0" anchor="ctr"/>
          <a:lstStyle/>
          <a:p>
            <a:pPr marL="0" indent="0">
              <a:buNone/>
            </a:pPr>
            <a:r>
              <a:rPr lang="en-US" sz="1700" b="1" dirty="0">
                <a:solidFill>
                  <a:srgbClr val="111827"/>
                </a:solidFill>
              </a:rPr>
              <a:t>NutriCore AI</a:t>
            </a:r>
            <a:endParaRPr lang="en-US" sz="1700" dirty="0"/>
          </a:p>
        </p:txBody>
      </p:sp>
      <p:sp>
        <p:nvSpPr>
          <p:cNvPr id="15" name="Shape 13"/>
          <p:cNvSpPr/>
          <p:nvPr/>
        </p:nvSpPr>
        <p:spPr>
          <a:xfrm>
            <a:off x="9235440" y="1536192"/>
            <a:ext cx="1965960" cy="329184"/>
          </a:xfrm>
          <a:prstGeom prst="roundRect">
            <a:avLst>
              <a:gd name="adj" fmla="val 44444"/>
            </a:avLst>
          </a:prstGeom>
          <a:solidFill>
            <a:srgbClr val="FEF3C7"/>
          </a:solidFill>
          <a:ln w="12700">
            <a:solidFill>
              <a:srgbClr val="FEF3C7"/>
            </a:solidFill>
            <a:prstDash val="solid"/>
          </a:ln>
        </p:spPr>
      </p:sp>
      <p:sp>
        <p:nvSpPr>
          <p:cNvPr id="16" name="Text 14"/>
          <p:cNvSpPr/>
          <p:nvPr/>
        </p:nvSpPr>
        <p:spPr>
          <a:xfrm>
            <a:off x="9308592" y="1600200"/>
            <a:ext cx="1819656" cy="146304"/>
          </a:xfrm>
          <a:prstGeom prst="rect">
            <a:avLst/>
          </a:prstGeom>
          <a:noFill/>
          <a:ln/>
        </p:spPr>
        <p:txBody>
          <a:bodyPr wrap="square" lIns="0" tIns="0" rIns="0" bIns="0" rtlCol="0" anchor="ctr">
            <a:normAutofit lnSpcReduction="10000"/>
          </a:bodyPr>
          <a:lstStyle/>
          <a:p>
            <a:pPr marL="0" indent="0" algn="ctr">
              <a:buNone/>
            </a:pPr>
            <a:r>
              <a:rPr lang="en-US" sz="1000" b="1" dirty="0">
                <a:solidFill>
                  <a:srgbClr val="F59E0B"/>
                </a:solidFill>
              </a:rPr>
              <a:t>Nutrition Recommendation</a:t>
            </a:r>
            <a:endParaRPr lang="en-US" sz="1000" dirty="0"/>
          </a:p>
        </p:txBody>
      </p:sp>
      <p:sp>
        <p:nvSpPr>
          <p:cNvPr id="17" name="Text 15"/>
          <p:cNvSpPr/>
          <p:nvPr/>
        </p:nvSpPr>
        <p:spPr>
          <a:xfrm>
            <a:off x="7178040" y="2039112"/>
            <a:ext cx="3886200" cy="438912"/>
          </a:xfrm>
          <a:prstGeom prst="rect">
            <a:avLst/>
          </a:prstGeom>
          <a:noFill/>
          <a:ln/>
        </p:spPr>
        <p:txBody>
          <a:bodyPr wrap="square" lIns="0" tIns="0" rIns="0" bIns="0" rtlCol="0" anchor="ctr">
            <a:normAutofit/>
          </a:bodyPr>
          <a:lstStyle/>
          <a:p>
            <a:pPr marL="0" indent="0">
              <a:buNone/>
            </a:pPr>
            <a:r>
              <a:rPr lang="en-US" sz="1250" dirty="0">
                <a:solidFill>
                  <a:srgbClr val="64748B"/>
                </a:solidFill>
              </a:rPr>
              <a:t>Ranks meals under nutritional and personal constraints.</a:t>
            </a:r>
            <a:endParaRPr lang="en-US" sz="1250" dirty="0"/>
          </a:p>
        </p:txBody>
      </p:sp>
      <p:sp>
        <p:nvSpPr>
          <p:cNvPr id="18" name="Shape 16"/>
          <p:cNvSpPr/>
          <p:nvPr/>
        </p:nvSpPr>
        <p:spPr>
          <a:xfrm>
            <a:off x="640080" y="3200400"/>
            <a:ext cx="5257800" cy="1508760"/>
          </a:xfrm>
          <a:prstGeom prst="roundRect">
            <a:avLst>
              <a:gd name="adj" fmla="val 6061"/>
            </a:avLst>
          </a:prstGeom>
          <a:solidFill>
            <a:srgbClr val="FFFFFF"/>
          </a:solidFill>
          <a:ln w="12700">
            <a:solidFill>
              <a:srgbClr val="E2E8F0"/>
            </a:solidFill>
            <a:prstDash val="solid"/>
          </a:ln>
          <a:effectLst/>
        </p:spPr>
      </p:sp>
      <p:sp>
        <p:nvSpPr>
          <p:cNvPr id="19" name="Shape 17"/>
          <p:cNvSpPr/>
          <p:nvPr/>
        </p:nvSpPr>
        <p:spPr>
          <a:xfrm>
            <a:off x="896112" y="3474720"/>
            <a:ext cx="502920" cy="502920"/>
          </a:xfrm>
          <a:prstGeom prst="ellipse">
            <a:avLst/>
          </a:prstGeom>
          <a:solidFill>
            <a:srgbClr val="0EA5E9"/>
          </a:solidFill>
          <a:ln w="12700">
            <a:solidFill>
              <a:srgbClr val="0EA5E9"/>
            </a:solidFill>
            <a:prstDash val="solid"/>
          </a:ln>
        </p:spPr>
      </p:sp>
      <p:sp>
        <p:nvSpPr>
          <p:cNvPr id="20" name="Text 18"/>
          <p:cNvSpPr/>
          <p:nvPr/>
        </p:nvSpPr>
        <p:spPr>
          <a:xfrm>
            <a:off x="941832" y="3584448"/>
            <a:ext cx="411480" cy="2011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P</a:t>
            </a:r>
            <a:endParaRPr lang="en-US" sz="1300" dirty="0"/>
          </a:p>
        </p:txBody>
      </p:sp>
      <p:sp>
        <p:nvSpPr>
          <p:cNvPr id="21" name="Text 19"/>
          <p:cNvSpPr/>
          <p:nvPr/>
        </p:nvSpPr>
        <p:spPr>
          <a:xfrm>
            <a:off x="1554480" y="3429000"/>
            <a:ext cx="1920240" cy="256032"/>
          </a:xfrm>
          <a:prstGeom prst="rect">
            <a:avLst/>
          </a:prstGeom>
          <a:noFill/>
          <a:ln/>
        </p:spPr>
        <p:txBody>
          <a:bodyPr wrap="square" lIns="0" tIns="0" rIns="0" bIns="0" rtlCol="0" anchor="ctr"/>
          <a:lstStyle/>
          <a:p>
            <a:pPr marL="0" indent="0">
              <a:buNone/>
            </a:pPr>
            <a:r>
              <a:rPr lang="en-US" sz="1700" b="1" dirty="0">
                <a:solidFill>
                  <a:srgbClr val="111827"/>
                </a:solidFill>
              </a:rPr>
              <a:t>PredictionAI</a:t>
            </a:r>
            <a:endParaRPr lang="en-US" sz="1700" dirty="0"/>
          </a:p>
        </p:txBody>
      </p:sp>
      <p:sp>
        <p:nvSpPr>
          <p:cNvPr id="22" name="Shape 20"/>
          <p:cNvSpPr/>
          <p:nvPr/>
        </p:nvSpPr>
        <p:spPr>
          <a:xfrm>
            <a:off x="3611880" y="3410712"/>
            <a:ext cx="1965960" cy="329184"/>
          </a:xfrm>
          <a:prstGeom prst="roundRect">
            <a:avLst>
              <a:gd name="adj" fmla="val 44444"/>
            </a:avLst>
          </a:prstGeom>
          <a:solidFill>
            <a:srgbClr val="E0F2FE"/>
          </a:solidFill>
          <a:ln w="12700">
            <a:solidFill>
              <a:srgbClr val="E0F2FE"/>
            </a:solidFill>
            <a:prstDash val="solid"/>
          </a:ln>
        </p:spPr>
      </p:sp>
      <p:sp>
        <p:nvSpPr>
          <p:cNvPr id="23" name="Text 21"/>
          <p:cNvSpPr/>
          <p:nvPr/>
        </p:nvSpPr>
        <p:spPr>
          <a:xfrm>
            <a:off x="3685032" y="3474720"/>
            <a:ext cx="1819656" cy="146304"/>
          </a:xfrm>
          <a:prstGeom prst="rect">
            <a:avLst/>
          </a:prstGeom>
          <a:noFill/>
          <a:ln/>
        </p:spPr>
        <p:txBody>
          <a:bodyPr wrap="square" lIns="0" tIns="0" rIns="0" bIns="0" rtlCol="0" anchor="ctr">
            <a:normAutofit lnSpcReduction="10000"/>
          </a:bodyPr>
          <a:lstStyle/>
          <a:p>
            <a:pPr marL="0" indent="0" algn="ctr">
              <a:buNone/>
            </a:pPr>
            <a:r>
              <a:rPr lang="en-US" sz="1000" b="1" dirty="0">
                <a:solidFill>
                  <a:srgbClr val="0EA5E9"/>
                </a:solidFill>
              </a:rPr>
              <a:t>Progress Intelligence</a:t>
            </a:r>
            <a:endParaRPr lang="en-US" sz="1000" dirty="0"/>
          </a:p>
        </p:txBody>
      </p:sp>
      <p:sp>
        <p:nvSpPr>
          <p:cNvPr id="24" name="Text 22"/>
          <p:cNvSpPr/>
          <p:nvPr/>
        </p:nvSpPr>
        <p:spPr>
          <a:xfrm>
            <a:off x="1554480" y="3913632"/>
            <a:ext cx="3886200" cy="438912"/>
          </a:xfrm>
          <a:prstGeom prst="rect">
            <a:avLst/>
          </a:prstGeom>
          <a:noFill/>
          <a:ln/>
        </p:spPr>
        <p:txBody>
          <a:bodyPr wrap="square" lIns="0" tIns="0" rIns="0" bIns="0" rtlCol="0" anchor="ctr">
            <a:normAutofit/>
          </a:bodyPr>
          <a:lstStyle/>
          <a:p>
            <a:pPr marL="0" indent="0">
              <a:buNone/>
            </a:pPr>
            <a:r>
              <a:rPr lang="en-US" sz="1250" dirty="0">
                <a:solidFill>
                  <a:srgbClr val="64748B"/>
                </a:solidFill>
              </a:rPr>
              <a:t>Supports weight-trend prediction from progress data.</a:t>
            </a:r>
            <a:endParaRPr lang="en-US" sz="1250" dirty="0"/>
          </a:p>
        </p:txBody>
      </p:sp>
      <p:sp>
        <p:nvSpPr>
          <p:cNvPr id="25" name="Shape 23"/>
          <p:cNvSpPr/>
          <p:nvPr/>
        </p:nvSpPr>
        <p:spPr>
          <a:xfrm>
            <a:off x="6263640" y="3200400"/>
            <a:ext cx="5257800" cy="1508760"/>
          </a:xfrm>
          <a:prstGeom prst="roundRect">
            <a:avLst>
              <a:gd name="adj" fmla="val 6061"/>
            </a:avLst>
          </a:prstGeom>
          <a:solidFill>
            <a:srgbClr val="FFFFFF"/>
          </a:solidFill>
          <a:ln w="12700">
            <a:solidFill>
              <a:srgbClr val="E2E8F0"/>
            </a:solidFill>
            <a:prstDash val="solid"/>
          </a:ln>
          <a:effectLst/>
        </p:spPr>
      </p:sp>
      <p:sp>
        <p:nvSpPr>
          <p:cNvPr id="26" name="Shape 24"/>
          <p:cNvSpPr/>
          <p:nvPr/>
        </p:nvSpPr>
        <p:spPr>
          <a:xfrm>
            <a:off x="6519672" y="3474720"/>
            <a:ext cx="502920" cy="502920"/>
          </a:xfrm>
          <a:prstGeom prst="ellipse">
            <a:avLst/>
          </a:prstGeom>
          <a:solidFill>
            <a:srgbClr val="8B5CF6"/>
          </a:solidFill>
          <a:ln w="12700">
            <a:solidFill>
              <a:srgbClr val="8B5CF6"/>
            </a:solidFill>
            <a:prstDash val="solid"/>
          </a:ln>
        </p:spPr>
      </p:sp>
      <p:sp>
        <p:nvSpPr>
          <p:cNvPr id="27" name="Text 25"/>
          <p:cNvSpPr/>
          <p:nvPr/>
        </p:nvSpPr>
        <p:spPr>
          <a:xfrm>
            <a:off x="6565392" y="3584448"/>
            <a:ext cx="411480" cy="2011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V</a:t>
            </a:r>
            <a:endParaRPr lang="en-US" sz="1300" dirty="0"/>
          </a:p>
        </p:txBody>
      </p:sp>
      <p:sp>
        <p:nvSpPr>
          <p:cNvPr id="28" name="Text 26"/>
          <p:cNvSpPr/>
          <p:nvPr/>
        </p:nvSpPr>
        <p:spPr>
          <a:xfrm>
            <a:off x="7178040" y="3429000"/>
            <a:ext cx="1920240" cy="256032"/>
          </a:xfrm>
          <a:prstGeom prst="rect">
            <a:avLst/>
          </a:prstGeom>
          <a:noFill/>
          <a:ln/>
        </p:spPr>
        <p:txBody>
          <a:bodyPr wrap="square" lIns="0" tIns="0" rIns="0" bIns="0" rtlCol="0" anchor="ctr"/>
          <a:lstStyle/>
          <a:p>
            <a:pPr marL="0" indent="0">
              <a:buNone/>
            </a:pPr>
            <a:r>
              <a:rPr lang="en-US" sz="1700" b="1" dirty="0">
                <a:solidFill>
                  <a:srgbClr val="111827"/>
                </a:solidFill>
              </a:rPr>
              <a:t>PoseForm AI</a:t>
            </a:r>
            <a:endParaRPr lang="en-US" sz="1700" dirty="0"/>
          </a:p>
        </p:txBody>
      </p:sp>
      <p:sp>
        <p:nvSpPr>
          <p:cNvPr id="29" name="Shape 27"/>
          <p:cNvSpPr/>
          <p:nvPr/>
        </p:nvSpPr>
        <p:spPr>
          <a:xfrm>
            <a:off x="9235440" y="3410712"/>
            <a:ext cx="1965960" cy="329184"/>
          </a:xfrm>
          <a:prstGeom prst="roundRect">
            <a:avLst>
              <a:gd name="adj" fmla="val 44444"/>
            </a:avLst>
          </a:prstGeom>
          <a:solidFill>
            <a:srgbClr val="EDE9FE"/>
          </a:solidFill>
          <a:ln w="12700">
            <a:solidFill>
              <a:srgbClr val="EDE9FE"/>
            </a:solidFill>
            <a:prstDash val="solid"/>
          </a:ln>
        </p:spPr>
      </p:sp>
      <p:sp>
        <p:nvSpPr>
          <p:cNvPr id="30" name="Text 28"/>
          <p:cNvSpPr/>
          <p:nvPr/>
        </p:nvSpPr>
        <p:spPr>
          <a:xfrm>
            <a:off x="9308592" y="3474720"/>
            <a:ext cx="1819656" cy="146304"/>
          </a:xfrm>
          <a:prstGeom prst="rect">
            <a:avLst/>
          </a:prstGeom>
          <a:noFill/>
          <a:ln/>
        </p:spPr>
        <p:txBody>
          <a:bodyPr wrap="square" lIns="0" tIns="0" rIns="0" bIns="0" rtlCol="0" anchor="ctr">
            <a:normAutofit lnSpcReduction="10000"/>
          </a:bodyPr>
          <a:lstStyle/>
          <a:p>
            <a:pPr marL="0" indent="0" algn="ctr">
              <a:buNone/>
            </a:pPr>
            <a:r>
              <a:rPr lang="en-US" sz="1000" b="1" dirty="0">
                <a:solidFill>
                  <a:srgbClr val="8B5CF6"/>
                </a:solidFill>
              </a:rPr>
              <a:t>Computer Vision</a:t>
            </a:r>
            <a:endParaRPr lang="en-US" sz="1000" dirty="0"/>
          </a:p>
        </p:txBody>
      </p:sp>
      <p:sp>
        <p:nvSpPr>
          <p:cNvPr id="31" name="Text 29"/>
          <p:cNvSpPr/>
          <p:nvPr/>
        </p:nvSpPr>
        <p:spPr>
          <a:xfrm>
            <a:off x="7178040" y="3913632"/>
            <a:ext cx="3886200" cy="438912"/>
          </a:xfrm>
          <a:prstGeom prst="rect">
            <a:avLst/>
          </a:prstGeom>
          <a:noFill/>
          <a:ln/>
        </p:spPr>
        <p:txBody>
          <a:bodyPr wrap="square" lIns="0" tIns="0" rIns="0" bIns="0" rtlCol="0" anchor="ctr">
            <a:normAutofit/>
          </a:bodyPr>
          <a:lstStyle/>
          <a:p>
            <a:pPr marL="0" indent="0">
              <a:buNone/>
            </a:pPr>
            <a:r>
              <a:rPr lang="en-US" sz="1250" dirty="0">
                <a:solidFill>
                  <a:srgbClr val="64748B"/>
                </a:solidFill>
              </a:rPr>
              <a:t>Analyzes repetitions, form quality and mistakes.</a:t>
            </a:r>
            <a:endParaRPr lang="en-US" sz="1250" dirty="0"/>
          </a:p>
        </p:txBody>
      </p:sp>
      <p:sp>
        <p:nvSpPr>
          <p:cNvPr id="32" name="Text 30"/>
          <p:cNvSpPr/>
          <p:nvPr/>
        </p:nvSpPr>
        <p:spPr>
          <a:xfrm>
            <a:off x="914400" y="5440680"/>
            <a:ext cx="10332720" cy="411480"/>
          </a:xfrm>
          <a:prstGeom prst="rect">
            <a:avLst/>
          </a:prstGeom>
          <a:noFill/>
          <a:ln/>
        </p:spPr>
        <p:txBody>
          <a:bodyPr wrap="square" lIns="0" tIns="0" rIns="0" bIns="0" rtlCol="0" anchor="ctr">
            <a:normAutofit fontScale="92500"/>
          </a:bodyPr>
          <a:lstStyle/>
          <a:p>
            <a:pPr marL="0" indent="0" algn="ctr">
              <a:buNone/>
            </a:pPr>
            <a:r>
              <a:rPr lang="en-US" sz="1600" b="1" dirty="0">
                <a:solidFill>
                  <a:srgbClr val="10B981"/>
                </a:solidFill>
              </a:rPr>
              <a:t>AI is not one generic feature. Each model solves a specific technical problem and connects to the application through the backend.</a:t>
            </a:r>
            <a:endParaRPr lang="en-US" sz="1600" dirty="0"/>
          </a:p>
        </p:txBody>
      </p:sp>
      <p:sp>
        <p:nvSpPr>
          <p:cNvPr id="33"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TECHNICAL DEEP DIVE</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TrainCore AI — Personalized Workout Generation</a:t>
            </a:r>
            <a:endParaRPr lang="en-US" sz="2800" dirty="0"/>
          </a:p>
        </p:txBody>
      </p:sp>
      <p:sp>
        <p:nvSpPr>
          <p:cNvPr id="4" name="Text 2"/>
          <p:cNvSpPr/>
          <p:nvPr/>
        </p:nvSpPr>
        <p:spPr>
          <a:xfrm>
            <a:off x="640080" y="1325880"/>
            <a:ext cx="4983480" cy="3429000"/>
          </a:xfrm>
          <a:prstGeom prst="rect">
            <a:avLst/>
          </a:prstGeom>
          <a:noFill/>
          <a:ln/>
        </p:spPr>
        <p:txBody>
          <a:bodyPr wrap="square" lIns="508" tIns="508" rIns="508" bIns="508" rtlCol="0" anchor="ctr">
            <a:normAutofit/>
          </a:bodyPr>
          <a:lstStyle/>
          <a:p>
            <a:pPr marL="0" indent="0">
              <a:buNone/>
            </a:pPr>
            <a:r>
              <a:rPr lang="en-US" sz="1600" dirty="0">
                <a:solidFill>
                  <a:srgbClr val="111827"/>
                </a:solidFill>
              </a:rPr>
              <a:t>TrainCore AI is implemented as a local feed-forward neural network. It receives fitness goal, gender, physical measures, training level, workout location, frequency, preferred intensity, injuries, pain points and available equipment. After numerical preprocessing, the model assigns a suitability score from 0 to 1 to each candidate exercise. Higher-scoring exercises are selected while safety filters remove conflicts with physical limitations.</a:t>
            </a:r>
            <a:endParaRPr lang="en-US" sz="1600" dirty="0"/>
          </a:p>
        </p:txBody>
      </p:sp>
      <p:sp>
        <p:nvSpPr>
          <p:cNvPr id="5" name="Shape 3"/>
          <p:cNvSpPr/>
          <p:nvPr/>
        </p:nvSpPr>
        <p:spPr>
          <a:xfrm>
            <a:off x="6492240" y="1234440"/>
            <a:ext cx="4297680" cy="457200"/>
          </a:xfrm>
          <a:prstGeom prst="roundRect">
            <a:avLst>
              <a:gd name="adj" fmla="val 16000"/>
            </a:avLst>
          </a:prstGeom>
          <a:solidFill>
            <a:srgbClr val="FFFFFF"/>
          </a:solidFill>
          <a:ln w="16510">
            <a:solidFill>
              <a:srgbClr val="CBD5E1"/>
            </a:solidFill>
            <a:prstDash val="solid"/>
          </a:ln>
          <a:effectLst/>
        </p:spPr>
      </p:sp>
      <p:sp>
        <p:nvSpPr>
          <p:cNvPr id="6" name="Text 4"/>
          <p:cNvSpPr/>
          <p:nvPr/>
        </p:nvSpPr>
        <p:spPr>
          <a:xfrm>
            <a:off x="6565392" y="1280160"/>
            <a:ext cx="4151376" cy="36576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USER PROFILE</a:t>
            </a:r>
            <a:endParaRPr lang="en-US" sz="1100" dirty="0"/>
          </a:p>
        </p:txBody>
      </p:sp>
      <p:sp>
        <p:nvSpPr>
          <p:cNvPr id="7" name="Shape 5"/>
          <p:cNvSpPr/>
          <p:nvPr/>
        </p:nvSpPr>
        <p:spPr>
          <a:xfrm>
            <a:off x="8641080" y="1709928"/>
            <a:ext cx="1" cy="182880"/>
          </a:xfrm>
          <a:prstGeom prst="line">
            <a:avLst/>
          </a:prstGeom>
          <a:noFill/>
          <a:ln w="21590">
            <a:solidFill>
              <a:srgbClr val="10B981"/>
            </a:solidFill>
            <a:prstDash val="solid"/>
            <a:headEnd type="none"/>
            <a:tailEnd type="triangle"/>
          </a:ln>
        </p:spPr>
      </p:sp>
      <p:sp>
        <p:nvSpPr>
          <p:cNvPr id="8" name="Shape 6"/>
          <p:cNvSpPr/>
          <p:nvPr/>
        </p:nvSpPr>
        <p:spPr>
          <a:xfrm>
            <a:off x="6492240" y="1920240"/>
            <a:ext cx="4297680" cy="457200"/>
          </a:xfrm>
          <a:prstGeom prst="roundRect">
            <a:avLst>
              <a:gd name="adj" fmla="val 16000"/>
            </a:avLst>
          </a:prstGeom>
          <a:solidFill>
            <a:srgbClr val="FFFFFF"/>
          </a:solidFill>
          <a:ln w="16510">
            <a:solidFill>
              <a:srgbClr val="CBD5E1"/>
            </a:solidFill>
            <a:prstDash val="solid"/>
          </a:ln>
          <a:effectLst/>
        </p:spPr>
      </p:sp>
      <p:sp>
        <p:nvSpPr>
          <p:cNvPr id="9" name="Text 7"/>
          <p:cNvSpPr/>
          <p:nvPr/>
        </p:nvSpPr>
        <p:spPr>
          <a:xfrm>
            <a:off x="6565392" y="1965960"/>
            <a:ext cx="4151376" cy="36576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FEATURE PREPROCESSING</a:t>
            </a:r>
            <a:endParaRPr lang="en-US" sz="1100" dirty="0"/>
          </a:p>
        </p:txBody>
      </p:sp>
      <p:sp>
        <p:nvSpPr>
          <p:cNvPr id="10" name="Shape 8"/>
          <p:cNvSpPr/>
          <p:nvPr/>
        </p:nvSpPr>
        <p:spPr>
          <a:xfrm>
            <a:off x="8641080" y="2395728"/>
            <a:ext cx="1" cy="182880"/>
          </a:xfrm>
          <a:prstGeom prst="line">
            <a:avLst/>
          </a:prstGeom>
          <a:noFill/>
          <a:ln w="21590">
            <a:solidFill>
              <a:srgbClr val="10B981"/>
            </a:solidFill>
            <a:prstDash val="solid"/>
            <a:headEnd type="none"/>
            <a:tailEnd type="triangle"/>
          </a:ln>
        </p:spPr>
      </p:sp>
      <p:sp>
        <p:nvSpPr>
          <p:cNvPr id="11" name="Shape 9"/>
          <p:cNvSpPr/>
          <p:nvPr/>
        </p:nvSpPr>
        <p:spPr>
          <a:xfrm>
            <a:off x="6492240" y="2606040"/>
            <a:ext cx="4297680" cy="457200"/>
          </a:xfrm>
          <a:prstGeom prst="roundRect">
            <a:avLst>
              <a:gd name="adj" fmla="val 16000"/>
            </a:avLst>
          </a:prstGeom>
          <a:solidFill>
            <a:srgbClr val="FFFFFF"/>
          </a:solidFill>
          <a:ln w="16510">
            <a:solidFill>
              <a:srgbClr val="CBD5E1"/>
            </a:solidFill>
            <a:prstDash val="solid"/>
          </a:ln>
          <a:effectLst/>
        </p:spPr>
      </p:sp>
      <p:sp>
        <p:nvSpPr>
          <p:cNvPr id="12" name="Text 10"/>
          <p:cNvSpPr/>
          <p:nvPr/>
        </p:nvSpPr>
        <p:spPr>
          <a:xfrm>
            <a:off x="6565392" y="2651760"/>
            <a:ext cx="4151376" cy="36576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FEED-FORWARD NETWORK</a:t>
            </a:r>
            <a:endParaRPr lang="en-US" sz="1100" dirty="0"/>
          </a:p>
        </p:txBody>
      </p:sp>
      <p:sp>
        <p:nvSpPr>
          <p:cNvPr id="13" name="Shape 11"/>
          <p:cNvSpPr/>
          <p:nvPr/>
        </p:nvSpPr>
        <p:spPr>
          <a:xfrm>
            <a:off x="8641080" y="3081528"/>
            <a:ext cx="1" cy="182880"/>
          </a:xfrm>
          <a:prstGeom prst="line">
            <a:avLst/>
          </a:prstGeom>
          <a:noFill/>
          <a:ln w="21590">
            <a:solidFill>
              <a:srgbClr val="10B981"/>
            </a:solidFill>
            <a:prstDash val="solid"/>
            <a:headEnd type="none"/>
            <a:tailEnd type="triangle"/>
          </a:ln>
        </p:spPr>
      </p:sp>
      <p:sp>
        <p:nvSpPr>
          <p:cNvPr id="14" name="Shape 12"/>
          <p:cNvSpPr/>
          <p:nvPr/>
        </p:nvSpPr>
        <p:spPr>
          <a:xfrm>
            <a:off x="6492240" y="3291840"/>
            <a:ext cx="4297680" cy="457200"/>
          </a:xfrm>
          <a:prstGeom prst="roundRect">
            <a:avLst>
              <a:gd name="adj" fmla="val 16000"/>
            </a:avLst>
          </a:prstGeom>
          <a:solidFill>
            <a:srgbClr val="FFFFFF"/>
          </a:solidFill>
          <a:ln w="16510">
            <a:solidFill>
              <a:srgbClr val="CBD5E1"/>
            </a:solidFill>
            <a:prstDash val="solid"/>
          </a:ln>
          <a:effectLst/>
        </p:spPr>
      </p:sp>
      <p:sp>
        <p:nvSpPr>
          <p:cNvPr id="15" name="Text 13"/>
          <p:cNvSpPr/>
          <p:nvPr/>
        </p:nvSpPr>
        <p:spPr>
          <a:xfrm>
            <a:off x="6565392" y="3337560"/>
            <a:ext cx="4151376" cy="36576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SUITABILITY SCORE</a:t>
            </a:r>
            <a:endParaRPr lang="en-US" sz="1100" dirty="0"/>
          </a:p>
        </p:txBody>
      </p:sp>
      <p:sp>
        <p:nvSpPr>
          <p:cNvPr id="16" name="Shape 14"/>
          <p:cNvSpPr/>
          <p:nvPr/>
        </p:nvSpPr>
        <p:spPr>
          <a:xfrm>
            <a:off x="8641080" y="3767328"/>
            <a:ext cx="1" cy="182880"/>
          </a:xfrm>
          <a:prstGeom prst="line">
            <a:avLst/>
          </a:prstGeom>
          <a:noFill/>
          <a:ln w="21590">
            <a:solidFill>
              <a:srgbClr val="10B981"/>
            </a:solidFill>
            <a:prstDash val="solid"/>
            <a:headEnd type="none"/>
            <a:tailEnd type="triangle"/>
          </a:ln>
        </p:spPr>
      </p:sp>
      <p:sp>
        <p:nvSpPr>
          <p:cNvPr id="17" name="Shape 15"/>
          <p:cNvSpPr/>
          <p:nvPr/>
        </p:nvSpPr>
        <p:spPr>
          <a:xfrm>
            <a:off x="6492240" y="3977640"/>
            <a:ext cx="4297680" cy="457200"/>
          </a:xfrm>
          <a:prstGeom prst="roundRect">
            <a:avLst>
              <a:gd name="adj" fmla="val 16000"/>
            </a:avLst>
          </a:prstGeom>
          <a:solidFill>
            <a:srgbClr val="FFFFFF"/>
          </a:solidFill>
          <a:ln w="16510">
            <a:solidFill>
              <a:srgbClr val="CBD5E1"/>
            </a:solidFill>
            <a:prstDash val="solid"/>
          </a:ln>
          <a:effectLst/>
        </p:spPr>
      </p:sp>
      <p:sp>
        <p:nvSpPr>
          <p:cNvPr id="18" name="Text 16"/>
          <p:cNvSpPr/>
          <p:nvPr/>
        </p:nvSpPr>
        <p:spPr>
          <a:xfrm>
            <a:off x="6565392" y="4023360"/>
            <a:ext cx="4151376" cy="36576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SAFETY FILTERING</a:t>
            </a:r>
            <a:endParaRPr lang="en-US" sz="1100" dirty="0"/>
          </a:p>
        </p:txBody>
      </p:sp>
      <p:sp>
        <p:nvSpPr>
          <p:cNvPr id="19" name="Shape 17"/>
          <p:cNvSpPr/>
          <p:nvPr/>
        </p:nvSpPr>
        <p:spPr>
          <a:xfrm>
            <a:off x="8641080" y="4453128"/>
            <a:ext cx="1" cy="182880"/>
          </a:xfrm>
          <a:prstGeom prst="line">
            <a:avLst/>
          </a:prstGeom>
          <a:noFill/>
          <a:ln w="21590">
            <a:solidFill>
              <a:srgbClr val="10B981"/>
            </a:solidFill>
            <a:prstDash val="solid"/>
            <a:headEnd type="none"/>
            <a:tailEnd type="triangle"/>
          </a:ln>
        </p:spPr>
      </p:sp>
      <p:sp>
        <p:nvSpPr>
          <p:cNvPr id="20" name="Shape 18"/>
          <p:cNvSpPr/>
          <p:nvPr/>
        </p:nvSpPr>
        <p:spPr>
          <a:xfrm>
            <a:off x="6492240" y="4663440"/>
            <a:ext cx="4297680" cy="365760"/>
          </a:xfrm>
          <a:prstGeom prst="roundRect">
            <a:avLst>
              <a:gd name="adj" fmla="val 16000"/>
            </a:avLst>
          </a:prstGeom>
          <a:solidFill>
            <a:srgbClr val="D1FAE5"/>
          </a:solidFill>
          <a:ln w="16510">
            <a:solidFill>
              <a:srgbClr val="10B981"/>
            </a:solidFill>
            <a:prstDash val="solid"/>
          </a:ln>
          <a:effectLst/>
        </p:spPr>
      </p:sp>
      <p:sp>
        <p:nvSpPr>
          <p:cNvPr id="21" name="Text 19"/>
          <p:cNvSpPr/>
          <p:nvPr/>
        </p:nvSpPr>
        <p:spPr>
          <a:xfrm>
            <a:off x="6565392" y="4709160"/>
            <a:ext cx="4151376" cy="36576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PERSONALIZED WORKOUT</a:t>
            </a:r>
            <a:endParaRPr lang="en-US" sz="1100" dirty="0"/>
          </a:p>
        </p:txBody>
      </p:sp>
      <p:sp>
        <p:nvSpPr>
          <p:cNvPr id="22" name="Shape 20"/>
          <p:cNvSpPr/>
          <p:nvPr/>
        </p:nvSpPr>
        <p:spPr>
          <a:xfrm>
            <a:off x="640080" y="5120640"/>
            <a:ext cx="10881360" cy="796066"/>
          </a:xfrm>
          <a:prstGeom prst="roundRect">
            <a:avLst>
              <a:gd name="adj" fmla="val 10526"/>
            </a:avLst>
          </a:prstGeom>
          <a:solidFill>
            <a:srgbClr val="0F172A"/>
          </a:solidFill>
          <a:ln w="12700">
            <a:solidFill>
              <a:srgbClr val="0F172A"/>
            </a:solidFill>
            <a:prstDash val="solid"/>
          </a:ln>
          <a:effectLst/>
        </p:spPr>
      </p:sp>
      <p:sp>
        <p:nvSpPr>
          <p:cNvPr id="23" name="Text 21"/>
          <p:cNvSpPr/>
          <p:nvPr/>
        </p:nvSpPr>
        <p:spPr>
          <a:xfrm>
            <a:off x="868680" y="5120640"/>
            <a:ext cx="2286000" cy="502920"/>
          </a:xfrm>
          <a:prstGeom prst="rect">
            <a:avLst/>
          </a:prstGeom>
          <a:noFill/>
          <a:ln/>
        </p:spPr>
        <p:txBody>
          <a:bodyPr wrap="square" lIns="0" tIns="0" rIns="0" bIns="0" rtlCol="0" anchor="ctr">
            <a:normAutofit/>
          </a:bodyPr>
          <a:lstStyle/>
          <a:p>
            <a:pPr marL="0" indent="0" algn="ctr">
              <a:buNone/>
            </a:pPr>
            <a:r>
              <a:rPr lang="en-US" sz="2700" b="1" dirty="0">
                <a:solidFill>
                  <a:srgbClr val="10B981"/>
                </a:solidFill>
              </a:rPr>
              <a:t>3,960</a:t>
            </a:r>
            <a:endParaRPr lang="en-US" sz="2700" dirty="0"/>
          </a:p>
        </p:txBody>
      </p:sp>
      <p:sp>
        <p:nvSpPr>
          <p:cNvPr id="24" name="Text 22"/>
          <p:cNvSpPr/>
          <p:nvPr/>
        </p:nvSpPr>
        <p:spPr>
          <a:xfrm>
            <a:off x="868680" y="5650992"/>
            <a:ext cx="2286000"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synthetic profiles</a:t>
            </a:r>
            <a:endParaRPr lang="en-US" sz="1050" dirty="0"/>
          </a:p>
        </p:txBody>
      </p:sp>
      <p:sp>
        <p:nvSpPr>
          <p:cNvPr id="25" name="Text 23"/>
          <p:cNvSpPr/>
          <p:nvPr/>
        </p:nvSpPr>
        <p:spPr>
          <a:xfrm>
            <a:off x="3429000" y="5120640"/>
            <a:ext cx="2286000" cy="502920"/>
          </a:xfrm>
          <a:prstGeom prst="rect">
            <a:avLst/>
          </a:prstGeom>
          <a:noFill/>
          <a:ln/>
        </p:spPr>
        <p:txBody>
          <a:bodyPr wrap="square" lIns="0" tIns="0" rIns="0" bIns="0" rtlCol="0" anchor="ctr">
            <a:normAutofit/>
          </a:bodyPr>
          <a:lstStyle/>
          <a:p>
            <a:pPr marL="0" indent="0" algn="ctr">
              <a:buNone/>
            </a:pPr>
            <a:r>
              <a:rPr lang="en-US" sz="2700" b="1" dirty="0">
                <a:solidFill>
                  <a:srgbClr val="10B981"/>
                </a:solidFill>
              </a:rPr>
              <a:t>74,250</a:t>
            </a:r>
            <a:endParaRPr lang="en-US" sz="2700" dirty="0"/>
          </a:p>
        </p:txBody>
      </p:sp>
      <p:sp>
        <p:nvSpPr>
          <p:cNvPr id="26" name="Text 24"/>
          <p:cNvSpPr/>
          <p:nvPr/>
        </p:nvSpPr>
        <p:spPr>
          <a:xfrm>
            <a:off x="3429000" y="5650992"/>
            <a:ext cx="2286000"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exercise slots ranked</a:t>
            </a:r>
            <a:endParaRPr lang="en-US" sz="1050" dirty="0"/>
          </a:p>
        </p:txBody>
      </p:sp>
      <p:sp>
        <p:nvSpPr>
          <p:cNvPr id="27" name="Text 25"/>
          <p:cNvSpPr/>
          <p:nvPr/>
        </p:nvSpPr>
        <p:spPr>
          <a:xfrm>
            <a:off x="5989320" y="5120640"/>
            <a:ext cx="2286000" cy="502920"/>
          </a:xfrm>
          <a:prstGeom prst="rect">
            <a:avLst/>
          </a:prstGeom>
          <a:noFill/>
          <a:ln/>
        </p:spPr>
        <p:txBody>
          <a:bodyPr wrap="square" lIns="0" tIns="0" rIns="0" bIns="0" rtlCol="0" anchor="ctr">
            <a:normAutofit/>
          </a:bodyPr>
          <a:lstStyle/>
          <a:p>
            <a:pPr marL="0" indent="0" algn="ctr">
              <a:buNone/>
            </a:pPr>
            <a:r>
              <a:rPr lang="en-US" sz="2700" b="1" dirty="0">
                <a:solidFill>
                  <a:srgbClr val="10B981"/>
                </a:solidFill>
              </a:rPr>
              <a:t>191</a:t>
            </a:r>
            <a:endParaRPr lang="en-US" sz="2700" dirty="0"/>
          </a:p>
        </p:txBody>
      </p:sp>
      <p:sp>
        <p:nvSpPr>
          <p:cNvPr id="28" name="Text 26"/>
          <p:cNvSpPr/>
          <p:nvPr/>
        </p:nvSpPr>
        <p:spPr>
          <a:xfrm>
            <a:off x="5989320" y="5650992"/>
            <a:ext cx="2286000"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unique exercises</a:t>
            </a:r>
            <a:endParaRPr lang="en-US" sz="1050" dirty="0"/>
          </a:p>
        </p:txBody>
      </p:sp>
      <p:sp>
        <p:nvSpPr>
          <p:cNvPr id="29" name="Text 27"/>
          <p:cNvSpPr/>
          <p:nvPr/>
        </p:nvSpPr>
        <p:spPr>
          <a:xfrm>
            <a:off x="8549640" y="5120640"/>
            <a:ext cx="2286000" cy="502920"/>
          </a:xfrm>
          <a:prstGeom prst="rect">
            <a:avLst/>
          </a:prstGeom>
          <a:noFill/>
          <a:ln/>
        </p:spPr>
        <p:txBody>
          <a:bodyPr wrap="square" lIns="0" tIns="0" rIns="0" bIns="0" rtlCol="0" anchor="ctr">
            <a:normAutofit/>
          </a:bodyPr>
          <a:lstStyle/>
          <a:p>
            <a:pPr marL="0" indent="0" algn="ctr">
              <a:buNone/>
            </a:pPr>
            <a:r>
              <a:rPr lang="en-US" sz="2700" b="1" dirty="0">
                <a:solidFill>
                  <a:srgbClr val="10B981"/>
                </a:solidFill>
              </a:rPr>
              <a:t>0.0329</a:t>
            </a:r>
            <a:endParaRPr lang="en-US" sz="2700" dirty="0"/>
          </a:p>
        </p:txBody>
      </p:sp>
      <p:sp>
        <p:nvSpPr>
          <p:cNvPr id="30" name="Text 28"/>
          <p:cNvSpPr/>
          <p:nvPr/>
        </p:nvSpPr>
        <p:spPr>
          <a:xfrm>
            <a:off x="8549640" y="5650992"/>
            <a:ext cx="2286000"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validation MAE</a:t>
            </a:r>
            <a:endParaRPr lang="en-US" sz="1050" dirty="0"/>
          </a:p>
        </p:txBody>
      </p:sp>
      <p:sp>
        <p:nvSpPr>
          <p:cNvPr id="31"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INTEGRATION PROOF</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TrainCore AI — From Model to Mobile App</a:t>
            </a:r>
            <a:endParaRPr lang="en-US" sz="2800" dirty="0"/>
          </a:p>
        </p:txBody>
      </p:sp>
      <p:sp>
        <p:nvSpPr>
          <p:cNvPr id="4" name="Shape 2"/>
          <p:cNvSpPr/>
          <p:nvPr/>
        </p:nvSpPr>
        <p:spPr>
          <a:xfrm>
            <a:off x="640080" y="1417320"/>
            <a:ext cx="1691640" cy="749808"/>
          </a:xfrm>
          <a:prstGeom prst="roundRect">
            <a:avLst>
              <a:gd name="adj" fmla="val 9756"/>
            </a:avLst>
          </a:prstGeom>
          <a:solidFill>
            <a:srgbClr val="FFFFFF"/>
          </a:solidFill>
          <a:ln w="16510">
            <a:solidFill>
              <a:srgbClr val="CBD5E1"/>
            </a:solidFill>
            <a:prstDash val="solid"/>
          </a:ln>
          <a:effectLst/>
        </p:spPr>
      </p:sp>
      <p:sp>
        <p:nvSpPr>
          <p:cNvPr id="5" name="Text 3"/>
          <p:cNvSpPr/>
          <p:nvPr/>
        </p:nvSpPr>
        <p:spPr>
          <a:xfrm>
            <a:off x="713232" y="1463040"/>
            <a:ext cx="1545336" cy="658368"/>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Mobile App</a:t>
            </a:r>
            <a:endParaRPr lang="en-US" sz="1100" dirty="0"/>
          </a:p>
        </p:txBody>
      </p:sp>
      <p:sp>
        <p:nvSpPr>
          <p:cNvPr id="6" name="Shape 4"/>
          <p:cNvSpPr/>
          <p:nvPr/>
        </p:nvSpPr>
        <p:spPr>
          <a:xfrm>
            <a:off x="2359152" y="1792224"/>
            <a:ext cx="274320" cy="1"/>
          </a:xfrm>
          <a:prstGeom prst="line">
            <a:avLst/>
          </a:prstGeom>
          <a:noFill/>
          <a:ln w="25400">
            <a:solidFill>
              <a:srgbClr val="10B981"/>
            </a:solidFill>
            <a:prstDash val="solid"/>
            <a:headEnd type="none"/>
            <a:tailEnd type="triangle"/>
          </a:ln>
        </p:spPr>
      </p:sp>
      <p:sp>
        <p:nvSpPr>
          <p:cNvPr id="7" name="Shape 5"/>
          <p:cNvSpPr/>
          <p:nvPr/>
        </p:nvSpPr>
        <p:spPr>
          <a:xfrm>
            <a:off x="2743200" y="1417320"/>
            <a:ext cx="1691640" cy="749808"/>
          </a:xfrm>
          <a:prstGeom prst="roundRect">
            <a:avLst>
              <a:gd name="adj" fmla="val 9756"/>
            </a:avLst>
          </a:prstGeom>
          <a:solidFill>
            <a:srgbClr val="FFFFFF"/>
          </a:solidFill>
          <a:ln w="16510">
            <a:solidFill>
              <a:srgbClr val="CBD5E1"/>
            </a:solidFill>
            <a:prstDash val="solid"/>
          </a:ln>
          <a:effectLst/>
        </p:spPr>
      </p:sp>
      <p:sp>
        <p:nvSpPr>
          <p:cNvPr id="8" name="Text 6"/>
          <p:cNvSpPr/>
          <p:nvPr/>
        </p:nvSpPr>
        <p:spPr>
          <a:xfrm>
            <a:off x="2816352" y="1463040"/>
            <a:ext cx="1545336" cy="658368"/>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PHP /generatePlan</a:t>
            </a:r>
            <a:endParaRPr lang="en-US" sz="1100" dirty="0"/>
          </a:p>
        </p:txBody>
      </p:sp>
      <p:sp>
        <p:nvSpPr>
          <p:cNvPr id="9" name="Shape 7"/>
          <p:cNvSpPr/>
          <p:nvPr/>
        </p:nvSpPr>
        <p:spPr>
          <a:xfrm>
            <a:off x="4462272" y="1792224"/>
            <a:ext cx="411480" cy="1"/>
          </a:xfrm>
          <a:prstGeom prst="line">
            <a:avLst/>
          </a:prstGeom>
          <a:noFill/>
          <a:ln w="25400">
            <a:solidFill>
              <a:srgbClr val="10B981"/>
            </a:solidFill>
            <a:prstDash val="solid"/>
            <a:headEnd type="none"/>
            <a:tailEnd type="triangle"/>
          </a:ln>
        </p:spPr>
      </p:sp>
      <p:sp>
        <p:nvSpPr>
          <p:cNvPr id="10" name="Shape 8"/>
          <p:cNvSpPr/>
          <p:nvPr/>
        </p:nvSpPr>
        <p:spPr>
          <a:xfrm>
            <a:off x="4983480" y="1417320"/>
            <a:ext cx="1691640" cy="749808"/>
          </a:xfrm>
          <a:prstGeom prst="roundRect">
            <a:avLst>
              <a:gd name="adj" fmla="val 9756"/>
            </a:avLst>
          </a:prstGeom>
          <a:solidFill>
            <a:srgbClr val="D1FAE5"/>
          </a:solidFill>
          <a:ln w="16510">
            <a:solidFill>
              <a:srgbClr val="10B981"/>
            </a:solidFill>
            <a:prstDash val="solid"/>
          </a:ln>
          <a:effectLst/>
        </p:spPr>
      </p:sp>
      <p:sp>
        <p:nvSpPr>
          <p:cNvPr id="11" name="Text 9"/>
          <p:cNvSpPr/>
          <p:nvPr/>
        </p:nvSpPr>
        <p:spPr>
          <a:xfrm>
            <a:off x="5056632" y="1463040"/>
            <a:ext cx="1545336" cy="658368"/>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TrainCore AI</a:t>
            </a:r>
            <a:endParaRPr lang="en-US" sz="1100" dirty="0"/>
          </a:p>
        </p:txBody>
      </p:sp>
      <p:sp>
        <p:nvSpPr>
          <p:cNvPr id="12" name="Shape 10"/>
          <p:cNvSpPr/>
          <p:nvPr/>
        </p:nvSpPr>
        <p:spPr>
          <a:xfrm>
            <a:off x="6702552" y="1792224"/>
            <a:ext cx="274320" cy="1"/>
          </a:xfrm>
          <a:prstGeom prst="line">
            <a:avLst/>
          </a:prstGeom>
          <a:noFill/>
          <a:ln w="25400">
            <a:solidFill>
              <a:srgbClr val="10B981"/>
            </a:solidFill>
            <a:prstDash val="solid"/>
            <a:headEnd type="none"/>
            <a:tailEnd type="triangle"/>
          </a:ln>
        </p:spPr>
      </p:sp>
      <p:sp>
        <p:nvSpPr>
          <p:cNvPr id="13" name="Shape 11"/>
          <p:cNvSpPr/>
          <p:nvPr/>
        </p:nvSpPr>
        <p:spPr>
          <a:xfrm>
            <a:off x="7086600" y="1417320"/>
            <a:ext cx="1691640" cy="749808"/>
          </a:xfrm>
          <a:prstGeom prst="roundRect">
            <a:avLst>
              <a:gd name="adj" fmla="val 9756"/>
            </a:avLst>
          </a:prstGeom>
          <a:solidFill>
            <a:srgbClr val="FFFFFF"/>
          </a:solidFill>
          <a:ln w="16510">
            <a:solidFill>
              <a:srgbClr val="CBD5E1"/>
            </a:solidFill>
            <a:prstDash val="solid"/>
          </a:ln>
          <a:effectLst/>
        </p:spPr>
      </p:sp>
      <p:sp>
        <p:nvSpPr>
          <p:cNvPr id="14" name="Text 12"/>
          <p:cNvSpPr/>
          <p:nvPr/>
        </p:nvSpPr>
        <p:spPr>
          <a:xfrm>
            <a:off x="7159752" y="1463040"/>
            <a:ext cx="1545336" cy="658368"/>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Workout Database</a:t>
            </a:r>
            <a:endParaRPr lang="en-US" sz="1100" dirty="0"/>
          </a:p>
        </p:txBody>
      </p:sp>
      <p:sp>
        <p:nvSpPr>
          <p:cNvPr id="15" name="Shape 13"/>
          <p:cNvSpPr/>
          <p:nvPr/>
        </p:nvSpPr>
        <p:spPr>
          <a:xfrm>
            <a:off x="8805672" y="1792224"/>
            <a:ext cx="457200" cy="1"/>
          </a:xfrm>
          <a:prstGeom prst="line">
            <a:avLst/>
          </a:prstGeom>
          <a:noFill/>
          <a:ln w="25400">
            <a:solidFill>
              <a:srgbClr val="10B981"/>
            </a:solidFill>
            <a:prstDash val="solid"/>
            <a:headEnd type="none"/>
            <a:tailEnd type="triangle"/>
          </a:ln>
        </p:spPr>
      </p:sp>
      <p:sp>
        <p:nvSpPr>
          <p:cNvPr id="16" name="Shape 14"/>
          <p:cNvSpPr/>
          <p:nvPr/>
        </p:nvSpPr>
        <p:spPr>
          <a:xfrm>
            <a:off x="9372600" y="1417320"/>
            <a:ext cx="1691640" cy="749808"/>
          </a:xfrm>
          <a:prstGeom prst="roundRect">
            <a:avLst>
              <a:gd name="adj" fmla="val 9756"/>
            </a:avLst>
          </a:prstGeom>
          <a:solidFill>
            <a:srgbClr val="FFFFFF"/>
          </a:solidFill>
          <a:ln w="16510">
            <a:solidFill>
              <a:srgbClr val="CBD5E1"/>
            </a:solidFill>
            <a:prstDash val="solid"/>
          </a:ln>
          <a:effectLst/>
        </p:spPr>
      </p:sp>
      <p:sp>
        <p:nvSpPr>
          <p:cNvPr id="17" name="Text 15"/>
          <p:cNvSpPr/>
          <p:nvPr/>
        </p:nvSpPr>
        <p:spPr>
          <a:xfrm>
            <a:off x="9445752" y="1463040"/>
            <a:ext cx="1545336" cy="658368"/>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Workout Screen</a:t>
            </a:r>
            <a:endParaRPr lang="en-US" sz="1100" dirty="0"/>
          </a:p>
        </p:txBody>
      </p:sp>
      <p:sp>
        <p:nvSpPr>
          <p:cNvPr id="18" name="Text 16"/>
          <p:cNvSpPr/>
          <p:nvPr/>
        </p:nvSpPr>
        <p:spPr>
          <a:xfrm>
            <a:off x="685800" y="2560320"/>
            <a:ext cx="6080760" cy="2514600"/>
          </a:xfrm>
          <a:prstGeom prst="rect">
            <a:avLst/>
          </a:prstGeom>
          <a:noFill/>
          <a:ln/>
        </p:spPr>
        <p:txBody>
          <a:bodyPr wrap="square" lIns="508" tIns="508" rIns="508" bIns="508" rtlCol="0" anchor="ctr">
            <a:normAutofit/>
          </a:bodyPr>
          <a:lstStyle/>
          <a:p>
            <a:pPr marL="0" indent="0">
              <a:buNone/>
            </a:pPr>
            <a:r>
              <a:rPr lang="en-US" sz="1600" dirty="0">
                <a:solidFill>
                  <a:srgbClr val="111827"/>
                </a:solidFill>
              </a:rPr>
              <a:t>Validation covered the complete pipeline rather than the model alone. The mobile application sent profile information to the backend, the backend loaded TrainCore AI and ranked candidate exercises, the generated plan was saved in MySQL, and the workout was returned to the mobile interface. The average recommendation score was 67.33%, while validation MAE was 0.0329.</a:t>
            </a:r>
            <a:endParaRPr lang="en-US" sz="1600" dirty="0"/>
          </a:p>
        </p:txBody>
      </p:sp>
      <p:sp>
        <p:nvSpPr>
          <p:cNvPr id="19" name="Shape 17"/>
          <p:cNvSpPr/>
          <p:nvPr/>
        </p:nvSpPr>
        <p:spPr>
          <a:xfrm>
            <a:off x="685800" y="5212080"/>
            <a:ext cx="5943600" cy="594360"/>
          </a:xfrm>
          <a:prstGeom prst="roundRect">
            <a:avLst>
              <a:gd name="adj" fmla="val 15385"/>
            </a:avLst>
          </a:prstGeom>
          <a:solidFill>
            <a:srgbClr val="D1FAE5"/>
          </a:solidFill>
          <a:ln w="12700">
            <a:solidFill>
              <a:srgbClr val="D1FAE5"/>
            </a:solidFill>
            <a:prstDash val="solid"/>
          </a:ln>
        </p:spPr>
      </p:sp>
      <p:sp>
        <p:nvSpPr>
          <p:cNvPr id="20" name="Text 18"/>
          <p:cNvSpPr/>
          <p:nvPr/>
        </p:nvSpPr>
        <p:spPr>
          <a:xfrm>
            <a:off x="914400" y="5394960"/>
            <a:ext cx="5486400" cy="201168"/>
          </a:xfrm>
          <a:prstGeom prst="rect">
            <a:avLst/>
          </a:prstGeom>
          <a:noFill/>
          <a:ln/>
        </p:spPr>
        <p:txBody>
          <a:bodyPr wrap="square" lIns="0" tIns="0" rIns="0" bIns="0" rtlCol="0" anchor="ctr">
            <a:normAutofit/>
          </a:bodyPr>
          <a:lstStyle/>
          <a:p>
            <a:pPr marL="0" indent="0" algn="ctr">
              <a:buNone/>
            </a:pPr>
            <a:r>
              <a:rPr lang="en-US" sz="1300" b="1" dirty="0">
                <a:solidFill>
                  <a:srgbClr val="047857"/>
                </a:solidFill>
              </a:rPr>
              <a:t>67.33% average recommendation score   ·   0.0329 validation MAE</a:t>
            </a:r>
            <a:endParaRPr lang="en-US" sz="1300" dirty="0"/>
          </a:p>
        </p:txBody>
      </p:sp>
      <p:sp>
        <p:nvSpPr>
          <p:cNvPr id="21" name="Shape 19"/>
          <p:cNvSpPr/>
          <p:nvPr/>
        </p:nvSpPr>
        <p:spPr>
          <a:xfrm>
            <a:off x="7726680" y="2423160"/>
            <a:ext cx="2057400" cy="3520440"/>
          </a:xfrm>
          <a:prstGeom prst="roundRect">
            <a:avLst>
              <a:gd name="adj" fmla="val 8000"/>
            </a:avLst>
          </a:prstGeom>
          <a:solidFill>
            <a:srgbClr val="0F172A"/>
          </a:solidFill>
          <a:ln w="12700">
            <a:solidFill>
              <a:srgbClr val="0F172A"/>
            </a:solidFill>
            <a:prstDash val="solid"/>
          </a:ln>
          <a:effectLst/>
        </p:spPr>
      </p:sp>
      <p:sp>
        <p:nvSpPr>
          <p:cNvPr id="22" name="Shape 20"/>
          <p:cNvSpPr/>
          <p:nvPr/>
        </p:nvSpPr>
        <p:spPr>
          <a:xfrm>
            <a:off x="7799832" y="2514600"/>
            <a:ext cx="1911096" cy="3337560"/>
          </a:xfrm>
          <a:prstGeom prst="roundRect">
            <a:avLst>
              <a:gd name="adj" fmla="val 6220"/>
            </a:avLst>
          </a:prstGeom>
          <a:solidFill>
            <a:srgbClr val="F8FAFC"/>
          </a:solidFill>
          <a:ln w="12700">
            <a:solidFill>
              <a:srgbClr val="F8FAFC"/>
            </a:solidFill>
            <a:prstDash val="solid"/>
          </a:ln>
        </p:spPr>
      </p:sp>
      <p:sp>
        <p:nvSpPr>
          <p:cNvPr id="23" name="Shape 21"/>
          <p:cNvSpPr/>
          <p:nvPr/>
        </p:nvSpPr>
        <p:spPr>
          <a:xfrm>
            <a:off x="8446770" y="2468880"/>
            <a:ext cx="617220" cy="82296"/>
          </a:xfrm>
          <a:prstGeom prst="roundRect">
            <a:avLst>
              <a:gd name="adj" fmla="val 55556"/>
            </a:avLst>
          </a:prstGeom>
          <a:solidFill>
            <a:srgbClr val="020617"/>
          </a:solidFill>
          <a:ln w="12700">
            <a:solidFill>
              <a:srgbClr val="020617"/>
            </a:solidFill>
            <a:prstDash val="solid"/>
          </a:ln>
        </p:spPr>
      </p:sp>
      <p:sp>
        <p:nvSpPr>
          <p:cNvPr id="24" name="Text 22"/>
          <p:cNvSpPr/>
          <p:nvPr/>
        </p:nvSpPr>
        <p:spPr>
          <a:xfrm>
            <a:off x="7891272" y="2697480"/>
            <a:ext cx="1728216" cy="182880"/>
          </a:xfrm>
          <a:prstGeom prst="rect">
            <a:avLst/>
          </a:prstGeom>
          <a:noFill/>
          <a:ln/>
        </p:spPr>
        <p:txBody>
          <a:bodyPr wrap="square" lIns="0" tIns="0" rIns="0" bIns="0" rtlCol="0" anchor="ctr"/>
          <a:lstStyle/>
          <a:p>
            <a:pPr marL="0" indent="0">
              <a:buNone/>
            </a:pPr>
            <a:r>
              <a:rPr lang="en-US" sz="900" b="1" dirty="0">
                <a:solidFill>
                  <a:srgbClr val="111827"/>
                </a:solidFill>
              </a:rPr>
              <a:t>ELITE</a:t>
            </a:r>
            <a:endParaRPr lang="en-US" sz="900" dirty="0"/>
          </a:p>
        </p:txBody>
      </p:sp>
      <p:sp>
        <p:nvSpPr>
          <p:cNvPr id="25" name="Shape 23"/>
          <p:cNvSpPr/>
          <p:nvPr/>
        </p:nvSpPr>
        <p:spPr>
          <a:xfrm>
            <a:off x="7891272" y="3017520"/>
            <a:ext cx="1728216" cy="548640"/>
          </a:xfrm>
          <a:prstGeom prst="roundRect">
            <a:avLst>
              <a:gd name="adj" fmla="val 16667"/>
            </a:avLst>
          </a:prstGeom>
          <a:solidFill>
            <a:srgbClr val="10B981"/>
          </a:solidFill>
          <a:ln w="12700">
            <a:solidFill>
              <a:srgbClr val="10B981"/>
            </a:solidFill>
            <a:prstDash val="solid"/>
          </a:ln>
        </p:spPr>
      </p:sp>
      <p:sp>
        <p:nvSpPr>
          <p:cNvPr id="26" name="Text 24"/>
          <p:cNvSpPr/>
          <p:nvPr/>
        </p:nvSpPr>
        <p:spPr>
          <a:xfrm>
            <a:off x="7982712" y="3154680"/>
            <a:ext cx="1545336" cy="182880"/>
          </a:xfrm>
          <a:prstGeom prst="rect">
            <a:avLst/>
          </a:prstGeom>
          <a:noFill/>
          <a:ln/>
        </p:spPr>
        <p:txBody>
          <a:bodyPr wrap="square" lIns="0" tIns="0" rIns="0" bIns="0" rtlCol="0" anchor="ctr"/>
          <a:lstStyle/>
          <a:p>
            <a:pPr marL="0" indent="0" algn="ctr">
              <a:buNone/>
            </a:pPr>
            <a:r>
              <a:rPr lang="en-US" sz="900" b="1" dirty="0">
                <a:solidFill>
                  <a:srgbClr val="FFFFFF"/>
                </a:solidFill>
              </a:rPr>
              <a:t>TODAY’S PLAN</a:t>
            </a:r>
            <a:endParaRPr lang="en-US" sz="900" dirty="0"/>
          </a:p>
        </p:txBody>
      </p:sp>
      <p:sp>
        <p:nvSpPr>
          <p:cNvPr id="27" name="Shape 25"/>
          <p:cNvSpPr/>
          <p:nvPr/>
        </p:nvSpPr>
        <p:spPr>
          <a:xfrm>
            <a:off x="7891272" y="3776472"/>
            <a:ext cx="1728216" cy="493776"/>
          </a:xfrm>
          <a:prstGeom prst="roundRect">
            <a:avLst>
              <a:gd name="adj" fmla="val 12963"/>
            </a:avLst>
          </a:prstGeom>
          <a:solidFill>
            <a:srgbClr val="ECFDF5"/>
          </a:solidFill>
          <a:ln w="12700">
            <a:solidFill>
              <a:srgbClr val="E2E8F0"/>
            </a:solidFill>
            <a:prstDash val="solid"/>
          </a:ln>
        </p:spPr>
      </p:sp>
      <p:sp>
        <p:nvSpPr>
          <p:cNvPr id="28" name="Shape 26"/>
          <p:cNvSpPr/>
          <p:nvPr/>
        </p:nvSpPr>
        <p:spPr>
          <a:xfrm>
            <a:off x="8001000" y="3886200"/>
            <a:ext cx="228600" cy="228600"/>
          </a:xfrm>
          <a:prstGeom prst="ellipse">
            <a:avLst/>
          </a:prstGeom>
          <a:solidFill>
            <a:srgbClr val="10B981"/>
          </a:solidFill>
          <a:ln w="12700">
            <a:solidFill>
              <a:srgbClr val="10B981"/>
            </a:solidFill>
            <a:prstDash val="solid"/>
          </a:ln>
        </p:spPr>
      </p:sp>
      <p:sp>
        <p:nvSpPr>
          <p:cNvPr id="29" name="Shape 27"/>
          <p:cNvSpPr/>
          <p:nvPr/>
        </p:nvSpPr>
        <p:spPr>
          <a:xfrm>
            <a:off x="8330184" y="3941064"/>
            <a:ext cx="1133856" cy="1"/>
          </a:xfrm>
          <a:prstGeom prst="line">
            <a:avLst/>
          </a:prstGeom>
          <a:noFill/>
          <a:ln w="25400">
            <a:solidFill>
              <a:srgbClr val="94A3B8"/>
            </a:solidFill>
            <a:prstDash val="solid"/>
          </a:ln>
        </p:spPr>
      </p:sp>
      <p:sp>
        <p:nvSpPr>
          <p:cNvPr id="30" name="Shape 28"/>
          <p:cNvSpPr/>
          <p:nvPr/>
        </p:nvSpPr>
        <p:spPr>
          <a:xfrm>
            <a:off x="8330184" y="4087368"/>
            <a:ext cx="737006" cy="1"/>
          </a:xfrm>
          <a:prstGeom prst="line">
            <a:avLst/>
          </a:prstGeom>
          <a:noFill/>
          <a:ln w="12700">
            <a:solidFill>
              <a:srgbClr val="CBD5E1"/>
            </a:solidFill>
            <a:prstDash val="solid"/>
          </a:ln>
        </p:spPr>
      </p:sp>
      <p:sp>
        <p:nvSpPr>
          <p:cNvPr id="31" name="Shape 29"/>
          <p:cNvSpPr/>
          <p:nvPr/>
        </p:nvSpPr>
        <p:spPr>
          <a:xfrm>
            <a:off x="7891272" y="4434840"/>
            <a:ext cx="1728216" cy="493776"/>
          </a:xfrm>
          <a:prstGeom prst="roundRect">
            <a:avLst>
              <a:gd name="adj" fmla="val 12963"/>
            </a:avLst>
          </a:prstGeom>
          <a:solidFill>
            <a:srgbClr val="FFFFFF"/>
          </a:solidFill>
          <a:ln w="12700">
            <a:solidFill>
              <a:srgbClr val="E2E8F0"/>
            </a:solidFill>
            <a:prstDash val="solid"/>
          </a:ln>
        </p:spPr>
      </p:sp>
      <p:sp>
        <p:nvSpPr>
          <p:cNvPr id="32" name="Shape 30"/>
          <p:cNvSpPr/>
          <p:nvPr/>
        </p:nvSpPr>
        <p:spPr>
          <a:xfrm>
            <a:off x="8001000" y="4544568"/>
            <a:ext cx="228600" cy="228600"/>
          </a:xfrm>
          <a:prstGeom prst="ellipse">
            <a:avLst/>
          </a:prstGeom>
          <a:solidFill>
            <a:srgbClr val="CBD5E1"/>
          </a:solidFill>
          <a:ln w="12700">
            <a:solidFill>
              <a:srgbClr val="CBD5E1"/>
            </a:solidFill>
            <a:prstDash val="solid"/>
          </a:ln>
        </p:spPr>
      </p:sp>
      <p:sp>
        <p:nvSpPr>
          <p:cNvPr id="33" name="Shape 31"/>
          <p:cNvSpPr/>
          <p:nvPr/>
        </p:nvSpPr>
        <p:spPr>
          <a:xfrm>
            <a:off x="8330184" y="4599432"/>
            <a:ext cx="1133856" cy="1"/>
          </a:xfrm>
          <a:prstGeom prst="line">
            <a:avLst/>
          </a:prstGeom>
          <a:noFill/>
          <a:ln w="25400">
            <a:solidFill>
              <a:srgbClr val="94A3B8"/>
            </a:solidFill>
            <a:prstDash val="solid"/>
          </a:ln>
        </p:spPr>
      </p:sp>
      <p:sp>
        <p:nvSpPr>
          <p:cNvPr id="34" name="Shape 32"/>
          <p:cNvSpPr/>
          <p:nvPr/>
        </p:nvSpPr>
        <p:spPr>
          <a:xfrm>
            <a:off x="8330184" y="4745736"/>
            <a:ext cx="737006" cy="1"/>
          </a:xfrm>
          <a:prstGeom prst="line">
            <a:avLst/>
          </a:prstGeom>
          <a:noFill/>
          <a:ln w="12700">
            <a:solidFill>
              <a:srgbClr val="CBD5E1"/>
            </a:solidFill>
            <a:prstDash val="solid"/>
          </a:ln>
        </p:spPr>
      </p:sp>
      <p:sp>
        <p:nvSpPr>
          <p:cNvPr id="35" name="Shape 33"/>
          <p:cNvSpPr/>
          <p:nvPr/>
        </p:nvSpPr>
        <p:spPr>
          <a:xfrm>
            <a:off x="7891272" y="5093208"/>
            <a:ext cx="1728216" cy="493776"/>
          </a:xfrm>
          <a:prstGeom prst="roundRect">
            <a:avLst>
              <a:gd name="adj" fmla="val 12963"/>
            </a:avLst>
          </a:prstGeom>
          <a:solidFill>
            <a:srgbClr val="FFFFFF"/>
          </a:solidFill>
          <a:ln w="12700">
            <a:solidFill>
              <a:srgbClr val="E2E8F0"/>
            </a:solidFill>
            <a:prstDash val="solid"/>
          </a:ln>
        </p:spPr>
      </p:sp>
      <p:sp>
        <p:nvSpPr>
          <p:cNvPr id="36" name="Shape 34"/>
          <p:cNvSpPr/>
          <p:nvPr/>
        </p:nvSpPr>
        <p:spPr>
          <a:xfrm>
            <a:off x="8001000" y="5202936"/>
            <a:ext cx="228600" cy="228600"/>
          </a:xfrm>
          <a:prstGeom prst="ellipse">
            <a:avLst/>
          </a:prstGeom>
          <a:solidFill>
            <a:srgbClr val="CBD5E1"/>
          </a:solidFill>
          <a:ln w="12700">
            <a:solidFill>
              <a:srgbClr val="CBD5E1"/>
            </a:solidFill>
            <a:prstDash val="solid"/>
          </a:ln>
        </p:spPr>
      </p:sp>
      <p:sp>
        <p:nvSpPr>
          <p:cNvPr id="37" name="Shape 35"/>
          <p:cNvSpPr/>
          <p:nvPr/>
        </p:nvSpPr>
        <p:spPr>
          <a:xfrm>
            <a:off x="8330184" y="5257800"/>
            <a:ext cx="1133856" cy="1"/>
          </a:xfrm>
          <a:prstGeom prst="line">
            <a:avLst/>
          </a:prstGeom>
          <a:noFill/>
          <a:ln w="25400">
            <a:solidFill>
              <a:srgbClr val="94A3B8"/>
            </a:solidFill>
            <a:prstDash val="solid"/>
          </a:ln>
        </p:spPr>
      </p:sp>
      <p:sp>
        <p:nvSpPr>
          <p:cNvPr id="38" name="Shape 36"/>
          <p:cNvSpPr/>
          <p:nvPr/>
        </p:nvSpPr>
        <p:spPr>
          <a:xfrm>
            <a:off x="8330184" y="5404104"/>
            <a:ext cx="737006" cy="1"/>
          </a:xfrm>
          <a:prstGeom prst="line">
            <a:avLst/>
          </a:prstGeom>
          <a:noFill/>
          <a:ln w="12700">
            <a:solidFill>
              <a:srgbClr val="CBD5E1"/>
            </a:solidFill>
            <a:prstDash val="solid"/>
          </a:ln>
        </p:spPr>
      </p:sp>
      <p:sp>
        <p:nvSpPr>
          <p:cNvPr id="39" name="Shape 37"/>
          <p:cNvSpPr/>
          <p:nvPr/>
        </p:nvSpPr>
        <p:spPr>
          <a:xfrm>
            <a:off x="7891272" y="5349240"/>
            <a:ext cx="1728216" cy="320040"/>
          </a:xfrm>
          <a:prstGeom prst="roundRect">
            <a:avLst>
              <a:gd name="adj" fmla="val 34286"/>
            </a:avLst>
          </a:prstGeom>
          <a:solidFill>
            <a:srgbClr val="10B981"/>
          </a:solidFill>
          <a:ln w="12700">
            <a:solidFill>
              <a:srgbClr val="10B981"/>
            </a:solidFill>
            <a:prstDash val="solid"/>
          </a:ln>
        </p:spPr>
      </p:sp>
      <p:sp>
        <p:nvSpPr>
          <p:cNvPr id="40" name="Shape 38"/>
          <p:cNvSpPr/>
          <p:nvPr/>
        </p:nvSpPr>
        <p:spPr>
          <a:xfrm>
            <a:off x="9646920" y="2788920"/>
            <a:ext cx="1600200" cy="3246120"/>
          </a:xfrm>
          <a:prstGeom prst="roundRect">
            <a:avLst>
              <a:gd name="adj" fmla="val 10286"/>
            </a:avLst>
          </a:prstGeom>
          <a:solidFill>
            <a:srgbClr val="0F172A"/>
          </a:solidFill>
          <a:ln w="12700">
            <a:solidFill>
              <a:srgbClr val="0F172A"/>
            </a:solidFill>
            <a:prstDash val="solid"/>
          </a:ln>
          <a:effectLst/>
        </p:spPr>
      </p:sp>
      <p:sp>
        <p:nvSpPr>
          <p:cNvPr id="41" name="Shape 39"/>
          <p:cNvSpPr/>
          <p:nvPr/>
        </p:nvSpPr>
        <p:spPr>
          <a:xfrm>
            <a:off x="9720072" y="2880360"/>
            <a:ext cx="1453896" cy="3063240"/>
          </a:xfrm>
          <a:prstGeom prst="roundRect">
            <a:avLst>
              <a:gd name="adj" fmla="val 8176"/>
            </a:avLst>
          </a:prstGeom>
          <a:solidFill>
            <a:srgbClr val="F8FAFC"/>
          </a:solidFill>
          <a:ln w="12700">
            <a:solidFill>
              <a:srgbClr val="F8FAFC"/>
            </a:solidFill>
            <a:prstDash val="solid"/>
          </a:ln>
        </p:spPr>
      </p:sp>
      <p:sp>
        <p:nvSpPr>
          <p:cNvPr id="42" name="Shape 40"/>
          <p:cNvSpPr/>
          <p:nvPr/>
        </p:nvSpPr>
        <p:spPr>
          <a:xfrm>
            <a:off x="10206990" y="2834640"/>
            <a:ext cx="480060" cy="82296"/>
          </a:xfrm>
          <a:prstGeom prst="roundRect">
            <a:avLst>
              <a:gd name="adj" fmla="val 55556"/>
            </a:avLst>
          </a:prstGeom>
          <a:solidFill>
            <a:srgbClr val="020617"/>
          </a:solidFill>
          <a:ln w="12700">
            <a:solidFill>
              <a:srgbClr val="020617"/>
            </a:solidFill>
            <a:prstDash val="solid"/>
          </a:ln>
        </p:spPr>
      </p:sp>
      <p:sp>
        <p:nvSpPr>
          <p:cNvPr id="43" name="Text 41"/>
          <p:cNvSpPr/>
          <p:nvPr/>
        </p:nvSpPr>
        <p:spPr>
          <a:xfrm>
            <a:off x="9811512" y="3063240"/>
            <a:ext cx="1271016" cy="182880"/>
          </a:xfrm>
          <a:prstGeom prst="rect">
            <a:avLst/>
          </a:prstGeom>
          <a:noFill/>
          <a:ln/>
        </p:spPr>
        <p:txBody>
          <a:bodyPr wrap="square" lIns="0" tIns="0" rIns="0" bIns="0" rtlCol="0" anchor="ctr"/>
          <a:lstStyle/>
          <a:p>
            <a:pPr marL="0" indent="0">
              <a:buNone/>
            </a:pPr>
            <a:r>
              <a:rPr lang="en-US" sz="900" b="1" dirty="0">
                <a:solidFill>
                  <a:srgbClr val="111827"/>
                </a:solidFill>
              </a:rPr>
              <a:t>ELITE</a:t>
            </a:r>
            <a:endParaRPr lang="en-US" sz="900" dirty="0"/>
          </a:p>
        </p:txBody>
      </p:sp>
      <p:sp>
        <p:nvSpPr>
          <p:cNvPr id="44" name="Shape 42"/>
          <p:cNvSpPr/>
          <p:nvPr/>
        </p:nvSpPr>
        <p:spPr>
          <a:xfrm>
            <a:off x="9811512" y="3383280"/>
            <a:ext cx="1271016" cy="548640"/>
          </a:xfrm>
          <a:prstGeom prst="roundRect">
            <a:avLst>
              <a:gd name="adj" fmla="val 16667"/>
            </a:avLst>
          </a:prstGeom>
          <a:solidFill>
            <a:srgbClr val="0EA5E9"/>
          </a:solidFill>
          <a:ln w="12700">
            <a:solidFill>
              <a:srgbClr val="0EA5E9"/>
            </a:solidFill>
            <a:prstDash val="solid"/>
          </a:ln>
        </p:spPr>
      </p:sp>
      <p:sp>
        <p:nvSpPr>
          <p:cNvPr id="45" name="Text 43"/>
          <p:cNvSpPr/>
          <p:nvPr/>
        </p:nvSpPr>
        <p:spPr>
          <a:xfrm>
            <a:off x="9902952" y="3520440"/>
            <a:ext cx="1088136" cy="182880"/>
          </a:xfrm>
          <a:prstGeom prst="rect">
            <a:avLst/>
          </a:prstGeom>
          <a:noFill/>
          <a:ln/>
        </p:spPr>
        <p:txBody>
          <a:bodyPr wrap="square" lIns="0" tIns="0" rIns="0" bIns="0" rtlCol="0" anchor="ctr"/>
          <a:lstStyle/>
          <a:p>
            <a:pPr marL="0" indent="0" algn="ctr">
              <a:buNone/>
            </a:pPr>
            <a:r>
              <a:rPr lang="en-US" sz="900" b="1" dirty="0">
                <a:solidFill>
                  <a:srgbClr val="FFFFFF"/>
                </a:solidFill>
              </a:rPr>
              <a:t>FORM SCORE</a:t>
            </a:r>
            <a:endParaRPr lang="en-US" sz="900" dirty="0"/>
          </a:p>
        </p:txBody>
      </p:sp>
      <p:sp>
        <p:nvSpPr>
          <p:cNvPr id="46" name="Shape 44"/>
          <p:cNvSpPr/>
          <p:nvPr/>
        </p:nvSpPr>
        <p:spPr>
          <a:xfrm>
            <a:off x="10282428" y="4160520"/>
            <a:ext cx="329184" cy="329184"/>
          </a:xfrm>
          <a:prstGeom prst="ellipse">
            <a:avLst/>
          </a:prstGeom>
          <a:solidFill>
            <a:srgbClr val="D1FAE5"/>
          </a:solidFill>
          <a:ln w="25400">
            <a:solidFill>
              <a:srgbClr val="0EA5E9"/>
            </a:solidFill>
            <a:prstDash val="solid"/>
          </a:ln>
        </p:spPr>
      </p:sp>
      <p:sp>
        <p:nvSpPr>
          <p:cNvPr id="47" name="Shape 45"/>
          <p:cNvSpPr/>
          <p:nvPr/>
        </p:nvSpPr>
        <p:spPr>
          <a:xfrm>
            <a:off x="10447020" y="4489704"/>
            <a:ext cx="1" cy="822960"/>
          </a:xfrm>
          <a:prstGeom prst="line">
            <a:avLst/>
          </a:prstGeom>
          <a:noFill/>
          <a:ln w="38100">
            <a:solidFill>
              <a:srgbClr val="0EA5E9"/>
            </a:solidFill>
            <a:prstDash val="solid"/>
          </a:ln>
        </p:spPr>
      </p:sp>
      <p:sp>
        <p:nvSpPr>
          <p:cNvPr id="48" name="Shape 46"/>
          <p:cNvSpPr/>
          <p:nvPr/>
        </p:nvSpPr>
        <p:spPr>
          <a:xfrm flipH="1">
            <a:off x="10008108" y="4663440"/>
            <a:ext cx="438912" cy="502920"/>
          </a:xfrm>
          <a:prstGeom prst="line">
            <a:avLst/>
          </a:prstGeom>
          <a:noFill/>
          <a:ln w="38100">
            <a:solidFill>
              <a:srgbClr val="0EA5E9"/>
            </a:solidFill>
            <a:prstDash val="solid"/>
          </a:ln>
        </p:spPr>
      </p:sp>
      <p:sp>
        <p:nvSpPr>
          <p:cNvPr id="49" name="Shape 47"/>
          <p:cNvSpPr/>
          <p:nvPr/>
        </p:nvSpPr>
        <p:spPr>
          <a:xfrm>
            <a:off x="10447020" y="4663440"/>
            <a:ext cx="438912" cy="502920"/>
          </a:xfrm>
          <a:prstGeom prst="line">
            <a:avLst/>
          </a:prstGeom>
          <a:noFill/>
          <a:ln w="38100">
            <a:solidFill>
              <a:srgbClr val="0EA5E9"/>
            </a:solidFill>
            <a:prstDash val="solid"/>
          </a:ln>
        </p:spPr>
      </p:sp>
      <p:sp>
        <p:nvSpPr>
          <p:cNvPr id="50" name="Shape 48"/>
          <p:cNvSpPr/>
          <p:nvPr/>
        </p:nvSpPr>
        <p:spPr>
          <a:xfrm flipH="1">
            <a:off x="10081260" y="5257800"/>
            <a:ext cx="365760" cy="685800"/>
          </a:xfrm>
          <a:prstGeom prst="line">
            <a:avLst/>
          </a:prstGeom>
          <a:noFill/>
          <a:ln w="38100">
            <a:solidFill>
              <a:srgbClr val="0EA5E9"/>
            </a:solidFill>
            <a:prstDash val="solid"/>
          </a:ln>
        </p:spPr>
      </p:sp>
      <p:sp>
        <p:nvSpPr>
          <p:cNvPr id="51" name="Shape 49"/>
          <p:cNvSpPr/>
          <p:nvPr/>
        </p:nvSpPr>
        <p:spPr>
          <a:xfrm>
            <a:off x="10447020" y="5257800"/>
            <a:ext cx="365760" cy="685800"/>
          </a:xfrm>
          <a:prstGeom prst="line">
            <a:avLst/>
          </a:prstGeom>
          <a:noFill/>
          <a:ln w="38100">
            <a:solidFill>
              <a:srgbClr val="0EA5E9"/>
            </a:solidFill>
            <a:prstDash val="solid"/>
          </a:ln>
        </p:spPr>
      </p:sp>
      <p:sp>
        <p:nvSpPr>
          <p:cNvPr id="52" name="Shape 50"/>
          <p:cNvSpPr/>
          <p:nvPr/>
        </p:nvSpPr>
        <p:spPr>
          <a:xfrm>
            <a:off x="9811512" y="4937760"/>
            <a:ext cx="1271016" cy="320040"/>
          </a:xfrm>
          <a:prstGeom prst="roundRect">
            <a:avLst>
              <a:gd name="adj" fmla="val 34286"/>
            </a:avLst>
          </a:prstGeom>
          <a:solidFill>
            <a:srgbClr val="0EA5E9"/>
          </a:solidFill>
          <a:ln w="12700">
            <a:solidFill>
              <a:srgbClr val="0EA5E9"/>
            </a:solidFill>
            <a:prstDash val="solid"/>
          </a:ln>
        </p:spPr>
      </p:sp>
      <p:sp>
        <p:nvSpPr>
          <p:cNvPr id="53"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TECHNICAL DEEP DIVE</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NutriCore AI — Intelligent Nutrition Recommendation</a:t>
            </a:r>
            <a:endParaRPr lang="en-US" sz="2800" dirty="0"/>
          </a:p>
        </p:txBody>
      </p:sp>
      <p:sp>
        <p:nvSpPr>
          <p:cNvPr id="4" name="Text 2"/>
          <p:cNvSpPr/>
          <p:nvPr/>
        </p:nvSpPr>
        <p:spPr>
          <a:xfrm>
            <a:off x="640080" y="1325880"/>
            <a:ext cx="4800600" cy="3108960"/>
          </a:xfrm>
          <a:prstGeom prst="rect">
            <a:avLst/>
          </a:prstGeom>
          <a:noFill/>
          <a:ln/>
        </p:spPr>
        <p:txBody>
          <a:bodyPr wrap="square" lIns="508" tIns="508" rIns="508" bIns="508" rtlCol="0" anchor="ctr">
            <a:normAutofit/>
          </a:bodyPr>
          <a:lstStyle/>
          <a:p>
            <a:pPr marL="0" indent="0">
              <a:buNone/>
            </a:pPr>
            <a:r>
              <a:rPr lang="en-US" sz="1600" dirty="0">
                <a:solidFill>
                  <a:srgbClr val="111827"/>
                </a:solidFill>
              </a:rPr>
              <a:t>NutriCore AI is a local neural-network model that estimates meal suitability. It combines nutritional targets with calories, macronutrients, allergies, disliked foods, preferences and available fridge ingredients. Candidate meals are scored by the model, then passed through filtering and validation before reaching the user.</a:t>
            </a:r>
            <a:endParaRPr lang="en-US" sz="1600" dirty="0"/>
          </a:p>
        </p:txBody>
      </p:sp>
      <p:sp>
        <p:nvSpPr>
          <p:cNvPr id="5" name="Shape 3"/>
          <p:cNvSpPr/>
          <p:nvPr/>
        </p:nvSpPr>
        <p:spPr>
          <a:xfrm>
            <a:off x="6400800" y="1115568"/>
            <a:ext cx="4480560" cy="420624"/>
          </a:xfrm>
          <a:prstGeom prst="roundRect">
            <a:avLst>
              <a:gd name="adj" fmla="val 17391"/>
            </a:avLst>
          </a:prstGeom>
          <a:solidFill>
            <a:srgbClr val="FFFFFF"/>
          </a:solidFill>
          <a:ln w="16510">
            <a:solidFill>
              <a:srgbClr val="CBD5E1"/>
            </a:solidFill>
            <a:prstDash val="solid"/>
          </a:ln>
          <a:effectLst/>
        </p:spPr>
      </p:sp>
      <p:sp>
        <p:nvSpPr>
          <p:cNvPr id="6" name="Text 4"/>
          <p:cNvSpPr/>
          <p:nvPr/>
        </p:nvSpPr>
        <p:spPr>
          <a:xfrm>
            <a:off x="6473952" y="1161288"/>
            <a:ext cx="4334256" cy="329184"/>
          </a:xfrm>
          <a:prstGeom prst="rect">
            <a:avLst/>
          </a:prstGeom>
          <a:noFill/>
          <a:ln/>
        </p:spPr>
        <p:txBody>
          <a:bodyPr wrap="square" lIns="254" tIns="254" rIns="254" bIns="254" rtlCol="0" anchor="ctr">
            <a:normAutofit/>
          </a:bodyPr>
          <a:lstStyle/>
          <a:p>
            <a:pPr marL="0" indent="0" algn="ctr">
              <a:buNone/>
            </a:pPr>
            <a:r>
              <a:rPr lang="en-US" sz="1070" b="1" dirty="0">
                <a:solidFill>
                  <a:srgbClr val="111827"/>
                </a:solidFill>
              </a:rPr>
              <a:t>USDA FOUNDATION FOODS</a:t>
            </a:r>
            <a:endParaRPr lang="en-US" sz="1070" dirty="0"/>
          </a:p>
        </p:txBody>
      </p:sp>
      <p:sp>
        <p:nvSpPr>
          <p:cNvPr id="7" name="Shape 5"/>
          <p:cNvSpPr/>
          <p:nvPr/>
        </p:nvSpPr>
        <p:spPr>
          <a:xfrm>
            <a:off x="8641080" y="1554480"/>
            <a:ext cx="1" cy="173736"/>
          </a:xfrm>
          <a:prstGeom prst="line">
            <a:avLst/>
          </a:prstGeom>
          <a:noFill/>
          <a:ln w="20320">
            <a:solidFill>
              <a:srgbClr val="CBD5E1"/>
            </a:solidFill>
            <a:prstDash val="solid"/>
            <a:headEnd type="none"/>
            <a:tailEnd type="triangle"/>
          </a:ln>
        </p:spPr>
      </p:sp>
      <p:sp>
        <p:nvSpPr>
          <p:cNvPr id="8" name="Shape 6"/>
          <p:cNvSpPr/>
          <p:nvPr/>
        </p:nvSpPr>
        <p:spPr>
          <a:xfrm>
            <a:off x="6400800" y="1755648"/>
            <a:ext cx="4480560" cy="420624"/>
          </a:xfrm>
          <a:prstGeom prst="roundRect">
            <a:avLst>
              <a:gd name="adj" fmla="val 17391"/>
            </a:avLst>
          </a:prstGeom>
          <a:solidFill>
            <a:srgbClr val="FFFFFF"/>
          </a:solidFill>
          <a:ln w="16510">
            <a:solidFill>
              <a:srgbClr val="CBD5E1"/>
            </a:solidFill>
            <a:prstDash val="solid"/>
          </a:ln>
          <a:effectLst/>
        </p:spPr>
      </p:sp>
      <p:sp>
        <p:nvSpPr>
          <p:cNvPr id="9" name="Text 7"/>
          <p:cNvSpPr/>
          <p:nvPr/>
        </p:nvSpPr>
        <p:spPr>
          <a:xfrm>
            <a:off x="6473952" y="1801368"/>
            <a:ext cx="4334256" cy="329184"/>
          </a:xfrm>
          <a:prstGeom prst="rect">
            <a:avLst/>
          </a:prstGeom>
          <a:noFill/>
          <a:ln/>
        </p:spPr>
        <p:txBody>
          <a:bodyPr wrap="square" lIns="254" tIns="254" rIns="254" bIns="254" rtlCol="0" anchor="ctr">
            <a:normAutofit/>
          </a:bodyPr>
          <a:lstStyle/>
          <a:p>
            <a:pPr marL="0" indent="0" algn="ctr">
              <a:buNone/>
            </a:pPr>
            <a:r>
              <a:rPr lang="en-US" sz="1070" b="1" dirty="0">
                <a:solidFill>
                  <a:srgbClr val="111827"/>
                </a:solidFill>
              </a:rPr>
              <a:t>PROCESSED MEAL DATASET</a:t>
            </a:r>
            <a:endParaRPr lang="en-US" sz="1070" dirty="0"/>
          </a:p>
        </p:txBody>
      </p:sp>
      <p:sp>
        <p:nvSpPr>
          <p:cNvPr id="10" name="Shape 8"/>
          <p:cNvSpPr/>
          <p:nvPr/>
        </p:nvSpPr>
        <p:spPr>
          <a:xfrm>
            <a:off x="8641080" y="2194560"/>
            <a:ext cx="1" cy="173736"/>
          </a:xfrm>
          <a:prstGeom prst="line">
            <a:avLst/>
          </a:prstGeom>
          <a:noFill/>
          <a:ln w="20320">
            <a:solidFill>
              <a:srgbClr val="CBD5E1"/>
            </a:solidFill>
            <a:prstDash val="solid"/>
            <a:headEnd type="none"/>
            <a:tailEnd type="triangle"/>
          </a:ln>
        </p:spPr>
      </p:sp>
      <p:sp>
        <p:nvSpPr>
          <p:cNvPr id="11" name="Shape 9"/>
          <p:cNvSpPr/>
          <p:nvPr/>
        </p:nvSpPr>
        <p:spPr>
          <a:xfrm>
            <a:off x="6400800" y="2395728"/>
            <a:ext cx="4480560" cy="420624"/>
          </a:xfrm>
          <a:prstGeom prst="roundRect">
            <a:avLst>
              <a:gd name="adj" fmla="val 17391"/>
            </a:avLst>
          </a:prstGeom>
          <a:solidFill>
            <a:srgbClr val="FFFFFF"/>
          </a:solidFill>
          <a:ln w="16510">
            <a:solidFill>
              <a:srgbClr val="CBD5E1"/>
            </a:solidFill>
            <a:prstDash val="solid"/>
          </a:ln>
          <a:effectLst/>
        </p:spPr>
      </p:sp>
      <p:sp>
        <p:nvSpPr>
          <p:cNvPr id="12" name="Text 10"/>
          <p:cNvSpPr/>
          <p:nvPr/>
        </p:nvSpPr>
        <p:spPr>
          <a:xfrm>
            <a:off x="6473952" y="2441448"/>
            <a:ext cx="4334256" cy="329184"/>
          </a:xfrm>
          <a:prstGeom prst="rect">
            <a:avLst/>
          </a:prstGeom>
          <a:noFill/>
          <a:ln/>
        </p:spPr>
        <p:txBody>
          <a:bodyPr wrap="square" lIns="254" tIns="254" rIns="254" bIns="254" rtlCol="0" anchor="ctr">
            <a:normAutofit/>
          </a:bodyPr>
          <a:lstStyle/>
          <a:p>
            <a:pPr marL="0" indent="0" algn="ctr">
              <a:buNone/>
            </a:pPr>
            <a:r>
              <a:rPr lang="en-US" sz="1070" b="1" dirty="0">
                <a:solidFill>
                  <a:srgbClr val="111827"/>
                </a:solidFill>
              </a:rPr>
              <a:t>NEURAL NETWORK</a:t>
            </a:r>
            <a:endParaRPr lang="en-US" sz="1070" dirty="0"/>
          </a:p>
        </p:txBody>
      </p:sp>
      <p:sp>
        <p:nvSpPr>
          <p:cNvPr id="13" name="Shape 11"/>
          <p:cNvSpPr/>
          <p:nvPr/>
        </p:nvSpPr>
        <p:spPr>
          <a:xfrm>
            <a:off x="8641080" y="2834640"/>
            <a:ext cx="1" cy="173736"/>
          </a:xfrm>
          <a:prstGeom prst="line">
            <a:avLst/>
          </a:prstGeom>
          <a:noFill/>
          <a:ln w="20320">
            <a:solidFill>
              <a:srgbClr val="CBD5E1"/>
            </a:solidFill>
            <a:prstDash val="solid"/>
            <a:headEnd type="none"/>
            <a:tailEnd type="triangle"/>
          </a:ln>
        </p:spPr>
      </p:sp>
      <p:sp>
        <p:nvSpPr>
          <p:cNvPr id="14" name="Shape 12"/>
          <p:cNvSpPr/>
          <p:nvPr/>
        </p:nvSpPr>
        <p:spPr>
          <a:xfrm>
            <a:off x="6400800" y="3035808"/>
            <a:ext cx="4480560" cy="420624"/>
          </a:xfrm>
          <a:prstGeom prst="roundRect">
            <a:avLst>
              <a:gd name="adj" fmla="val 17391"/>
            </a:avLst>
          </a:prstGeom>
          <a:solidFill>
            <a:srgbClr val="FFFFFF"/>
          </a:solidFill>
          <a:ln w="16510">
            <a:solidFill>
              <a:srgbClr val="CBD5E1"/>
            </a:solidFill>
            <a:prstDash val="solid"/>
          </a:ln>
          <a:effectLst/>
        </p:spPr>
      </p:sp>
      <p:sp>
        <p:nvSpPr>
          <p:cNvPr id="15" name="Text 13"/>
          <p:cNvSpPr/>
          <p:nvPr/>
        </p:nvSpPr>
        <p:spPr>
          <a:xfrm>
            <a:off x="6473952" y="3081528"/>
            <a:ext cx="4334256" cy="329184"/>
          </a:xfrm>
          <a:prstGeom prst="rect">
            <a:avLst/>
          </a:prstGeom>
          <a:noFill/>
          <a:ln/>
        </p:spPr>
        <p:txBody>
          <a:bodyPr wrap="square" lIns="254" tIns="254" rIns="254" bIns="254" rtlCol="0" anchor="ctr">
            <a:normAutofit/>
          </a:bodyPr>
          <a:lstStyle/>
          <a:p>
            <a:pPr marL="0" indent="0" algn="ctr">
              <a:buNone/>
            </a:pPr>
            <a:r>
              <a:rPr lang="en-US" sz="1070" b="1" dirty="0">
                <a:solidFill>
                  <a:srgbClr val="111827"/>
                </a:solidFill>
              </a:rPr>
              <a:t>MEAL SUITABILITY SCORE</a:t>
            </a:r>
            <a:endParaRPr lang="en-US" sz="1070" dirty="0"/>
          </a:p>
        </p:txBody>
      </p:sp>
      <p:sp>
        <p:nvSpPr>
          <p:cNvPr id="16" name="Shape 14"/>
          <p:cNvSpPr/>
          <p:nvPr/>
        </p:nvSpPr>
        <p:spPr>
          <a:xfrm>
            <a:off x="8641080" y="3474720"/>
            <a:ext cx="1" cy="173736"/>
          </a:xfrm>
          <a:prstGeom prst="line">
            <a:avLst/>
          </a:prstGeom>
          <a:noFill/>
          <a:ln w="20320">
            <a:solidFill>
              <a:srgbClr val="10B981"/>
            </a:solidFill>
            <a:prstDash val="solid"/>
            <a:headEnd type="none"/>
            <a:tailEnd type="triangle"/>
          </a:ln>
        </p:spPr>
      </p:sp>
      <p:sp>
        <p:nvSpPr>
          <p:cNvPr id="17" name="Shape 15"/>
          <p:cNvSpPr/>
          <p:nvPr/>
        </p:nvSpPr>
        <p:spPr>
          <a:xfrm>
            <a:off x="6400800" y="3675888"/>
            <a:ext cx="4480560" cy="420624"/>
          </a:xfrm>
          <a:prstGeom prst="roundRect">
            <a:avLst>
              <a:gd name="adj" fmla="val 17391"/>
            </a:avLst>
          </a:prstGeom>
          <a:solidFill>
            <a:srgbClr val="D1FAE5"/>
          </a:solidFill>
          <a:ln w="16510">
            <a:solidFill>
              <a:srgbClr val="10B981"/>
            </a:solidFill>
            <a:prstDash val="solid"/>
          </a:ln>
          <a:effectLst/>
        </p:spPr>
      </p:sp>
      <p:sp>
        <p:nvSpPr>
          <p:cNvPr id="18" name="Text 16"/>
          <p:cNvSpPr/>
          <p:nvPr/>
        </p:nvSpPr>
        <p:spPr>
          <a:xfrm>
            <a:off x="6473952" y="3721608"/>
            <a:ext cx="4334256" cy="329184"/>
          </a:xfrm>
          <a:prstGeom prst="rect">
            <a:avLst/>
          </a:prstGeom>
          <a:noFill/>
          <a:ln/>
        </p:spPr>
        <p:txBody>
          <a:bodyPr wrap="square" lIns="254" tIns="254" rIns="254" bIns="254" rtlCol="0" anchor="ctr">
            <a:normAutofit/>
          </a:bodyPr>
          <a:lstStyle/>
          <a:p>
            <a:pPr marL="0" indent="0" algn="ctr">
              <a:buNone/>
            </a:pPr>
            <a:r>
              <a:rPr lang="en-US" sz="1070" b="1" dirty="0">
                <a:solidFill>
                  <a:srgbClr val="111827"/>
                </a:solidFill>
              </a:rPr>
              <a:t>ALLERGY + PREFERENCE FILTER</a:t>
            </a:r>
            <a:endParaRPr lang="en-US" sz="1070" dirty="0"/>
          </a:p>
        </p:txBody>
      </p:sp>
      <p:sp>
        <p:nvSpPr>
          <p:cNvPr id="19" name="Shape 17"/>
          <p:cNvSpPr/>
          <p:nvPr/>
        </p:nvSpPr>
        <p:spPr>
          <a:xfrm>
            <a:off x="8641080" y="4114800"/>
            <a:ext cx="1" cy="173736"/>
          </a:xfrm>
          <a:prstGeom prst="line">
            <a:avLst/>
          </a:prstGeom>
          <a:noFill/>
          <a:ln w="20320">
            <a:solidFill>
              <a:srgbClr val="10B981"/>
            </a:solidFill>
            <a:prstDash val="solid"/>
            <a:headEnd type="none"/>
            <a:tailEnd type="triangle"/>
          </a:ln>
        </p:spPr>
      </p:sp>
      <p:sp>
        <p:nvSpPr>
          <p:cNvPr id="20" name="Shape 18"/>
          <p:cNvSpPr/>
          <p:nvPr/>
        </p:nvSpPr>
        <p:spPr>
          <a:xfrm>
            <a:off x="6400800" y="4315968"/>
            <a:ext cx="4480560" cy="420624"/>
          </a:xfrm>
          <a:prstGeom prst="roundRect">
            <a:avLst>
              <a:gd name="adj" fmla="val 17391"/>
            </a:avLst>
          </a:prstGeom>
          <a:solidFill>
            <a:srgbClr val="FEF3C7"/>
          </a:solidFill>
          <a:ln w="16510">
            <a:solidFill>
              <a:srgbClr val="F59E0B"/>
            </a:solidFill>
            <a:prstDash val="solid"/>
          </a:ln>
          <a:effectLst/>
        </p:spPr>
      </p:sp>
      <p:sp>
        <p:nvSpPr>
          <p:cNvPr id="21" name="Text 19"/>
          <p:cNvSpPr/>
          <p:nvPr/>
        </p:nvSpPr>
        <p:spPr>
          <a:xfrm>
            <a:off x="6473952" y="4361688"/>
            <a:ext cx="4334256" cy="329184"/>
          </a:xfrm>
          <a:prstGeom prst="rect">
            <a:avLst/>
          </a:prstGeom>
          <a:noFill/>
          <a:ln/>
        </p:spPr>
        <p:txBody>
          <a:bodyPr wrap="square" lIns="254" tIns="254" rIns="254" bIns="254" rtlCol="0" anchor="ctr">
            <a:normAutofit/>
          </a:bodyPr>
          <a:lstStyle/>
          <a:p>
            <a:pPr marL="0" indent="0" algn="ctr">
              <a:buNone/>
            </a:pPr>
            <a:r>
              <a:rPr lang="en-US" sz="1070" b="1" dirty="0">
                <a:solidFill>
                  <a:srgbClr val="111827"/>
                </a:solidFill>
              </a:rPr>
              <a:t>EXPERT APPROVAL</a:t>
            </a:r>
            <a:endParaRPr lang="en-US" sz="1070" dirty="0"/>
          </a:p>
        </p:txBody>
      </p:sp>
      <p:sp>
        <p:nvSpPr>
          <p:cNvPr id="22" name="Shape 20"/>
          <p:cNvSpPr/>
          <p:nvPr/>
        </p:nvSpPr>
        <p:spPr>
          <a:xfrm>
            <a:off x="8641080" y="4754880"/>
            <a:ext cx="1" cy="173736"/>
          </a:xfrm>
          <a:prstGeom prst="line">
            <a:avLst/>
          </a:prstGeom>
          <a:noFill/>
          <a:ln w="20320">
            <a:solidFill>
              <a:srgbClr val="10B981"/>
            </a:solidFill>
            <a:prstDash val="solid"/>
            <a:headEnd type="none"/>
            <a:tailEnd type="triangle"/>
          </a:ln>
        </p:spPr>
      </p:sp>
      <p:sp>
        <p:nvSpPr>
          <p:cNvPr id="23" name="Shape 21"/>
          <p:cNvSpPr/>
          <p:nvPr/>
        </p:nvSpPr>
        <p:spPr>
          <a:xfrm>
            <a:off x="6400800" y="4956048"/>
            <a:ext cx="4480560" cy="420624"/>
          </a:xfrm>
          <a:prstGeom prst="roundRect">
            <a:avLst>
              <a:gd name="adj" fmla="val 17391"/>
            </a:avLst>
          </a:prstGeom>
          <a:solidFill>
            <a:srgbClr val="D1FAE5"/>
          </a:solidFill>
          <a:ln w="16510">
            <a:solidFill>
              <a:srgbClr val="10B981"/>
            </a:solidFill>
            <a:prstDash val="solid"/>
          </a:ln>
          <a:effectLst/>
        </p:spPr>
      </p:sp>
      <p:sp>
        <p:nvSpPr>
          <p:cNvPr id="24" name="Text 22"/>
          <p:cNvSpPr/>
          <p:nvPr/>
        </p:nvSpPr>
        <p:spPr>
          <a:xfrm>
            <a:off x="6473952" y="5001768"/>
            <a:ext cx="4334256" cy="329184"/>
          </a:xfrm>
          <a:prstGeom prst="rect">
            <a:avLst/>
          </a:prstGeom>
          <a:noFill/>
          <a:ln/>
        </p:spPr>
        <p:txBody>
          <a:bodyPr wrap="square" lIns="254" tIns="254" rIns="254" bIns="254" rtlCol="0" anchor="ctr">
            <a:normAutofit/>
          </a:bodyPr>
          <a:lstStyle/>
          <a:p>
            <a:pPr marL="0" indent="0" algn="ctr">
              <a:buNone/>
            </a:pPr>
            <a:r>
              <a:rPr lang="en-US" sz="1070" b="1" dirty="0">
                <a:solidFill>
                  <a:srgbClr val="111827"/>
                </a:solidFill>
              </a:rPr>
              <a:t>USER</a:t>
            </a:r>
            <a:endParaRPr lang="en-US" sz="1070" dirty="0"/>
          </a:p>
        </p:txBody>
      </p:sp>
      <p:sp>
        <p:nvSpPr>
          <p:cNvPr id="25" name="Shape 23"/>
          <p:cNvSpPr/>
          <p:nvPr/>
        </p:nvSpPr>
        <p:spPr>
          <a:xfrm>
            <a:off x="685800" y="4983480"/>
            <a:ext cx="4754880" cy="777240"/>
          </a:xfrm>
          <a:prstGeom prst="roundRect">
            <a:avLst>
              <a:gd name="adj" fmla="val 11765"/>
            </a:avLst>
          </a:prstGeom>
          <a:solidFill>
            <a:srgbClr val="0F172A"/>
          </a:solidFill>
          <a:ln w="12700">
            <a:solidFill>
              <a:srgbClr val="0F172A"/>
            </a:solidFill>
            <a:prstDash val="solid"/>
          </a:ln>
          <a:effectLst/>
        </p:spPr>
      </p:sp>
      <p:sp>
        <p:nvSpPr>
          <p:cNvPr id="26" name="Text 24"/>
          <p:cNvSpPr/>
          <p:nvPr/>
        </p:nvSpPr>
        <p:spPr>
          <a:xfrm>
            <a:off x="960120" y="5230368"/>
            <a:ext cx="4206240" cy="228600"/>
          </a:xfrm>
          <a:prstGeom prst="rect">
            <a:avLst/>
          </a:prstGeom>
          <a:noFill/>
          <a:ln/>
        </p:spPr>
        <p:txBody>
          <a:bodyPr wrap="square" lIns="0" tIns="0" rIns="0" bIns="0" rtlCol="0" anchor="ctr"/>
          <a:lstStyle/>
          <a:p>
            <a:pPr marL="0" indent="0" algn="ctr">
              <a:buNone/>
            </a:pPr>
            <a:r>
              <a:rPr lang="en-US" sz="1500" b="1" dirty="0">
                <a:solidFill>
                  <a:srgbClr val="FFFFFF"/>
                </a:solidFill>
              </a:rPr>
              <a:t>AI recommends. Rules protect. Experts approve.</a:t>
            </a:r>
            <a:endParaRPr lang="en-US" sz="1500" dirty="0"/>
          </a:p>
        </p:txBody>
      </p:sp>
      <p:sp>
        <p:nvSpPr>
          <p:cNvPr id="27"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RESULTS</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NutriCore AI — AI + Safety Validation</a:t>
            </a:r>
            <a:endParaRPr lang="en-US" sz="2800" dirty="0"/>
          </a:p>
        </p:txBody>
      </p:sp>
      <p:sp>
        <p:nvSpPr>
          <p:cNvPr id="4" name="Shape 2"/>
          <p:cNvSpPr/>
          <p:nvPr/>
        </p:nvSpPr>
        <p:spPr>
          <a:xfrm>
            <a:off x="731520" y="1417320"/>
            <a:ext cx="3429000" cy="1874520"/>
          </a:xfrm>
          <a:prstGeom prst="roundRect">
            <a:avLst>
              <a:gd name="adj" fmla="val 4878"/>
            </a:avLst>
          </a:prstGeom>
          <a:solidFill>
            <a:srgbClr val="FFFFFF"/>
          </a:solidFill>
          <a:ln w="12700">
            <a:solidFill>
              <a:srgbClr val="E2E8F0"/>
            </a:solidFill>
            <a:prstDash val="solid"/>
          </a:ln>
          <a:effectLst/>
        </p:spPr>
      </p:sp>
      <p:sp>
        <p:nvSpPr>
          <p:cNvPr id="5" name="Text 3"/>
          <p:cNvSpPr/>
          <p:nvPr/>
        </p:nvSpPr>
        <p:spPr>
          <a:xfrm>
            <a:off x="960120" y="1755648"/>
            <a:ext cx="2971800" cy="502920"/>
          </a:xfrm>
          <a:prstGeom prst="rect">
            <a:avLst/>
          </a:prstGeom>
          <a:noFill/>
          <a:ln/>
        </p:spPr>
        <p:txBody>
          <a:bodyPr wrap="square" lIns="0" tIns="0" rIns="0" bIns="0" rtlCol="0" anchor="ctr">
            <a:normAutofit/>
          </a:bodyPr>
          <a:lstStyle/>
          <a:p>
            <a:pPr marL="0" indent="0" algn="ctr">
              <a:buNone/>
            </a:pPr>
            <a:r>
              <a:rPr lang="en-US" sz="2700" b="1" dirty="0">
                <a:solidFill>
                  <a:srgbClr val="0F172A"/>
                </a:solidFill>
              </a:rPr>
              <a:t>99%</a:t>
            </a:r>
            <a:endParaRPr lang="en-US" sz="2700" dirty="0"/>
          </a:p>
        </p:txBody>
      </p:sp>
      <p:sp>
        <p:nvSpPr>
          <p:cNvPr id="6" name="Text 4"/>
          <p:cNvSpPr/>
          <p:nvPr/>
        </p:nvSpPr>
        <p:spPr>
          <a:xfrm>
            <a:off x="960120" y="2286000"/>
            <a:ext cx="2971800"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Training Accuracy</a:t>
            </a:r>
            <a:endParaRPr lang="en-US" sz="1050" dirty="0"/>
          </a:p>
        </p:txBody>
      </p:sp>
      <p:sp>
        <p:nvSpPr>
          <p:cNvPr id="7" name="Shape 5"/>
          <p:cNvSpPr/>
          <p:nvPr/>
        </p:nvSpPr>
        <p:spPr>
          <a:xfrm>
            <a:off x="4526280" y="1417320"/>
            <a:ext cx="3429000" cy="1874520"/>
          </a:xfrm>
          <a:prstGeom prst="roundRect">
            <a:avLst>
              <a:gd name="adj" fmla="val 4878"/>
            </a:avLst>
          </a:prstGeom>
          <a:solidFill>
            <a:srgbClr val="FFFFFF"/>
          </a:solidFill>
          <a:ln w="12700">
            <a:solidFill>
              <a:srgbClr val="E2E8F0"/>
            </a:solidFill>
            <a:prstDash val="solid"/>
          </a:ln>
          <a:effectLst/>
        </p:spPr>
      </p:sp>
      <p:sp>
        <p:nvSpPr>
          <p:cNvPr id="8" name="Text 6"/>
          <p:cNvSpPr/>
          <p:nvPr/>
        </p:nvSpPr>
        <p:spPr>
          <a:xfrm>
            <a:off x="4754880" y="1755648"/>
            <a:ext cx="2971800" cy="502920"/>
          </a:xfrm>
          <a:prstGeom prst="rect">
            <a:avLst/>
          </a:prstGeom>
          <a:noFill/>
          <a:ln/>
        </p:spPr>
        <p:txBody>
          <a:bodyPr wrap="square" lIns="0" tIns="0" rIns="0" bIns="0" rtlCol="0" anchor="ctr">
            <a:normAutofit/>
          </a:bodyPr>
          <a:lstStyle/>
          <a:p>
            <a:pPr marL="0" indent="0" algn="ctr">
              <a:buNone/>
            </a:pPr>
            <a:r>
              <a:rPr lang="en-US" sz="2700" b="1" dirty="0">
                <a:solidFill>
                  <a:srgbClr val="0F172A"/>
                </a:solidFill>
              </a:rPr>
              <a:t>100%</a:t>
            </a:r>
            <a:endParaRPr lang="en-US" sz="2700" dirty="0"/>
          </a:p>
        </p:txBody>
      </p:sp>
      <p:sp>
        <p:nvSpPr>
          <p:cNvPr id="9" name="Text 7"/>
          <p:cNvSpPr/>
          <p:nvPr/>
        </p:nvSpPr>
        <p:spPr>
          <a:xfrm>
            <a:off x="4754880" y="2286000"/>
            <a:ext cx="2971800"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Validation Accuracy</a:t>
            </a:r>
            <a:endParaRPr lang="en-US" sz="1050" dirty="0"/>
          </a:p>
        </p:txBody>
      </p:sp>
      <p:sp>
        <p:nvSpPr>
          <p:cNvPr id="10" name="Shape 8"/>
          <p:cNvSpPr/>
          <p:nvPr/>
        </p:nvSpPr>
        <p:spPr>
          <a:xfrm>
            <a:off x="8321040" y="1417320"/>
            <a:ext cx="3429000" cy="1874520"/>
          </a:xfrm>
          <a:prstGeom prst="roundRect">
            <a:avLst>
              <a:gd name="adj" fmla="val 4878"/>
            </a:avLst>
          </a:prstGeom>
          <a:solidFill>
            <a:srgbClr val="ECFDF5"/>
          </a:solidFill>
          <a:ln w="12700">
            <a:solidFill>
              <a:srgbClr val="E2E8F0"/>
            </a:solidFill>
            <a:prstDash val="solid"/>
          </a:ln>
          <a:effectLst/>
        </p:spPr>
      </p:sp>
      <p:sp>
        <p:nvSpPr>
          <p:cNvPr id="11" name="Text 9"/>
          <p:cNvSpPr/>
          <p:nvPr/>
        </p:nvSpPr>
        <p:spPr>
          <a:xfrm>
            <a:off x="8549640" y="1755648"/>
            <a:ext cx="2971800" cy="502920"/>
          </a:xfrm>
          <a:prstGeom prst="rect">
            <a:avLst/>
          </a:prstGeom>
          <a:noFill/>
          <a:ln/>
        </p:spPr>
        <p:txBody>
          <a:bodyPr wrap="square" lIns="0" tIns="0" rIns="0" bIns="0" rtlCol="0" anchor="ctr">
            <a:normAutofit/>
          </a:bodyPr>
          <a:lstStyle/>
          <a:p>
            <a:pPr marL="0" indent="0" algn="ctr">
              <a:buNone/>
            </a:pPr>
            <a:r>
              <a:rPr lang="en-US" sz="2700" b="1" dirty="0">
                <a:solidFill>
                  <a:srgbClr val="10B981"/>
                </a:solidFill>
              </a:rPr>
              <a:t>100%</a:t>
            </a:r>
            <a:endParaRPr lang="en-US" sz="2700" dirty="0"/>
          </a:p>
        </p:txBody>
      </p:sp>
      <p:sp>
        <p:nvSpPr>
          <p:cNvPr id="12" name="Text 10"/>
          <p:cNvSpPr/>
          <p:nvPr/>
        </p:nvSpPr>
        <p:spPr>
          <a:xfrm>
            <a:off x="8549640" y="2286000"/>
            <a:ext cx="2971800"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Allergy Filtering</a:t>
            </a:r>
            <a:endParaRPr lang="en-US" sz="1050" dirty="0"/>
          </a:p>
        </p:txBody>
      </p:sp>
      <p:sp>
        <p:nvSpPr>
          <p:cNvPr id="13" name="Shape 11"/>
          <p:cNvSpPr/>
          <p:nvPr/>
        </p:nvSpPr>
        <p:spPr>
          <a:xfrm>
            <a:off x="731520" y="3657600"/>
            <a:ext cx="10561320" cy="1737360"/>
          </a:xfrm>
          <a:prstGeom prst="roundRect">
            <a:avLst>
              <a:gd name="adj" fmla="val 5263"/>
            </a:avLst>
          </a:prstGeom>
          <a:solidFill>
            <a:srgbClr val="0F172A"/>
          </a:solidFill>
          <a:ln w="12700">
            <a:solidFill>
              <a:srgbClr val="0F172A"/>
            </a:solidFill>
            <a:prstDash val="solid"/>
          </a:ln>
          <a:effectLst/>
        </p:spPr>
      </p:sp>
      <p:sp>
        <p:nvSpPr>
          <p:cNvPr id="14" name="Text 12"/>
          <p:cNvSpPr/>
          <p:nvPr/>
        </p:nvSpPr>
        <p:spPr>
          <a:xfrm>
            <a:off x="1051560" y="3977640"/>
            <a:ext cx="3200400" cy="228600"/>
          </a:xfrm>
          <a:prstGeom prst="rect">
            <a:avLst/>
          </a:prstGeom>
          <a:noFill/>
          <a:ln/>
        </p:spPr>
        <p:txBody>
          <a:bodyPr wrap="square" lIns="0" tIns="0" rIns="0" bIns="0" rtlCol="0" anchor="ctr"/>
          <a:lstStyle/>
          <a:p>
            <a:pPr marL="0" indent="0">
              <a:buNone/>
            </a:pPr>
            <a:r>
              <a:rPr lang="en-US" sz="1300" b="1" dirty="0">
                <a:solidFill>
                  <a:srgbClr val="10B981"/>
                </a:solidFill>
              </a:rPr>
              <a:t>HUMAN-IN-THE-LOOP ARCHITECTURE</a:t>
            </a:r>
            <a:endParaRPr lang="en-US" sz="1300" dirty="0"/>
          </a:p>
        </p:txBody>
      </p:sp>
      <p:sp>
        <p:nvSpPr>
          <p:cNvPr id="15" name="Text 13"/>
          <p:cNvSpPr/>
          <p:nvPr/>
        </p:nvSpPr>
        <p:spPr>
          <a:xfrm>
            <a:off x="1051560" y="4434840"/>
            <a:ext cx="9784080" cy="594360"/>
          </a:xfrm>
          <a:prstGeom prst="rect">
            <a:avLst/>
          </a:prstGeom>
          <a:noFill/>
          <a:ln/>
        </p:spPr>
        <p:txBody>
          <a:bodyPr wrap="square" lIns="0" tIns="0" rIns="0" bIns="0" rtlCol="0" anchor="ctr">
            <a:normAutofit fontScale="92500" lnSpcReduction="10000"/>
          </a:bodyPr>
          <a:lstStyle/>
          <a:p>
            <a:pPr marL="0" indent="0">
              <a:buNone/>
            </a:pPr>
            <a:r>
              <a:rPr lang="en-US" sz="1500" dirty="0">
                <a:solidFill>
                  <a:srgbClr val="FFFFFF"/>
                </a:solidFill>
              </a:rPr>
              <a:t>NutriCore generated personalized meals and smart alternatives during validation. Restricted ingredients are filtered before display, and generated meals must pass expert approval. AI performs recommendation while safety rules and human review control the final output.</a:t>
            </a:r>
            <a:endParaRPr lang="en-US" sz="1500" dirty="0"/>
          </a:p>
        </p:txBody>
      </p:sp>
      <p:sp>
        <p:nvSpPr>
          <p:cNvPr id="25"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VIDEO INTELLIGENCE</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PoseForm AI — Computer Vision for Exercise Form</a:t>
            </a:r>
            <a:endParaRPr lang="en-US" sz="2800" dirty="0"/>
          </a:p>
        </p:txBody>
      </p:sp>
      <p:sp>
        <p:nvSpPr>
          <p:cNvPr id="4" name="Shape 2"/>
          <p:cNvSpPr/>
          <p:nvPr/>
        </p:nvSpPr>
        <p:spPr>
          <a:xfrm>
            <a:off x="685800" y="1280160"/>
            <a:ext cx="4206240" cy="4434840"/>
          </a:xfrm>
          <a:prstGeom prst="roundRect">
            <a:avLst>
              <a:gd name="adj" fmla="val 2174"/>
            </a:avLst>
          </a:prstGeom>
          <a:solidFill>
            <a:srgbClr val="0F172A"/>
          </a:solidFill>
          <a:ln w="12700">
            <a:solidFill>
              <a:srgbClr val="0F172A"/>
            </a:solidFill>
            <a:prstDash val="solid"/>
          </a:ln>
          <a:effectLst/>
        </p:spPr>
      </p:sp>
      <p:sp>
        <p:nvSpPr>
          <p:cNvPr id="5" name="Shape 3"/>
          <p:cNvSpPr/>
          <p:nvPr/>
        </p:nvSpPr>
        <p:spPr>
          <a:xfrm>
            <a:off x="2414016" y="1755648"/>
            <a:ext cx="566928" cy="566928"/>
          </a:xfrm>
          <a:prstGeom prst="ellipse">
            <a:avLst/>
          </a:prstGeom>
          <a:solidFill>
            <a:srgbClr val="E2E8F0"/>
          </a:solidFill>
          <a:ln w="38100">
            <a:solidFill>
              <a:srgbClr val="10B981"/>
            </a:solidFill>
            <a:prstDash val="solid"/>
          </a:ln>
        </p:spPr>
      </p:sp>
      <p:sp>
        <p:nvSpPr>
          <p:cNvPr id="6" name="Shape 4"/>
          <p:cNvSpPr/>
          <p:nvPr/>
        </p:nvSpPr>
        <p:spPr>
          <a:xfrm>
            <a:off x="2697480" y="2322576"/>
            <a:ext cx="1" cy="1051560"/>
          </a:xfrm>
          <a:prstGeom prst="line">
            <a:avLst/>
          </a:prstGeom>
          <a:noFill/>
          <a:ln w="63500">
            <a:solidFill>
              <a:srgbClr val="10B981"/>
            </a:solidFill>
            <a:prstDash val="solid"/>
          </a:ln>
        </p:spPr>
      </p:sp>
      <p:sp>
        <p:nvSpPr>
          <p:cNvPr id="7" name="Shape 5"/>
          <p:cNvSpPr/>
          <p:nvPr/>
        </p:nvSpPr>
        <p:spPr>
          <a:xfrm flipH="1">
            <a:off x="1737360" y="2560320"/>
            <a:ext cx="960120" cy="658368"/>
          </a:xfrm>
          <a:prstGeom prst="line">
            <a:avLst/>
          </a:prstGeom>
          <a:noFill/>
          <a:ln w="63500">
            <a:solidFill>
              <a:srgbClr val="10B981"/>
            </a:solidFill>
            <a:prstDash val="solid"/>
          </a:ln>
        </p:spPr>
      </p:sp>
      <p:sp>
        <p:nvSpPr>
          <p:cNvPr id="8" name="Shape 6"/>
          <p:cNvSpPr/>
          <p:nvPr/>
        </p:nvSpPr>
        <p:spPr>
          <a:xfrm>
            <a:off x="2697480" y="2560320"/>
            <a:ext cx="960120" cy="658368"/>
          </a:xfrm>
          <a:prstGeom prst="line">
            <a:avLst/>
          </a:prstGeom>
          <a:noFill/>
          <a:ln w="63500">
            <a:solidFill>
              <a:srgbClr val="10B981"/>
            </a:solidFill>
            <a:prstDash val="solid"/>
          </a:ln>
        </p:spPr>
      </p:sp>
      <p:sp>
        <p:nvSpPr>
          <p:cNvPr id="9" name="Shape 7"/>
          <p:cNvSpPr/>
          <p:nvPr/>
        </p:nvSpPr>
        <p:spPr>
          <a:xfrm flipH="1">
            <a:off x="1911096" y="3364992"/>
            <a:ext cx="786384" cy="1078992"/>
          </a:xfrm>
          <a:prstGeom prst="line">
            <a:avLst/>
          </a:prstGeom>
          <a:noFill/>
          <a:ln w="63500">
            <a:solidFill>
              <a:srgbClr val="10B981"/>
            </a:solidFill>
            <a:prstDash val="solid"/>
          </a:ln>
        </p:spPr>
      </p:sp>
      <p:sp>
        <p:nvSpPr>
          <p:cNvPr id="10" name="Shape 8"/>
          <p:cNvSpPr/>
          <p:nvPr/>
        </p:nvSpPr>
        <p:spPr>
          <a:xfrm>
            <a:off x="2697480" y="3364992"/>
            <a:ext cx="786384" cy="1078992"/>
          </a:xfrm>
          <a:prstGeom prst="line">
            <a:avLst/>
          </a:prstGeom>
          <a:noFill/>
          <a:ln w="63500">
            <a:solidFill>
              <a:srgbClr val="10B981"/>
            </a:solidFill>
            <a:prstDash val="solid"/>
          </a:ln>
        </p:spPr>
      </p:sp>
      <p:sp>
        <p:nvSpPr>
          <p:cNvPr id="11" name="Shape 9"/>
          <p:cNvSpPr/>
          <p:nvPr/>
        </p:nvSpPr>
        <p:spPr>
          <a:xfrm>
            <a:off x="2624328" y="2487168"/>
            <a:ext cx="146304" cy="146304"/>
          </a:xfrm>
          <a:prstGeom prst="ellipse">
            <a:avLst/>
          </a:prstGeom>
          <a:solidFill>
            <a:srgbClr val="FFFFFF"/>
          </a:solidFill>
          <a:ln w="25400">
            <a:solidFill>
              <a:srgbClr val="10B981"/>
            </a:solidFill>
            <a:prstDash val="solid"/>
          </a:ln>
        </p:spPr>
      </p:sp>
      <p:sp>
        <p:nvSpPr>
          <p:cNvPr id="12" name="Shape 10"/>
          <p:cNvSpPr/>
          <p:nvPr/>
        </p:nvSpPr>
        <p:spPr>
          <a:xfrm>
            <a:off x="1664208" y="3145536"/>
            <a:ext cx="146304" cy="146304"/>
          </a:xfrm>
          <a:prstGeom prst="ellipse">
            <a:avLst/>
          </a:prstGeom>
          <a:solidFill>
            <a:srgbClr val="FFFFFF"/>
          </a:solidFill>
          <a:ln w="25400">
            <a:solidFill>
              <a:srgbClr val="10B981"/>
            </a:solidFill>
            <a:prstDash val="solid"/>
          </a:ln>
        </p:spPr>
      </p:sp>
      <p:sp>
        <p:nvSpPr>
          <p:cNvPr id="13" name="Shape 11"/>
          <p:cNvSpPr/>
          <p:nvPr/>
        </p:nvSpPr>
        <p:spPr>
          <a:xfrm>
            <a:off x="3584448" y="3145536"/>
            <a:ext cx="146304" cy="146304"/>
          </a:xfrm>
          <a:prstGeom prst="ellipse">
            <a:avLst/>
          </a:prstGeom>
          <a:solidFill>
            <a:srgbClr val="FFFFFF"/>
          </a:solidFill>
          <a:ln w="25400">
            <a:solidFill>
              <a:srgbClr val="10B981"/>
            </a:solidFill>
            <a:prstDash val="solid"/>
          </a:ln>
        </p:spPr>
      </p:sp>
      <p:sp>
        <p:nvSpPr>
          <p:cNvPr id="14" name="Shape 12"/>
          <p:cNvSpPr/>
          <p:nvPr/>
        </p:nvSpPr>
        <p:spPr>
          <a:xfrm>
            <a:off x="2624328" y="3291840"/>
            <a:ext cx="146304" cy="146304"/>
          </a:xfrm>
          <a:prstGeom prst="ellipse">
            <a:avLst/>
          </a:prstGeom>
          <a:solidFill>
            <a:srgbClr val="FFFFFF"/>
          </a:solidFill>
          <a:ln w="25400">
            <a:solidFill>
              <a:srgbClr val="10B981"/>
            </a:solidFill>
            <a:prstDash val="solid"/>
          </a:ln>
        </p:spPr>
      </p:sp>
      <p:sp>
        <p:nvSpPr>
          <p:cNvPr id="15" name="Shape 13"/>
          <p:cNvSpPr/>
          <p:nvPr/>
        </p:nvSpPr>
        <p:spPr>
          <a:xfrm>
            <a:off x="1837944" y="4370832"/>
            <a:ext cx="146304" cy="146304"/>
          </a:xfrm>
          <a:prstGeom prst="ellipse">
            <a:avLst/>
          </a:prstGeom>
          <a:solidFill>
            <a:srgbClr val="FFFFFF"/>
          </a:solidFill>
          <a:ln w="25400">
            <a:solidFill>
              <a:srgbClr val="10B981"/>
            </a:solidFill>
            <a:prstDash val="solid"/>
          </a:ln>
        </p:spPr>
      </p:sp>
      <p:sp>
        <p:nvSpPr>
          <p:cNvPr id="16" name="Shape 14"/>
          <p:cNvSpPr/>
          <p:nvPr/>
        </p:nvSpPr>
        <p:spPr>
          <a:xfrm>
            <a:off x="3410712" y="4370832"/>
            <a:ext cx="146304" cy="146304"/>
          </a:xfrm>
          <a:prstGeom prst="ellipse">
            <a:avLst/>
          </a:prstGeom>
          <a:solidFill>
            <a:srgbClr val="FFFFFF"/>
          </a:solidFill>
          <a:ln w="25400">
            <a:solidFill>
              <a:srgbClr val="10B981"/>
            </a:solidFill>
            <a:prstDash val="solid"/>
          </a:ln>
        </p:spPr>
      </p:sp>
      <p:sp>
        <p:nvSpPr>
          <p:cNvPr id="17" name="Text 15"/>
          <p:cNvSpPr/>
          <p:nvPr/>
        </p:nvSpPr>
        <p:spPr>
          <a:xfrm>
            <a:off x="1005840" y="5166360"/>
            <a:ext cx="3566160" cy="219456"/>
          </a:xfrm>
          <a:prstGeom prst="rect">
            <a:avLst/>
          </a:prstGeom>
          <a:noFill/>
          <a:ln/>
        </p:spPr>
        <p:txBody>
          <a:bodyPr wrap="square" lIns="0" tIns="0" rIns="0" bIns="0" rtlCol="0" anchor="ctr"/>
          <a:lstStyle/>
          <a:p>
            <a:pPr marL="0" indent="0" algn="ctr">
              <a:buNone/>
            </a:pPr>
            <a:r>
              <a:rPr lang="en-US" sz="1200" b="1" dirty="0">
                <a:solidFill>
                  <a:srgbClr val="FFFFFF"/>
                </a:solidFill>
              </a:rPr>
              <a:t>LANDMARK + ANGLE ANALYSIS</a:t>
            </a:r>
            <a:endParaRPr lang="en-US" sz="1200" dirty="0"/>
          </a:p>
        </p:txBody>
      </p:sp>
      <p:sp>
        <p:nvSpPr>
          <p:cNvPr id="18" name="Shape 16"/>
          <p:cNvSpPr/>
          <p:nvPr/>
        </p:nvSpPr>
        <p:spPr>
          <a:xfrm>
            <a:off x="5623560" y="1234440"/>
            <a:ext cx="5303520" cy="411480"/>
          </a:xfrm>
          <a:prstGeom prst="roundRect">
            <a:avLst>
              <a:gd name="adj" fmla="val 17778"/>
            </a:avLst>
          </a:prstGeom>
          <a:solidFill>
            <a:srgbClr val="FFFFFF"/>
          </a:solidFill>
          <a:ln w="16510">
            <a:solidFill>
              <a:srgbClr val="CBD5E1"/>
            </a:solidFill>
            <a:prstDash val="solid"/>
          </a:ln>
          <a:effectLst/>
        </p:spPr>
      </p:sp>
      <p:sp>
        <p:nvSpPr>
          <p:cNvPr id="19" name="Text 17"/>
          <p:cNvSpPr/>
          <p:nvPr/>
        </p:nvSpPr>
        <p:spPr>
          <a:xfrm>
            <a:off x="5696712" y="1280160"/>
            <a:ext cx="5157216" cy="32004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Recorded Video</a:t>
            </a:r>
            <a:endParaRPr lang="en-US" sz="1100" dirty="0"/>
          </a:p>
        </p:txBody>
      </p:sp>
      <p:sp>
        <p:nvSpPr>
          <p:cNvPr id="20" name="Shape 18"/>
          <p:cNvSpPr/>
          <p:nvPr/>
        </p:nvSpPr>
        <p:spPr>
          <a:xfrm>
            <a:off x="8275320" y="1664208"/>
            <a:ext cx="1" cy="164592"/>
          </a:xfrm>
          <a:prstGeom prst="line">
            <a:avLst/>
          </a:prstGeom>
          <a:noFill/>
          <a:ln w="19050">
            <a:solidFill>
              <a:srgbClr val="10B981"/>
            </a:solidFill>
            <a:prstDash val="solid"/>
            <a:headEnd type="none"/>
            <a:tailEnd type="triangle"/>
          </a:ln>
        </p:spPr>
      </p:sp>
      <p:sp>
        <p:nvSpPr>
          <p:cNvPr id="21" name="Shape 19"/>
          <p:cNvSpPr/>
          <p:nvPr/>
        </p:nvSpPr>
        <p:spPr>
          <a:xfrm>
            <a:off x="5623560" y="1856232"/>
            <a:ext cx="5303520" cy="411480"/>
          </a:xfrm>
          <a:prstGeom prst="roundRect">
            <a:avLst>
              <a:gd name="adj" fmla="val 17778"/>
            </a:avLst>
          </a:prstGeom>
          <a:solidFill>
            <a:srgbClr val="FFFFFF"/>
          </a:solidFill>
          <a:ln w="16510">
            <a:solidFill>
              <a:srgbClr val="CBD5E1"/>
            </a:solidFill>
            <a:prstDash val="solid"/>
          </a:ln>
          <a:effectLst/>
        </p:spPr>
      </p:sp>
      <p:sp>
        <p:nvSpPr>
          <p:cNvPr id="22" name="Text 20"/>
          <p:cNvSpPr/>
          <p:nvPr/>
        </p:nvSpPr>
        <p:spPr>
          <a:xfrm>
            <a:off x="5696712" y="1901952"/>
            <a:ext cx="5157216" cy="32004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Pose Landmarks</a:t>
            </a:r>
            <a:endParaRPr lang="en-US" sz="1100" dirty="0"/>
          </a:p>
        </p:txBody>
      </p:sp>
      <p:sp>
        <p:nvSpPr>
          <p:cNvPr id="23" name="Shape 21"/>
          <p:cNvSpPr/>
          <p:nvPr/>
        </p:nvSpPr>
        <p:spPr>
          <a:xfrm>
            <a:off x="8275320" y="2286000"/>
            <a:ext cx="1" cy="164592"/>
          </a:xfrm>
          <a:prstGeom prst="line">
            <a:avLst/>
          </a:prstGeom>
          <a:noFill/>
          <a:ln w="19050">
            <a:solidFill>
              <a:srgbClr val="10B981"/>
            </a:solidFill>
            <a:prstDash val="solid"/>
            <a:headEnd type="none"/>
            <a:tailEnd type="triangle"/>
          </a:ln>
        </p:spPr>
      </p:sp>
      <p:sp>
        <p:nvSpPr>
          <p:cNvPr id="24" name="Shape 22"/>
          <p:cNvSpPr/>
          <p:nvPr/>
        </p:nvSpPr>
        <p:spPr>
          <a:xfrm>
            <a:off x="5623560" y="2478024"/>
            <a:ext cx="5303520" cy="411480"/>
          </a:xfrm>
          <a:prstGeom prst="roundRect">
            <a:avLst>
              <a:gd name="adj" fmla="val 17778"/>
            </a:avLst>
          </a:prstGeom>
          <a:solidFill>
            <a:srgbClr val="FFFFFF"/>
          </a:solidFill>
          <a:ln w="16510">
            <a:solidFill>
              <a:srgbClr val="CBD5E1"/>
            </a:solidFill>
            <a:prstDash val="solid"/>
          </a:ln>
          <a:effectLst/>
        </p:spPr>
      </p:sp>
      <p:sp>
        <p:nvSpPr>
          <p:cNvPr id="25" name="Text 23"/>
          <p:cNvSpPr/>
          <p:nvPr/>
        </p:nvSpPr>
        <p:spPr>
          <a:xfrm>
            <a:off x="5696712" y="2523744"/>
            <a:ext cx="5157216" cy="32004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Movement Phases</a:t>
            </a:r>
            <a:endParaRPr lang="en-US" sz="1100" dirty="0"/>
          </a:p>
        </p:txBody>
      </p:sp>
      <p:sp>
        <p:nvSpPr>
          <p:cNvPr id="26" name="Shape 24"/>
          <p:cNvSpPr/>
          <p:nvPr/>
        </p:nvSpPr>
        <p:spPr>
          <a:xfrm>
            <a:off x="8275320" y="2907792"/>
            <a:ext cx="1" cy="164592"/>
          </a:xfrm>
          <a:prstGeom prst="line">
            <a:avLst/>
          </a:prstGeom>
          <a:noFill/>
          <a:ln w="19050">
            <a:solidFill>
              <a:srgbClr val="10B981"/>
            </a:solidFill>
            <a:prstDash val="solid"/>
            <a:headEnd type="none"/>
            <a:tailEnd type="triangle"/>
          </a:ln>
        </p:spPr>
      </p:sp>
      <p:sp>
        <p:nvSpPr>
          <p:cNvPr id="27" name="Shape 25"/>
          <p:cNvSpPr/>
          <p:nvPr/>
        </p:nvSpPr>
        <p:spPr>
          <a:xfrm>
            <a:off x="5623560" y="3099816"/>
            <a:ext cx="5303520" cy="411480"/>
          </a:xfrm>
          <a:prstGeom prst="roundRect">
            <a:avLst>
              <a:gd name="adj" fmla="val 17778"/>
            </a:avLst>
          </a:prstGeom>
          <a:solidFill>
            <a:srgbClr val="FFFFFF"/>
          </a:solidFill>
          <a:ln w="16510">
            <a:solidFill>
              <a:srgbClr val="CBD5E1"/>
            </a:solidFill>
            <a:prstDash val="solid"/>
          </a:ln>
          <a:effectLst/>
        </p:spPr>
      </p:sp>
      <p:sp>
        <p:nvSpPr>
          <p:cNvPr id="28" name="Text 26"/>
          <p:cNvSpPr/>
          <p:nvPr/>
        </p:nvSpPr>
        <p:spPr>
          <a:xfrm>
            <a:off x="5696712" y="3145536"/>
            <a:ext cx="5157216" cy="32004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Joint Angles</a:t>
            </a:r>
            <a:endParaRPr lang="en-US" sz="1100" dirty="0"/>
          </a:p>
        </p:txBody>
      </p:sp>
      <p:sp>
        <p:nvSpPr>
          <p:cNvPr id="29" name="Shape 27"/>
          <p:cNvSpPr/>
          <p:nvPr/>
        </p:nvSpPr>
        <p:spPr>
          <a:xfrm>
            <a:off x="8275320" y="3529584"/>
            <a:ext cx="1" cy="164592"/>
          </a:xfrm>
          <a:prstGeom prst="line">
            <a:avLst/>
          </a:prstGeom>
          <a:noFill/>
          <a:ln w="19050">
            <a:solidFill>
              <a:srgbClr val="10B981"/>
            </a:solidFill>
            <a:prstDash val="solid"/>
            <a:headEnd type="none"/>
            <a:tailEnd type="triangle"/>
          </a:ln>
        </p:spPr>
      </p:sp>
      <p:sp>
        <p:nvSpPr>
          <p:cNvPr id="30" name="Shape 28"/>
          <p:cNvSpPr/>
          <p:nvPr/>
        </p:nvSpPr>
        <p:spPr>
          <a:xfrm>
            <a:off x="5623560" y="3721608"/>
            <a:ext cx="5303520" cy="411480"/>
          </a:xfrm>
          <a:prstGeom prst="roundRect">
            <a:avLst>
              <a:gd name="adj" fmla="val 17778"/>
            </a:avLst>
          </a:prstGeom>
          <a:solidFill>
            <a:srgbClr val="FFFFFF"/>
          </a:solidFill>
          <a:ln w="16510">
            <a:solidFill>
              <a:srgbClr val="CBD5E1"/>
            </a:solidFill>
            <a:prstDash val="solid"/>
          </a:ln>
          <a:effectLst/>
        </p:spPr>
      </p:sp>
      <p:sp>
        <p:nvSpPr>
          <p:cNvPr id="31" name="Text 29"/>
          <p:cNvSpPr/>
          <p:nvPr/>
        </p:nvSpPr>
        <p:spPr>
          <a:xfrm>
            <a:off x="5696712" y="3767328"/>
            <a:ext cx="5157216" cy="32004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Rep Detection</a:t>
            </a:r>
            <a:endParaRPr lang="en-US" sz="1100" dirty="0"/>
          </a:p>
        </p:txBody>
      </p:sp>
      <p:sp>
        <p:nvSpPr>
          <p:cNvPr id="32" name="Shape 30"/>
          <p:cNvSpPr/>
          <p:nvPr/>
        </p:nvSpPr>
        <p:spPr>
          <a:xfrm>
            <a:off x="8275320" y="4151376"/>
            <a:ext cx="1" cy="164592"/>
          </a:xfrm>
          <a:prstGeom prst="line">
            <a:avLst/>
          </a:prstGeom>
          <a:noFill/>
          <a:ln w="19050">
            <a:solidFill>
              <a:srgbClr val="10B981"/>
            </a:solidFill>
            <a:prstDash val="solid"/>
            <a:headEnd type="none"/>
            <a:tailEnd type="triangle"/>
          </a:ln>
        </p:spPr>
      </p:sp>
      <p:sp>
        <p:nvSpPr>
          <p:cNvPr id="33" name="Shape 31"/>
          <p:cNvSpPr/>
          <p:nvPr/>
        </p:nvSpPr>
        <p:spPr>
          <a:xfrm>
            <a:off x="5623560" y="4343400"/>
            <a:ext cx="5303520" cy="411480"/>
          </a:xfrm>
          <a:prstGeom prst="roundRect">
            <a:avLst>
              <a:gd name="adj" fmla="val 17778"/>
            </a:avLst>
          </a:prstGeom>
          <a:solidFill>
            <a:srgbClr val="FFFFFF"/>
          </a:solidFill>
          <a:ln w="16510">
            <a:solidFill>
              <a:srgbClr val="CBD5E1"/>
            </a:solidFill>
            <a:prstDash val="solid"/>
          </a:ln>
          <a:effectLst/>
        </p:spPr>
      </p:sp>
      <p:sp>
        <p:nvSpPr>
          <p:cNvPr id="34" name="Text 32"/>
          <p:cNvSpPr/>
          <p:nvPr/>
        </p:nvSpPr>
        <p:spPr>
          <a:xfrm>
            <a:off x="5696712" y="4389120"/>
            <a:ext cx="5157216" cy="32004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Form Score</a:t>
            </a:r>
            <a:endParaRPr lang="en-US" sz="1100" dirty="0"/>
          </a:p>
        </p:txBody>
      </p:sp>
      <p:sp>
        <p:nvSpPr>
          <p:cNvPr id="35" name="Shape 33"/>
          <p:cNvSpPr/>
          <p:nvPr/>
        </p:nvSpPr>
        <p:spPr>
          <a:xfrm>
            <a:off x="8275320" y="4773168"/>
            <a:ext cx="1" cy="164592"/>
          </a:xfrm>
          <a:prstGeom prst="line">
            <a:avLst/>
          </a:prstGeom>
          <a:noFill/>
          <a:ln w="19050">
            <a:solidFill>
              <a:srgbClr val="10B981"/>
            </a:solidFill>
            <a:prstDash val="solid"/>
            <a:headEnd type="none"/>
            <a:tailEnd type="triangle"/>
          </a:ln>
        </p:spPr>
      </p:sp>
      <p:sp>
        <p:nvSpPr>
          <p:cNvPr id="36" name="Shape 34"/>
          <p:cNvSpPr/>
          <p:nvPr/>
        </p:nvSpPr>
        <p:spPr>
          <a:xfrm>
            <a:off x="5623560" y="4965192"/>
            <a:ext cx="5303520" cy="411480"/>
          </a:xfrm>
          <a:prstGeom prst="roundRect">
            <a:avLst>
              <a:gd name="adj" fmla="val 17778"/>
            </a:avLst>
          </a:prstGeom>
          <a:solidFill>
            <a:srgbClr val="D1FAE5"/>
          </a:solidFill>
          <a:ln w="16510">
            <a:solidFill>
              <a:srgbClr val="10B981"/>
            </a:solidFill>
            <a:prstDash val="solid"/>
          </a:ln>
          <a:effectLst/>
        </p:spPr>
      </p:sp>
      <p:sp>
        <p:nvSpPr>
          <p:cNvPr id="37" name="Text 35"/>
          <p:cNvSpPr/>
          <p:nvPr/>
        </p:nvSpPr>
        <p:spPr>
          <a:xfrm>
            <a:off x="5696712" y="5010912"/>
            <a:ext cx="5157216" cy="320040"/>
          </a:xfrm>
          <a:prstGeom prst="rect">
            <a:avLst/>
          </a:prstGeom>
          <a:noFill/>
          <a:ln/>
        </p:spPr>
        <p:txBody>
          <a:bodyPr wrap="square" lIns="254" tIns="254" rIns="254" bIns="254" rtlCol="0" anchor="ctr">
            <a:normAutofit/>
          </a:bodyPr>
          <a:lstStyle/>
          <a:p>
            <a:pPr marL="0" indent="0" algn="ctr">
              <a:buNone/>
            </a:pPr>
            <a:r>
              <a:rPr lang="en-US" sz="1100" b="1" dirty="0">
                <a:solidFill>
                  <a:srgbClr val="111827"/>
                </a:solidFill>
              </a:rPr>
              <a:t>Mistake + Feedback</a:t>
            </a:r>
            <a:endParaRPr lang="en-US" sz="1100" dirty="0"/>
          </a:p>
        </p:txBody>
      </p:sp>
      <p:sp>
        <p:nvSpPr>
          <p:cNvPr id="38" name="Text 36"/>
          <p:cNvSpPr/>
          <p:nvPr/>
        </p:nvSpPr>
        <p:spPr>
          <a:xfrm>
            <a:off x="5715000" y="5623560"/>
            <a:ext cx="5120640" cy="411480"/>
          </a:xfrm>
          <a:prstGeom prst="rect">
            <a:avLst/>
          </a:prstGeom>
          <a:noFill/>
          <a:ln/>
        </p:spPr>
        <p:txBody>
          <a:bodyPr wrap="square" lIns="508" tIns="508" rIns="508" bIns="508" rtlCol="0" anchor="ctr">
            <a:normAutofit fontScale="85000" lnSpcReduction="20000"/>
          </a:bodyPr>
          <a:lstStyle/>
          <a:p>
            <a:pPr marL="0" indent="0">
              <a:buNone/>
            </a:pPr>
            <a:r>
              <a:rPr lang="en-US" sz="1250" dirty="0">
                <a:solidFill>
                  <a:srgbClr val="64748B"/>
                </a:solidFill>
              </a:rPr>
              <a:t>PoseForm converts recorded exercise video into structured technical feedback by extracting landmarks, analyzing movement phases and joint angles, estimating repetitions, scoring form, and returning corrective guidance.</a:t>
            </a:r>
            <a:endParaRPr lang="en-US" sz="1250" dirty="0"/>
          </a:p>
        </p:txBody>
      </p:sp>
      <p:sp>
        <p:nvSpPr>
          <p:cNvPr id="39"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INTEGRATED COMPUTER VISION</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PoseForm AI — Validation</a:t>
            </a:r>
            <a:endParaRPr lang="en-US" sz="2800" dirty="0"/>
          </a:p>
        </p:txBody>
      </p:sp>
      <p:sp>
        <p:nvSpPr>
          <p:cNvPr id="4" name="Shape 2"/>
          <p:cNvSpPr/>
          <p:nvPr/>
        </p:nvSpPr>
        <p:spPr>
          <a:xfrm>
            <a:off x="685800" y="1417320"/>
            <a:ext cx="3429000" cy="1828800"/>
          </a:xfrm>
          <a:prstGeom prst="roundRect">
            <a:avLst>
              <a:gd name="adj" fmla="val 5000"/>
            </a:avLst>
          </a:prstGeom>
          <a:solidFill>
            <a:srgbClr val="FFFFFF"/>
          </a:solidFill>
          <a:ln w="12700">
            <a:solidFill>
              <a:srgbClr val="E2E8F0"/>
            </a:solidFill>
            <a:prstDash val="solid"/>
          </a:ln>
          <a:effectLst/>
        </p:spPr>
      </p:sp>
      <p:sp>
        <p:nvSpPr>
          <p:cNvPr id="5" name="Text 3"/>
          <p:cNvSpPr/>
          <p:nvPr/>
        </p:nvSpPr>
        <p:spPr>
          <a:xfrm>
            <a:off x="914400" y="1755648"/>
            <a:ext cx="2971800" cy="502920"/>
          </a:xfrm>
          <a:prstGeom prst="rect">
            <a:avLst/>
          </a:prstGeom>
          <a:noFill/>
          <a:ln/>
        </p:spPr>
        <p:txBody>
          <a:bodyPr wrap="square" lIns="0" tIns="0" rIns="0" bIns="0" rtlCol="0" anchor="ctr">
            <a:normAutofit/>
          </a:bodyPr>
          <a:lstStyle/>
          <a:p>
            <a:pPr marL="0" indent="0" algn="ctr">
              <a:buNone/>
            </a:pPr>
            <a:r>
              <a:rPr lang="en-US" sz="2700" b="1" dirty="0">
                <a:solidFill>
                  <a:srgbClr val="8B5CF6"/>
                </a:solidFill>
              </a:rPr>
              <a:t>17 / 17</a:t>
            </a:r>
            <a:endParaRPr lang="en-US" sz="2700" dirty="0"/>
          </a:p>
        </p:txBody>
      </p:sp>
      <p:sp>
        <p:nvSpPr>
          <p:cNvPr id="6" name="Text 4"/>
          <p:cNvSpPr/>
          <p:nvPr/>
        </p:nvSpPr>
        <p:spPr>
          <a:xfrm>
            <a:off x="914400" y="2286000"/>
            <a:ext cx="2971800"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Template checks passed</a:t>
            </a:r>
            <a:endParaRPr lang="en-US" sz="1050" dirty="0"/>
          </a:p>
        </p:txBody>
      </p:sp>
      <p:sp>
        <p:nvSpPr>
          <p:cNvPr id="7" name="Shape 5"/>
          <p:cNvSpPr/>
          <p:nvPr/>
        </p:nvSpPr>
        <p:spPr>
          <a:xfrm>
            <a:off x="4480560" y="1417320"/>
            <a:ext cx="3429000" cy="1828800"/>
          </a:xfrm>
          <a:prstGeom prst="roundRect">
            <a:avLst>
              <a:gd name="adj" fmla="val 5000"/>
            </a:avLst>
          </a:prstGeom>
          <a:solidFill>
            <a:srgbClr val="FFFFFF"/>
          </a:solidFill>
          <a:ln w="12700">
            <a:solidFill>
              <a:srgbClr val="E2E8F0"/>
            </a:solidFill>
            <a:prstDash val="solid"/>
          </a:ln>
          <a:effectLst/>
        </p:spPr>
      </p:sp>
      <p:sp>
        <p:nvSpPr>
          <p:cNvPr id="8" name="Text 6"/>
          <p:cNvSpPr/>
          <p:nvPr/>
        </p:nvSpPr>
        <p:spPr>
          <a:xfrm>
            <a:off x="4709160" y="1755648"/>
            <a:ext cx="2971800" cy="502920"/>
          </a:xfrm>
          <a:prstGeom prst="rect">
            <a:avLst/>
          </a:prstGeom>
          <a:noFill/>
          <a:ln/>
        </p:spPr>
        <p:txBody>
          <a:bodyPr wrap="square" lIns="0" tIns="0" rIns="0" bIns="0" rtlCol="0" anchor="ctr">
            <a:normAutofit/>
          </a:bodyPr>
          <a:lstStyle/>
          <a:p>
            <a:pPr marL="0" indent="0" algn="ctr">
              <a:buNone/>
            </a:pPr>
            <a:r>
              <a:rPr lang="en-US" sz="2700" b="1" dirty="0">
                <a:solidFill>
                  <a:srgbClr val="0EA5E9"/>
                </a:solidFill>
              </a:rPr>
              <a:t>3 / 3</a:t>
            </a:r>
            <a:endParaRPr lang="en-US" sz="2700" dirty="0"/>
          </a:p>
        </p:txBody>
      </p:sp>
      <p:sp>
        <p:nvSpPr>
          <p:cNvPr id="9" name="Text 7"/>
          <p:cNvSpPr/>
          <p:nvPr/>
        </p:nvSpPr>
        <p:spPr>
          <a:xfrm>
            <a:off x="4709160" y="2286000"/>
            <a:ext cx="2971800"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Python analyzer checks passed</a:t>
            </a:r>
            <a:endParaRPr lang="en-US" sz="1050" dirty="0"/>
          </a:p>
        </p:txBody>
      </p:sp>
      <p:sp>
        <p:nvSpPr>
          <p:cNvPr id="10" name="Shape 8"/>
          <p:cNvSpPr/>
          <p:nvPr/>
        </p:nvSpPr>
        <p:spPr>
          <a:xfrm>
            <a:off x="8275320" y="1417320"/>
            <a:ext cx="3429000" cy="1828800"/>
          </a:xfrm>
          <a:prstGeom prst="roundRect">
            <a:avLst>
              <a:gd name="adj" fmla="val 5000"/>
            </a:avLst>
          </a:prstGeom>
          <a:solidFill>
            <a:srgbClr val="FFFFFF"/>
          </a:solidFill>
          <a:ln w="12700">
            <a:solidFill>
              <a:srgbClr val="E2E8F0"/>
            </a:solidFill>
            <a:prstDash val="solid"/>
          </a:ln>
          <a:effectLst/>
        </p:spPr>
      </p:sp>
      <p:sp>
        <p:nvSpPr>
          <p:cNvPr id="11" name="Text 9"/>
          <p:cNvSpPr/>
          <p:nvPr/>
        </p:nvSpPr>
        <p:spPr>
          <a:xfrm>
            <a:off x="8503920" y="1755648"/>
            <a:ext cx="2971800" cy="502920"/>
          </a:xfrm>
          <a:prstGeom prst="rect">
            <a:avLst/>
          </a:prstGeom>
          <a:noFill/>
          <a:ln/>
        </p:spPr>
        <p:txBody>
          <a:bodyPr wrap="square" lIns="0" tIns="0" rIns="0" bIns="0" rtlCol="0" anchor="ctr">
            <a:normAutofit/>
          </a:bodyPr>
          <a:lstStyle/>
          <a:p>
            <a:pPr marL="0" indent="0" algn="ctr">
              <a:buNone/>
            </a:pPr>
            <a:r>
              <a:rPr lang="en-US" sz="2700" b="1" dirty="0">
                <a:solidFill>
                  <a:srgbClr val="10B981"/>
                </a:solidFill>
              </a:rPr>
              <a:t>24 / 24</a:t>
            </a:r>
            <a:endParaRPr lang="en-US" sz="2700" dirty="0"/>
          </a:p>
        </p:txBody>
      </p:sp>
      <p:sp>
        <p:nvSpPr>
          <p:cNvPr id="12" name="Text 10"/>
          <p:cNvSpPr/>
          <p:nvPr/>
        </p:nvSpPr>
        <p:spPr>
          <a:xfrm>
            <a:off x="8503920" y="2286000"/>
            <a:ext cx="2971800"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Smoke-test profiles passed</a:t>
            </a:r>
            <a:endParaRPr lang="en-US" sz="1050" dirty="0"/>
          </a:p>
        </p:txBody>
      </p:sp>
      <p:sp>
        <p:nvSpPr>
          <p:cNvPr id="13" name="Shape 11"/>
          <p:cNvSpPr/>
          <p:nvPr/>
        </p:nvSpPr>
        <p:spPr>
          <a:xfrm>
            <a:off x="731520" y="3794760"/>
            <a:ext cx="2011680" cy="594360"/>
          </a:xfrm>
          <a:prstGeom prst="roundRect">
            <a:avLst>
              <a:gd name="adj" fmla="val 12308"/>
            </a:avLst>
          </a:prstGeom>
          <a:solidFill>
            <a:srgbClr val="FFFFFF"/>
          </a:solidFill>
          <a:ln w="16510">
            <a:solidFill>
              <a:srgbClr val="CBD5E1"/>
            </a:solidFill>
            <a:prstDash val="solid"/>
          </a:ln>
          <a:effectLst/>
        </p:spPr>
      </p:sp>
      <p:sp>
        <p:nvSpPr>
          <p:cNvPr id="14" name="Text 12"/>
          <p:cNvSpPr/>
          <p:nvPr/>
        </p:nvSpPr>
        <p:spPr>
          <a:xfrm>
            <a:off x="804672" y="3840480"/>
            <a:ext cx="1865376" cy="502920"/>
          </a:xfrm>
          <a:prstGeom prst="rect">
            <a:avLst/>
          </a:prstGeom>
          <a:noFill/>
          <a:ln/>
        </p:spPr>
        <p:txBody>
          <a:bodyPr wrap="square" lIns="254" tIns="254" rIns="254" bIns="254" rtlCol="0" anchor="ctr">
            <a:normAutofit/>
          </a:bodyPr>
          <a:lstStyle/>
          <a:p>
            <a:pPr marL="0" indent="0" algn="ctr">
              <a:buNone/>
            </a:pPr>
            <a:r>
              <a:rPr lang="en-US" sz="1050" b="1" dirty="0">
                <a:solidFill>
                  <a:srgbClr val="111827"/>
                </a:solidFill>
              </a:rPr>
              <a:t>MOBILE VIDEO UPLOAD</a:t>
            </a:r>
            <a:endParaRPr lang="en-US" sz="1050" dirty="0"/>
          </a:p>
        </p:txBody>
      </p:sp>
      <p:sp>
        <p:nvSpPr>
          <p:cNvPr id="15" name="Shape 13"/>
          <p:cNvSpPr/>
          <p:nvPr/>
        </p:nvSpPr>
        <p:spPr>
          <a:xfrm>
            <a:off x="2788920" y="4096512"/>
            <a:ext cx="548640" cy="1"/>
          </a:xfrm>
          <a:prstGeom prst="line">
            <a:avLst/>
          </a:prstGeom>
          <a:noFill/>
          <a:ln w="25400">
            <a:solidFill>
              <a:srgbClr val="10B981"/>
            </a:solidFill>
            <a:prstDash val="solid"/>
            <a:headEnd type="none"/>
            <a:tailEnd type="triangle"/>
          </a:ln>
        </p:spPr>
      </p:sp>
      <p:sp>
        <p:nvSpPr>
          <p:cNvPr id="16" name="Shape 14"/>
          <p:cNvSpPr/>
          <p:nvPr/>
        </p:nvSpPr>
        <p:spPr>
          <a:xfrm>
            <a:off x="3383280" y="3794760"/>
            <a:ext cx="2011680" cy="594360"/>
          </a:xfrm>
          <a:prstGeom prst="roundRect">
            <a:avLst>
              <a:gd name="adj" fmla="val 12308"/>
            </a:avLst>
          </a:prstGeom>
          <a:solidFill>
            <a:srgbClr val="FFFFFF"/>
          </a:solidFill>
          <a:ln w="16510">
            <a:solidFill>
              <a:srgbClr val="CBD5E1"/>
            </a:solidFill>
            <a:prstDash val="solid"/>
          </a:ln>
          <a:effectLst/>
        </p:spPr>
      </p:sp>
      <p:sp>
        <p:nvSpPr>
          <p:cNvPr id="17" name="Text 15"/>
          <p:cNvSpPr/>
          <p:nvPr/>
        </p:nvSpPr>
        <p:spPr>
          <a:xfrm>
            <a:off x="3456432" y="3840480"/>
            <a:ext cx="1865376" cy="502920"/>
          </a:xfrm>
          <a:prstGeom prst="rect">
            <a:avLst/>
          </a:prstGeom>
          <a:noFill/>
          <a:ln/>
        </p:spPr>
        <p:txBody>
          <a:bodyPr wrap="square" lIns="254" tIns="254" rIns="254" bIns="254" rtlCol="0" anchor="ctr">
            <a:normAutofit/>
          </a:bodyPr>
          <a:lstStyle/>
          <a:p>
            <a:pPr marL="0" indent="0" algn="ctr">
              <a:buNone/>
            </a:pPr>
            <a:r>
              <a:rPr lang="en-US" sz="1050" b="1" dirty="0">
                <a:solidFill>
                  <a:srgbClr val="111827"/>
                </a:solidFill>
              </a:rPr>
              <a:t>PHP TEMP PROCESSING</a:t>
            </a:r>
            <a:endParaRPr lang="en-US" sz="1050" dirty="0"/>
          </a:p>
        </p:txBody>
      </p:sp>
      <p:sp>
        <p:nvSpPr>
          <p:cNvPr id="18" name="Shape 16"/>
          <p:cNvSpPr/>
          <p:nvPr/>
        </p:nvSpPr>
        <p:spPr>
          <a:xfrm>
            <a:off x="5440680" y="4096512"/>
            <a:ext cx="548640" cy="1"/>
          </a:xfrm>
          <a:prstGeom prst="line">
            <a:avLst/>
          </a:prstGeom>
          <a:noFill/>
          <a:ln w="25400">
            <a:solidFill>
              <a:srgbClr val="10B981"/>
            </a:solidFill>
            <a:prstDash val="solid"/>
            <a:headEnd type="none"/>
            <a:tailEnd type="triangle"/>
          </a:ln>
        </p:spPr>
      </p:sp>
      <p:sp>
        <p:nvSpPr>
          <p:cNvPr id="19" name="Shape 17"/>
          <p:cNvSpPr/>
          <p:nvPr/>
        </p:nvSpPr>
        <p:spPr>
          <a:xfrm>
            <a:off x="6035040" y="3794760"/>
            <a:ext cx="2011680" cy="594360"/>
          </a:xfrm>
          <a:prstGeom prst="roundRect">
            <a:avLst>
              <a:gd name="adj" fmla="val 12308"/>
            </a:avLst>
          </a:prstGeom>
          <a:solidFill>
            <a:srgbClr val="FFFFFF"/>
          </a:solidFill>
          <a:ln w="16510">
            <a:solidFill>
              <a:srgbClr val="CBD5E1"/>
            </a:solidFill>
            <a:prstDash val="solid"/>
          </a:ln>
          <a:effectLst/>
        </p:spPr>
      </p:sp>
      <p:sp>
        <p:nvSpPr>
          <p:cNvPr id="20" name="Text 18"/>
          <p:cNvSpPr/>
          <p:nvPr/>
        </p:nvSpPr>
        <p:spPr>
          <a:xfrm>
            <a:off x="6108192" y="3840480"/>
            <a:ext cx="1865376" cy="502920"/>
          </a:xfrm>
          <a:prstGeom prst="rect">
            <a:avLst/>
          </a:prstGeom>
          <a:noFill/>
          <a:ln/>
        </p:spPr>
        <p:txBody>
          <a:bodyPr wrap="square" lIns="254" tIns="254" rIns="254" bIns="254" rtlCol="0" anchor="ctr">
            <a:normAutofit/>
          </a:bodyPr>
          <a:lstStyle/>
          <a:p>
            <a:pPr marL="0" indent="0" algn="ctr">
              <a:buNone/>
            </a:pPr>
            <a:r>
              <a:rPr lang="en-US" sz="1050" b="1" dirty="0">
                <a:solidFill>
                  <a:srgbClr val="111827"/>
                </a:solidFill>
              </a:rPr>
              <a:t>LOCAL PYTHON ANALYZER</a:t>
            </a:r>
            <a:endParaRPr lang="en-US" sz="1050" dirty="0"/>
          </a:p>
        </p:txBody>
      </p:sp>
      <p:sp>
        <p:nvSpPr>
          <p:cNvPr id="21" name="Shape 19"/>
          <p:cNvSpPr/>
          <p:nvPr/>
        </p:nvSpPr>
        <p:spPr>
          <a:xfrm>
            <a:off x="8092440" y="4096512"/>
            <a:ext cx="548640" cy="1"/>
          </a:xfrm>
          <a:prstGeom prst="line">
            <a:avLst/>
          </a:prstGeom>
          <a:noFill/>
          <a:ln w="25400">
            <a:solidFill>
              <a:srgbClr val="10B981"/>
            </a:solidFill>
            <a:prstDash val="solid"/>
            <a:headEnd type="none"/>
            <a:tailEnd type="triangle"/>
          </a:ln>
        </p:spPr>
      </p:sp>
      <p:sp>
        <p:nvSpPr>
          <p:cNvPr id="22" name="Shape 20"/>
          <p:cNvSpPr/>
          <p:nvPr/>
        </p:nvSpPr>
        <p:spPr>
          <a:xfrm>
            <a:off x="8686800" y="3794760"/>
            <a:ext cx="2377440" cy="594360"/>
          </a:xfrm>
          <a:prstGeom prst="roundRect">
            <a:avLst>
              <a:gd name="adj" fmla="val 12308"/>
            </a:avLst>
          </a:prstGeom>
          <a:solidFill>
            <a:srgbClr val="D1FAE5"/>
          </a:solidFill>
          <a:ln w="16510">
            <a:solidFill>
              <a:srgbClr val="10B981"/>
            </a:solidFill>
            <a:prstDash val="solid"/>
          </a:ln>
          <a:effectLst/>
        </p:spPr>
      </p:sp>
      <p:sp>
        <p:nvSpPr>
          <p:cNvPr id="23" name="Text 21"/>
          <p:cNvSpPr/>
          <p:nvPr/>
        </p:nvSpPr>
        <p:spPr>
          <a:xfrm>
            <a:off x="8759952" y="3840480"/>
            <a:ext cx="2231136" cy="502920"/>
          </a:xfrm>
          <a:prstGeom prst="rect">
            <a:avLst/>
          </a:prstGeom>
          <a:noFill/>
          <a:ln/>
        </p:spPr>
        <p:txBody>
          <a:bodyPr wrap="square" lIns="254" tIns="254" rIns="254" bIns="254" rtlCol="0" anchor="ctr">
            <a:normAutofit/>
          </a:bodyPr>
          <a:lstStyle/>
          <a:p>
            <a:pPr marL="0" indent="0" algn="ctr">
              <a:buNone/>
            </a:pPr>
            <a:r>
              <a:rPr lang="en-US" sz="1050" b="1" dirty="0">
                <a:solidFill>
                  <a:srgbClr val="111827"/>
                </a:solidFill>
              </a:rPr>
              <a:t>STRUCTURED JSON</a:t>
            </a:r>
            <a:endParaRPr lang="en-US" sz="1050" dirty="0"/>
          </a:p>
        </p:txBody>
      </p:sp>
      <p:sp>
        <p:nvSpPr>
          <p:cNvPr id="24" name="Text 22"/>
          <p:cNvSpPr/>
          <p:nvPr/>
        </p:nvSpPr>
        <p:spPr>
          <a:xfrm>
            <a:off x="960120" y="4846320"/>
            <a:ext cx="10149840" cy="731520"/>
          </a:xfrm>
          <a:prstGeom prst="rect">
            <a:avLst/>
          </a:prstGeom>
          <a:noFill/>
          <a:ln/>
        </p:spPr>
        <p:txBody>
          <a:bodyPr wrap="square" lIns="508" tIns="508" rIns="508" bIns="508" rtlCol="0" anchor="ctr">
            <a:normAutofit/>
          </a:bodyPr>
          <a:lstStyle/>
          <a:p>
            <a:pPr marL="0" indent="0">
              <a:buNone/>
            </a:pPr>
            <a:r>
              <a:rPr lang="en-US" sz="1500" dirty="0">
                <a:solidFill>
                  <a:srgbClr val="111827"/>
                </a:solidFill>
              </a:rPr>
              <a:t>The complete video-analysis pipeline returned repetitions, form score, detected mistakes and corrective feedback to the application, demonstrating an integrated service rather than an isolated computer-vision script.</a:t>
            </a:r>
            <a:endParaRPr lang="en-US" sz="1500" dirty="0"/>
          </a:p>
        </p:txBody>
      </p:sp>
      <p:sp>
        <p:nvSpPr>
          <p:cNvPr id="25"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PREDICTIONAI</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Turning Tracking Data into Predictions</a:t>
            </a:r>
            <a:endParaRPr lang="en-US" sz="2800" dirty="0"/>
          </a:p>
        </p:txBody>
      </p:sp>
      <p:sp>
        <p:nvSpPr>
          <p:cNvPr id="4" name="Text 2"/>
          <p:cNvSpPr/>
          <p:nvPr/>
        </p:nvSpPr>
        <p:spPr>
          <a:xfrm>
            <a:off x="685800" y="1417320"/>
            <a:ext cx="4892040" cy="3291840"/>
          </a:xfrm>
          <a:prstGeom prst="rect">
            <a:avLst/>
          </a:prstGeom>
          <a:noFill/>
          <a:ln/>
        </p:spPr>
        <p:txBody>
          <a:bodyPr wrap="square" lIns="508" tIns="508" rIns="508" bIns="508" rtlCol="0" anchor="ctr">
            <a:normAutofit/>
          </a:bodyPr>
          <a:lstStyle/>
          <a:p>
            <a:pPr marL="0" indent="0">
              <a:buNone/>
            </a:pPr>
            <a:r>
              <a:rPr lang="en-US" sz="1700" dirty="0">
                <a:solidFill>
                  <a:srgbClr val="111827"/>
                </a:solidFill>
              </a:rPr>
              <a:t>The system uses stored physical information and historical progress to move beyond simple tracking. PredictionAI supports weight-trend prediction, connecting daily activity and measurements with longer-term progress analysis. The presentation intentionally does not claim a specific algorithm architecture because the available report detail does not justify one.</a:t>
            </a:r>
            <a:endParaRPr lang="en-US" sz="1700" dirty="0"/>
          </a:p>
        </p:txBody>
      </p:sp>
      <p:sp>
        <p:nvSpPr>
          <p:cNvPr id="5" name="Shape 3"/>
          <p:cNvSpPr/>
          <p:nvPr/>
        </p:nvSpPr>
        <p:spPr>
          <a:xfrm>
            <a:off x="6080760" y="1371600"/>
            <a:ext cx="5166360" cy="4251960"/>
          </a:xfrm>
          <a:prstGeom prst="roundRect">
            <a:avLst>
              <a:gd name="adj" fmla="val 2151"/>
            </a:avLst>
          </a:prstGeom>
          <a:solidFill>
            <a:srgbClr val="FFFFFF"/>
          </a:solidFill>
          <a:ln w="12700">
            <a:solidFill>
              <a:srgbClr val="E2E8F0"/>
            </a:solidFill>
            <a:prstDash val="solid"/>
          </a:ln>
          <a:effectLst/>
        </p:spPr>
      </p:sp>
      <p:sp>
        <p:nvSpPr>
          <p:cNvPr id="6" name="Text 4"/>
          <p:cNvSpPr/>
          <p:nvPr/>
        </p:nvSpPr>
        <p:spPr>
          <a:xfrm>
            <a:off x="6446520" y="1691640"/>
            <a:ext cx="2560320" cy="228600"/>
          </a:xfrm>
          <a:prstGeom prst="rect">
            <a:avLst/>
          </a:prstGeom>
          <a:noFill/>
          <a:ln/>
        </p:spPr>
        <p:txBody>
          <a:bodyPr wrap="square" lIns="0" tIns="0" rIns="0" bIns="0" rtlCol="0" anchor="ctr"/>
          <a:lstStyle/>
          <a:p>
            <a:pPr marL="0" indent="0">
              <a:buNone/>
            </a:pPr>
            <a:r>
              <a:rPr lang="en-US" sz="1300" b="1" dirty="0">
                <a:solidFill>
                  <a:srgbClr val="111827"/>
                </a:solidFill>
              </a:rPr>
              <a:t>WEIGHT PROGRESS</a:t>
            </a:r>
            <a:endParaRPr lang="en-US" sz="1300" dirty="0"/>
          </a:p>
        </p:txBody>
      </p:sp>
      <p:sp>
        <p:nvSpPr>
          <p:cNvPr id="7" name="Shape 5"/>
          <p:cNvSpPr/>
          <p:nvPr/>
        </p:nvSpPr>
        <p:spPr>
          <a:xfrm>
            <a:off x="6583680" y="4892040"/>
            <a:ext cx="3931920" cy="1"/>
          </a:xfrm>
          <a:prstGeom prst="line">
            <a:avLst/>
          </a:prstGeom>
          <a:noFill/>
          <a:ln w="15240">
            <a:solidFill>
              <a:srgbClr val="CBD5E1"/>
            </a:solidFill>
            <a:prstDash val="solid"/>
          </a:ln>
        </p:spPr>
      </p:sp>
      <p:sp>
        <p:nvSpPr>
          <p:cNvPr id="8" name="Shape 6"/>
          <p:cNvSpPr/>
          <p:nvPr/>
        </p:nvSpPr>
        <p:spPr>
          <a:xfrm>
            <a:off x="6583680" y="2240280"/>
            <a:ext cx="1" cy="2651760"/>
          </a:xfrm>
          <a:prstGeom prst="line">
            <a:avLst/>
          </a:prstGeom>
          <a:noFill/>
          <a:ln w="15240">
            <a:solidFill>
              <a:srgbClr val="CBD5E1"/>
            </a:solidFill>
            <a:prstDash val="solid"/>
          </a:ln>
        </p:spPr>
      </p:sp>
      <p:sp>
        <p:nvSpPr>
          <p:cNvPr id="9" name="Shape 7"/>
          <p:cNvSpPr/>
          <p:nvPr/>
        </p:nvSpPr>
        <p:spPr>
          <a:xfrm flipV="1">
            <a:off x="6629400" y="4160520"/>
            <a:ext cx="594360" cy="320040"/>
          </a:xfrm>
          <a:prstGeom prst="line">
            <a:avLst/>
          </a:prstGeom>
          <a:noFill/>
          <a:ln w="38100">
            <a:solidFill>
              <a:srgbClr val="10B981"/>
            </a:solidFill>
            <a:prstDash val="solid"/>
          </a:ln>
        </p:spPr>
      </p:sp>
      <p:sp>
        <p:nvSpPr>
          <p:cNvPr id="10" name="Shape 8"/>
          <p:cNvSpPr/>
          <p:nvPr/>
        </p:nvSpPr>
        <p:spPr>
          <a:xfrm flipV="1">
            <a:off x="7223760" y="3977640"/>
            <a:ext cx="594360" cy="182880"/>
          </a:xfrm>
          <a:prstGeom prst="line">
            <a:avLst/>
          </a:prstGeom>
          <a:noFill/>
          <a:ln w="38100">
            <a:solidFill>
              <a:srgbClr val="10B981"/>
            </a:solidFill>
            <a:prstDash val="solid"/>
          </a:ln>
        </p:spPr>
      </p:sp>
      <p:sp>
        <p:nvSpPr>
          <p:cNvPr id="11" name="Shape 9"/>
          <p:cNvSpPr/>
          <p:nvPr/>
        </p:nvSpPr>
        <p:spPr>
          <a:xfrm flipV="1">
            <a:off x="7818120" y="3657600"/>
            <a:ext cx="594360" cy="320040"/>
          </a:xfrm>
          <a:prstGeom prst="line">
            <a:avLst/>
          </a:prstGeom>
          <a:noFill/>
          <a:ln w="38100">
            <a:solidFill>
              <a:srgbClr val="10B981"/>
            </a:solidFill>
            <a:prstDash val="solid"/>
          </a:ln>
        </p:spPr>
      </p:sp>
      <p:sp>
        <p:nvSpPr>
          <p:cNvPr id="12" name="Shape 10"/>
          <p:cNvSpPr/>
          <p:nvPr/>
        </p:nvSpPr>
        <p:spPr>
          <a:xfrm flipV="1">
            <a:off x="8412480" y="3401568"/>
            <a:ext cx="594360" cy="256032"/>
          </a:xfrm>
          <a:prstGeom prst="line">
            <a:avLst/>
          </a:prstGeom>
          <a:noFill/>
          <a:ln w="38100">
            <a:solidFill>
              <a:srgbClr val="10B981"/>
            </a:solidFill>
            <a:prstDash val="solid"/>
          </a:ln>
        </p:spPr>
      </p:sp>
      <p:sp>
        <p:nvSpPr>
          <p:cNvPr id="13" name="Shape 11"/>
          <p:cNvSpPr/>
          <p:nvPr/>
        </p:nvSpPr>
        <p:spPr>
          <a:xfrm flipV="1">
            <a:off x="9006840" y="3172968"/>
            <a:ext cx="594360" cy="228600"/>
          </a:xfrm>
          <a:prstGeom prst="line">
            <a:avLst/>
          </a:prstGeom>
          <a:noFill/>
          <a:ln w="38100">
            <a:solidFill>
              <a:srgbClr val="0EA5E9"/>
            </a:solidFill>
            <a:prstDash val="solid"/>
          </a:ln>
        </p:spPr>
      </p:sp>
      <p:sp>
        <p:nvSpPr>
          <p:cNvPr id="14" name="Shape 12"/>
          <p:cNvSpPr/>
          <p:nvPr/>
        </p:nvSpPr>
        <p:spPr>
          <a:xfrm flipV="1">
            <a:off x="9601200" y="2926080"/>
            <a:ext cx="640080" cy="246888"/>
          </a:xfrm>
          <a:prstGeom prst="line">
            <a:avLst/>
          </a:prstGeom>
          <a:noFill/>
          <a:ln w="38100">
            <a:solidFill>
              <a:srgbClr val="0EA5E9"/>
            </a:solidFill>
            <a:prstDash val="solid"/>
          </a:ln>
        </p:spPr>
      </p:sp>
      <p:sp>
        <p:nvSpPr>
          <p:cNvPr id="15" name="Shape 13"/>
          <p:cNvSpPr/>
          <p:nvPr/>
        </p:nvSpPr>
        <p:spPr>
          <a:xfrm>
            <a:off x="6565392" y="4416552"/>
            <a:ext cx="128016" cy="128016"/>
          </a:xfrm>
          <a:prstGeom prst="ellipse">
            <a:avLst/>
          </a:prstGeom>
          <a:solidFill>
            <a:srgbClr val="10B981"/>
          </a:solidFill>
          <a:ln w="12700">
            <a:solidFill>
              <a:srgbClr val="FFFFFF"/>
            </a:solidFill>
            <a:prstDash val="solid"/>
          </a:ln>
        </p:spPr>
      </p:sp>
      <p:sp>
        <p:nvSpPr>
          <p:cNvPr id="16" name="Shape 14"/>
          <p:cNvSpPr/>
          <p:nvPr/>
        </p:nvSpPr>
        <p:spPr>
          <a:xfrm>
            <a:off x="7159752" y="4096512"/>
            <a:ext cx="128016" cy="128016"/>
          </a:xfrm>
          <a:prstGeom prst="ellipse">
            <a:avLst/>
          </a:prstGeom>
          <a:solidFill>
            <a:srgbClr val="10B981"/>
          </a:solidFill>
          <a:ln w="12700">
            <a:solidFill>
              <a:srgbClr val="FFFFFF"/>
            </a:solidFill>
            <a:prstDash val="solid"/>
          </a:ln>
        </p:spPr>
      </p:sp>
      <p:sp>
        <p:nvSpPr>
          <p:cNvPr id="17" name="Shape 15"/>
          <p:cNvSpPr/>
          <p:nvPr/>
        </p:nvSpPr>
        <p:spPr>
          <a:xfrm>
            <a:off x="7754112" y="3913632"/>
            <a:ext cx="128016" cy="128016"/>
          </a:xfrm>
          <a:prstGeom prst="ellipse">
            <a:avLst/>
          </a:prstGeom>
          <a:solidFill>
            <a:srgbClr val="10B981"/>
          </a:solidFill>
          <a:ln w="12700">
            <a:solidFill>
              <a:srgbClr val="FFFFFF"/>
            </a:solidFill>
            <a:prstDash val="solid"/>
          </a:ln>
        </p:spPr>
      </p:sp>
      <p:sp>
        <p:nvSpPr>
          <p:cNvPr id="18" name="Shape 16"/>
          <p:cNvSpPr/>
          <p:nvPr/>
        </p:nvSpPr>
        <p:spPr>
          <a:xfrm>
            <a:off x="8348472" y="3593592"/>
            <a:ext cx="128016" cy="128016"/>
          </a:xfrm>
          <a:prstGeom prst="ellipse">
            <a:avLst/>
          </a:prstGeom>
          <a:solidFill>
            <a:srgbClr val="10B981"/>
          </a:solidFill>
          <a:ln w="12700">
            <a:solidFill>
              <a:srgbClr val="FFFFFF"/>
            </a:solidFill>
            <a:prstDash val="solid"/>
          </a:ln>
        </p:spPr>
      </p:sp>
      <p:sp>
        <p:nvSpPr>
          <p:cNvPr id="19" name="Shape 17"/>
          <p:cNvSpPr/>
          <p:nvPr/>
        </p:nvSpPr>
        <p:spPr>
          <a:xfrm>
            <a:off x="8942832" y="3337560"/>
            <a:ext cx="128016" cy="128016"/>
          </a:xfrm>
          <a:prstGeom prst="ellipse">
            <a:avLst/>
          </a:prstGeom>
          <a:solidFill>
            <a:srgbClr val="10B981"/>
          </a:solidFill>
          <a:ln w="12700">
            <a:solidFill>
              <a:srgbClr val="FFFFFF"/>
            </a:solidFill>
            <a:prstDash val="solid"/>
          </a:ln>
        </p:spPr>
      </p:sp>
      <p:sp>
        <p:nvSpPr>
          <p:cNvPr id="20" name="Shape 18"/>
          <p:cNvSpPr/>
          <p:nvPr/>
        </p:nvSpPr>
        <p:spPr>
          <a:xfrm>
            <a:off x="9537192" y="3108960"/>
            <a:ext cx="128016" cy="128016"/>
          </a:xfrm>
          <a:prstGeom prst="ellipse">
            <a:avLst/>
          </a:prstGeom>
          <a:solidFill>
            <a:srgbClr val="0EA5E9"/>
          </a:solidFill>
          <a:ln w="12700">
            <a:solidFill>
              <a:srgbClr val="FFFFFF"/>
            </a:solidFill>
            <a:prstDash val="solid"/>
          </a:ln>
        </p:spPr>
      </p:sp>
      <p:sp>
        <p:nvSpPr>
          <p:cNvPr id="21" name="Shape 19"/>
          <p:cNvSpPr/>
          <p:nvPr/>
        </p:nvSpPr>
        <p:spPr>
          <a:xfrm>
            <a:off x="10177272" y="2862072"/>
            <a:ext cx="128016" cy="128016"/>
          </a:xfrm>
          <a:prstGeom prst="ellipse">
            <a:avLst/>
          </a:prstGeom>
          <a:solidFill>
            <a:srgbClr val="0EA5E9"/>
          </a:solidFill>
          <a:ln w="12700">
            <a:solidFill>
              <a:srgbClr val="FFFFFF"/>
            </a:solidFill>
            <a:prstDash val="solid"/>
          </a:ln>
        </p:spPr>
      </p:sp>
      <p:sp>
        <p:nvSpPr>
          <p:cNvPr id="22" name="Shape 20"/>
          <p:cNvSpPr/>
          <p:nvPr/>
        </p:nvSpPr>
        <p:spPr>
          <a:xfrm>
            <a:off x="6629400" y="5074920"/>
            <a:ext cx="1234440" cy="329184"/>
          </a:xfrm>
          <a:prstGeom prst="roundRect">
            <a:avLst>
              <a:gd name="adj" fmla="val 44444"/>
            </a:avLst>
          </a:prstGeom>
          <a:solidFill>
            <a:srgbClr val="D1FAE5"/>
          </a:solidFill>
          <a:ln w="12700">
            <a:solidFill>
              <a:srgbClr val="D1FAE5"/>
            </a:solidFill>
            <a:prstDash val="solid"/>
          </a:ln>
        </p:spPr>
      </p:sp>
      <p:sp>
        <p:nvSpPr>
          <p:cNvPr id="23" name="Text 21"/>
          <p:cNvSpPr/>
          <p:nvPr/>
        </p:nvSpPr>
        <p:spPr>
          <a:xfrm>
            <a:off x="6702552" y="5138928"/>
            <a:ext cx="1088136" cy="146304"/>
          </a:xfrm>
          <a:prstGeom prst="rect">
            <a:avLst/>
          </a:prstGeom>
          <a:noFill/>
          <a:ln/>
        </p:spPr>
        <p:txBody>
          <a:bodyPr wrap="square" lIns="0" tIns="0" rIns="0" bIns="0" rtlCol="0" anchor="ctr">
            <a:normAutofit lnSpcReduction="10000"/>
          </a:bodyPr>
          <a:lstStyle/>
          <a:p>
            <a:pPr marL="0" indent="0" algn="ctr">
              <a:buNone/>
            </a:pPr>
            <a:r>
              <a:rPr lang="en-US" sz="1000" b="1" dirty="0">
                <a:solidFill>
                  <a:srgbClr val="10B981"/>
                </a:solidFill>
              </a:rPr>
              <a:t>HISTORICAL</a:t>
            </a:r>
            <a:endParaRPr lang="en-US" sz="1000" dirty="0"/>
          </a:p>
        </p:txBody>
      </p:sp>
      <p:sp>
        <p:nvSpPr>
          <p:cNvPr id="24" name="Shape 22"/>
          <p:cNvSpPr/>
          <p:nvPr/>
        </p:nvSpPr>
        <p:spPr>
          <a:xfrm>
            <a:off x="9098280" y="5074920"/>
            <a:ext cx="1234440" cy="329184"/>
          </a:xfrm>
          <a:prstGeom prst="roundRect">
            <a:avLst>
              <a:gd name="adj" fmla="val 44444"/>
            </a:avLst>
          </a:prstGeom>
          <a:solidFill>
            <a:srgbClr val="E0F2FE"/>
          </a:solidFill>
          <a:ln w="12700">
            <a:solidFill>
              <a:srgbClr val="E0F2FE"/>
            </a:solidFill>
            <a:prstDash val="solid"/>
          </a:ln>
        </p:spPr>
      </p:sp>
      <p:sp>
        <p:nvSpPr>
          <p:cNvPr id="25" name="Text 23"/>
          <p:cNvSpPr/>
          <p:nvPr/>
        </p:nvSpPr>
        <p:spPr>
          <a:xfrm>
            <a:off x="9171432" y="5138928"/>
            <a:ext cx="1088136" cy="146304"/>
          </a:xfrm>
          <a:prstGeom prst="rect">
            <a:avLst/>
          </a:prstGeom>
          <a:noFill/>
          <a:ln/>
        </p:spPr>
        <p:txBody>
          <a:bodyPr wrap="square" lIns="0" tIns="0" rIns="0" bIns="0" rtlCol="0" anchor="ctr">
            <a:normAutofit lnSpcReduction="10000"/>
          </a:bodyPr>
          <a:lstStyle/>
          <a:p>
            <a:pPr marL="0" indent="0" algn="ctr">
              <a:buNone/>
            </a:pPr>
            <a:r>
              <a:rPr lang="en-US" sz="1000" b="1" dirty="0">
                <a:solidFill>
                  <a:srgbClr val="0EA5E9"/>
                </a:solidFill>
              </a:rPr>
              <a:t>PROJECTED</a:t>
            </a:r>
            <a:endParaRPr lang="en-US" sz="1000" dirty="0"/>
          </a:p>
        </p:txBody>
      </p:sp>
      <p:sp>
        <p:nvSpPr>
          <p:cNvPr id="26"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RESPONSIBLE AI</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Why AI Alone Is Not Enough</a:t>
            </a:r>
            <a:endParaRPr lang="en-US" sz="2800" dirty="0"/>
          </a:p>
        </p:txBody>
      </p:sp>
      <p:sp>
        <p:nvSpPr>
          <p:cNvPr id="4" name="Text 2"/>
          <p:cNvSpPr/>
          <p:nvPr/>
        </p:nvSpPr>
        <p:spPr>
          <a:xfrm>
            <a:off x="685800" y="1371600"/>
            <a:ext cx="10835640" cy="685800"/>
          </a:xfrm>
          <a:prstGeom prst="rect">
            <a:avLst/>
          </a:prstGeom>
          <a:noFill/>
          <a:ln/>
        </p:spPr>
        <p:txBody>
          <a:bodyPr wrap="square" lIns="0" tIns="0" rIns="0" bIns="0" rtlCol="0" anchor="ctr">
            <a:normAutofit/>
          </a:bodyPr>
          <a:lstStyle/>
          <a:p>
            <a:pPr marL="0" indent="0" algn="ctr">
              <a:buNone/>
            </a:pPr>
            <a:r>
              <a:rPr lang="en-US" sz="2800" b="1" dirty="0">
                <a:solidFill>
                  <a:srgbClr val="0F172A"/>
                </a:solidFill>
              </a:rPr>
              <a:t>INTELLIGENCE  +  RULES  +  HUMAN VALIDATION</a:t>
            </a:r>
            <a:endParaRPr lang="en-US" sz="2800" dirty="0"/>
          </a:p>
        </p:txBody>
      </p:sp>
      <p:sp>
        <p:nvSpPr>
          <p:cNvPr id="5" name="Shape 3"/>
          <p:cNvSpPr/>
          <p:nvPr/>
        </p:nvSpPr>
        <p:spPr>
          <a:xfrm>
            <a:off x="914400" y="2514600"/>
            <a:ext cx="3246120" cy="1554480"/>
          </a:xfrm>
          <a:prstGeom prst="roundRect">
            <a:avLst>
              <a:gd name="adj" fmla="val 5882"/>
            </a:avLst>
          </a:prstGeom>
          <a:solidFill>
            <a:srgbClr val="FFFFFF"/>
          </a:solidFill>
          <a:ln w="12700">
            <a:solidFill>
              <a:srgbClr val="E2E8F0"/>
            </a:solidFill>
            <a:prstDash val="solid"/>
          </a:ln>
          <a:effectLst/>
        </p:spPr>
      </p:sp>
      <p:sp>
        <p:nvSpPr>
          <p:cNvPr id="6" name="Shape 4"/>
          <p:cNvSpPr/>
          <p:nvPr/>
        </p:nvSpPr>
        <p:spPr>
          <a:xfrm>
            <a:off x="2286000" y="2743200"/>
            <a:ext cx="502920" cy="502920"/>
          </a:xfrm>
          <a:prstGeom prst="ellipse">
            <a:avLst/>
          </a:prstGeom>
          <a:solidFill>
            <a:srgbClr val="10B981"/>
          </a:solidFill>
          <a:ln w="12700">
            <a:solidFill>
              <a:srgbClr val="10B981"/>
            </a:solidFill>
            <a:prstDash val="solid"/>
          </a:ln>
        </p:spPr>
      </p:sp>
      <p:sp>
        <p:nvSpPr>
          <p:cNvPr id="7" name="Text 5"/>
          <p:cNvSpPr/>
          <p:nvPr/>
        </p:nvSpPr>
        <p:spPr>
          <a:xfrm>
            <a:off x="2331720" y="2852928"/>
            <a:ext cx="411480" cy="2011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A</a:t>
            </a:r>
            <a:endParaRPr lang="en-US" sz="1300" dirty="0"/>
          </a:p>
        </p:txBody>
      </p:sp>
      <p:sp>
        <p:nvSpPr>
          <p:cNvPr id="8" name="Text 6"/>
          <p:cNvSpPr/>
          <p:nvPr/>
        </p:nvSpPr>
        <p:spPr>
          <a:xfrm>
            <a:off x="1234440" y="3401568"/>
            <a:ext cx="2606040" cy="228600"/>
          </a:xfrm>
          <a:prstGeom prst="rect">
            <a:avLst/>
          </a:prstGeom>
          <a:noFill/>
          <a:ln/>
        </p:spPr>
        <p:txBody>
          <a:bodyPr wrap="square" lIns="0" tIns="0" rIns="0" bIns="0" rtlCol="0" anchor="ctr"/>
          <a:lstStyle/>
          <a:p>
            <a:pPr marL="0" indent="0" algn="ctr">
              <a:buNone/>
            </a:pPr>
            <a:r>
              <a:rPr lang="en-US" sz="1500" b="1" dirty="0">
                <a:solidFill>
                  <a:srgbClr val="111827"/>
                </a:solidFill>
              </a:rPr>
              <a:t>AI</a:t>
            </a:r>
            <a:endParaRPr lang="en-US" sz="1500" dirty="0"/>
          </a:p>
        </p:txBody>
      </p:sp>
      <p:sp>
        <p:nvSpPr>
          <p:cNvPr id="9" name="Text 7"/>
          <p:cNvSpPr/>
          <p:nvPr/>
        </p:nvSpPr>
        <p:spPr>
          <a:xfrm>
            <a:off x="1234440" y="3730752"/>
            <a:ext cx="2606040" cy="228600"/>
          </a:xfrm>
          <a:prstGeom prst="rect">
            <a:avLst/>
          </a:prstGeom>
          <a:noFill/>
          <a:ln/>
        </p:spPr>
        <p:txBody>
          <a:bodyPr wrap="square" lIns="0" tIns="0" rIns="0" bIns="0" rtlCol="0" anchor="ctr"/>
          <a:lstStyle/>
          <a:p>
            <a:pPr marL="0" indent="0" algn="ctr">
              <a:buNone/>
            </a:pPr>
            <a:r>
              <a:rPr lang="en-US" sz="1100" dirty="0">
                <a:solidFill>
                  <a:srgbClr val="64748B"/>
                </a:solidFill>
              </a:rPr>
              <a:t>Ranks and recommends</a:t>
            </a:r>
            <a:endParaRPr lang="en-US" sz="1100" dirty="0"/>
          </a:p>
        </p:txBody>
      </p:sp>
      <p:sp>
        <p:nvSpPr>
          <p:cNvPr id="10" name="Text 8"/>
          <p:cNvSpPr/>
          <p:nvPr/>
        </p:nvSpPr>
        <p:spPr>
          <a:xfrm>
            <a:off x="4224528" y="2971800"/>
            <a:ext cx="365760" cy="365760"/>
          </a:xfrm>
          <a:prstGeom prst="rect">
            <a:avLst/>
          </a:prstGeom>
          <a:noFill/>
          <a:ln/>
        </p:spPr>
        <p:txBody>
          <a:bodyPr wrap="square" lIns="0" tIns="0" rIns="0" bIns="0" rtlCol="0" anchor="ctr"/>
          <a:lstStyle/>
          <a:p>
            <a:pPr marL="0" indent="0" algn="ctr">
              <a:buNone/>
            </a:pPr>
            <a:r>
              <a:rPr lang="en-US" sz="2400" b="1" dirty="0">
                <a:solidFill>
                  <a:srgbClr val="CBD5E1"/>
                </a:solidFill>
              </a:rPr>
              <a:t>+</a:t>
            </a:r>
            <a:endParaRPr lang="en-US" sz="2400" dirty="0"/>
          </a:p>
        </p:txBody>
      </p:sp>
      <p:sp>
        <p:nvSpPr>
          <p:cNvPr id="11" name="Shape 9"/>
          <p:cNvSpPr/>
          <p:nvPr/>
        </p:nvSpPr>
        <p:spPr>
          <a:xfrm>
            <a:off x="4663440" y="2514600"/>
            <a:ext cx="3246120" cy="1554480"/>
          </a:xfrm>
          <a:prstGeom prst="roundRect">
            <a:avLst>
              <a:gd name="adj" fmla="val 5882"/>
            </a:avLst>
          </a:prstGeom>
          <a:solidFill>
            <a:srgbClr val="FFFFFF"/>
          </a:solidFill>
          <a:ln w="12700">
            <a:solidFill>
              <a:srgbClr val="E2E8F0"/>
            </a:solidFill>
            <a:prstDash val="solid"/>
          </a:ln>
          <a:effectLst/>
        </p:spPr>
      </p:sp>
      <p:sp>
        <p:nvSpPr>
          <p:cNvPr id="12" name="Shape 10"/>
          <p:cNvSpPr/>
          <p:nvPr/>
        </p:nvSpPr>
        <p:spPr>
          <a:xfrm>
            <a:off x="6035040" y="2743200"/>
            <a:ext cx="502920" cy="502920"/>
          </a:xfrm>
          <a:prstGeom prst="ellipse">
            <a:avLst/>
          </a:prstGeom>
          <a:solidFill>
            <a:srgbClr val="EF4444"/>
          </a:solidFill>
          <a:ln w="12700">
            <a:solidFill>
              <a:srgbClr val="EF4444"/>
            </a:solidFill>
            <a:prstDash val="solid"/>
          </a:ln>
        </p:spPr>
      </p:sp>
      <p:sp>
        <p:nvSpPr>
          <p:cNvPr id="13" name="Text 11"/>
          <p:cNvSpPr/>
          <p:nvPr/>
        </p:nvSpPr>
        <p:spPr>
          <a:xfrm>
            <a:off x="6080760" y="2852928"/>
            <a:ext cx="411480" cy="2011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R</a:t>
            </a:r>
            <a:endParaRPr lang="en-US" sz="1300" dirty="0"/>
          </a:p>
        </p:txBody>
      </p:sp>
      <p:sp>
        <p:nvSpPr>
          <p:cNvPr id="14" name="Text 12"/>
          <p:cNvSpPr/>
          <p:nvPr/>
        </p:nvSpPr>
        <p:spPr>
          <a:xfrm>
            <a:off x="4983480" y="3401568"/>
            <a:ext cx="2606040" cy="228600"/>
          </a:xfrm>
          <a:prstGeom prst="rect">
            <a:avLst/>
          </a:prstGeom>
          <a:noFill/>
          <a:ln/>
        </p:spPr>
        <p:txBody>
          <a:bodyPr wrap="square" lIns="0" tIns="0" rIns="0" bIns="0" rtlCol="0" anchor="ctr"/>
          <a:lstStyle/>
          <a:p>
            <a:pPr marL="0" indent="0" algn="ctr">
              <a:buNone/>
            </a:pPr>
            <a:r>
              <a:rPr lang="en-US" sz="1500" b="1" dirty="0">
                <a:solidFill>
                  <a:srgbClr val="111827"/>
                </a:solidFill>
              </a:rPr>
              <a:t>RULES</a:t>
            </a:r>
            <a:endParaRPr lang="en-US" sz="1500" dirty="0"/>
          </a:p>
        </p:txBody>
      </p:sp>
      <p:sp>
        <p:nvSpPr>
          <p:cNvPr id="15" name="Text 13"/>
          <p:cNvSpPr/>
          <p:nvPr/>
        </p:nvSpPr>
        <p:spPr>
          <a:xfrm>
            <a:off x="4983480" y="3730752"/>
            <a:ext cx="2606040" cy="228600"/>
          </a:xfrm>
          <a:prstGeom prst="rect">
            <a:avLst/>
          </a:prstGeom>
          <a:noFill/>
          <a:ln/>
        </p:spPr>
        <p:txBody>
          <a:bodyPr wrap="square" lIns="0" tIns="0" rIns="0" bIns="0" rtlCol="0" anchor="ctr"/>
          <a:lstStyle/>
          <a:p>
            <a:pPr marL="0" indent="0" algn="ctr">
              <a:buNone/>
            </a:pPr>
            <a:r>
              <a:rPr lang="en-US" sz="1100" dirty="0">
                <a:solidFill>
                  <a:srgbClr val="64748B"/>
                </a:solidFill>
              </a:rPr>
              <a:t>Block unsafe conflicts</a:t>
            </a:r>
            <a:endParaRPr lang="en-US" sz="1100" dirty="0"/>
          </a:p>
        </p:txBody>
      </p:sp>
      <p:sp>
        <p:nvSpPr>
          <p:cNvPr id="16" name="Text 14"/>
          <p:cNvSpPr/>
          <p:nvPr/>
        </p:nvSpPr>
        <p:spPr>
          <a:xfrm>
            <a:off x="7973568" y="2971800"/>
            <a:ext cx="365760" cy="365760"/>
          </a:xfrm>
          <a:prstGeom prst="rect">
            <a:avLst/>
          </a:prstGeom>
          <a:noFill/>
          <a:ln/>
        </p:spPr>
        <p:txBody>
          <a:bodyPr wrap="square" lIns="0" tIns="0" rIns="0" bIns="0" rtlCol="0" anchor="ctr"/>
          <a:lstStyle/>
          <a:p>
            <a:pPr marL="0" indent="0" algn="ctr">
              <a:buNone/>
            </a:pPr>
            <a:r>
              <a:rPr lang="en-US" sz="2400" b="1" dirty="0">
                <a:solidFill>
                  <a:srgbClr val="CBD5E1"/>
                </a:solidFill>
              </a:rPr>
              <a:t>+</a:t>
            </a:r>
            <a:endParaRPr lang="en-US" sz="2400" dirty="0"/>
          </a:p>
        </p:txBody>
      </p:sp>
      <p:sp>
        <p:nvSpPr>
          <p:cNvPr id="17" name="Shape 15"/>
          <p:cNvSpPr/>
          <p:nvPr/>
        </p:nvSpPr>
        <p:spPr>
          <a:xfrm>
            <a:off x="8412480" y="2514600"/>
            <a:ext cx="3246120" cy="1554480"/>
          </a:xfrm>
          <a:prstGeom prst="roundRect">
            <a:avLst>
              <a:gd name="adj" fmla="val 5882"/>
            </a:avLst>
          </a:prstGeom>
          <a:solidFill>
            <a:srgbClr val="FFFFFF"/>
          </a:solidFill>
          <a:ln w="12700">
            <a:solidFill>
              <a:srgbClr val="E2E8F0"/>
            </a:solidFill>
            <a:prstDash val="solid"/>
          </a:ln>
          <a:effectLst/>
        </p:spPr>
      </p:sp>
      <p:sp>
        <p:nvSpPr>
          <p:cNvPr id="18" name="Shape 16"/>
          <p:cNvSpPr/>
          <p:nvPr/>
        </p:nvSpPr>
        <p:spPr>
          <a:xfrm>
            <a:off x="9784080" y="2743200"/>
            <a:ext cx="502920" cy="502920"/>
          </a:xfrm>
          <a:prstGeom prst="ellipse">
            <a:avLst/>
          </a:prstGeom>
          <a:solidFill>
            <a:srgbClr val="F59E0B"/>
          </a:solidFill>
          <a:ln w="12700">
            <a:solidFill>
              <a:srgbClr val="F59E0B"/>
            </a:solidFill>
            <a:prstDash val="solid"/>
          </a:ln>
        </p:spPr>
      </p:sp>
      <p:sp>
        <p:nvSpPr>
          <p:cNvPr id="19" name="Text 17"/>
          <p:cNvSpPr/>
          <p:nvPr/>
        </p:nvSpPr>
        <p:spPr>
          <a:xfrm>
            <a:off x="9829800" y="2852928"/>
            <a:ext cx="411480" cy="2011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E</a:t>
            </a:r>
            <a:endParaRPr lang="en-US" sz="1300" dirty="0"/>
          </a:p>
        </p:txBody>
      </p:sp>
      <p:sp>
        <p:nvSpPr>
          <p:cNvPr id="20" name="Text 18"/>
          <p:cNvSpPr/>
          <p:nvPr/>
        </p:nvSpPr>
        <p:spPr>
          <a:xfrm>
            <a:off x="8732520" y="3401568"/>
            <a:ext cx="2606040" cy="228600"/>
          </a:xfrm>
          <a:prstGeom prst="rect">
            <a:avLst/>
          </a:prstGeom>
          <a:noFill/>
          <a:ln/>
        </p:spPr>
        <p:txBody>
          <a:bodyPr wrap="square" lIns="0" tIns="0" rIns="0" bIns="0" rtlCol="0" anchor="ctr"/>
          <a:lstStyle/>
          <a:p>
            <a:pPr marL="0" indent="0" algn="ctr">
              <a:buNone/>
            </a:pPr>
            <a:r>
              <a:rPr lang="en-US" sz="1500" b="1" dirty="0">
                <a:solidFill>
                  <a:srgbClr val="111827"/>
                </a:solidFill>
              </a:rPr>
              <a:t>EXPERT</a:t>
            </a:r>
            <a:endParaRPr lang="en-US" sz="1500" dirty="0"/>
          </a:p>
        </p:txBody>
      </p:sp>
      <p:sp>
        <p:nvSpPr>
          <p:cNvPr id="21" name="Text 19"/>
          <p:cNvSpPr/>
          <p:nvPr/>
        </p:nvSpPr>
        <p:spPr>
          <a:xfrm>
            <a:off x="8732520" y="3730752"/>
            <a:ext cx="2606040" cy="228600"/>
          </a:xfrm>
          <a:prstGeom prst="rect">
            <a:avLst/>
          </a:prstGeom>
          <a:noFill/>
          <a:ln/>
        </p:spPr>
        <p:txBody>
          <a:bodyPr wrap="square" lIns="0" tIns="0" rIns="0" bIns="0" rtlCol="0" anchor="ctr"/>
          <a:lstStyle/>
          <a:p>
            <a:pPr marL="0" indent="0" algn="ctr">
              <a:buNone/>
            </a:pPr>
            <a:r>
              <a:rPr lang="en-US" sz="1100" dirty="0">
                <a:solidFill>
                  <a:srgbClr val="64748B"/>
                </a:solidFill>
              </a:rPr>
              <a:t>Reviews final content</a:t>
            </a:r>
            <a:endParaRPr lang="en-US" sz="1100" dirty="0"/>
          </a:p>
        </p:txBody>
      </p:sp>
      <p:sp>
        <p:nvSpPr>
          <p:cNvPr id="22" name="Text 20"/>
          <p:cNvSpPr/>
          <p:nvPr/>
        </p:nvSpPr>
        <p:spPr>
          <a:xfrm>
            <a:off x="960120" y="4709160"/>
            <a:ext cx="10195560" cy="822960"/>
          </a:xfrm>
          <a:prstGeom prst="rect">
            <a:avLst/>
          </a:prstGeom>
          <a:noFill/>
          <a:ln/>
        </p:spPr>
        <p:txBody>
          <a:bodyPr wrap="square" lIns="508" tIns="508" rIns="508" bIns="508" rtlCol="0" anchor="ctr">
            <a:normAutofit/>
          </a:bodyPr>
          <a:lstStyle/>
          <a:p>
            <a:pPr marL="0" indent="0">
              <a:buNone/>
            </a:pPr>
            <a:r>
              <a:rPr lang="en-US" sz="1500" dirty="0">
                <a:solidFill>
                  <a:srgbClr val="111827"/>
                </a:solidFill>
              </a:rPr>
              <a:t>Nutrition recommendations are filtered for allergies and user constraints, generated meals are reviewed before acceptance, and exercise resources are subject to review. This design improves reliability and demonstrates responsible AI integration in a health and fitness context.</a:t>
            </a:r>
            <a:endParaRPr lang="en-US" sz="1500" dirty="0"/>
          </a:p>
        </p:txBody>
      </p:sp>
      <p:sp>
        <p:nvSpPr>
          <p:cNvPr id="25"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MODEL TO APPLICATION</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One Request. Multiple Technical Layers.</a:t>
            </a:r>
            <a:endParaRPr lang="en-US" sz="2800" dirty="0"/>
          </a:p>
        </p:txBody>
      </p:sp>
      <p:sp>
        <p:nvSpPr>
          <p:cNvPr id="4" name="Shape 2"/>
          <p:cNvSpPr/>
          <p:nvPr/>
        </p:nvSpPr>
        <p:spPr>
          <a:xfrm>
            <a:off x="594360" y="1417320"/>
            <a:ext cx="1737360" cy="685800"/>
          </a:xfrm>
          <a:prstGeom prst="roundRect">
            <a:avLst>
              <a:gd name="adj" fmla="val 10667"/>
            </a:avLst>
          </a:prstGeom>
          <a:solidFill>
            <a:srgbClr val="FFFFFF"/>
          </a:solidFill>
          <a:ln w="16510">
            <a:solidFill>
              <a:srgbClr val="CBD5E1"/>
            </a:solidFill>
            <a:prstDash val="solid"/>
          </a:ln>
          <a:effectLst/>
        </p:spPr>
      </p:sp>
      <p:sp>
        <p:nvSpPr>
          <p:cNvPr id="5" name="Text 3"/>
          <p:cNvSpPr/>
          <p:nvPr/>
        </p:nvSpPr>
        <p:spPr>
          <a:xfrm>
            <a:off x="667512" y="1463040"/>
            <a:ext cx="1591056" cy="594360"/>
          </a:xfrm>
          <a:prstGeom prst="rect">
            <a:avLst/>
          </a:prstGeom>
          <a:noFill/>
          <a:ln/>
        </p:spPr>
        <p:txBody>
          <a:bodyPr wrap="square" lIns="254" tIns="254" rIns="254" bIns="254" rtlCol="0" anchor="ctr">
            <a:normAutofit/>
          </a:bodyPr>
          <a:lstStyle/>
          <a:p>
            <a:pPr marL="0" indent="0" algn="ctr">
              <a:buNone/>
            </a:pPr>
            <a:r>
              <a:rPr lang="en-US" sz="950" b="1" dirty="0">
                <a:solidFill>
                  <a:srgbClr val="111827"/>
                </a:solidFill>
              </a:rPr>
              <a:t>USER REQUEST</a:t>
            </a:r>
            <a:endParaRPr lang="en-US" sz="950" dirty="0"/>
          </a:p>
        </p:txBody>
      </p:sp>
      <p:sp>
        <p:nvSpPr>
          <p:cNvPr id="6" name="Shape 4"/>
          <p:cNvSpPr/>
          <p:nvPr/>
        </p:nvSpPr>
        <p:spPr>
          <a:xfrm>
            <a:off x="2350008" y="1764792"/>
            <a:ext cx="420624" cy="1"/>
          </a:xfrm>
          <a:prstGeom prst="line">
            <a:avLst/>
          </a:prstGeom>
          <a:noFill/>
          <a:ln w="22860">
            <a:solidFill>
              <a:srgbClr val="10B981"/>
            </a:solidFill>
            <a:prstDash val="solid"/>
            <a:headEnd type="none"/>
            <a:tailEnd type="triangle"/>
          </a:ln>
        </p:spPr>
      </p:sp>
      <p:sp>
        <p:nvSpPr>
          <p:cNvPr id="7" name="Shape 5"/>
          <p:cNvSpPr/>
          <p:nvPr/>
        </p:nvSpPr>
        <p:spPr>
          <a:xfrm>
            <a:off x="2862072" y="1417320"/>
            <a:ext cx="1737360" cy="685800"/>
          </a:xfrm>
          <a:prstGeom prst="roundRect">
            <a:avLst>
              <a:gd name="adj" fmla="val 10667"/>
            </a:avLst>
          </a:prstGeom>
          <a:solidFill>
            <a:srgbClr val="FFFFFF"/>
          </a:solidFill>
          <a:ln w="16510">
            <a:solidFill>
              <a:srgbClr val="CBD5E1"/>
            </a:solidFill>
            <a:prstDash val="solid"/>
          </a:ln>
          <a:effectLst/>
        </p:spPr>
      </p:sp>
      <p:sp>
        <p:nvSpPr>
          <p:cNvPr id="8" name="Text 6"/>
          <p:cNvSpPr/>
          <p:nvPr/>
        </p:nvSpPr>
        <p:spPr>
          <a:xfrm>
            <a:off x="2935224" y="1463040"/>
            <a:ext cx="1591056" cy="594360"/>
          </a:xfrm>
          <a:prstGeom prst="rect">
            <a:avLst/>
          </a:prstGeom>
          <a:noFill/>
          <a:ln/>
        </p:spPr>
        <p:txBody>
          <a:bodyPr wrap="square" lIns="254" tIns="254" rIns="254" bIns="254" rtlCol="0" anchor="ctr">
            <a:normAutofit/>
          </a:bodyPr>
          <a:lstStyle/>
          <a:p>
            <a:pPr marL="0" indent="0" algn="ctr">
              <a:buNone/>
            </a:pPr>
            <a:r>
              <a:rPr lang="en-US" sz="950" b="1" dirty="0">
                <a:solidFill>
                  <a:srgbClr val="111827"/>
                </a:solidFill>
              </a:rPr>
              <a:t>MOBILE APP</a:t>
            </a:r>
            <a:endParaRPr lang="en-US" sz="950" dirty="0"/>
          </a:p>
        </p:txBody>
      </p:sp>
      <p:sp>
        <p:nvSpPr>
          <p:cNvPr id="9" name="Shape 7"/>
          <p:cNvSpPr/>
          <p:nvPr/>
        </p:nvSpPr>
        <p:spPr>
          <a:xfrm>
            <a:off x="4617720" y="1764792"/>
            <a:ext cx="420624" cy="1"/>
          </a:xfrm>
          <a:prstGeom prst="line">
            <a:avLst/>
          </a:prstGeom>
          <a:noFill/>
          <a:ln w="22860">
            <a:solidFill>
              <a:srgbClr val="10B981"/>
            </a:solidFill>
            <a:prstDash val="solid"/>
            <a:headEnd type="none"/>
            <a:tailEnd type="triangle"/>
          </a:ln>
        </p:spPr>
      </p:sp>
      <p:sp>
        <p:nvSpPr>
          <p:cNvPr id="10" name="Shape 8"/>
          <p:cNvSpPr/>
          <p:nvPr/>
        </p:nvSpPr>
        <p:spPr>
          <a:xfrm>
            <a:off x="5129784" y="1417320"/>
            <a:ext cx="1737360" cy="685800"/>
          </a:xfrm>
          <a:prstGeom prst="roundRect">
            <a:avLst>
              <a:gd name="adj" fmla="val 10667"/>
            </a:avLst>
          </a:prstGeom>
          <a:solidFill>
            <a:srgbClr val="FFFFFF"/>
          </a:solidFill>
          <a:ln w="16510">
            <a:solidFill>
              <a:srgbClr val="CBD5E1"/>
            </a:solidFill>
            <a:prstDash val="solid"/>
          </a:ln>
          <a:effectLst/>
        </p:spPr>
      </p:sp>
      <p:sp>
        <p:nvSpPr>
          <p:cNvPr id="11" name="Text 9"/>
          <p:cNvSpPr/>
          <p:nvPr/>
        </p:nvSpPr>
        <p:spPr>
          <a:xfrm>
            <a:off x="5202936" y="1463040"/>
            <a:ext cx="1591056" cy="594360"/>
          </a:xfrm>
          <a:prstGeom prst="rect">
            <a:avLst/>
          </a:prstGeom>
          <a:noFill/>
          <a:ln/>
        </p:spPr>
        <p:txBody>
          <a:bodyPr wrap="square" lIns="254" tIns="254" rIns="254" bIns="254" rtlCol="0" anchor="ctr">
            <a:normAutofit/>
          </a:bodyPr>
          <a:lstStyle/>
          <a:p>
            <a:pPr marL="0" indent="0" algn="ctr">
              <a:buNone/>
            </a:pPr>
            <a:r>
              <a:rPr lang="en-US" sz="950" b="1" dirty="0">
                <a:solidFill>
                  <a:srgbClr val="111827"/>
                </a:solidFill>
              </a:rPr>
              <a:t>PHP API</a:t>
            </a:r>
            <a:endParaRPr lang="en-US" sz="950" dirty="0"/>
          </a:p>
        </p:txBody>
      </p:sp>
      <p:sp>
        <p:nvSpPr>
          <p:cNvPr id="12" name="Shape 10"/>
          <p:cNvSpPr/>
          <p:nvPr/>
        </p:nvSpPr>
        <p:spPr>
          <a:xfrm>
            <a:off x="6885432" y="1764792"/>
            <a:ext cx="420624" cy="1"/>
          </a:xfrm>
          <a:prstGeom prst="line">
            <a:avLst/>
          </a:prstGeom>
          <a:noFill/>
          <a:ln w="22860">
            <a:solidFill>
              <a:srgbClr val="10B981"/>
            </a:solidFill>
            <a:prstDash val="solid"/>
            <a:headEnd type="none"/>
            <a:tailEnd type="triangle"/>
          </a:ln>
        </p:spPr>
      </p:sp>
      <p:sp>
        <p:nvSpPr>
          <p:cNvPr id="13" name="Shape 11"/>
          <p:cNvSpPr/>
          <p:nvPr/>
        </p:nvSpPr>
        <p:spPr>
          <a:xfrm>
            <a:off x="7397496" y="1417320"/>
            <a:ext cx="1737360" cy="685800"/>
          </a:xfrm>
          <a:prstGeom prst="roundRect">
            <a:avLst>
              <a:gd name="adj" fmla="val 10667"/>
            </a:avLst>
          </a:prstGeom>
          <a:solidFill>
            <a:srgbClr val="FFFFFF"/>
          </a:solidFill>
          <a:ln w="16510">
            <a:solidFill>
              <a:srgbClr val="CBD5E1"/>
            </a:solidFill>
            <a:prstDash val="solid"/>
          </a:ln>
          <a:effectLst/>
        </p:spPr>
      </p:sp>
      <p:sp>
        <p:nvSpPr>
          <p:cNvPr id="14" name="Text 12"/>
          <p:cNvSpPr/>
          <p:nvPr/>
        </p:nvSpPr>
        <p:spPr>
          <a:xfrm>
            <a:off x="7470648" y="1463040"/>
            <a:ext cx="1591056" cy="594360"/>
          </a:xfrm>
          <a:prstGeom prst="rect">
            <a:avLst/>
          </a:prstGeom>
          <a:noFill/>
          <a:ln/>
        </p:spPr>
        <p:txBody>
          <a:bodyPr wrap="square" lIns="254" tIns="254" rIns="254" bIns="254" rtlCol="0" anchor="ctr">
            <a:normAutofit/>
          </a:bodyPr>
          <a:lstStyle/>
          <a:p>
            <a:pPr marL="0" indent="0" algn="ctr">
              <a:buNone/>
            </a:pPr>
            <a:r>
              <a:rPr lang="en-US" sz="950" b="1" dirty="0">
                <a:solidFill>
                  <a:srgbClr val="111827"/>
                </a:solidFill>
              </a:rPr>
              <a:t>MYSQL PROFILE</a:t>
            </a:r>
            <a:endParaRPr lang="en-US" sz="950" dirty="0"/>
          </a:p>
        </p:txBody>
      </p:sp>
      <p:sp>
        <p:nvSpPr>
          <p:cNvPr id="15" name="Shape 13"/>
          <p:cNvSpPr/>
          <p:nvPr/>
        </p:nvSpPr>
        <p:spPr>
          <a:xfrm>
            <a:off x="9153144" y="1764792"/>
            <a:ext cx="420624" cy="1"/>
          </a:xfrm>
          <a:prstGeom prst="line">
            <a:avLst/>
          </a:prstGeom>
          <a:noFill/>
          <a:ln w="22860">
            <a:solidFill>
              <a:srgbClr val="10B981"/>
            </a:solidFill>
            <a:prstDash val="solid"/>
            <a:headEnd type="none"/>
            <a:tailEnd type="triangle"/>
          </a:ln>
        </p:spPr>
      </p:sp>
      <p:sp>
        <p:nvSpPr>
          <p:cNvPr id="16" name="Shape 14"/>
          <p:cNvSpPr/>
          <p:nvPr/>
        </p:nvSpPr>
        <p:spPr>
          <a:xfrm>
            <a:off x="9665208" y="1417320"/>
            <a:ext cx="1737360" cy="685800"/>
          </a:xfrm>
          <a:prstGeom prst="roundRect">
            <a:avLst>
              <a:gd name="adj" fmla="val 10667"/>
            </a:avLst>
          </a:prstGeom>
          <a:solidFill>
            <a:srgbClr val="D1FAE5"/>
          </a:solidFill>
          <a:ln w="16510">
            <a:solidFill>
              <a:srgbClr val="10B981"/>
            </a:solidFill>
            <a:prstDash val="solid"/>
          </a:ln>
          <a:effectLst/>
        </p:spPr>
      </p:sp>
      <p:sp>
        <p:nvSpPr>
          <p:cNvPr id="17" name="Text 15"/>
          <p:cNvSpPr/>
          <p:nvPr/>
        </p:nvSpPr>
        <p:spPr>
          <a:xfrm>
            <a:off x="9738360" y="1463040"/>
            <a:ext cx="1591056" cy="594360"/>
          </a:xfrm>
          <a:prstGeom prst="rect">
            <a:avLst/>
          </a:prstGeom>
          <a:noFill/>
          <a:ln/>
        </p:spPr>
        <p:txBody>
          <a:bodyPr wrap="square" lIns="254" tIns="254" rIns="254" bIns="254" rtlCol="0" anchor="ctr">
            <a:normAutofit/>
          </a:bodyPr>
          <a:lstStyle/>
          <a:p>
            <a:pPr marL="0" indent="0" algn="ctr">
              <a:buNone/>
            </a:pPr>
            <a:r>
              <a:rPr lang="en-US" sz="950" b="1" dirty="0">
                <a:solidFill>
                  <a:srgbClr val="111827"/>
                </a:solidFill>
              </a:rPr>
              <a:t>TRAINCORE AI</a:t>
            </a:r>
            <a:endParaRPr lang="en-US" sz="950" dirty="0"/>
          </a:p>
        </p:txBody>
      </p:sp>
      <p:sp>
        <p:nvSpPr>
          <p:cNvPr id="18" name="Shape 16"/>
          <p:cNvSpPr/>
          <p:nvPr/>
        </p:nvSpPr>
        <p:spPr>
          <a:xfrm>
            <a:off x="1737360" y="2971800"/>
            <a:ext cx="1737360" cy="685800"/>
          </a:xfrm>
          <a:prstGeom prst="roundRect">
            <a:avLst>
              <a:gd name="adj" fmla="val 10667"/>
            </a:avLst>
          </a:prstGeom>
          <a:solidFill>
            <a:srgbClr val="FFFFFF"/>
          </a:solidFill>
          <a:ln w="16510">
            <a:solidFill>
              <a:srgbClr val="CBD5E1"/>
            </a:solidFill>
            <a:prstDash val="solid"/>
          </a:ln>
          <a:effectLst/>
        </p:spPr>
      </p:sp>
      <p:sp>
        <p:nvSpPr>
          <p:cNvPr id="19" name="Text 17"/>
          <p:cNvSpPr/>
          <p:nvPr/>
        </p:nvSpPr>
        <p:spPr>
          <a:xfrm>
            <a:off x="1810512" y="3017520"/>
            <a:ext cx="1591056" cy="594360"/>
          </a:xfrm>
          <a:prstGeom prst="rect">
            <a:avLst/>
          </a:prstGeom>
          <a:noFill/>
          <a:ln/>
        </p:spPr>
        <p:txBody>
          <a:bodyPr wrap="square" lIns="254" tIns="254" rIns="254" bIns="254" rtlCol="0" anchor="ctr">
            <a:normAutofit/>
          </a:bodyPr>
          <a:lstStyle/>
          <a:p>
            <a:pPr marL="0" indent="0" algn="ctr">
              <a:buNone/>
            </a:pPr>
            <a:r>
              <a:rPr lang="en-US" sz="950" b="1" dirty="0">
                <a:solidFill>
                  <a:srgbClr val="111827"/>
                </a:solidFill>
              </a:rPr>
              <a:t>SAFETY FILTER</a:t>
            </a:r>
            <a:endParaRPr lang="en-US" sz="950" dirty="0"/>
          </a:p>
        </p:txBody>
      </p:sp>
      <p:sp>
        <p:nvSpPr>
          <p:cNvPr id="20" name="Shape 18"/>
          <p:cNvSpPr/>
          <p:nvPr/>
        </p:nvSpPr>
        <p:spPr>
          <a:xfrm>
            <a:off x="3493008" y="3319272"/>
            <a:ext cx="420624" cy="1"/>
          </a:xfrm>
          <a:prstGeom prst="line">
            <a:avLst/>
          </a:prstGeom>
          <a:noFill/>
          <a:ln w="22860">
            <a:solidFill>
              <a:srgbClr val="10B981"/>
            </a:solidFill>
            <a:prstDash val="solid"/>
            <a:headEnd type="none"/>
            <a:tailEnd type="triangle"/>
          </a:ln>
        </p:spPr>
      </p:sp>
      <p:sp>
        <p:nvSpPr>
          <p:cNvPr id="21" name="Shape 19"/>
          <p:cNvSpPr/>
          <p:nvPr/>
        </p:nvSpPr>
        <p:spPr>
          <a:xfrm>
            <a:off x="4005072" y="2971800"/>
            <a:ext cx="1737360" cy="685800"/>
          </a:xfrm>
          <a:prstGeom prst="roundRect">
            <a:avLst>
              <a:gd name="adj" fmla="val 10667"/>
            </a:avLst>
          </a:prstGeom>
          <a:solidFill>
            <a:srgbClr val="FFFFFF"/>
          </a:solidFill>
          <a:ln w="16510">
            <a:solidFill>
              <a:srgbClr val="CBD5E1"/>
            </a:solidFill>
            <a:prstDash val="solid"/>
          </a:ln>
          <a:effectLst/>
        </p:spPr>
      </p:sp>
      <p:sp>
        <p:nvSpPr>
          <p:cNvPr id="22" name="Text 20"/>
          <p:cNvSpPr/>
          <p:nvPr/>
        </p:nvSpPr>
        <p:spPr>
          <a:xfrm>
            <a:off x="4078224" y="3017520"/>
            <a:ext cx="1591056" cy="594360"/>
          </a:xfrm>
          <a:prstGeom prst="rect">
            <a:avLst/>
          </a:prstGeom>
          <a:noFill/>
          <a:ln/>
        </p:spPr>
        <p:txBody>
          <a:bodyPr wrap="square" lIns="254" tIns="254" rIns="254" bIns="254" rtlCol="0" anchor="ctr">
            <a:normAutofit/>
          </a:bodyPr>
          <a:lstStyle/>
          <a:p>
            <a:pPr marL="0" indent="0" algn="ctr">
              <a:buNone/>
            </a:pPr>
            <a:r>
              <a:rPr lang="en-US" sz="950" b="1" dirty="0">
                <a:solidFill>
                  <a:srgbClr val="111827"/>
                </a:solidFill>
              </a:rPr>
              <a:t>SAVE PLAN</a:t>
            </a:r>
            <a:endParaRPr lang="en-US" sz="950" dirty="0"/>
          </a:p>
        </p:txBody>
      </p:sp>
      <p:sp>
        <p:nvSpPr>
          <p:cNvPr id="23" name="Shape 21"/>
          <p:cNvSpPr/>
          <p:nvPr/>
        </p:nvSpPr>
        <p:spPr>
          <a:xfrm>
            <a:off x="5760720" y="3319272"/>
            <a:ext cx="420624" cy="1"/>
          </a:xfrm>
          <a:prstGeom prst="line">
            <a:avLst/>
          </a:prstGeom>
          <a:noFill/>
          <a:ln w="22860">
            <a:solidFill>
              <a:srgbClr val="10B981"/>
            </a:solidFill>
            <a:prstDash val="solid"/>
            <a:headEnd type="none"/>
            <a:tailEnd type="triangle"/>
          </a:ln>
        </p:spPr>
      </p:sp>
      <p:sp>
        <p:nvSpPr>
          <p:cNvPr id="24" name="Shape 22"/>
          <p:cNvSpPr/>
          <p:nvPr/>
        </p:nvSpPr>
        <p:spPr>
          <a:xfrm>
            <a:off x="6272784" y="2971800"/>
            <a:ext cx="1737360" cy="685800"/>
          </a:xfrm>
          <a:prstGeom prst="roundRect">
            <a:avLst>
              <a:gd name="adj" fmla="val 10667"/>
            </a:avLst>
          </a:prstGeom>
          <a:solidFill>
            <a:srgbClr val="FFFFFF"/>
          </a:solidFill>
          <a:ln w="16510">
            <a:solidFill>
              <a:srgbClr val="CBD5E1"/>
            </a:solidFill>
            <a:prstDash val="solid"/>
          </a:ln>
          <a:effectLst/>
        </p:spPr>
      </p:sp>
      <p:sp>
        <p:nvSpPr>
          <p:cNvPr id="25" name="Text 23"/>
          <p:cNvSpPr/>
          <p:nvPr/>
        </p:nvSpPr>
        <p:spPr>
          <a:xfrm>
            <a:off x="6345936" y="3017520"/>
            <a:ext cx="1591056" cy="594360"/>
          </a:xfrm>
          <a:prstGeom prst="rect">
            <a:avLst/>
          </a:prstGeom>
          <a:noFill/>
          <a:ln/>
        </p:spPr>
        <p:txBody>
          <a:bodyPr wrap="square" lIns="254" tIns="254" rIns="254" bIns="254" rtlCol="0" anchor="ctr">
            <a:normAutofit/>
          </a:bodyPr>
          <a:lstStyle/>
          <a:p>
            <a:pPr marL="0" indent="0" algn="ctr">
              <a:buNone/>
            </a:pPr>
            <a:r>
              <a:rPr lang="en-US" sz="950" b="1" dirty="0">
                <a:solidFill>
                  <a:srgbClr val="111827"/>
                </a:solidFill>
              </a:rPr>
              <a:t>JSON RESPONSE</a:t>
            </a:r>
            <a:endParaRPr lang="en-US" sz="950" dirty="0"/>
          </a:p>
        </p:txBody>
      </p:sp>
      <p:sp>
        <p:nvSpPr>
          <p:cNvPr id="26" name="Shape 24"/>
          <p:cNvSpPr/>
          <p:nvPr/>
        </p:nvSpPr>
        <p:spPr>
          <a:xfrm>
            <a:off x="8028432" y="3319272"/>
            <a:ext cx="420624" cy="1"/>
          </a:xfrm>
          <a:prstGeom prst="line">
            <a:avLst/>
          </a:prstGeom>
          <a:noFill/>
          <a:ln w="22860">
            <a:solidFill>
              <a:srgbClr val="10B981"/>
            </a:solidFill>
            <a:prstDash val="solid"/>
            <a:headEnd type="none"/>
            <a:tailEnd type="triangle"/>
          </a:ln>
        </p:spPr>
      </p:sp>
      <p:sp>
        <p:nvSpPr>
          <p:cNvPr id="27" name="Shape 25"/>
          <p:cNvSpPr/>
          <p:nvPr/>
        </p:nvSpPr>
        <p:spPr>
          <a:xfrm>
            <a:off x="8540496" y="2971800"/>
            <a:ext cx="1737360" cy="685800"/>
          </a:xfrm>
          <a:prstGeom prst="roundRect">
            <a:avLst>
              <a:gd name="adj" fmla="val 10667"/>
            </a:avLst>
          </a:prstGeom>
          <a:solidFill>
            <a:srgbClr val="FFFFFF"/>
          </a:solidFill>
          <a:ln w="16510">
            <a:solidFill>
              <a:srgbClr val="CBD5E1"/>
            </a:solidFill>
            <a:prstDash val="solid"/>
          </a:ln>
          <a:effectLst/>
        </p:spPr>
      </p:sp>
      <p:sp>
        <p:nvSpPr>
          <p:cNvPr id="28" name="Text 26"/>
          <p:cNvSpPr/>
          <p:nvPr/>
        </p:nvSpPr>
        <p:spPr>
          <a:xfrm>
            <a:off x="8613648" y="3017520"/>
            <a:ext cx="1591056" cy="594360"/>
          </a:xfrm>
          <a:prstGeom prst="rect">
            <a:avLst/>
          </a:prstGeom>
          <a:noFill/>
          <a:ln/>
        </p:spPr>
        <p:txBody>
          <a:bodyPr wrap="square" lIns="254" tIns="254" rIns="254" bIns="254" rtlCol="0" anchor="ctr">
            <a:normAutofit/>
          </a:bodyPr>
          <a:lstStyle/>
          <a:p>
            <a:pPr marL="0" indent="0" algn="ctr">
              <a:buNone/>
            </a:pPr>
            <a:r>
              <a:rPr lang="en-US" sz="950" b="1" dirty="0">
                <a:solidFill>
                  <a:srgbClr val="111827"/>
                </a:solidFill>
              </a:rPr>
              <a:t>MOBILE UI</a:t>
            </a:r>
            <a:endParaRPr lang="en-US" sz="950" dirty="0"/>
          </a:p>
        </p:txBody>
      </p:sp>
      <p:sp>
        <p:nvSpPr>
          <p:cNvPr id="29" name="Shape 27"/>
          <p:cNvSpPr/>
          <p:nvPr/>
        </p:nvSpPr>
        <p:spPr>
          <a:xfrm>
            <a:off x="10561320" y="2121408"/>
            <a:ext cx="1" cy="667512"/>
          </a:xfrm>
          <a:prstGeom prst="line">
            <a:avLst/>
          </a:prstGeom>
          <a:noFill/>
          <a:ln w="25400">
            <a:solidFill>
              <a:srgbClr val="10B981"/>
            </a:solidFill>
            <a:prstDash val="solid"/>
            <a:headEnd type="none"/>
            <a:tailEnd type="triangle"/>
          </a:ln>
        </p:spPr>
      </p:sp>
      <p:sp>
        <p:nvSpPr>
          <p:cNvPr id="30" name="Shape 28"/>
          <p:cNvSpPr/>
          <p:nvPr/>
        </p:nvSpPr>
        <p:spPr>
          <a:xfrm>
            <a:off x="685800" y="4617720"/>
            <a:ext cx="10835640" cy="1078992"/>
          </a:xfrm>
          <a:prstGeom prst="roundRect">
            <a:avLst>
              <a:gd name="adj" fmla="val 8475"/>
            </a:avLst>
          </a:prstGeom>
          <a:solidFill>
            <a:srgbClr val="0F172A"/>
          </a:solidFill>
          <a:ln w="12700">
            <a:solidFill>
              <a:srgbClr val="0F172A"/>
            </a:solidFill>
            <a:prstDash val="solid"/>
          </a:ln>
          <a:effectLst/>
        </p:spPr>
      </p:sp>
      <p:sp>
        <p:nvSpPr>
          <p:cNvPr id="31" name="Text 29"/>
          <p:cNvSpPr/>
          <p:nvPr/>
        </p:nvSpPr>
        <p:spPr>
          <a:xfrm>
            <a:off x="1051560" y="4919472"/>
            <a:ext cx="10104120" cy="420624"/>
          </a:xfrm>
          <a:prstGeom prst="rect">
            <a:avLst/>
          </a:prstGeom>
          <a:noFill/>
          <a:ln/>
        </p:spPr>
        <p:txBody>
          <a:bodyPr wrap="square" lIns="0" tIns="0" rIns="0" bIns="0" rtlCol="0" anchor="ctr">
            <a:normAutofit lnSpcReduction="10000"/>
          </a:bodyPr>
          <a:lstStyle/>
          <a:p>
            <a:pPr marL="0" indent="0" algn="ctr">
              <a:buNone/>
            </a:pPr>
            <a:r>
              <a:rPr lang="en-US" sz="1500" b="1" dirty="0">
                <a:solidFill>
                  <a:srgbClr val="FFFFFF"/>
                </a:solidFill>
              </a:rPr>
              <a:t>Technical significance comes from integration: mobile data collection, backend orchestration, database history, specialized AI processing, safety control, persistence, and structured return to the user.</a:t>
            </a:r>
            <a:endParaRPr lang="en-US" sz="1500" dirty="0"/>
          </a:p>
        </p:txBody>
      </p:sp>
      <p:sp>
        <p:nvSpPr>
          <p:cNvPr id="32"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502920" y="301752"/>
            <a:ext cx="274320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EXPERIMENTAL VALIDATION</a:t>
            </a:r>
            <a:endParaRPr lang="en-US" sz="1000" dirty="0"/>
          </a:p>
        </p:txBody>
      </p:sp>
      <p:sp>
        <p:nvSpPr>
          <p:cNvPr id="3" name="Text 1"/>
          <p:cNvSpPr/>
          <p:nvPr/>
        </p:nvSpPr>
        <p:spPr>
          <a:xfrm>
            <a:off x="502920" y="530352"/>
            <a:ext cx="11109960" cy="438912"/>
          </a:xfrm>
          <a:prstGeom prst="rect">
            <a:avLst/>
          </a:prstGeom>
          <a:noFill/>
          <a:ln/>
        </p:spPr>
        <p:txBody>
          <a:bodyPr wrap="square" lIns="0" tIns="0" rIns="0" bIns="0" rtlCol="0" anchor="ctr"/>
          <a:lstStyle/>
          <a:p>
            <a:pPr marL="0" indent="0">
              <a:buNone/>
            </a:pPr>
            <a:r>
              <a:rPr lang="en-US" sz="2700" b="1" dirty="0">
                <a:solidFill>
                  <a:srgbClr val="0B1F33"/>
                </a:solidFill>
              </a:rPr>
              <a:t>System Testing &amp; Validation</a:t>
            </a:r>
            <a:endParaRPr lang="en-US" sz="2700" dirty="0"/>
          </a:p>
        </p:txBody>
      </p:sp>
      <p:sp>
        <p:nvSpPr>
          <p:cNvPr id="4" name="Shape 2"/>
          <p:cNvSpPr/>
          <p:nvPr/>
        </p:nvSpPr>
        <p:spPr>
          <a:xfrm>
            <a:off x="502920" y="1042416"/>
            <a:ext cx="822960" cy="1"/>
          </a:xfrm>
          <a:prstGeom prst="line">
            <a:avLst/>
          </a:prstGeom>
          <a:noFill/>
          <a:ln w="38100">
            <a:solidFill>
              <a:srgbClr val="16C79A"/>
            </a:solidFill>
            <a:prstDash val="solid"/>
          </a:ln>
        </p:spPr>
      </p:sp>
      <p:sp>
        <p:nvSpPr>
          <p:cNvPr id="5" name="Shape 3"/>
          <p:cNvSpPr/>
          <p:nvPr/>
        </p:nvSpPr>
        <p:spPr>
          <a:xfrm>
            <a:off x="621792" y="1234440"/>
            <a:ext cx="5285232" cy="2011680"/>
          </a:xfrm>
          <a:prstGeom prst="roundRect">
            <a:avLst>
              <a:gd name="adj" fmla="val 7273"/>
            </a:avLst>
          </a:prstGeom>
          <a:solidFill>
            <a:srgbClr val="FFFFFF"/>
          </a:solidFill>
          <a:ln w="12700">
            <a:solidFill>
              <a:srgbClr val="DCE6EE"/>
            </a:solidFill>
            <a:prstDash val="solid"/>
          </a:ln>
          <a:effectLst/>
        </p:spPr>
      </p:sp>
      <p:sp>
        <p:nvSpPr>
          <p:cNvPr id="6" name="Shape 4"/>
          <p:cNvSpPr/>
          <p:nvPr/>
        </p:nvSpPr>
        <p:spPr>
          <a:xfrm>
            <a:off x="850392" y="1453896"/>
            <a:ext cx="868680" cy="274320"/>
          </a:xfrm>
          <a:prstGeom prst="roundRect">
            <a:avLst>
              <a:gd name="adj" fmla="val 50000"/>
            </a:avLst>
          </a:prstGeom>
          <a:solidFill>
            <a:srgbClr val="EAF2FF"/>
          </a:solidFill>
          <a:ln w="12700">
            <a:solidFill>
              <a:srgbClr val="EAF2FF"/>
            </a:solidFill>
            <a:prstDash val="solid"/>
          </a:ln>
        </p:spPr>
      </p:sp>
      <p:sp>
        <p:nvSpPr>
          <p:cNvPr id="7" name="Text 5"/>
          <p:cNvSpPr/>
          <p:nvPr/>
        </p:nvSpPr>
        <p:spPr>
          <a:xfrm>
            <a:off x="923544" y="1504188"/>
            <a:ext cx="722376" cy="118872"/>
          </a:xfrm>
          <a:prstGeom prst="rect">
            <a:avLst/>
          </a:prstGeom>
          <a:noFill/>
          <a:ln/>
        </p:spPr>
        <p:txBody>
          <a:bodyPr wrap="square" lIns="0" tIns="0" rIns="0" bIns="0" rtlCol="0" anchor="ctr"/>
          <a:lstStyle/>
          <a:p>
            <a:pPr marL="0" indent="0" algn="ctr">
              <a:buNone/>
            </a:pPr>
            <a:r>
              <a:rPr lang="en-US" sz="950" b="1" dirty="0">
                <a:solidFill>
                  <a:srgbClr val="1677FF"/>
                </a:solidFill>
              </a:rPr>
              <a:t>TEST 01</a:t>
            </a:r>
            <a:endParaRPr lang="en-US" sz="950" dirty="0"/>
          </a:p>
        </p:txBody>
      </p:sp>
      <p:sp>
        <p:nvSpPr>
          <p:cNvPr id="8" name="Text 6"/>
          <p:cNvSpPr/>
          <p:nvPr/>
        </p:nvSpPr>
        <p:spPr>
          <a:xfrm>
            <a:off x="1920240" y="1481328"/>
            <a:ext cx="3108960"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0B1F33"/>
                </a:solidFill>
              </a:rPr>
              <a:t>Authentication &amp; Onboarding</a:t>
            </a:r>
            <a:endParaRPr lang="en-US" sz="1600" dirty="0"/>
          </a:p>
        </p:txBody>
      </p:sp>
      <p:sp>
        <p:nvSpPr>
          <p:cNvPr id="9" name="Text 7"/>
          <p:cNvSpPr/>
          <p:nvPr/>
        </p:nvSpPr>
        <p:spPr>
          <a:xfrm>
            <a:off x="896112" y="206654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10" name="Text 8"/>
          <p:cNvSpPr/>
          <p:nvPr/>
        </p:nvSpPr>
        <p:spPr>
          <a:xfrm>
            <a:off x="1170432" y="206654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Registration</a:t>
            </a:r>
            <a:endParaRPr lang="en-US" sz="1050" dirty="0"/>
          </a:p>
        </p:txBody>
      </p:sp>
      <p:sp>
        <p:nvSpPr>
          <p:cNvPr id="11" name="Text 9"/>
          <p:cNvSpPr/>
          <p:nvPr/>
        </p:nvSpPr>
        <p:spPr>
          <a:xfrm>
            <a:off x="3227832" y="206654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12" name="Text 10"/>
          <p:cNvSpPr/>
          <p:nvPr/>
        </p:nvSpPr>
        <p:spPr>
          <a:xfrm>
            <a:off x="3502152" y="206654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Login</a:t>
            </a:r>
            <a:endParaRPr lang="en-US" sz="1050" dirty="0"/>
          </a:p>
        </p:txBody>
      </p:sp>
      <p:sp>
        <p:nvSpPr>
          <p:cNvPr id="13" name="Text 11"/>
          <p:cNvSpPr/>
          <p:nvPr/>
        </p:nvSpPr>
        <p:spPr>
          <a:xfrm>
            <a:off x="896112" y="252374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14" name="Text 12"/>
          <p:cNvSpPr/>
          <p:nvPr/>
        </p:nvSpPr>
        <p:spPr>
          <a:xfrm>
            <a:off x="1170432" y="252374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Token</a:t>
            </a:r>
            <a:endParaRPr lang="en-US" sz="1050" dirty="0"/>
          </a:p>
        </p:txBody>
      </p:sp>
      <p:sp>
        <p:nvSpPr>
          <p:cNvPr id="15" name="Text 13"/>
          <p:cNvSpPr/>
          <p:nvPr/>
        </p:nvSpPr>
        <p:spPr>
          <a:xfrm>
            <a:off x="3227832" y="252374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16" name="Text 14"/>
          <p:cNvSpPr/>
          <p:nvPr/>
        </p:nvSpPr>
        <p:spPr>
          <a:xfrm>
            <a:off x="3502152" y="252374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Profile storage</a:t>
            </a:r>
            <a:endParaRPr lang="en-US" sz="1050" dirty="0"/>
          </a:p>
        </p:txBody>
      </p:sp>
      <p:sp>
        <p:nvSpPr>
          <p:cNvPr id="17" name="Shape 15"/>
          <p:cNvSpPr/>
          <p:nvPr/>
        </p:nvSpPr>
        <p:spPr>
          <a:xfrm>
            <a:off x="4873752" y="2532888"/>
            <a:ext cx="804672" cy="384048"/>
          </a:xfrm>
          <a:prstGeom prst="roundRect">
            <a:avLst>
              <a:gd name="adj" fmla="val 28571"/>
            </a:avLst>
          </a:prstGeom>
          <a:solidFill>
            <a:srgbClr val="EAF9F4"/>
          </a:solidFill>
          <a:ln w="12700">
            <a:solidFill>
              <a:srgbClr val="16C79A"/>
            </a:solidFill>
            <a:prstDash val="solid"/>
          </a:ln>
        </p:spPr>
      </p:sp>
      <p:sp>
        <p:nvSpPr>
          <p:cNvPr id="18" name="Text 16"/>
          <p:cNvSpPr/>
          <p:nvPr/>
        </p:nvSpPr>
        <p:spPr>
          <a:xfrm>
            <a:off x="4946904" y="2651760"/>
            <a:ext cx="658368" cy="128016"/>
          </a:xfrm>
          <a:prstGeom prst="rect">
            <a:avLst/>
          </a:prstGeom>
          <a:noFill/>
          <a:ln/>
        </p:spPr>
        <p:txBody>
          <a:bodyPr wrap="square" lIns="0" tIns="0" rIns="0" bIns="0" rtlCol="0" anchor="ctr"/>
          <a:lstStyle/>
          <a:p>
            <a:pPr marL="0" indent="0" algn="ctr">
              <a:buNone/>
            </a:pPr>
            <a:r>
              <a:rPr lang="en-US" sz="900" b="1" dirty="0">
                <a:solidFill>
                  <a:srgbClr val="16C79A"/>
                </a:solidFill>
              </a:rPr>
              <a:t>PASSED</a:t>
            </a:r>
            <a:endParaRPr lang="en-US" sz="900" dirty="0"/>
          </a:p>
        </p:txBody>
      </p:sp>
      <p:sp>
        <p:nvSpPr>
          <p:cNvPr id="19" name="Shape 17"/>
          <p:cNvSpPr/>
          <p:nvPr/>
        </p:nvSpPr>
        <p:spPr>
          <a:xfrm>
            <a:off x="6272784" y="1234440"/>
            <a:ext cx="5285232" cy="2011680"/>
          </a:xfrm>
          <a:prstGeom prst="roundRect">
            <a:avLst>
              <a:gd name="adj" fmla="val 7273"/>
            </a:avLst>
          </a:prstGeom>
          <a:solidFill>
            <a:srgbClr val="FFFFFF"/>
          </a:solidFill>
          <a:ln w="12700">
            <a:solidFill>
              <a:srgbClr val="DCE6EE"/>
            </a:solidFill>
            <a:prstDash val="solid"/>
          </a:ln>
          <a:effectLst/>
        </p:spPr>
      </p:sp>
      <p:sp>
        <p:nvSpPr>
          <p:cNvPr id="20" name="Shape 18"/>
          <p:cNvSpPr/>
          <p:nvPr/>
        </p:nvSpPr>
        <p:spPr>
          <a:xfrm>
            <a:off x="6501384" y="1453896"/>
            <a:ext cx="868680" cy="274320"/>
          </a:xfrm>
          <a:prstGeom prst="roundRect">
            <a:avLst>
              <a:gd name="adj" fmla="val 50000"/>
            </a:avLst>
          </a:prstGeom>
          <a:solidFill>
            <a:srgbClr val="EAF2FF"/>
          </a:solidFill>
          <a:ln w="12700">
            <a:solidFill>
              <a:srgbClr val="EAF2FF"/>
            </a:solidFill>
            <a:prstDash val="solid"/>
          </a:ln>
        </p:spPr>
      </p:sp>
      <p:sp>
        <p:nvSpPr>
          <p:cNvPr id="21" name="Text 19"/>
          <p:cNvSpPr/>
          <p:nvPr/>
        </p:nvSpPr>
        <p:spPr>
          <a:xfrm>
            <a:off x="6574536" y="1504188"/>
            <a:ext cx="722376" cy="118872"/>
          </a:xfrm>
          <a:prstGeom prst="rect">
            <a:avLst/>
          </a:prstGeom>
          <a:noFill/>
          <a:ln/>
        </p:spPr>
        <p:txBody>
          <a:bodyPr wrap="square" lIns="0" tIns="0" rIns="0" bIns="0" rtlCol="0" anchor="ctr"/>
          <a:lstStyle/>
          <a:p>
            <a:pPr marL="0" indent="0" algn="ctr">
              <a:buNone/>
            </a:pPr>
            <a:r>
              <a:rPr lang="en-US" sz="950" b="1" dirty="0">
                <a:solidFill>
                  <a:srgbClr val="1677FF"/>
                </a:solidFill>
              </a:rPr>
              <a:t>TEST 02</a:t>
            </a:r>
            <a:endParaRPr lang="en-US" sz="950" dirty="0"/>
          </a:p>
        </p:txBody>
      </p:sp>
      <p:sp>
        <p:nvSpPr>
          <p:cNvPr id="22" name="Text 20"/>
          <p:cNvSpPr/>
          <p:nvPr/>
        </p:nvSpPr>
        <p:spPr>
          <a:xfrm>
            <a:off x="7571232" y="1481328"/>
            <a:ext cx="3108960"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0B1F33"/>
                </a:solidFill>
              </a:rPr>
              <a:t>TrainCore AI</a:t>
            </a:r>
            <a:endParaRPr lang="en-US" sz="1600" dirty="0"/>
          </a:p>
        </p:txBody>
      </p:sp>
      <p:sp>
        <p:nvSpPr>
          <p:cNvPr id="23" name="Text 21"/>
          <p:cNvSpPr/>
          <p:nvPr/>
        </p:nvSpPr>
        <p:spPr>
          <a:xfrm>
            <a:off x="6547104" y="206654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24" name="Text 22"/>
          <p:cNvSpPr/>
          <p:nvPr/>
        </p:nvSpPr>
        <p:spPr>
          <a:xfrm>
            <a:off x="6821424" y="206654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AI execution</a:t>
            </a:r>
            <a:endParaRPr lang="en-US" sz="1050" dirty="0"/>
          </a:p>
        </p:txBody>
      </p:sp>
      <p:sp>
        <p:nvSpPr>
          <p:cNvPr id="25" name="Text 23"/>
          <p:cNvSpPr/>
          <p:nvPr/>
        </p:nvSpPr>
        <p:spPr>
          <a:xfrm>
            <a:off x="8878824" y="206654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26" name="Text 24"/>
          <p:cNvSpPr/>
          <p:nvPr/>
        </p:nvSpPr>
        <p:spPr>
          <a:xfrm>
            <a:off x="9153144" y="206654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Workout generation</a:t>
            </a:r>
            <a:endParaRPr lang="en-US" sz="1050" dirty="0"/>
          </a:p>
        </p:txBody>
      </p:sp>
      <p:sp>
        <p:nvSpPr>
          <p:cNvPr id="27" name="Text 25"/>
          <p:cNvSpPr/>
          <p:nvPr/>
        </p:nvSpPr>
        <p:spPr>
          <a:xfrm>
            <a:off x="6547104" y="252374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28" name="Text 26"/>
          <p:cNvSpPr/>
          <p:nvPr/>
        </p:nvSpPr>
        <p:spPr>
          <a:xfrm>
            <a:off x="6821424" y="252374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Database storage</a:t>
            </a:r>
            <a:endParaRPr lang="en-US" sz="1050" dirty="0"/>
          </a:p>
        </p:txBody>
      </p:sp>
      <p:sp>
        <p:nvSpPr>
          <p:cNvPr id="29" name="Text 27"/>
          <p:cNvSpPr/>
          <p:nvPr/>
        </p:nvSpPr>
        <p:spPr>
          <a:xfrm>
            <a:off x="8878824" y="252374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30" name="Text 28"/>
          <p:cNvSpPr/>
          <p:nvPr/>
        </p:nvSpPr>
        <p:spPr>
          <a:xfrm>
            <a:off x="9153144" y="252374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Mobile display</a:t>
            </a:r>
            <a:endParaRPr lang="en-US" sz="1050" dirty="0"/>
          </a:p>
        </p:txBody>
      </p:sp>
      <p:sp>
        <p:nvSpPr>
          <p:cNvPr id="31" name="Shape 29"/>
          <p:cNvSpPr/>
          <p:nvPr/>
        </p:nvSpPr>
        <p:spPr>
          <a:xfrm>
            <a:off x="10524744" y="2532888"/>
            <a:ext cx="804672" cy="384048"/>
          </a:xfrm>
          <a:prstGeom prst="roundRect">
            <a:avLst>
              <a:gd name="adj" fmla="val 28571"/>
            </a:avLst>
          </a:prstGeom>
          <a:solidFill>
            <a:srgbClr val="EAF9F4"/>
          </a:solidFill>
          <a:ln w="12700">
            <a:solidFill>
              <a:srgbClr val="16C79A"/>
            </a:solidFill>
            <a:prstDash val="solid"/>
          </a:ln>
        </p:spPr>
      </p:sp>
      <p:sp>
        <p:nvSpPr>
          <p:cNvPr id="32" name="Text 30"/>
          <p:cNvSpPr/>
          <p:nvPr/>
        </p:nvSpPr>
        <p:spPr>
          <a:xfrm>
            <a:off x="10597896" y="2651760"/>
            <a:ext cx="658368" cy="128016"/>
          </a:xfrm>
          <a:prstGeom prst="rect">
            <a:avLst/>
          </a:prstGeom>
          <a:noFill/>
          <a:ln/>
        </p:spPr>
        <p:txBody>
          <a:bodyPr wrap="square" lIns="0" tIns="0" rIns="0" bIns="0" rtlCol="0" anchor="ctr"/>
          <a:lstStyle/>
          <a:p>
            <a:pPr marL="0" indent="0" algn="ctr">
              <a:buNone/>
            </a:pPr>
            <a:r>
              <a:rPr lang="en-US" sz="900" b="1" dirty="0">
                <a:solidFill>
                  <a:srgbClr val="16C79A"/>
                </a:solidFill>
              </a:rPr>
              <a:t>PASSED</a:t>
            </a:r>
            <a:endParaRPr lang="en-US" sz="900" dirty="0"/>
          </a:p>
        </p:txBody>
      </p:sp>
      <p:sp>
        <p:nvSpPr>
          <p:cNvPr id="33" name="Shape 31"/>
          <p:cNvSpPr/>
          <p:nvPr/>
        </p:nvSpPr>
        <p:spPr>
          <a:xfrm>
            <a:off x="621792" y="3566160"/>
            <a:ext cx="5285232" cy="2011680"/>
          </a:xfrm>
          <a:prstGeom prst="roundRect">
            <a:avLst>
              <a:gd name="adj" fmla="val 7273"/>
            </a:avLst>
          </a:prstGeom>
          <a:solidFill>
            <a:srgbClr val="FFFFFF"/>
          </a:solidFill>
          <a:ln w="12700">
            <a:solidFill>
              <a:srgbClr val="DCE6EE"/>
            </a:solidFill>
            <a:prstDash val="solid"/>
          </a:ln>
          <a:effectLst/>
        </p:spPr>
      </p:sp>
      <p:sp>
        <p:nvSpPr>
          <p:cNvPr id="34" name="Shape 32"/>
          <p:cNvSpPr/>
          <p:nvPr/>
        </p:nvSpPr>
        <p:spPr>
          <a:xfrm>
            <a:off x="850392" y="3785616"/>
            <a:ext cx="868680" cy="274320"/>
          </a:xfrm>
          <a:prstGeom prst="roundRect">
            <a:avLst>
              <a:gd name="adj" fmla="val 50000"/>
            </a:avLst>
          </a:prstGeom>
          <a:solidFill>
            <a:srgbClr val="EAF2FF"/>
          </a:solidFill>
          <a:ln w="12700">
            <a:solidFill>
              <a:srgbClr val="EAF2FF"/>
            </a:solidFill>
            <a:prstDash val="solid"/>
          </a:ln>
        </p:spPr>
      </p:sp>
      <p:sp>
        <p:nvSpPr>
          <p:cNvPr id="35" name="Text 33"/>
          <p:cNvSpPr/>
          <p:nvPr/>
        </p:nvSpPr>
        <p:spPr>
          <a:xfrm>
            <a:off x="923544" y="3835908"/>
            <a:ext cx="722376" cy="118872"/>
          </a:xfrm>
          <a:prstGeom prst="rect">
            <a:avLst/>
          </a:prstGeom>
          <a:noFill/>
          <a:ln/>
        </p:spPr>
        <p:txBody>
          <a:bodyPr wrap="square" lIns="0" tIns="0" rIns="0" bIns="0" rtlCol="0" anchor="ctr"/>
          <a:lstStyle/>
          <a:p>
            <a:pPr marL="0" indent="0" algn="ctr">
              <a:buNone/>
            </a:pPr>
            <a:r>
              <a:rPr lang="en-US" sz="950" b="1" dirty="0">
                <a:solidFill>
                  <a:srgbClr val="1677FF"/>
                </a:solidFill>
              </a:rPr>
              <a:t>TEST 03</a:t>
            </a:r>
            <a:endParaRPr lang="en-US" sz="950" dirty="0"/>
          </a:p>
        </p:txBody>
      </p:sp>
      <p:sp>
        <p:nvSpPr>
          <p:cNvPr id="36" name="Text 34"/>
          <p:cNvSpPr/>
          <p:nvPr/>
        </p:nvSpPr>
        <p:spPr>
          <a:xfrm>
            <a:off x="1920240" y="3813048"/>
            <a:ext cx="3108960"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0B1F33"/>
                </a:solidFill>
              </a:rPr>
              <a:t>NutriCore AI</a:t>
            </a:r>
            <a:endParaRPr lang="en-US" sz="1600" dirty="0"/>
          </a:p>
        </p:txBody>
      </p:sp>
      <p:sp>
        <p:nvSpPr>
          <p:cNvPr id="37" name="Text 35"/>
          <p:cNvSpPr/>
          <p:nvPr/>
        </p:nvSpPr>
        <p:spPr>
          <a:xfrm>
            <a:off x="896112" y="439826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38" name="Text 36"/>
          <p:cNvSpPr/>
          <p:nvPr/>
        </p:nvSpPr>
        <p:spPr>
          <a:xfrm>
            <a:off x="1170432" y="439826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Meal generation</a:t>
            </a:r>
            <a:endParaRPr lang="en-US" sz="1050" dirty="0"/>
          </a:p>
        </p:txBody>
      </p:sp>
      <p:sp>
        <p:nvSpPr>
          <p:cNvPr id="39" name="Text 37"/>
          <p:cNvSpPr/>
          <p:nvPr/>
        </p:nvSpPr>
        <p:spPr>
          <a:xfrm>
            <a:off x="3227832" y="439826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40" name="Text 38"/>
          <p:cNvSpPr/>
          <p:nvPr/>
        </p:nvSpPr>
        <p:spPr>
          <a:xfrm>
            <a:off x="3502152" y="439826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Allergy filtering</a:t>
            </a:r>
            <a:endParaRPr lang="en-US" sz="1050" dirty="0"/>
          </a:p>
        </p:txBody>
      </p:sp>
      <p:sp>
        <p:nvSpPr>
          <p:cNvPr id="41" name="Text 39"/>
          <p:cNvSpPr/>
          <p:nvPr/>
        </p:nvSpPr>
        <p:spPr>
          <a:xfrm>
            <a:off x="896112" y="485546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42" name="Text 40"/>
          <p:cNvSpPr/>
          <p:nvPr/>
        </p:nvSpPr>
        <p:spPr>
          <a:xfrm>
            <a:off x="1170432" y="485546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Expert approval</a:t>
            </a:r>
            <a:endParaRPr lang="en-US" sz="1050" dirty="0"/>
          </a:p>
        </p:txBody>
      </p:sp>
      <p:sp>
        <p:nvSpPr>
          <p:cNvPr id="43" name="Shape 41"/>
          <p:cNvSpPr/>
          <p:nvPr/>
        </p:nvSpPr>
        <p:spPr>
          <a:xfrm>
            <a:off x="4873752" y="4864608"/>
            <a:ext cx="804672" cy="384048"/>
          </a:xfrm>
          <a:prstGeom prst="roundRect">
            <a:avLst>
              <a:gd name="adj" fmla="val 28571"/>
            </a:avLst>
          </a:prstGeom>
          <a:solidFill>
            <a:srgbClr val="EAF9F4"/>
          </a:solidFill>
          <a:ln w="12700">
            <a:solidFill>
              <a:srgbClr val="16C79A"/>
            </a:solidFill>
            <a:prstDash val="solid"/>
          </a:ln>
        </p:spPr>
      </p:sp>
      <p:sp>
        <p:nvSpPr>
          <p:cNvPr id="44" name="Text 42"/>
          <p:cNvSpPr/>
          <p:nvPr/>
        </p:nvSpPr>
        <p:spPr>
          <a:xfrm>
            <a:off x="4946904" y="4983480"/>
            <a:ext cx="658368" cy="128016"/>
          </a:xfrm>
          <a:prstGeom prst="rect">
            <a:avLst/>
          </a:prstGeom>
          <a:noFill/>
          <a:ln/>
        </p:spPr>
        <p:txBody>
          <a:bodyPr wrap="square" lIns="0" tIns="0" rIns="0" bIns="0" rtlCol="0" anchor="ctr"/>
          <a:lstStyle/>
          <a:p>
            <a:pPr marL="0" indent="0" algn="ctr">
              <a:buNone/>
            </a:pPr>
            <a:r>
              <a:rPr lang="en-US" sz="900" b="1" dirty="0">
                <a:solidFill>
                  <a:srgbClr val="16C79A"/>
                </a:solidFill>
              </a:rPr>
              <a:t>PASSED</a:t>
            </a:r>
            <a:endParaRPr lang="en-US" sz="900" dirty="0"/>
          </a:p>
        </p:txBody>
      </p:sp>
      <p:sp>
        <p:nvSpPr>
          <p:cNvPr id="45" name="Shape 43"/>
          <p:cNvSpPr/>
          <p:nvPr/>
        </p:nvSpPr>
        <p:spPr>
          <a:xfrm>
            <a:off x="6272784" y="3566160"/>
            <a:ext cx="5285232" cy="2011680"/>
          </a:xfrm>
          <a:prstGeom prst="roundRect">
            <a:avLst>
              <a:gd name="adj" fmla="val 7273"/>
            </a:avLst>
          </a:prstGeom>
          <a:solidFill>
            <a:srgbClr val="FFFFFF"/>
          </a:solidFill>
          <a:ln w="12700">
            <a:solidFill>
              <a:srgbClr val="DCE6EE"/>
            </a:solidFill>
            <a:prstDash val="solid"/>
          </a:ln>
          <a:effectLst/>
        </p:spPr>
      </p:sp>
      <p:sp>
        <p:nvSpPr>
          <p:cNvPr id="46" name="Shape 44"/>
          <p:cNvSpPr/>
          <p:nvPr/>
        </p:nvSpPr>
        <p:spPr>
          <a:xfrm>
            <a:off x="6501384" y="3785616"/>
            <a:ext cx="868680" cy="274320"/>
          </a:xfrm>
          <a:prstGeom prst="roundRect">
            <a:avLst>
              <a:gd name="adj" fmla="val 50000"/>
            </a:avLst>
          </a:prstGeom>
          <a:solidFill>
            <a:srgbClr val="EAF2FF"/>
          </a:solidFill>
          <a:ln w="12700">
            <a:solidFill>
              <a:srgbClr val="EAF2FF"/>
            </a:solidFill>
            <a:prstDash val="solid"/>
          </a:ln>
        </p:spPr>
      </p:sp>
      <p:sp>
        <p:nvSpPr>
          <p:cNvPr id="47" name="Text 45"/>
          <p:cNvSpPr/>
          <p:nvPr/>
        </p:nvSpPr>
        <p:spPr>
          <a:xfrm>
            <a:off x="6574536" y="3835908"/>
            <a:ext cx="722376" cy="118872"/>
          </a:xfrm>
          <a:prstGeom prst="rect">
            <a:avLst/>
          </a:prstGeom>
          <a:noFill/>
          <a:ln/>
        </p:spPr>
        <p:txBody>
          <a:bodyPr wrap="square" lIns="0" tIns="0" rIns="0" bIns="0" rtlCol="0" anchor="ctr"/>
          <a:lstStyle/>
          <a:p>
            <a:pPr marL="0" indent="0" algn="ctr">
              <a:buNone/>
            </a:pPr>
            <a:r>
              <a:rPr lang="en-US" sz="950" b="1" dirty="0">
                <a:solidFill>
                  <a:srgbClr val="1677FF"/>
                </a:solidFill>
              </a:rPr>
              <a:t>TEST 04</a:t>
            </a:r>
            <a:endParaRPr lang="en-US" sz="950" dirty="0"/>
          </a:p>
        </p:txBody>
      </p:sp>
      <p:sp>
        <p:nvSpPr>
          <p:cNvPr id="48" name="Text 46"/>
          <p:cNvSpPr/>
          <p:nvPr/>
        </p:nvSpPr>
        <p:spPr>
          <a:xfrm>
            <a:off x="7571232" y="3813048"/>
            <a:ext cx="3108960"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0B1F33"/>
                </a:solidFill>
              </a:rPr>
              <a:t>PoseForm AI</a:t>
            </a:r>
            <a:endParaRPr lang="en-US" sz="1600" dirty="0"/>
          </a:p>
        </p:txBody>
      </p:sp>
      <p:sp>
        <p:nvSpPr>
          <p:cNvPr id="49" name="Text 47"/>
          <p:cNvSpPr/>
          <p:nvPr/>
        </p:nvSpPr>
        <p:spPr>
          <a:xfrm>
            <a:off x="6547104" y="439826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50" name="Text 48"/>
          <p:cNvSpPr/>
          <p:nvPr/>
        </p:nvSpPr>
        <p:spPr>
          <a:xfrm>
            <a:off x="6821424" y="439826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Video upload</a:t>
            </a:r>
            <a:endParaRPr lang="en-US" sz="1050" dirty="0"/>
          </a:p>
        </p:txBody>
      </p:sp>
      <p:sp>
        <p:nvSpPr>
          <p:cNvPr id="51" name="Text 49"/>
          <p:cNvSpPr/>
          <p:nvPr/>
        </p:nvSpPr>
        <p:spPr>
          <a:xfrm>
            <a:off x="8878824" y="439826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52" name="Text 50"/>
          <p:cNvSpPr/>
          <p:nvPr/>
        </p:nvSpPr>
        <p:spPr>
          <a:xfrm>
            <a:off x="9153144" y="439826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Pose detection</a:t>
            </a:r>
            <a:endParaRPr lang="en-US" sz="1050" dirty="0"/>
          </a:p>
        </p:txBody>
      </p:sp>
      <p:sp>
        <p:nvSpPr>
          <p:cNvPr id="53" name="Text 51"/>
          <p:cNvSpPr/>
          <p:nvPr/>
        </p:nvSpPr>
        <p:spPr>
          <a:xfrm>
            <a:off x="6547104" y="485546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54" name="Text 52"/>
          <p:cNvSpPr/>
          <p:nvPr/>
        </p:nvSpPr>
        <p:spPr>
          <a:xfrm>
            <a:off x="6821424" y="485546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Repetition counting</a:t>
            </a:r>
            <a:endParaRPr lang="en-US" sz="1050" dirty="0"/>
          </a:p>
        </p:txBody>
      </p:sp>
      <p:sp>
        <p:nvSpPr>
          <p:cNvPr id="55" name="Text 53"/>
          <p:cNvSpPr/>
          <p:nvPr/>
        </p:nvSpPr>
        <p:spPr>
          <a:xfrm>
            <a:off x="8878824" y="4855464"/>
            <a:ext cx="201168" cy="201168"/>
          </a:xfrm>
          <a:prstGeom prst="rect">
            <a:avLst/>
          </a:prstGeom>
          <a:noFill/>
          <a:ln/>
        </p:spPr>
        <p:txBody>
          <a:bodyPr wrap="square" lIns="0" tIns="0" rIns="0" bIns="0" rtlCol="0" anchor="ctr"/>
          <a:lstStyle/>
          <a:p>
            <a:pPr marL="0" indent="0">
              <a:buNone/>
            </a:pPr>
            <a:r>
              <a:rPr lang="en-US" sz="1300" b="1" dirty="0">
                <a:solidFill>
                  <a:srgbClr val="12B76A"/>
                </a:solidFill>
              </a:rPr>
              <a:t>✓</a:t>
            </a:r>
            <a:endParaRPr lang="en-US" sz="1300" dirty="0"/>
          </a:p>
        </p:txBody>
      </p:sp>
      <p:sp>
        <p:nvSpPr>
          <p:cNvPr id="56" name="Text 54"/>
          <p:cNvSpPr/>
          <p:nvPr/>
        </p:nvSpPr>
        <p:spPr>
          <a:xfrm>
            <a:off x="9153144" y="4855464"/>
            <a:ext cx="1783080" cy="201168"/>
          </a:xfrm>
          <a:prstGeom prst="rect">
            <a:avLst/>
          </a:prstGeom>
          <a:noFill/>
          <a:ln/>
        </p:spPr>
        <p:txBody>
          <a:bodyPr wrap="square" lIns="0" tIns="0" rIns="0" bIns="0" rtlCol="0" anchor="ctr">
            <a:normAutofit/>
          </a:bodyPr>
          <a:lstStyle/>
          <a:p>
            <a:pPr marL="0" indent="0">
              <a:buNone/>
            </a:pPr>
            <a:r>
              <a:rPr lang="en-US" sz="1050" dirty="0">
                <a:solidFill>
                  <a:srgbClr val="182230"/>
                </a:solidFill>
              </a:rPr>
              <a:t>Form evaluation</a:t>
            </a:r>
            <a:endParaRPr lang="en-US" sz="1050" dirty="0"/>
          </a:p>
        </p:txBody>
      </p:sp>
      <p:sp>
        <p:nvSpPr>
          <p:cNvPr id="57" name="Shape 55"/>
          <p:cNvSpPr/>
          <p:nvPr/>
        </p:nvSpPr>
        <p:spPr>
          <a:xfrm>
            <a:off x="10524744" y="4864608"/>
            <a:ext cx="804672" cy="384048"/>
          </a:xfrm>
          <a:prstGeom prst="roundRect">
            <a:avLst>
              <a:gd name="adj" fmla="val 28571"/>
            </a:avLst>
          </a:prstGeom>
          <a:solidFill>
            <a:srgbClr val="EAF9F4"/>
          </a:solidFill>
          <a:ln w="12700">
            <a:solidFill>
              <a:srgbClr val="16C79A"/>
            </a:solidFill>
            <a:prstDash val="solid"/>
          </a:ln>
        </p:spPr>
      </p:sp>
      <p:sp>
        <p:nvSpPr>
          <p:cNvPr id="58" name="Text 56"/>
          <p:cNvSpPr/>
          <p:nvPr/>
        </p:nvSpPr>
        <p:spPr>
          <a:xfrm>
            <a:off x="10597896" y="4983480"/>
            <a:ext cx="658368" cy="128016"/>
          </a:xfrm>
          <a:prstGeom prst="rect">
            <a:avLst/>
          </a:prstGeom>
          <a:noFill/>
          <a:ln/>
        </p:spPr>
        <p:txBody>
          <a:bodyPr wrap="square" lIns="0" tIns="0" rIns="0" bIns="0" rtlCol="0" anchor="ctr"/>
          <a:lstStyle/>
          <a:p>
            <a:pPr marL="0" indent="0" algn="ctr">
              <a:buNone/>
            </a:pPr>
            <a:r>
              <a:rPr lang="en-US" sz="900" b="1" dirty="0">
                <a:solidFill>
                  <a:srgbClr val="16C79A"/>
                </a:solidFill>
              </a:rPr>
              <a:t>PASSED</a:t>
            </a:r>
            <a:endParaRPr lang="en-US" sz="900" dirty="0"/>
          </a:p>
        </p:txBody>
      </p:sp>
      <p:sp>
        <p:nvSpPr>
          <p:cNvPr id="59" name="Slide Number Placeholder 0"/>
          <p:cNvSpPr>
            <a:spLocks noGrp="1"/>
          </p:cNvSpPr>
          <p:nvPr>
            <p:ph type="sldNum" sz="quarter" idx="4294967295"/>
          </p:nvPr>
        </p:nvSpPr>
        <p:spPr>
          <a:xfrm>
            <a:off x="11777472" y="6510528"/>
            <a:ext cx="201168"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98A2B3"/>
                </a:solidFill>
                <a:latin typeface="Aptos"/>
                <a:ea typeface="Aptos"/>
                <a:cs typeface="Aptos"/>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TECHNICAL OUTCOMES</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Key Results</a:t>
            </a:r>
            <a:endParaRPr lang="en-US" sz="2800" dirty="0"/>
          </a:p>
        </p:txBody>
      </p:sp>
      <p:sp>
        <p:nvSpPr>
          <p:cNvPr id="4" name="Shape 2"/>
          <p:cNvSpPr/>
          <p:nvPr/>
        </p:nvSpPr>
        <p:spPr>
          <a:xfrm>
            <a:off x="502920" y="1417320"/>
            <a:ext cx="2084832" cy="2057400"/>
          </a:xfrm>
          <a:prstGeom prst="roundRect">
            <a:avLst>
              <a:gd name="adj" fmla="val 4444"/>
            </a:avLst>
          </a:prstGeom>
          <a:solidFill>
            <a:srgbClr val="FFFFFF"/>
          </a:solidFill>
          <a:ln w="12700">
            <a:solidFill>
              <a:srgbClr val="E2E8F0"/>
            </a:solidFill>
            <a:prstDash val="solid"/>
          </a:ln>
          <a:effectLst/>
        </p:spPr>
      </p:sp>
      <p:sp>
        <p:nvSpPr>
          <p:cNvPr id="5" name="Text 3"/>
          <p:cNvSpPr/>
          <p:nvPr/>
        </p:nvSpPr>
        <p:spPr>
          <a:xfrm>
            <a:off x="640080" y="1828800"/>
            <a:ext cx="1810512" cy="502920"/>
          </a:xfrm>
          <a:prstGeom prst="rect">
            <a:avLst/>
          </a:prstGeom>
          <a:noFill/>
          <a:ln/>
        </p:spPr>
        <p:txBody>
          <a:bodyPr wrap="square" lIns="0" tIns="0" rIns="0" bIns="0" rtlCol="0" anchor="ctr">
            <a:normAutofit/>
          </a:bodyPr>
          <a:lstStyle/>
          <a:p>
            <a:pPr marL="0" indent="0" algn="ctr">
              <a:buNone/>
            </a:pPr>
            <a:r>
              <a:rPr lang="en-US" sz="2700" b="1" dirty="0">
                <a:solidFill>
                  <a:srgbClr val="0F172A"/>
                </a:solidFill>
              </a:rPr>
              <a:t>0.0329</a:t>
            </a:r>
            <a:endParaRPr lang="en-US" sz="2700" dirty="0"/>
          </a:p>
        </p:txBody>
      </p:sp>
      <p:sp>
        <p:nvSpPr>
          <p:cNvPr id="6" name="Text 4"/>
          <p:cNvSpPr/>
          <p:nvPr/>
        </p:nvSpPr>
        <p:spPr>
          <a:xfrm>
            <a:off x="640080" y="2359152"/>
            <a:ext cx="1810512"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TrainCore Validation MAE</a:t>
            </a:r>
            <a:endParaRPr lang="en-US" sz="1050" dirty="0"/>
          </a:p>
        </p:txBody>
      </p:sp>
      <p:sp>
        <p:nvSpPr>
          <p:cNvPr id="7" name="Shape 5"/>
          <p:cNvSpPr/>
          <p:nvPr/>
        </p:nvSpPr>
        <p:spPr>
          <a:xfrm>
            <a:off x="2816352" y="1417320"/>
            <a:ext cx="2084832" cy="2057400"/>
          </a:xfrm>
          <a:prstGeom prst="roundRect">
            <a:avLst>
              <a:gd name="adj" fmla="val 4444"/>
            </a:avLst>
          </a:prstGeom>
          <a:solidFill>
            <a:srgbClr val="FFFFFF"/>
          </a:solidFill>
          <a:ln w="12700">
            <a:solidFill>
              <a:srgbClr val="E2E8F0"/>
            </a:solidFill>
            <a:prstDash val="solid"/>
          </a:ln>
          <a:effectLst/>
        </p:spPr>
      </p:sp>
      <p:sp>
        <p:nvSpPr>
          <p:cNvPr id="8" name="Text 6"/>
          <p:cNvSpPr/>
          <p:nvPr/>
        </p:nvSpPr>
        <p:spPr>
          <a:xfrm>
            <a:off x="2953512" y="1828800"/>
            <a:ext cx="1810512" cy="502920"/>
          </a:xfrm>
          <a:prstGeom prst="rect">
            <a:avLst/>
          </a:prstGeom>
          <a:noFill/>
          <a:ln/>
        </p:spPr>
        <p:txBody>
          <a:bodyPr wrap="square" lIns="0" tIns="0" rIns="0" bIns="0" rtlCol="0" anchor="ctr">
            <a:normAutofit/>
          </a:bodyPr>
          <a:lstStyle/>
          <a:p>
            <a:pPr marL="0" indent="0" algn="ctr">
              <a:buNone/>
            </a:pPr>
            <a:r>
              <a:rPr lang="en-US" sz="2700" b="1" dirty="0">
                <a:solidFill>
                  <a:srgbClr val="0F172A"/>
                </a:solidFill>
              </a:rPr>
              <a:t>99%</a:t>
            </a:r>
            <a:endParaRPr lang="en-US" sz="2700" dirty="0"/>
          </a:p>
        </p:txBody>
      </p:sp>
      <p:sp>
        <p:nvSpPr>
          <p:cNvPr id="9" name="Text 7"/>
          <p:cNvSpPr/>
          <p:nvPr/>
        </p:nvSpPr>
        <p:spPr>
          <a:xfrm>
            <a:off x="2953512" y="2359152"/>
            <a:ext cx="1810512"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NutriCore Training Accuracy</a:t>
            </a:r>
            <a:endParaRPr lang="en-US" sz="1050" dirty="0"/>
          </a:p>
        </p:txBody>
      </p:sp>
      <p:sp>
        <p:nvSpPr>
          <p:cNvPr id="10" name="Shape 8"/>
          <p:cNvSpPr/>
          <p:nvPr/>
        </p:nvSpPr>
        <p:spPr>
          <a:xfrm>
            <a:off x="5129784" y="1417320"/>
            <a:ext cx="2084832" cy="2057400"/>
          </a:xfrm>
          <a:prstGeom prst="roundRect">
            <a:avLst>
              <a:gd name="adj" fmla="val 4444"/>
            </a:avLst>
          </a:prstGeom>
          <a:solidFill>
            <a:srgbClr val="FFFFFF"/>
          </a:solidFill>
          <a:ln w="12700">
            <a:solidFill>
              <a:srgbClr val="E2E8F0"/>
            </a:solidFill>
            <a:prstDash val="solid"/>
          </a:ln>
          <a:effectLst/>
        </p:spPr>
      </p:sp>
      <p:sp>
        <p:nvSpPr>
          <p:cNvPr id="11" name="Text 9"/>
          <p:cNvSpPr/>
          <p:nvPr/>
        </p:nvSpPr>
        <p:spPr>
          <a:xfrm>
            <a:off x="5266944" y="1828800"/>
            <a:ext cx="1810512" cy="502920"/>
          </a:xfrm>
          <a:prstGeom prst="rect">
            <a:avLst/>
          </a:prstGeom>
          <a:noFill/>
          <a:ln/>
        </p:spPr>
        <p:txBody>
          <a:bodyPr wrap="square" lIns="0" tIns="0" rIns="0" bIns="0" rtlCol="0" anchor="ctr">
            <a:normAutofit/>
          </a:bodyPr>
          <a:lstStyle/>
          <a:p>
            <a:pPr marL="0" indent="0" algn="ctr">
              <a:buNone/>
            </a:pPr>
            <a:r>
              <a:rPr lang="en-US" sz="2700" b="1" dirty="0">
                <a:solidFill>
                  <a:srgbClr val="0F172A"/>
                </a:solidFill>
              </a:rPr>
              <a:t>100%</a:t>
            </a:r>
            <a:endParaRPr lang="en-US" sz="2700" dirty="0"/>
          </a:p>
        </p:txBody>
      </p:sp>
      <p:sp>
        <p:nvSpPr>
          <p:cNvPr id="12" name="Text 10"/>
          <p:cNvSpPr/>
          <p:nvPr/>
        </p:nvSpPr>
        <p:spPr>
          <a:xfrm>
            <a:off x="5266944" y="2359152"/>
            <a:ext cx="1810512"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NutriCore Validation Accuracy</a:t>
            </a:r>
            <a:endParaRPr lang="en-US" sz="1050" dirty="0"/>
          </a:p>
        </p:txBody>
      </p:sp>
      <p:sp>
        <p:nvSpPr>
          <p:cNvPr id="13" name="Shape 11"/>
          <p:cNvSpPr/>
          <p:nvPr/>
        </p:nvSpPr>
        <p:spPr>
          <a:xfrm>
            <a:off x="7443216" y="1417320"/>
            <a:ext cx="2084832" cy="2057400"/>
          </a:xfrm>
          <a:prstGeom prst="roundRect">
            <a:avLst>
              <a:gd name="adj" fmla="val 4444"/>
            </a:avLst>
          </a:prstGeom>
          <a:solidFill>
            <a:srgbClr val="ECFDF5"/>
          </a:solidFill>
          <a:ln w="12700">
            <a:solidFill>
              <a:srgbClr val="E2E8F0"/>
            </a:solidFill>
            <a:prstDash val="solid"/>
          </a:ln>
          <a:effectLst/>
        </p:spPr>
      </p:sp>
      <p:sp>
        <p:nvSpPr>
          <p:cNvPr id="14" name="Text 12"/>
          <p:cNvSpPr/>
          <p:nvPr/>
        </p:nvSpPr>
        <p:spPr>
          <a:xfrm>
            <a:off x="7580376" y="1828800"/>
            <a:ext cx="1810512" cy="502920"/>
          </a:xfrm>
          <a:prstGeom prst="rect">
            <a:avLst/>
          </a:prstGeom>
          <a:noFill/>
          <a:ln/>
        </p:spPr>
        <p:txBody>
          <a:bodyPr wrap="square" lIns="0" tIns="0" rIns="0" bIns="0" rtlCol="0" anchor="ctr">
            <a:normAutofit/>
          </a:bodyPr>
          <a:lstStyle/>
          <a:p>
            <a:pPr marL="0" indent="0" algn="ctr">
              <a:buNone/>
            </a:pPr>
            <a:r>
              <a:rPr lang="en-US" sz="2700" b="1" dirty="0">
                <a:solidFill>
                  <a:srgbClr val="10B981"/>
                </a:solidFill>
              </a:rPr>
              <a:t>100%</a:t>
            </a:r>
            <a:endParaRPr lang="en-US" sz="2700" dirty="0"/>
          </a:p>
        </p:txBody>
      </p:sp>
      <p:sp>
        <p:nvSpPr>
          <p:cNvPr id="15" name="Text 13"/>
          <p:cNvSpPr/>
          <p:nvPr/>
        </p:nvSpPr>
        <p:spPr>
          <a:xfrm>
            <a:off x="7580376" y="2359152"/>
            <a:ext cx="1810512"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Allergy Filtering</a:t>
            </a:r>
            <a:endParaRPr lang="en-US" sz="1050" dirty="0"/>
          </a:p>
        </p:txBody>
      </p:sp>
      <p:sp>
        <p:nvSpPr>
          <p:cNvPr id="16" name="Shape 14"/>
          <p:cNvSpPr/>
          <p:nvPr/>
        </p:nvSpPr>
        <p:spPr>
          <a:xfrm>
            <a:off x="9756648" y="1417320"/>
            <a:ext cx="2084832" cy="2057400"/>
          </a:xfrm>
          <a:prstGeom prst="roundRect">
            <a:avLst>
              <a:gd name="adj" fmla="val 4444"/>
            </a:avLst>
          </a:prstGeom>
          <a:solidFill>
            <a:srgbClr val="FFFFFF"/>
          </a:solidFill>
          <a:ln w="12700">
            <a:solidFill>
              <a:srgbClr val="E2E8F0"/>
            </a:solidFill>
            <a:prstDash val="solid"/>
          </a:ln>
          <a:effectLst/>
        </p:spPr>
      </p:sp>
      <p:sp>
        <p:nvSpPr>
          <p:cNvPr id="17" name="Text 15"/>
          <p:cNvSpPr/>
          <p:nvPr/>
        </p:nvSpPr>
        <p:spPr>
          <a:xfrm>
            <a:off x="9893808" y="1828800"/>
            <a:ext cx="1810512" cy="502920"/>
          </a:xfrm>
          <a:prstGeom prst="rect">
            <a:avLst/>
          </a:prstGeom>
          <a:noFill/>
          <a:ln/>
        </p:spPr>
        <p:txBody>
          <a:bodyPr wrap="square" lIns="0" tIns="0" rIns="0" bIns="0" rtlCol="0" anchor="ctr">
            <a:normAutofit/>
          </a:bodyPr>
          <a:lstStyle/>
          <a:p>
            <a:pPr marL="0" indent="0" algn="ctr">
              <a:buNone/>
            </a:pPr>
            <a:r>
              <a:rPr lang="en-US" sz="2700" b="1" dirty="0">
                <a:solidFill>
                  <a:srgbClr val="8B5CF6"/>
                </a:solidFill>
              </a:rPr>
              <a:t>17/17</a:t>
            </a:r>
            <a:endParaRPr lang="en-US" sz="2700" dirty="0"/>
          </a:p>
        </p:txBody>
      </p:sp>
      <p:sp>
        <p:nvSpPr>
          <p:cNvPr id="18" name="Text 16"/>
          <p:cNvSpPr/>
          <p:nvPr/>
        </p:nvSpPr>
        <p:spPr>
          <a:xfrm>
            <a:off x="9893808" y="2359152"/>
            <a:ext cx="1810512" cy="411480"/>
          </a:xfrm>
          <a:prstGeom prst="rect">
            <a:avLst/>
          </a:prstGeom>
          <a:noFill/>
          <a:ln/>
        </p:spPr>
        <p:txBody>
          <a:bodyPr wrap="square" lIns="0" tIns="0" rIns="0" bIns="0" rtlCol="0" anchor="t">
            <a:normAutofit/>
          </a:bodyPr>
          <a:lstStyle/>
          <a:p>
            <a:pPr marL="0" indent="0" algn="ctr">
              <a:buNone/>
            </a:pPr>
            <a:r>
              <a:rPr lang="en-US" sz="1050" dirty="0">
                <a:solidFill>
                  <a:srgbClr val="64748B"/>
                </a:solidFill>
              </a:rPr>
              <a:t>PoseForm Template Validation</a:t>
            </a:r>
            <a:endParaRPr lang="en-US" sz="1050" dirty="0"/>
          </a:p>
        </p:txBody>
      </p:sp>
      <p:sp>
        <p:nvSpPr>
          <p:cNvPr id="19" name="Shape 17"/>
          <p:cNvSpPr/>
          <p:nvPr/>
        </p:nvSpPr>
        <p:spPr>
          <a:xfrm>
            <a:off x="713232" y="3977640"/>
            <a:ext cx="10744200" cy="1417320"/>
          </a:xfrm>
          <a:prstGeom prst="roundRect">
            <a:avLst>
              <a:gd name="adj" fmla="val 6452"/>
            </a:avLst>
          </a:prstGeom>
          <a:solidFill>
            <a:srgbClr val="0F172A"/>
          </a:solidFill>
          <a:ln w="12700">
            <a:solidFill>
              <a:srgbClr val="0F172A"/>
            </a:solidFill>
            <a:prstDash val="solid"/>
          </a:ln>
          <a:effectLst/>
        </p:spPr>
      </p:sp>
      <p:sp>
        <p:nvSpPr>
          <p:cNvPr id="20" name="Text 18"/>
          <p:cNvSpPr/>
          <p:nvPr/>
        </p:nvSpPr>
        <p:spPr>
          <a:xfrm>
            <a:off x="1097280" y="4334256"/>
            <a:ext cx="9966960" cy="603504"/>
          </a:xfrm>
          <a:prstGeom prst="rect">
            <a:avLst/>
          </a:prstGeom>
          <a:noFill/>
          <a:ln/>
        </p:spPr>
        <p:txBody>
          <a:bodyPr wrap="square" lIns="0" tIns="0" rIns="0" bIns="0" rtlCol="0" anchor="ctr">
            <a:normAutofit fontScale="92500"/>
          </a:bodyPr>
          <a:lstStyle/>
          <a:p>
            <a:pPr marL="0" indent="0" algn="ctr">
              <a:buNone/>
            </a:pPr>
            <a:r>
              <a:rPr lang="en-US" sz="1500" dirty="0">
                <a:solidFill>
                  <a:srgbClr val="FFFFFF"/>
                </a:solidFill>
              </a:rPr>
              <a:t>The prototype integrates multiple forms of artificial intelligence into one mobile system. TrainCore produced stable suitability predictions, NutriCore combined high validation performance with safety filtering, and PoseForm returned structured exercise feedback.</a:t>
            </a:r>
            <a:endParaRPr lang="en-US" sz="1500" dirty="0"/>
          </a:p>
        </p:txBody>
      </p:sp>
      <p:sp>
        <p:nvSpPr>
          <p:cNvPr id="25"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LIMITATIONS &amp; FUTURE DEVELOPMENT</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From Functional Prototype to Production System</a:t>
            </a:r>
            <a:endParaRPr lang="en-US" sz="2800" dirty="0"/>
          </a:p>
        </p:txBody>
      </p:sp>
      <p:sp>
        <p:nvSpPr>
          <p:cNvPr id="4" name="Shape 2"/>
          <p:cNvSpPr/>
          <p:nvPr/>
        </p:nvSpPr>
        <p:spPr>
          <a:xfrm>
            <a:off x="685800" y="1325880"/>
            <a:ext cx="6492240" cy="4343400"/>
          </a:xfrm>
          <a:prstGeom prst="roundRect">
            <a:avLst>
              <a:gd name="adj" fmla="val 2105"/>
            </a:avLst>
          </a:prstGeom>
          <a:solidFill>
            <a:srgbClr val="FFFFFF"/>
          </a:solidFill>
          <a:ln w="12700">
            <a:solidFill>
              <a:srgbClr val="E2E8F0"/>
            </a:solidFill>
            <a:prstDash val="solid"/>
          </a:ln>
          <a:effectLst/>
        </p:spPr>
      </p:sp>
      <p:sp>
        <p:nvSpPr>
          <p:cNvPr id="5" name="Text 3"/>
          <p:cNvSpPr/>
          <p:nvPr/>
        </p:nvSpPr>
        <p:spPr>
          <a:xfrm>
            <a:off x="1051560" y="1783080"/>
            <a:ext cx="5760720" cy="1508760"/>
          </a:xfrm>
          <a:prstGeom prst="rect">
            <a:avLst/>
          </a:prstGeom>
          <a:noFill/>
          <a:ln/>
        </p:spPr>
        <p:txBody>
          <a:bodyPr wrap="square" lIns="254" tIns="254" rIns="254" bIns="254" rtlCol="0" anchor="ctr">
            <a:normAutofit lnSpcReduction="10000"/>
          </a:bodyPr>
          <a:lstStyle/>
          <a:p>
            <a:pPr marL="0" indent="0">
              <a:buNone/>
            </a:pPr>
            <a:r>
              <a:rPr lang="en-US" sz="1700" dirty="0">
                <a:solidFill>
                  <a:srgbClr val="111827"/>
                </a:solidFill>
              </a:rPr>
              <a:t>The current system is a functional prototype validated mainly in a local development environment. The datasets remain limited compared with commercial platforms, PoseForm depends on recorded videos and recording conditions, and long-term validation with a large population of real users has not yet been performed.</a:t>
            </a:r>
            <a:endParaRPr lang="en-US" sz="1700" dirty="0"/>
          </a:p>
        </p:txBody>
      </p:sp>
      <p:sp>
        <p:nvSpPr>
          <p:cNvPr id="6" name="Text 4"/>
          <p:cNvSpPr/>
          <p:nvPr/>
        </p:nvSpPr>
        <p:spPr>
          <a:xfrm>
            <a:off x="1051560" y="3657600"/>
            <a:ext cx="5760720" cy="1325880"/>
          </a:xfrm>
          <a:prstGeom prst="rect">
            <a:avLst/>
          </a:prstGeom>
          <a:noFill/>
          <a:ln/>
        </p:spPr>
        <p:txBody>
          <a:bodyPr wrap="square" lIns="254" tIns="254" rIns="254" bIns="254" rtlCol="0" anchor="ctr">
            <a:normAutofit/>
          </a:bodyPr>
          <a:lstStyle/>
          <a:p>
            <a:pPr marL="0" indent="0">
              <a:buNone/>
            </a:pPr>
            <a:r>
              <a:rPr lang="en-US" sz="1700" dirty="0">
                <a:solidFill>
                  <a:srgbClr val="111827"/>
                </a:solidFill>
              </a:rPr>
              <a:t>Future development can expand the datasets, introduce more regional nutrition data, support more exercises, improve analysis across varied conditions, enable real-time feedback, and move toward secure production deployment.</a:t>
            </a:r>
            <a:endParaRPr lang="en-US" sz="1700" dirty="0"/>
          </a:p>
        </p:txBody>
      </p:sp>
      <p:sp>
        <p:nvSpPr>
          <p:cNvPr id="7" name="Shape 5"/>
          <p:cNvSpPr/>
          <p:nvPr/>
        </p:nvSpPr>
        <p:spPr>
          <a:xfrm>
            <a:off x="7726680" y="1417320"/>
            <a:ext cx="3474720" cy="777240"/>
          </a:xfrm>
          <a:prstGeom prst="roundRect">
            <a:avLst>
              <a:gd name="adj" fmla="val 11765"/>
            </a:avLst>
          </a:prstGeom>
          <a:solidFill>
            <a:srgbClr val="F1F5F9"/>
          </a:solidFill>
          <a:ln w="12700">
            <a:solidFill>
              <a:srgbClr val="F1F5F9"/>
            </a:solidFill>
            <a:prstDash val="solid"/>
          </a:ln>
        </p:spPr>
      </p:sp>
      <p:sp>
        <p:nvSpPr>
          <p:cNvPr id="8" name="Text 6"/>
          <p:cNvSpPr/>
          <p:nvPr/>
        </p:nvSpPr>
        <p:spPr>
          <a:xfrm>
            <a:off x="8001000" y="1572768"/>
            <a:ext cx="914400" cy="182880"/>
          </a:xfrm>
          <a:prstGeom prst="rect">
            <a:avLst/>
          </a:prstGeom>
          <a:noFill/>
          <a:ln/>
        </p:spPr>
        <p:txBody>
          <a:bodyPr wrap="square" lIns="0" tIns="0" rIns="0" bIns="0" rtlCol="0" anchor="ctr"/>
          <a:lstStyle/>
          <a:p>
            <a:pPr marL="0" indent="0">
              <a:buNone/>
            </a:pPr>
            <a:r>
              <a:rPr lang="en-US" sz="1100" b="1" dirty="0">
                <a:solidFill>
                  <a:srgbClr val="111827"/>
                </a:solidFill>
              </a:rPr>
              <a:t>DATA</a:t>
            </a:r>
            <a:endParaRPr lang="en-US" sz="1100" dirty="0"/>
          </a:p>
        </p:txBody>
      </p:sp>
      <p:sp>
        <p:nvSpPr>
          <p:cNvPr id="9" name="Text 7"/>
          <p:cNvSpPr/>
          <p:nvPr/>
        </p:nvSpPr>
        <p:spPr>
          <a:xfrm>
            <a:off x="8915400" y="1572768"/>
            <a:ext cx="1965960" cy="310896"/>
          </a:xfrm>
          <a:prstGeom prst="rect">
            <a:avLst/>
          </a:prstGeom>
          <a:noFill/>
          <a:ln/>
        </p:spPr>
        <p:txBody>
          <a:bodyPr wrap="square" lIns="0" tIns="0" rIns="0" bIns="0" rtlCol="0" anchor="ctr">
            <a:normAutofit/>
          </a:bodyPr>
          <a:lstStyle/>
          <a:p>
            <a:pPr marL="0" indent="0">
              <a:buNone/>
            </a:pPr>
            <a:r>
              <a:rPr lang="en-US" sz="1100" dirty="0">
                <a:solidFill>
                  <a:srgbClr val="64748B"/>
                </a:solidFill>
              </a:rPr>
              <a:t>Larger + more diverse</a:t>
            </a:r>
            <a:endParaRPr lang="en-US" sz="1100" dirty="0"/>
          </a:p>
        </p:txBody>
      </p:sp>
      <p:sp>
        <p:nvSpPr>
          <p:cNvPr id="10" name="Shape 8"/>
          <p:cNvSpPr/>
          <p:nvPr/>
        </p:nvSpPr>
        <p:spPr>
          <a:xfrm>
            <a:off x="7726680" y="2468880"/>
            <a:ext cx="3474720" cy="777240"/>
          </a:xfrm>
          <a:prstGeom prst="roundRect">
            <a:avLst>
              <a:gd name="adj" fmla="val 11765"/>
            </a:avLst>
          </a:prstGeom>
          <a:solidFill>
            <a:srgbClr val="F1F5F9"/>
          </a:solidFill>
          <a:ln w="12700">
            <a:solidFill>
              <a:srgbClr val="F1F5F9"/>
            </a:solidFill>
            <a:prstDash val="solid"/>
          </a:ln>
        </p:spPr>
      </p:sp>
      <p:sp>
        <p:nvSpPr>
          <p:cNvPr id="11" name="Text 9"/>
          <p:cNvSpPr/>
          <p:nvPr/>
        </p:nvSpPr>
        <p:spPr>
          <a:xfrm>
            <a:off x="8001000" y="2624328"/>
            <a:ext cx="914400" cy="182880"/>
          </a:xfrm>
          <a:prstGeom prst="rect">
            <a:avLst/>
          </a:prstGeom>
          <a:noFill/>
          <a:ln/>
        </p:spPr>
        <p:txBody>
          <a:bodyPr wrap="square" lIns="0" tIns="0" rIns="0" bIns="0" rtlCol="0" anchor="ctr"/>
          <a:lstStyle/>
          <a:p>
            <a:pPr marL="0" indent="0">
              <a:buNone/>
            </a:pPr>
            <a:r>
              <a:rPr lang="en-US" sz="1100" b="1" dirty="0">
                <a:solidFill>
                  <a:srgbClr val="111827"/>
                </a:solidFill>
              </a:rPr>
              <a:t>VISION</a:t>
            </a:r>
            <a:endParaRPr lang="en-US" sz="1100" dirty="0"/>
          </a:p>
        </p:txBody>
      </p:sp>
      <p:sp>
        <p:nvSpPr>
          <p:cNvPr id="12" name="Text 10"/>
          <p:cNvSpPr/>
          <p:nvPr/>
        </p:nvSpPr>
        <p:spPr>
          <a:xfrm>
            <a:off x="8915400" y="2624328"/>
            <a:ext cx="1965960" cy="310896"/>
          </a:xfrm>
          <a:prstGeom prst="rect">
            <a:avLst/>
          </a:prstGeom>
          <a:noFill/>
          <a:ln/>
        </p:spPr>
        <p:txBody>
          <a:bodyPr wrap="square" lIns="0" tIns="0" rIns="0" bIns="0" rtlCol="0" anchor="ctr">
            <a:normAutofit/>
          </a:bodyPr>
          <a:lstStyle/>
          <a:p>
            <a:pPr marL="0" indent="0">
              <a:buNone/>
            </a:pPr>
            <a:r>
              <a:rPr lang="en-US" sz="1100" dirty="0">
                <a:solidFill>
                  <a:srgbClr val="64748B"/>
                </a:solidFill>
              </a:rPr>
              <a:t>More exercises + conditions</a:t>
            </a:r>
            <a:endParaRPr lang="en-US" sz="1100" dirty="0"/>
          </a:p>
        </p:txBody>
      </p:sp>
      <p:sp>
        <p:nvSpPr>
          <p:cNvPr id="13" name="Shape 11"/>
          <p:cNvSpPr/>
          <p:nvPr/>
        </p:nvSpPr>
        <p:spPr>
          <a:xfrm>
            <a:off x="7726680" y="3520440"/>
            <a:ext cx="3474720" cy="777240"/>
          </a:xfrm>
          <a:prstGeom prst="roundRect">
            <a:avLst>
              <a:gd name="adj" fmla="val 11765"/>
            </a:avLst>
          </a:prstGeom>
          <a:solidFill>
            <a:srgbClr val="F1F5F9"/>
          </a:solidFill>
          <a:ln w="12700">
            <a:solidFill>
              <a:srgbClr val="F1F5F9"/>
            </a:solidFill>
            <a:prstDash val="solid"/>
          </a:ln>
        </p:spPr>
      </p:sp>
      <p:sp>
        <p:nvSpPr>
          <p:cNvPr id="14" name="Text 12"/>
          <p:cNvSpPr/>
          <p:nvPr/>
        </p:nvSpPr>
        <p:spPr>
          <a:xfrm>
            <a:off x="8001000" y="3675888"/>
            <a:ext cx="914400" cy="182880"/>
          </a:xfrm>
          <a:prstGeom prst="rect">
            <a:avLst/>
          </a:prstGeom>
          <a:noFill/>
          <a:ln/>
        </p:spPr>
        <p:txBody>
          <a:bodyPr wrap="square" lIns="0" tIns="0" rIns="0" bIns="0" rtlCol="0" anchor="ctr"/>
          <a:lstStyle/>
          <a:p>
            <a:pPr marL="0" indent="0">
              <a:buNone/>
            </a:pPr>
            <a:r>
              <a:rPr lang="en-US" sz="1100" b="1" dirty="0">
                <a:solidFill>
                  <a:srgbClr val="111827"/>
                </a:solidFill>
              </a:rPr>
              <a:t>REAL TIME</a:t>
            </a:r>
            <a:endParaRPr lang="en-US" sz="1100" dirty="0"/>
          </a:p>
        </p:txBody>
      </p:sp>
      <p:sp>
        <p:nvSpPr>
          <p:cNvPr id="15" name="Text 13"/>
          <p:cNvSpPr/>
          <p:nvPr/>
        </p:nvSpPr>
        <p:spPr>
          <a:xfrm>
            <a:off x="8915400" y="3675888"/>
            <a:ext cx="1965960" cy="310896"/>
          </a:xfrm>
          <a:prstGeom prst="rect">
            <a:avLst/>
          </a:prstGeom>
          <a:noFill/>
          <a:ln/>
        </p:spPr>
        <p:txBody>
          <a:bodyPr wrap="square" lIns="0" tIns="0" rIns="0" bIns="0" rtlCol="0" anchor="ctr">
            <a:normAutofit/>
          </a:bodyPr>
          <a:lstStyle/>
          <a:p>
            <a:pPr marL="0" indent="0">
              <a:buNone/>
            </a:pPr>
            <a:r>
              <a:rPr lang="en-US" sz="1100" dirty="0">
                <a:solidFill>
                  <a:srgbClr val="64748B"/>
                </a:solidFill>
              </a:rPr>
              <a:t>Immediate form feedback</a:t>
            </a:r>
            <a:endParaRPr lang="en-US" sz="1100" dirty="0"/>
          </a:p>
        </p:txBody>
      </p:sp>
      <p:sp>
        <p:nvSpPr>
          <p:cNvPr id="16" name="Shape 14"/>
          <p:cNvSpPr/>
          <p:nvPr/>
        </p:nvSpPr>
        <p:spPr>
          <a:xfrm>
            <a:off x="7726680" y="4572000"/>
            <a:ext cx="3474720" cy="777240"/>
          </a:xfrm>
          <a:prstGeom prst="roundRect">
            <a:avLst>
              <a:gd name="adj" fmla="val 11765"/>
            </a:avLst>
          </a:prstGeom>
          <a:solidFill>
            <a:srgbClr val="D1FAE5"/>
          </a:solidFill>
          <a:ln w="12700">
            <a:solidFill>
              <a:srgbClr val="D1FAE5"/>
            </a:solidFill>
            <a:prstDash val="solid"/>
          </a:ln>
        </p:spPr>
      </p:sp>
      <p:sp>
        <p:nvSpPr>
          <p:cNvPr id="17" name="Text 15"/>
          <p:cNvSpPr/>
          <p:nvPr/>
        </p:nvSpPr>
        <p:spPr>
          <a:xfrm>
            <a:off x="8001000" y="4727448"/>
            <a:ext cx="914400" cy="182880"/>
          </a:xfrm>
          <a:prstGeom prst="rect">
            <a:avLst/>
          </a:prstGeom>
          <a:noFill/>
          <a:ln/>
        </p:spPr>
        <p:txBody>
          <a:bodyPr wrap="square" lIns="0" tIns="0" rIns="0" bIns="0" rtlCol="0" anchor="ctr"/>
          <a:lstStyle/>
          <a:p>
            <a:pPr marL="0" indent="0">
              <a:buNone/>
            </a:pPr>
            <a:r>
              <a:rPr lang="en-US" sz="1100" b="1" dirty="0">
                <a:solidFill>
                  <a:srgbClr val="047857"/>
                </a:solidFill>
              </a:rPr>
              <a:t>DEPLOYMENT</a:t>
            </a:r>
            <a:endParaRPr lang="en-US" sz="1100" dirty="0"/>
          </a:p>
        </p:txBody>
      </p:sp>
      <p:sp>
        <p:nvSpPr>
          <p:cNvPr id="18" name="Text 16"/>
          <p:cNvSpPr/>
          <p:nvPr/>
        </p:nvSpPr>
        <p:spPr>
          <a:xfrm>
            <a:off x="8915400" y="4727448"/>
            <a:ext cx="1965960" cy="310896"/>
          </a:xfrm>
          <a:prstGeom prst="rect">
            <a:avLst/>
          </a:prstGeom>
          <a:noFill/>
          <a:ln/>
        </p:spPr>
        <p:txBody>
          <a:bodyPr wrap="square" lIns="0" tIns="0" rIns="0" bIns="0" rtlCol="0" anchor="ctr">
            <a:normAutofit/>
          </a:bodyPr>
          <a:lstStyle/>
          <a:p>
            <a:pPr marL="0" indent="0">
              <a:buNone/>
            </a:pPr>
            <a:r>
              <a:rPr lang="en-US" sz="1100" dirty="0">
                <a:solidFill>
                  <a:srgbClr val="64748B"/>
                </a:solidFill>
              </a:rPr>
              <a:t>Secure production stack</a:t>
            </a:r>
            <a:endParaRPr lang="en-US" sz="1100" dirty="0"/>
          </a:p>
        </p:txBody>
      </p:sp>
      <p:sp>
        <p:nvSpPr>
          <p:cNvPr id="25"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1" cy="1"/>
          <a:chOff x="0" y="0"/>
          <a:chExt cx="1" cy="1"/>
        </a:xfrm>
      </p:grpSpPr>
      <p:sp>
        <p:nvSpPr>
          <p:cNvPr id="2" name="Text 0"/>
          <p:cNvSpPr/>
          <p:nvPr/>
        </p:nvSpPr>
        <p:spPr>
          <a:xfrm>
            <a:off x="566928" y="320040"/>
            <a:ext cx="3108960" cy="201168"/>
          </a:xfrm>
          <a:prstGeom prst="rect">
            <a:avLst/>
          </a:prstGeom>
          <a:noFill/>
          <a:ln/>
        </p:spPr>
        <p:txBody>
          <a:bodyPr wrap="square" lIns="0" tIns="0" rIns="0" bIns="0" rtlCol="0" anchor="ctr"/>
          <a:lstStyle/>
          <a:p>
            <a:pPr marL="0" indent="0">
              <a:buNone/>
            </a:pPr>
            <a:r>
              <a:rPr lang="en-US" sz="1000" b="1" kern="0" spc="160" dirty="0">
                <a:solidFill>
                  <a:srgbClr val="10B981"/>
                </a:solidFill>
              </a:rPr>
              <a:t>CONCLUSION</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More Than a Fitness App</a:t>
            </a:r>
            <a:endParaRPr lang="en-US" sz="2800" dirty="0"/>
          </a:p>
        </p:txBody>
      </p:sp>
      <p:sp>
        <p:nvSpPr>
          <p:cNvPr id="4" name="Text 2"/>
          <p:cNvSpPr/>
          <p:nvPr/>
        </p:nvSpPr>
        <p:spPr>
          <a:xfrm>
            <a:off x="685800" y="1325880"/>
            <a:ext cx="10835640" cy="658368"/>
          </a:xfrm>
          <a:prstGeom prst="rect">
            <a:avLst/>
          </a:prstGeom>
          <a:noFill/>
          <a:ln/>
        </p:spPr>
        <p:txBody>
          <a:bodyPr wrap="square" lIns="0" tIns="0" rIns="0" bIns="0" rtlCol="0" anchor="ctr">
            <a:normAutofit/>
          </a:bodyPr>
          <a:lstStyle/>
          <a:p>
            <a:pPr marL="0" indent="0" algn="ctr">
              <a:buNone/>
            </a:pPr>
            <a:r>
              <a:rPr lang="en-US" sz="2800" b="1" dirty="0">
                <a:solidFill>
                  <a:srgbClr val="0F172A"/>
                </a:solidFill>
              </a:rPr>
              <a:t>FROM USER DATA  →  TO AI  →  TO PERSONALIZED ACTION</a:t>
            </a:r>
            <a:endParaRPr lang="en-US" sz="2800" dirty="0"/>
          </a:p>
        </p:txBody>
      </p:sp>
      <p:sp>
        <p:nvSpPr>
          <p:cNvPr id="5" name="Text 3"/>
          <p:cNvSpPr/>
          <p:nvPr/>
        </p:nvSpPr>
        <p:spPr>
          <a:xfrm>
            <a:off x="1143000" y="2331720"/>
            <a:ext cx="9921240" cy="1463040"/>
          </a:xfrm>
          <a:prstGeom prst="rect">
            <a:avLst/>
          </a:prstGeom>
          <a:noFill/>
          <a:ln/>
        </p:spPr>
        <p:txBody>
          <a:bodyPr wrap="square" lIns="508" tIns="508" rIns="508" bIns="508" rtlCol="0" anchor="ctr">
            <a:normAutofit/>
          </a:bodyPr>
          <a:lstStyle/>
          <a:p>
            <a:pPr marL="0" indent="0">
              <a:buNone/>
            </a:pPr>
            <a:r>
              <a:rPr lang="en-US" sz="1700" dirty="0">
                <a:solidFill>
                  <a:srgbClr val="111827"/>
                </a:solidFill>
              </a:rPr>
              <a:t>Elite Fitness demonstrates how mobile development, backend engineering, database systems, artificial intelligence, computer vision, safety validation, and gamification can work together inside one practical application. The key contribution is not a single AI model, but the integration of multiple specialized models into a complete personalized fitness ecosystem.</a:t>
            </a:r>
            <a:endParaRPr lang="en-US" sz="1700" dirty="0"/>
          </a:p>
        </p:txBody>
      </p:sp>
      <p:sp>
        <p:nvSpPr>
          <p:cNvPr id="6" name="Shape 4"/>
          <p:cNvSpPr/>
          <p:nvPr/>
        </p:nvSpPr>
        <p:spPr>
          <a:xfrm>
            <a:off x="685800" y="4343400"/>
            <a:ext cx="2606040" cy="1143000"/>
          </a:xfrm>
          <a:prstGeom prst="roundRect">
            <a:avLst>
              <a:gd name="adj" fmla="val 8000"/>
            </a:avLst>
          </a:prstGeom>
          <a:solidFill>
            <a:srgbClr val="FFFFFF"/>
          </a:solidFill>
          <a:ln w="12700">
            <a:solidFill>
              <a:srgbClr val="E2E8F0"/>
            </a:solidFill>
            <a:prstDash val="solid"/>
          </a:ln>
          <a:effectLst/>
        </p:spPr>
      </p:sp>
      <p:sp>
        <p:nvSpPr>
          <p:cNvPr id="7" name="Text 5"/>
          <p:cNvSpPr/>
          <p:nvPr/>
        </p:nvSpPr>
        <p:spPr>
          <a:xfrm>
            <a:off x="868680" y="4572000"/>
            <a:ext cx="2240280" cy="237744"/>
          </a:xfrm>
          <a:prstGeom prst="rect">
            <a:avLst/>
          </a:prstGeom>
          <a:noFill/>
          <a:ln/>
        </p:spPr>
        <p:txBody>
          <a:bodyPr wrap="square" lIns="0" tIns="0" rIns="0" bIns="0" rtlCol="0" anchor="ctr"/>
          <a:lstStyle/>
          <a:p>
            <a:pPr marL="0" indent="0" algn="ctr">
              <a:buNone/>
            </a:pPr>
            <a:r>
              <a:rPr lang="en-US" sz="1500" b="1" dirty="0">
                <a:solidFill>
                  <a:srgbClr val="10B981"/>
                </a:solidFill>
              </a:rPr>
              <a:t>TrainCore</a:t>
            </a:r>
            <a:endParaRPr lang="en-US" sz="1500" dirty="0"/>
          </a:p>
        </p:txBody>
      </p:sp>
      <p:sp>
        <p:nvSpPr>
          <p:cNvPr id="8" name="Text 6"/>
          <p:cNvSpPr/>
          <p:nvPr/>
        </p:nvSpPr>
        <p:spPr>
          <a:xfrm>
            <a:off x="868680" y="4965192"/>
            <a:ext cx="2240280" cy="182880"/>
          </a:xfrm>
          <a:prstGeom prst="rect">
            <a:avLst/>
          </a:prstGeom>
          <a:noFill/>
          <a:ln/>
        </p:spPr>
        <p:txBody>
          <a:bodyPr wrap="square" lIns="0" tIns="0" rIns="0" bIns="0" rtlCol="0" anchor="ctr"/>
          <a:lstStyle/>
          <a:p>
            <a:pPr marL="0" indent="0" algn="ctr">
              <a:buNone/>
            </a:pPr>
            <a:r>
              <a:rPr lang="en-US" sz="1050" b="1" kern="0" spc="100" dirty="0">
                <a:solidFill>
                  <a:srgbClr val="111827"/>
                </a:solidFill>
              </a:rPr>
              <a:t>TRAIN SMARTER</a:t>
            </a:r>
            <a:endParaRPr lang="en-US" sz="1050" dirty="0"/>
          </a:p>
        </p:txBody>
      </p:sp>
      <p:sp>
        <p:nvSpPr>
          <p:cNvPr id="9" name="Shape 7"/>
          <p:cNvSpPr/>
          <p:nvPr/>
        </p:nvSpPr>
        <p:spPr>
          <a:xfrm>
            <a:off x="3520440" y="4343400"/>
            <a:ext cx="2606040" cy="1143000"/>
          </a:xfrm>
          <a:prstGeom prst="roundRect">
            <a:avLst>
              <a:gd name="adj" fmla="val 8000"/>
            </a:avLst>
          </a:prstGeom>
          <a:solidFill>
            <a:srgbClr val="FFFFFF"/>
          </a:solidFill>
          <a:ln w="12700">
            <a:solidFill>
              <a:srgbClr val="E2E8F0"/>
            </a:solidFill>
            <a:prstDash val="solid"/>
          </a:ln>
          <a:effectLst/>
        </p:spPr>
      </p:sp>
      <p:sp>
        <p:nvSpPr>
          <p:cNvPr id="10" name="Text 8"/>
          <p:cNvSpPr/>
          <p:nvPr/>
        </p:nvSpPr>
        <p:spPr>
          <a:xfrm>
            <a:off x="3703320" y="4572000"/>
            <a:ext cx="2240280" cy="237744"/>
          </a:xfrm>
          <a:prstGeom prst="rect">
            <a:avLst/>
          </a:prstGeom>
          <a:noFill/>
          <a:ln/>
        </p:spPr>
        <p:txBody>
          <a:bodyPr wrap="square" lIns="0" tIns="0" rIns="0" bIns="0" rtlCol="0" anchor="ctr"/>
          <a:lstStyle/>
          <a:p>
            <a:pPr marL="0" indent="0" algn="ctr">
              <a:buNone/>
            </a:pPr>
            <a:r>
              <a:rPr lang="en-US" sz="1500" b="1" dirty="0">
                <a:solidFill>
                  <a:srgbClr val="F59E0B"/>
                </a:solidFill>
              </a:rPr>
              <a:t>NutriCore</a:t>
            </a:r>
            <a:endParaRPr lang="en-US" sz="1500" dirty="0"/>
          </a:p>
        </p:txBody>
      </p:sp>
      <p:sp>
        <p:nvSpPr>
          <p:cNvPr id="11" name="Text 9"/>
          <p:cNvSpPr/>
          <p:nvPr/>
        </p:nvSpPr>
        <p:spPr>
          <a:xfrm>
            <a:off x="3703320" y="4965192"/>
            <a:ext cx="2240280" cy="182880"/>
          </a:xfrm>
          <a:prstGeom prst="rect">
            <a:avLst/>
          </a:prstGeom>
          <a:noFill/>
          <a:ln/>
        </p:spPr>
        <p:txBody>
          <a:bodyPr wrap="square" lIns="0" tIns="0" rIns="0" bIns="0" rtlCol="0" anchor="ctr"/>
          <a:lstStyle/>
          <a:p>
            <a:pPr marL="0" indent="0" algn="ctr">
              <a:buNone/>
            </a:pPr>
            <a:r>
              <a:rPr lang="en-US" sz="1050" b="1" kern="0" spc="100" dirty="0">
                <a:solidFill>
                  <a:srgbClr val="111827"/>
                </a:solidFill>
              </a:rPr>
              <a:t>EAT SMARTER</a:t>
            </a:r>
            <a:endParaRPr lang="en-US" sz="1050" dirty="0"/>
          </a:p>
        </p:txBody>
      </p:sp>
      <p:sp>
        <p:nvSpPr>
          <p:cNvPr id="12" name="Shape 10"/>
          <p:cNvSpPr/>
          <p:nvPr/>
        </p:nvSpPr>
        <p:spPr>
          <a:xfrm>
            <a:off x="6355080" y="4343400"/>
            <a:ext cx="2606040" cy="1143000"/>
          </a:xfrm>
          <a:prstGeom prst="roundRect">
            <a:avLst>
              <a:gd name="adj" fmla="val 8000"/>
            </a:avLst>
          </a:prstGeom>
          <a:solidFill>
            <a:srgbClr val="FFFFFF"/>
          </a:solidFill>
          <a:ln w="12700">
            <a:solidFill>
              <a:srgbClr val="E2E8F0"/>
            </a:solidFill>
            <a:prstDash val="solid"/>
          </a:ln>
          <a:effectLst/>
        </p:spPr>
      </p:sp>
      <p:sp>
        <p:nvSpPr>
          <p:cNvPr id="13" name="Text 11"/>
          <p:cNvSpPr/>
          <p:nvPr/>
        </p:nvSpPr>
        <p:spPr>
          <a:xfrm>
            <a:off x="6537960" y="4572000"/>
            <a:ext cx="2240280" cy="237744"/>
          </a:xfrm>
          <a:prstGeom prst="rect">
            <a:avLst/>
          </a:prstGeom>
          <a:noFill/>
          <a:ln/>
        </p:spPr>
        <p:txBody>
          <a:bodyPr wrap="square" lIns="0" tIns="0" rIns="0" bIns="0" rtlCol="0" anchor="ctr"/>
          <a:lstStyle/>
          <a:p>
            <a:pPr marL="0" indent="0" algn="ctr">
              <a:buNone/>
            </a:pPr>
            <a:r>
              <a:rPr lang="en-US" sz="1500" b="1" dirty="0">
                <a:solidFill>
                  <a:srgbClr val="8B5CF6"/>
                </a:solidFill>
              </a:rPr>
              <a:t>PoseForm</a:t>
            </a:r>
            <a:endParaRPr lang="en-US" sz="1500" dirty="0"/>
          </a:p>
        </p:txBody>
      </p:sp>
      <p:sp>
        <p:nvSpPr>
          <p:cNvPr id="14" name="Text 12"/>
          <p:cNvSpPr/>
          <p:nvPr/>
        </p:nvSpPr>
        <p:spPr>
          <a:xfrm>
            <a:off x="6537960" y="4965192"/>
            <a:ext cx="2240280" cy="182880"/>
          </a:xfrm>
          <a:prstGeom prst="rect">
            <a:avLst/>
          </a:prstGeom>
          <a:noFill/>
          <a:ln/>
        </p:spPr>
        <p:txBody>
          <a:bodyPr wrap="square" lIns="0" tIns="0" rIns="0" bIns="0" rtlCol="0" anchor="ctr"/>
          <a:lstStyle/>
          <a:p>
            <a:pPr marL="0" indent="0" algn="ctr">
              <a:buNone/>
            </a:pPr>
            <a:r>
              <a:rPr lang="en-US" sz="1050" b="1" kern="0" spc="100" dirty="0">
                <a:solidFill>
                  <a:srgbClr val="111827"/>
                </a:solidFill>
              </a:rPr>
              <a:t>MOVE BETTER</a:t>
            </a:r>
            <a:endParaRPr lang="en-US" sz="1050" dirty="0"/>
          </a:p>
        </p:txBody>
      </p:sp>
      <p:sp>
        <p:nvSpPr>
          <p:cNvPr id="15" name="Shape 13"/>
          <p:cNvSpPr/>
          <p:nvPr/>
        </p:nvSpPr>
        <p:spPr>
          <a:xfrm>
            <a:off x="9189720" y="4343400"/>
            <a:ext cx="2606040" cy="1143000"/>
          </a:xfrm>
          <a:prstGeom prst="roundRect">
            <a:avLst>
              <a:gd name="adj" fmla="val 8000"/>
            </a:avLst>
          </a:prstGeom>
          <a:solidFill>
            <a:srgbClr val="FFFFFF"/>
          </a:solidFill>
          <a:ln w="12700">
            <a:solidFill>
              <a:srgbClr val="E2E8F0"/>
            </a:solidFill>
            <a:prstDash val="solid"/>
          </a:ln>
          <a:effectLst/>
        </p:spPr>
      </p:sp>
      <p:sp>
        <p:nvSpPr>
          <p:cNvPr id="16" name="Text 14"/>
          <p:cNvSpPr/>
          <p:nvPr/>
        </p:nvSpPr>
        <p:spPr>
          <a:xfrm>
            <a:off x="9372600" y="4572000"/>
            <a:ext cx="2240280" cy="237744"/>
          </a:xfrm>
          <a:prstGeom prst="rect">
            <a:avLst/>
          </a:prstGeom>
          <a:noFill/>
          <a:ln/>
        </p:spPr>
        <p:txBody>
          <a:bodyPr wrap="square" lIns="0" tIns="0" rIns="0" bIns="0" rtlCol="0" anchor="ctr"/>
          <a:lstStyle/>
          <a:p>
            <a:pPr marL="0" indent="0" algn="ctr">
              <a:buNone/>
            </a:pPr>
            <a:r>
              <a:rPr lang="en-US" sz="1500" b="1" dirty="0">
                <a:solidFill>
                  <a:srgbClr val="0EA5E9"/>
                </a:solidFill>
              </a:rPr>
              <a:t>PredictionAI</a:t>
            </a:r>
            <a:endParaRPr lang="en-US" sz="1500" dirty="0"/>
          </a:p>
        </p:txBody>
      </p:sp>
      <p:sp>
        <p:nvSpPr>
          <p:cNvPr id="17" name="Text 15"/>
          <p:cNvSpPr/>
          <p:nvPr/>
        </p:nvSpPr>
        <p:spPr>
          <a:xfrm>
            <a:off x="9372600" y="4965192"/>
            <a:ext cx="2240280" cy="182880"/>
          </a:xfrm>
          <a:prstGeom prst="rect">
            <a:avLst/>
          </a:prstGeom>
          <a:noFill/>
          <a:ln/>
        </p:spPr>
        <p:txBody>
          <a:bodyPr wrap="square" lIns="0" tIns="0" rIns="0" bIns="0" rtlCol="0" anchor="ctr"/>
          <a:lstStyle/>
          <a:p>
            <a:pPr marL="0" indent="0" algn="ctr">
              <a:buNone/>
            </a:pPr>
            <a:r>
              <a:rPr lang="en-US" sz="1050" b="1" kern="0" spc="100" dirty="0">
                <a:solidFill>
                  <a:srgbClr val="111827"/>
                </a:solidFill>
              </a:rPr>
              <a:t>TRACK THE FUTURE</a:t>
            </a:r>
            <a:endParaRPr lang="en-US" sz="1050" dirty="0"/>
          </a:p>
        </p:txBody>
      </p:sp>
      <p:sp>
        <p:nvSpPr>
          <p:cNvPr id="25" name="Slide Number Placeholder 0"/>
          <p:cNvSpPr>
            <a:spLocks noGrp="1"/>
          </p:cNvSpPr>
          <p:nvPr>
            <p:ph type="sldNum" sz="quarter" idx="4294967295"/>
          </p:nvPr>
        </p:nvSpPr>
        <p:spPr>
          <a:xfrm>
            <a:off x="11686032" y="6473952"/>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94A3B8"/>
                </a:solidFill>
                <a:latin typeface="Aptos"/>
                <a:ea typeface="Aptos"/>
                <a:cs typeface="Aptos"/>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2" name="Image 0" descr="/mnt/data/generated_image_31AA42183EA5_04.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33">
              <a:alpha val="77000"/>
            </a:srgbClr>
          </a:solidFill>
          <a:ln w="12700">
            <a:solidFill>
              <a:srgbClr val="0B1F33">
                <a:alpha val="0"/>
              </a:srgbClr>
            </a:solidFill>
            <a:prstDash val="solid"/>
          </a:ln>
        </p:spPr>
      </p:sp>
      <p:sp>
        <p:nvSpPr>
          <p:cNvPr id="4" name="Shape 1"/>
          <p:cNvSpPr/>
          <p:nvPr/>
        </p:nvSpPr>
        <p:spPr>
          <a:xfrm>
            <a:off x="3090672" y="1417320"/>
            <a:ext cx="6016752" cy="3977640"/>
          </a:xfrm>
          <a:prstGeom prst="roundRect">
            <a:avLst>
              <a:gd name="adj" fmla="val 6437"/>
            </a:avLst>
          </a:prstGeom>
          <a:solidFill>
            <a:srgbClr val="FFFFFF">
              <a:alpha val="92000"/>
            </a:srgbClr>
          </a:solidFill>
          <a:ln w="15240">
            <a:solidFill>
              <a:srgbClr val="FFFFFF">
                <a:alpha val="42000"/>
              </a:srgbClr>
            </a:solidFill>
            <a:prstDash val="solid"/>
          </a:ln>
          <a:effectLst/>
        </p:spPr>
      </p:sp>
      <p:sp>
        <p:nvSpPr>
          <p:cNvPr id="5" name="Shape 2"/>
          <p:cNvSpPr/>
          <p:nvPr/>
        </p:nvSpPr>
        <p:spPr>
          <a:xfrm>
            <a:off x="5138928" y="1901952"/>
            <a:ext cx="1874520" cy="274320"/>
          </a:xfrm>
          <a:prstGeom prst="roundRect">
            <a:avLst>
              <a:gd name="adj" fmla="val 50000"/>
            </a:avLst>
          </a:prstGeom>
          <a:solidFill>
            <a:srgbClr val="EAF9F4"/>
          </a:solidFill>
          <a:ln w="12700">
            <a:solidFill>
              <a:srgbClr val="EAF9F4"/>
            </a:solidFill>
            <a:prstDash val="solid"/>
          </a:ln>
        </p:spPr>
      </p:sp>
      <p:sp>
        <p:nvSpPr>
          <p:cNvPr id="6" name="Text 3"/>
          <p:cNvSpPr/>
          <p:nvPr/>
        </p:nvSpPr>
        <p:spPr>
          <a:xfrm>
            <a:off x="5212080" y="1952244"/>
            <a:ext cx="1728216" cy="118872"/>
          </a:xfrm>
          <a:prstGeom prst="rect">
            <a:avLst/>
          </a:prstGeom>
          <a:noFill/>
          <a:ln/>
        </p:spPr>
        <p:txBody>
          <a:bodyPr wrap="square" lIns="0" tIns="0" rIns="0" bIns="0" rtlCol="0" anchor="ctr"/>
          <a:lstStyle/>
          <a:p>
            <a:pPr marL="0" indent="0" algn="ctr">
              <a:buNone/>
            </a:pPr>
            <a:r>
              <a:rPr lang="en-US" sz="950" b="1" dirty="0">
                <a:solidFill>
                  <a:srgbClr val="16C79A"/>
                </a:solidFill>
              </a:rPr>
              <a:t>ELITE FITNESS</a:t>
            </a:r>
            <a:endParaRPr lang="en-US" sz="950" dirty="0"/>
          </a:p>
        </p:txBody>
      </p:sp>
      <p:sp>
        <p:nvSpPr>
          <p:cNvPr id="7" name="Text 4"/>
          <p:cNvSpPr/>
          <p:nvPr/>
        </p:nvSpPr>
        <p:spPr>
          <a:xfrm>
            <a:off x="3520440" y="2578608"/>
            <a:ext cx="5148072" cy="685800"/>
          </a:xfrm>
          <a:prstGeom prst="rect">
            <a:avLst/>
          </a:prstGeom>
          <a:noFill/>
          <a:ln/>
        </p:spPr>
        <p:txBody>
          <a:bodyPr wrap="square" lIns="0" tIns="0" rIns="0" bIns="0" rtlCol="0" anchor="ctr"/>
          <a:lstStyle/>
          <a:p>
            <a:pPr marL="0" indent="0" algn="ctr">
              <a:buNone/>
            </a:pPr>
            <a:r>
              <a:rPr lang="en-US" sz="4400" b="1" dirty="0">
                <a:solidFill>
                  <a:srgbClr val="0B1F33"/>
                </a:solidFill>
              </a:rPr>
              <a:t>THANK YOU</a:t>
            </a:r>
            <a:endParaRPr lang="en-US" sz="4400" dirty="0"/>
          </a:p>
        </p:txBody>
      </p:sp>
      <p:sp>
        <p:nvSpPr>
          <p:cNvPr id="8" name="Text 5"/>
          <p:cNvSpPr/>
          <p:nvPr/>
        </p:nvSpPr>
        <p:spPr>
          <a:xfrm>
            <a:off x="3794760" y="3493008"/>
            <a:ext cx="4617720" cy="411480"/>
          </a:xfrm>
          <a:prstGeom prst="rect">
            <a:avLst/>
          </a:prstGeom>
          <a:noFill/>
          <a:ln/>
        </p:spPr>
        <p:txBody>
          <a:bodyPr wrap="square" lIns="0" tIns="0" rIns="0" bIns="0" rtlCol="0" anchor="ctr"/>
          <a:lstStyle/>
          <a:p>
            <a:pPr marL="0" indent="0" algn="ctr">
              <a:buNone/>
            </a:pPr>
            <a:r>
              <a:rPr lang="en-US" sz="2300" b="1" dirty="0">
                <a:solidFill>
                  <a:srgbClr val="1677FF"/>
                </a:solidFill>
              </a:rPr>
              <a:t>Questions?</a:t>
            </a:r>
            <a:endParaRPr lang="en-US" sz="2300" dirty="0"/>
          </a:p>
        </p:txBody>
      </p:sp>
      <p:sp>
        <p:nvSpPr>
          <p:cNvPr id="9" name="Text 6"/>
          <p:cNvSpPr/>
          <p:nvPr/>
        </p:nvSpPr>
        <p:spPr>
          <a:xfrm>
            <a:off x="3794760" y="4251960"/>
            <a:ext cx="4617720" cy="237744"/>
          </a:xfrm>
          <a:prstGeom prst="rect">
            <a:avLst/>
          </a:prstGeom>
          <a:noFill/>
          <a:ln/>
        </p:spPr>
        <p:txBody>
          <a:bodyPr wrap="square" lIns="0" tIns="0" rIns="0" bIns="0" rtlCol="0" anchor="ctr"/>
          <a:lstStyle/>
          <a:p>
            <a:pPr marL="0" indent="0" algn="ctr">
              <a:buNone/>
            </a:pPr>
            <a:r>
              <a:rPr lang="en-US" sz="1300" b="1" dirty="0">
                <a:solidFill>
                  <a:srgbClr val="667085"/>
                </a:solidFill>
              </a:rPr>
              <a:t>Nour Fakih  •  Oliver Mattar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1615</Words>
  <Application>Microsoft Office PowerPoint</Application>
  <PresentationFormat>Widescreen</PresentationFormat>
  <Paragraphs>385</Paragraphs>
  <Slides>21</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Antonine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Elite Fitness App — AI-Powered Personalized Fitness &amp; Nutrition Platform</dc:title>
  <dc:subject>Elite Fitness App Final Year Project</dc:subject>
  <dc:creator>Nour FAKIH</dc:creator>
  <cp:lastModifiedBy>Amar Fakih</cp:lastModifiedBy>
  <cp:revision>2</cp:revision>
  <dcterms:created xsi:type="dcterms:W3CDTF">2026-10-04T19:54:58Z</dcterms:created>
  <dcterms:modified xsi:type="dcterms:W3CDTF">2026-10-04T20:21:27Z</dcterms:modified>
</cp:coreProperties>
</file>