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c2b1e98f71f4140" /><Relationship Type="http://schemas.openxmlformats.org/officeDocument/2006/relationships/extended-properties" Target="/docProps/app.xml" Id="Rde2d4da3cdc540cc" /><Relationship Type="http://schemas.openxmlformats.org/officeDocument/2006/relationships/officeDocument" Target="/ppt/presentation.xml" Id="R29619357f6d54052" /></Relationships>
</file>

<file path=ppt/presentation.xml><?xml version="1.0" encoding="utf-8"?>
<p:presentation xmlns:p="http://schemas.openxmlformats.org/presentationml/2006/main">
  <p:sldMasterIdLst>
    <p:sldMasterId xmlns:r="http://schemas.openxmlformats.org/officeDocument/2006/relationships" id="2147483648" r:id="R85fa8e155877496f"/>
  </p:sldMasterIdLst>
  <p:notesMasterIdLst>
    <p:notesMasterId xmlns:r="http://schemas.openxmlformats.org/officeDocument/2006/relationships" r:id="Ra9bb159947b74dcb"/>
  </p:notesMasterIdLst>
  <p:sldIdLst>
    <p:sldId xmlns:r="http://schemas.openxmlformats.org/officeDocument/2006/relationships" id="256" r:id="Re3d6fd71775a4c65"/>
    <p:sldId xmlns:r="http://schemas.openxmlformats.org/officeDocument/2006/relationships" id="257" r:id="R5871670654b6451c"/>
    <p:sldId xmlns:r="http://schemas.openxmlformats.org/officeDocument/2006/relationships" id="258" r:id="Rebc4af556c544201"/>
    <p:sldId xmlns:r="http://schemas.openxmlformats.org/officeDocument/2006/relationships" id="259" r:id="R128fd8eace4440ea"/>
    <p:sldId xmlns:r="http://schemas.openxmlformats.org/officeDocument/2006/relationships" id="260" r:id="R8f2f6ccc34f945c5"/>
    <p:sldId xmlns:r="http://schemas.openxmlformats.org/officeDocument/2006/relationships" id="261" r:id="R11f1ad89caec4486"/>
    <p:sldId xmlns:r="http://schemas.openxmlformats.org/officeDocument/2006/relationships" id="262" r:id="R116af792e31f4dec"/>
    <p:sldId xmlns:r="http://schemas.openxmlformats.org/officeDocument/2006/relationships" id="263" r:id="R4e5ae407beb84230"/>
    <p:sldId xmlns:r="http://schemas.openxmlformats.org/officeDocument/2006/relationships" id="264" r:id="Rd036d08235494672"/>
    <p:sldId xmlns:r="http://schemas.openxmlformats.org/officeDocument/2006/relationships" id="265" r:id="R880545c05ec343f5"/>
    <p:sldId xmlns:r="http://schemas.openxmlformats.org/officeDocument/2006/relationships" id="266" r:id="Rb632f4abbfc648ff"/>
    <p:sldId xmlns:r="http://schemas.openxmlformats.org/officeDocument/2006/relationships" id="267" r:id="R5cc32fcd37e54c83"/>
    <p:sldId xmlns:r="http://schemas.openxmlformats.org/officeDocument/2006/relationships" id="268" r:id="Rdf4dc4272fef40cc"/>
    <p:sldId xmlns:r="http://schemas.openxmlformats.org/officeDocument/2006/relationships" id="269" r:id="R0e1f9c3d61ed4f6b"/>
    <p:sldId xmlns:r="http://schemas.openxmlformats.org/officeDocument/2006/relationships" id="270" r:id="Rfbd806ecbdf548b2"/>
    <p:sldId xmlns:r="http://schemas.openxmlformats.org/officeDocument/2006/relationships" id="271" r:id="Rf8476c441dfc4159"/>
    <p:sldId xmlns:r="http://schemas.openxmlformats.org/officeDocument/2006/relationships" id="272" r:id="R58e33e3609b4469c"/>
    <p:sldId xmlns:r="http://schemas.openxmlformats.org/officeDocument/2006/relationships" id="273" r:id="Rc17eee00d70f4574"/>
    <p:sldId xmlns:r="http://schemas.openxmlformats.org/officeDocument/2006/relationships" id="274" r:id="R7bf7182522a840c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40291085c6e4404" /><Relationship Type="http://schemas.openxmlformats.org/officeDocument/2006/relationships/slideMaster" Target="/ppt/slideMasters/slideMaster1.xml" Id="R85fa8e155877496f" /><Relationship Type="http://schemas.openxmlformats.org/officeDocument/2006/relationships/notesMaster" Target="/ppt/notesMasters/notesMaster1.xml" Id="Ra9bb159947b74dcb" /><Relationship Type="http://schemas.openxmlformats.org/officeDocument/2006/relationships/presProps" Target="/ppt/presProps.xml" Id="Rbf53d49242434ca1" /><Relationship Type="http://schemas.openxmlformats.org/officeDocument/2006/relationships/tableStyles" Target="/ppt/tableStyles.xml" Id="R27de997e7c7d43d6" /><Relationship Type="http://schemas.openxmlformats.org/officeDocument/2006/relationships/slide" Target="/ppt/slides/slide1.xml" Id="Re3d6fd71775a4c65" /><Relationship Type="http://schemas.openxmlformats.org/officeDocument/2006/relationships/slide" Target="/ppt/slides/slide2.xml" Id="R5871670654b6451c" /><Relationship Type="http://schemas.openxmlformats.org/officeDocument/2006/relationships/slide" Target="/ppt/slides/slide3.xml" Id="Rebc4af556c544201" /><Relationship Type="http://schemas.openxmlformats.org/officeDocument/2006/relationships/slide" Target="/ppt/slides/slide4.xml" Id="R128fd8eace4440ea" /><Relationship Type="http://schemas.openxmlformats.org/officeDocument/2006/relationships/slide" Target="/ppt/slides/slide5.xml" Id="R8f2f6ccc34f945c5" /><Relationship Type="http://schemas.openxmlformats.org/officeDocument/2006/relationships/slide" Target="/ppt/slides/slide6.xml" Id="R11f1ad89caec4486" /><Relationship Type="http://schemas.openxmlformats.org/officeDocument/2006/relationships/slide" Target="/ppt/slides/slide7.xml" Id="R116af792e31f4dec" /><Relationship Type="http://schemas.openxmlformats.org/officeDocument/2006/relationships/slide" Target="/ppt/slides/slide8.xml" Id="R4e5ae407beb84230" /><Relationship Type="http://schemas.openxmlformats.org/officeDocument/2006/relationships/slide" Target="/ppt/slides/slide9.xml" Id="Rd036d08235494672" /><Relationship Type="http://schemas.openxmlformats.org/officeDocument/2006/relationships/slide" Target="/ppt/slides/slide10.xml" Id="R880545c05ec343f5" /><Relationship Type="http://schemas.openxmlformats.org/officeDocument/2006/relationships/slide" Target="/ppt/slides/slide11.xml" Id="Rb632f4abbfc648ff" /><Relationship Type="http://schemas.openxmlformats.org/officeDocument/2006/relationships/slide" Target="/ppt/slides/slide12.xml" Id="R5cc32fcd37e54c83" /><Relationship Type="http://schemas.openxmlformats.org/officeDocument/2006/relationships/slide" Target="/ppt/slides/slide13.xml" Id="Rdf4dc4272fef40cc" /><Relationship Type="http://schemas.openxmlformats.org/officeDocument/2006/relationships/slide" Target="/ppt/slides/slide14.xml" Id="R0e1f9c3d61ed4f6b" /><Relationship Type="http://schemas.openxmlformats.org/officeDocument/2006/relationships/slide" Target="/ppt/slides/slide15.xml" Id="Rfbd806ecbdf548b2" /><Relationship Type="http://schemas.openxmlformats.org/officeDocument/2006/relationships/slide" Target="/ppt/slides/slide16.xml" Id="Rf8476c441dfc4159" /><Relationship Type="http://schemas.openxmlformats.org/officeDocument/2006/relationships/slide" Target="/ppt/slides/slide17.xml" Id="R58e33e3609b4469c" /><Relationship Type="http://schemas.openxmlformats.org/officeDocument/2006/relationships/slide" Target="/ppt/slides/slide18.xml" Id="Rc17eee00d70f4574" /><Relationship Type="http://schemas.openxmlformats.org/officeDocument/2006/relationships/slide" Target="/ppt/slides/slide19.xml" Id="R7bf7182522a840c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2484b65d7e9402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4182d137b0e4f03" /><Relationship Type="http://schemas.openxmlformats.org/officeDocument/2006/relationships/notesMaster" Target="/ppt/notesMasters/notesMaster1.xml" Id="R86fbc40b544e48d0" /></Relationships>
</file>

<file path=ppt/notesSlides/_rels/notesSlide2.xml.rels>&#65279;<?xml version="1.0" encoding="utf-8"?><Relationships xmlns="http://schemas.openxmlformats.org/package/2006/relationships"><Relationship Type="http://schemas.openxmlformats.org/officeDocument/2006/relationships/slide" Target="/ppt/slides/slide2.xml" Id="Re3c7ea0c26174911" /><Relationship Type="http://schemas.openxmlformats.org/officeDocument/2006/relationships/notesMaster" Target="/ppt/notesMasters/notesMaster1.xml" Id="R2c1a76d017be48d7" /></Relationships>
</file>

<file path=ppt/notesSlides/_rels/notesSlide3.xml.rels>&#65279;<?xml version="1.0" encoding="utf-8"?><Relationships xmlns="http://schemas.openxmlformats.org/package/2006/relationships"><Relationship Type="http://schemas.openxmlformats.org/officeDocument/2006/relationships/slide" Target="/ppt/slides/slide3.xml" Id="Rfc94674a25b54ca3" /><Relationship Type="http://schemas.openxmlformats.org/officeDocument/2006/relationships/notesMaster" Target="/ppt/notesMasters/notesMaster1.xml" Id="Rc7087debc94e4b3f" /></Relationships>
</file>

<file path=ppt/notesSlides/_rels/notesSlide4.xml.rels>&#65279;<?xml version="1.0" encoding="utf-8"?><Relationships xmlns="http://schemas.openxmlformats.org/package/2006/relationships"><Relationship Type="http://schemas.openxmlformats.org/officeDocument/2006/relationships/slide" Target="/ppt/slides/slide4.xml" Id="R735a33c78d1b4767" /><Relationship Type="http://schemas.openxmlformats.org/officeDocument/2006/relationships/notesMaster" Target="/ppt/notesMasters/notesMaster1.xml" Id="Rd480cd37ae7d4498" /></Relationships>
</file>

<file path=ppt/notesSlides/_rels/notesSlide5.xml.rels>&#65279;<?xml version="1.0" encoding="utf-8"?><Relationships xmlns="http://schemas.openxmlformats.org/package/2006/relationships"><Relationship Type="http://schemas.openxmlformats.org/officeDocument/2006/relationships/slide" Target="/ppt/slides/slide5.xml" Id="R9668f00e727342b7" /><Relationship Type="http://schemas.openxmlformats.org/officeDocument/2006/relationships/notesMaster" Target="/ppt/notesMasters/notesMaster1.xml" Id="R8b532a370826463a" /></Relationships>
</file>

<file path=ppt/notesSlides/_rels/notesSlide6.xml.rels>&#65279;<?xml version="1.0" encoding="utf-8"?><Relationships xmlns="http://schemas.openxmlformats.org/package/2006/relationships"><Relationship Type="http://schemas.openxmlformats.org/officeDocument/2006/relationships/slide" Target="/ppt/slides/slide6.xml" Id="Rbef5ad84f623480d" /><Relationship Type="http://schemas.openxmlformats.org/officeDocument/2006/relationships/notesMaster" Target="/ppt/notesMasters/notesMaster1.xml" Id="R5581c79b5df44cb0" /></Relationships>
</file>

<file path=ppt/notesSlides/_rels/notesSlide7.xml.rels>&#65279;<?xml version="1.0" encoding="utf-8"?><Relationships xmlns="http://schemas.openxmlformats.org/package/2006/relationships"><Relationship Type="http://schemas.openxmlformats.org/officeDocument/2006/relationships/slide" Target="/ppt/slides/slide7.xml" Id="R843f96a94f974e94" /><Relationship Type="http://schemas.openxmlformats.org/officeDocument/2006/relationships/notesMaster" Target="/ppt/notesMasters/notesMaster1.xml" Id="R4cfab01020dd4b91" /></Relationships>
</file>

<file path=ppt/notesSlides/_rels/notesSlide8.xml.rels>&#65279;<?xml version="1.0" encoding="utf-8"?><Relationships xmlns="http://schemas.openxmlformats.org/package/2006/relationships"><Relationship Type="http://schemas.openxmlformats.org/officeDocument/2006/relationships/slide" Target="/ppt/slides/slide8.xml" Id="R4e4499339ea2489d" /><Relationship Type="http://schemas.openxmlformats.org/officeDocument/2006/relationships/notesMaster" Target="/ppt/notesMasters/notesMaster1.xml" Id="R3a89a87ebb2d46a0" /></Relationships>
</file>

<file path=ppt/notesSlides/_rels/notesSlide9.xml.rels>&#65279;<?xml version="1.0" encoding="utf-8"?><Relationships xmlns="http://schemas.openxmlformats.org/package/2006/relationships"><Relationship Type="http://schemas.openxmlformats.org/officeDocument/2006/relationships/slide" Target="/ppt/slides/slide9.xml" Id="R7e7bb2f90b7043d9" /><Relationship Type="http://schemas.openxmlformats.org/officeDocument/2006/relationships/notesMaster" Target="/ppt/notesMasters/notesMaster1.xml" Id="R7488462275bd445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18e1d3863a8456d" /><Relationship Type="http://schemas.openxmlformats.org/officeDocument/2006/relationships/notesMaster" Target="/ppt/notesMasters/notesMaster1.xml" Id="R547aa35941b3481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8a0d2244ef74cae" /><Relationship Type="http://schemas.openxmlformats.org/officeDocument/2006/relationships/notesMaster" Target="/ppt/notesMasters/notesMaster1.xml" Id="Ra3f7a716a7014a9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72851235a4b4e7f" /><Relationship Type="http://schemas.openxmlformats.org/officeDocument/2006/relationships/notesMaster" Target="/ppt/notesMasters/notesMaster1.xml" Id="R984972d4e4d44c7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8f0212d297c403e" /><Relationship Type="http://schemas.openxmlformats.org/officeDocument/2006/relationships/notesMaster" Target="/ppt/notesMasters/notesMaster1.xml" Id="Ra64ee2569eb24d2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77bebd43f8344d7" /><Relationship Type="http://schemas.openxmlformats.org/officeDocument/2006/relationships/notesMaster" Target="/ppt/notesMasters/notesMaster1.xml" Id="Re973ad5952b44cf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023df37f0cb47e8" /><Relationship Type="http://schemas.openxmlformats.org/officeDocument/2006/relationships/notesMaster" Target="/ppt/notesMasters/notesMaster1.xml" Id="Rd0255df8885b4d9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4e68e8079484a4b" /><Relationship Type="http://schemas.openxmlformats.org/officeDocument/2006/relationships/notesMaster" Target="/ppt/notesMasters/notesMaster1.xml" Id="R5bb6a3c5e5334d7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445a31eb36e84d0e" /><Relationship Type="http://schemas.openxmlformats.org/officeDocument/2006/relationships/notesMaster" Target="/ppt/notesMasters/notesMaster1.xml" Id="R298891bdca2744f2"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5bbe39ccc47409f" /><Relationship Type="http://schemas.openxmlformats.org/officeDocument/2006/relationships/notesMaster" Target="/ppt/notesMasters/notesMaster1.xml" Id="R3e5f02c03b104da7"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6cafd1ff512f4e7a" /><Relationship Type="http://schemas.openxmlformats.org/officeDocument/2006/relationships/notesMaster" Target="/ppt/notesMasters/notesMaster1.xml" Id="R9dcd654c278a477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0:30</a:t>
            </a:r>
          </a:p>
          <a:p xmlns:a="http://schemas.openxmlformats.org/drawingml/2006/main">
            <a:r>
              <a:t/>
            </a:r>
          </a:p>
          <a:p xmlns:a="http://schemas.openxmlformats.org/drawingml/2006/main">
            <a:r>
              <a:t>SPEAKING SCRIPT</a:t>
            </a:r>
          </a:p>
          <a:p xmlns:a="http://schemas.openxmlformats.org/drawingml/2006/main">
            <a:r>
              <a:t>Good morning. We are Oliver Mattar and Nour Fakih, and this is our Final Year Project, Elite Fitness App. It is a mobile fitness system that personalizes training and nutrition and gives feedback on recorded exercise videos. We will explain the problem, show how the app works, present the technical architecture and AI modules, then share our testing results and a short demonstration.</a:t>
            </a:r>
          </a:p>
          <a:p xmlns:a="http://schemas.openxmlformats.org/drawingml/2006/main">
            <a:r>
              <a:t/>
            </a:r>
          </a:p>
          <a:p xmlns:a="http://schemas.openxmlformats.org/drawingml/2006/main">
            <a:r>
              <a:t>DEFENSE NOTES AND SOURCES</a:t>
            </a:r>
          </a:p>
          <a:p xmlns:a="http://schemas.openxmlformats.org/drawingml/2006/main">
            <a:r>
              <a:t>Introduce the team and the one-sentence idea: a mobile fitness application that combines personalized plans, nutrition, video form feedback and expert review. Source: FYP Report-2026.docx, cover and abstract.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1:00</a:t>
            </a:r>
          </a:p>
          <a:p xmlns:a="http://schemas.openxmlformats.org/drawingml/2006/main">
            <a:r>
              <a:t/>
            </a:r>
          </a:p>
          <a:p xmlns:a="http://schemas.openxmlformats.org/drawingml/2006/main">
            <a:r>
              <a:t>SPEAKING SCRIPT</a:t>
            </a:r>
          </a:p>
          <a:p xmlns:a="http://schemas.openxmlformats.org/drawingml/2006/main">
            <a:r>
              <a:t>Many fitness apps provide useful content, but recommendations can still feel generic. Imagine two people with the same goal of losing weight. One has a knee injury and trains at home; the other has no injury and goes to a gym. A standard workout plan should not be identical for them. Nutrition has a similar issue: allergies, disliked foods and ingredients at home all matter. We wanted one app that connects this information to the plans and to later progress, instead of treating each feature separately.</a:t>
            </a:r>
          </a:p>
          <a:p xmlns:a="http://schemas.openxmlformats.org/drawingml/2006/main">
            <a:r>
              <a:t/>
            </a:r>
          </a:p>
          <a:p xmlns:a="http://schemas.openxmlformats.org/drawingml/2006/main">
            <a:r>
              <a:t>DEFENSE NOTES AND SOURCES</a:t>
            </a:r>
          </a:p>
          <a:p xmlns:a="http://schemas.openxmlformats.org/drawingml/2006/main">
            <a:r>
              <a:t>Explain the problem with one concrete example: two users can share a weight-loss goal but have different injuries, foods and equipment. The report identifies generic recommendations and limited adaptation as the gap. Transition: these gaps became our project objectives. Source: FYP Report-2026.docx, Chapter 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0:50</a:t>
            </a:r>
          </a:p>
          <a:p xmlns:a="http://schemas.openxmlformats.org/drawingml/2006/main">
            <a:r>
              <a:t/>
            </a:r>
          </a:p>
          <a:p xmlns:a="http://schemas.openxmlformats.org/drawingml/2006/main">
            <a:r>
              <a:t>SPEAKING SCRIPT</a:t>
            </a:r>
          </a:p>
          <a:p xmlns:a="http://schemas.openxmlformats.org/drawingml/2006/main">
            <a:r>
              <a:t>We set four main objectives. First, generate workouts that match the user's goal, level, location and injury information. Second, produce meals and alternatives that consider nutrition targets, allergies and fridge ingredients, with an expert approval step. Third, let the user upload a recorded exercise video and receive repetition and form feedback. Fourth, make the plan usable over time through progress tracking, community and challenges. These objectives became the basis for our architecture and tests.</a:t>
            </a:r>
          </a:p>
          <a:p xmlns:a="http://schemas.openxmlformats.org/drawingml/2006/main">
            <a:r>
              <a:t/>
            </a:r>
          </a:p>
          <a:p xmlns:a="http://schemas.openxmlformats.org/drawingml/2006/main">
            <a:r>
              <a:t>DEFENSE NOTES AND SOURCES</a:t>
            </a:r>
          </a:p>
          <a:p xmlns:a="http://schemas.openxmlformats.org/drawingml/2006/main">
            <a:r>
              <a:t>State the four deliverables, not every app feature. Say that success means a complete user journey: profile input, a useful plan, form feedback and ongoing tracking. Source: FYP Report-2026.docx, Chapter III project objectives and Chapter II functional requirements.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0:55</a:t>
            </a:r>
          </a:p>
          <a:p xmlns:a="http://schemas.openxmlformats.org/drawingml/2006/main">
            <a:r>
              <a:t/>
            </a:r>
          </a:p>
          <a:p xmlns:a="http://schemas.openxmlformats.org/drawingml/2006/main">
            <a:r>
              <a:t>SPEAKING SCRIPT</a:t>
            </a:r>
          </a:p>
          <a:p xmlns:a="http://schemas.openxmlformats.org/drawingml/2006/main">
            <a:r>
              <a:t>Here is the user journey. The person creates an account and completes onboarding. The profile includes body information, goals, food restrictions and training constraints. The app then requests workout and nutrition plans from the backend. The user follows the plan, records activity and can upload a video for form analysis. New logs and feedback are stored, so the next experience can use the latest information. The phone is the interface, while the backend coordinates the data and the local AI modules.</a:t>
            </a:r>
          </a:p>
          <a:p xmlns:a="http://schemas.openxmlformats.org/drawingml/2006/main">
            <a:r>
              <a:t/>
            </a:r>
          </a:p>
          <a:p xmlns:a="http://schemas.openxmlformats.org/drawingml/2006/main">
            <a:r>
              <a:t>DEFENSE NOTES AND SOURCES</a:t>
            </a:r>
          </a:p>
          <a:p xmlns:a="http://schemas.openxmlformats.org/drawingml/2006/main">
            <a:r>
              <a:t>Walk the advisor through the app as if they are the user. Onboarding collects the profile once. The phone communicates with the PHP API; the backend stores data in MySQL and invokes local AI when needed. Source: report Chapters IV-V.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1:00</a:t>
            </a:r>
          </a:p>
          <a:p xmlns:a="http://schemas.openxmlformats.org/drawingml/2006/main">
            <a:r>
              <a:t/>
            </a:r>
          </a:p>
          <a:p xmlns:a="http://schemas.openxmlformats.org/drawingml/2006/main">
            <a:r>
              <a:t>SPEAKING SCRIPT</a:t>
            </a:r>
          </a:p>
          <a:p xmlns:a="http://schemas.openxmlformats.org/drawingml/2006/main">
            <a:r>
              <a:t>We reviewed existing applications including Nike Training Club, Fitbod, MyFitnessPal and Strava. Each has strengths in a particular area. Our comparison is not saying that those apps are bad or never change; it reflects the feature scope documented in our report. The gap we focused on is the combination. In one app, we connect workout planning, nutrition planning, fridge-based meal swaps, expert meal approval, injury awareness and recorded-video form analysis. That combination is the proposed contribution.</a:t>
            </a:r>
          </a:p>
          <a:p xmlns:a="http://schemas.openxmlformats.org/drawingml/2006/main">
            <a:r>
              <a:t/>
            </a:r>
          </a:p>
          <a:p xmlns:a="http://schemas.openxmlformats.org/drawingml/2006/main">
            <a:r>
              <a:t>DEFENSE NOTES AND SOURCES</a:t>
            </a:r>
          </a:p>
          <a:p xmlns:a="http://schemas.openxmlformats.org/drawingml/2006/main">
            <a:r>
              <a:t>This is a comparison of features documented in our report, not a claim that competitors have no other capabilities. Focus on the combination of workout planning, nutrition, fridge swaps, expert approval and form analysis. Source: FYP Report-2026.docx, Table 3, Chapter III.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0:50</a:t>
            </a:r>
          </a:p>
          <a:p xmlns:a="http://schemas.openxmlformats.org/drawingml/2006/main">
            <a:r>
              <a:t/>
            </a:r>
          </a:p>
          <a:p xmlns:a="http://schemas.openxmlformats.org/drawingml/2006/main">
            <a:r>
              <a:t>SPEAKING SCRIPT</a:t>
            </a:r>
          </a:p>
          <a:p xmlns:a="http://schemas.openxmlformats.org/drawingml/2006/main">
            <a:r>
              <a:t>Our development was incremental. We began by studying the problem, requirements and existing solutions. Then we designed the main screens, API routes and database tables. During implementation, we built the account and profile flow first, then workout, nutrition and engagement features, and finally integrated the local AI modules and expert review. In the last phase, we tested both individual components and complete phone-to-backend workflows. The report describes about four months of work by our two-person team.</a:t>
            </a:r>
          </a:p>
          <a:p xmlns:a="http://schemas.openxmlformats.org/drawingml/2006/main">
            <a:r>
              <a:t/>
            </a:r>
          </a:p>
          <a:p xmlns:a="http://schemas.openxmlformats.org/drawingml/2006/main">
            <a:r>
              <a:t>DEFENSE NOTES AND SOURCES</a:t>
            </a:r>
          </a:p>
          <a:p xmlns:a="http://schemas.openxmlformats.org/drawingml/2006/main">
            <a:r>
              <a:t>Explain that this was built incrementally, not all at once: requirements, architecture, implementation, then integration and testing. The project report describes about four months and two team members. Keep this slide short so more time remains for the system and results. Source: report Chapter II.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1:00</a:t>
            </a:r>
          </a:p>
          <a:p xmlns:a="http://schemas.openxmlformats.org/drawingml/2006/main">
            <a:r>
              <a:t/>
            </a:r>
          </a:p>
          <a:p xmlns:a="http://schemas.openxmlformats.org/drawingml/2006/main">
            <a:r>
              <a:t>SPEAKING SCRIPT</a:t>
            </a:r>
          </a:p>
          <a:p xmlns:a="http://schemas.openxmlformats.org/drawingml/2006/main">
            <a:r>
              <a:t>The system has four important parts. The React Native and Expo application shows screens and gathers input. It sends HTTP requests to PHP controllers on the backend. Those controllers authenticate requests, read and write MySQL data, and call a local Python module when a decision is needed. The database stores profiles, generated plans and progress logs. The Python layer contains the local recommendation and video analysis logic. Finally, the backend returns JSON that the app can display. The phone does not execute the Python model itself.</a:t>
            </a:r>
          </a:p>
          <a:p xmlns:a="http://schemas.openxmlformats.org/drawingml/2006/main">
            <a:r>
              <a:t/>
            </a:r>
          </a:p>
          <a:p xmlns:a="http://schemas.openxmlformats.org/drawingml/2006/main">
            <a:r>
              <a:t>DEFENSE NOTES AND SOURCES</a:t>
            </a:r>
          </a:p>
          <a:p xmlns:a="http://schemas.openxmlformats.org/drawingml/2006/main">
            <a:r>
              <a:t>Technical explanation: the app sends HTTP requests to the PHP API. Controllers authenticate, read or save MySQL data, invoke local Python modules when needed, then send structured JSON back to the phone. Source: report Chapter IV and Chapter V. Note: the phone and local backend still need network connectivity to each other.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1:20</a:t>
            </a:r>
          </a:p>
          <a:p xmlns:a="http://schemas.openxmlformats.org/drawingml/2006/main">
            <a:r>
              <a:t/>
            </a:r>
          </a:p>
          <a:p xmlns:a="http://schemas.openxmlformats.org/drawingml/2006/main">
            <a:r>
              <a:t>SPEAKING SCRIPT</a:t>
            </a:r>
          </a:p>
          <a:p xmlns:a="http://schemas.openxmlformats.org/drawingml/2006/main">
            <a:r>
              <a:t>We built two small local neural models for recommendation. TrainCore starts from a structured exercise dataset of 220 records. We normalize fields and generate suitability labels using local expert rules, then train a neural network to estimate an exercise score. NutriCore starts from 72 USDA-based meals and four example user profiles. Comparing each profile with each meal gives 288 labeled pairs; 216 are used for training and 72 for validation. Its network trains for 180 epochs and saves weights locally. PoseForm is different: it uses MediaPipe landmarks and our movement rules, not a pose detector we trained ourselves.</a:t>
            </a:r>
          </a:p>
          <a:p xmlns:a="http://schemas.openxmlformats.org/drawingml/2006/main">
            <a:r>
              <a:t/>
            </a:r>
          </a:p>
          <a:p xmlns:a="http://schemas.openxmlformats.org/drawingml/2006/main">
            <a:r>
              <a:t>DEFENSE NOTES AND SOURCES</a:t>
            </a:r>
          </a:p>
          <a:p xmlns:a="http://schemas.openxmlformats.org/drawingml/2006/main">
            <a:r>
              <a:t>Explain training in simple words: each example has input features and a target suitability label. The network predicts, compares to the label and updates weights by backpropagation. TrainCore labels are generated by local expert rules, not by a large human-labeled clinical study. NutriCore uses four example profiles against 72 meals: 288 pairs, with a 75/25 sample split and 180 epochs. Its validation pairs share the same small profile/meal pool, so the reported accuracy is internal and may not generalize to new users. PoseForm uses pretrained MediaPipe plus our local rules; we did not train the pose detector. Source: ml/workout_ai/traincore_model.py, ml/workout_ai/datasets/traincore_exercise_dataset.json, ml/nutrition_ai/preprocess_usda_dataset.py, ml/nutrition_ai/train_model.py.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0:45</a:t>
            </a:r>
          </a:p>
          <a:p xmlns:a="http://schemas.openxmlformats.org/drawingml/2006/main">
            <a:r>
              <a:t/>
            </a:r>
          </a:p>
          <a:p xmlns:a="http://schemas.openxmlformats.org/drawingml/2006/main">
            <a:r>
              <a:t>SPEAKING SCRIPT</a:t>
            </a:r>
          </a:p>
          <a:p xmlns:a="http://schemas.openxmlformats.org/drawingml/2006/main">
            <a:r>
              <a:t>These are real onboarding screens from the prototype. The app asks for information such as identity, allergies and injury or pain areas. Other onboarding steps collect goals, physical measures and training preferences. This is important because personalization only works when the inputs are relevant and stored correctly. Once the profile is saved, the same information can be reused by TrainCore for workout planning and NutriCore for meals. In the demo, we will use an account that already completed onboarding to save time.</a:t>
            </a:r>
          </a:p>
          <a:p xmlns:a="http://schemas.openxmlformats.org/drawingml/2006/main">
            <a:r>
              <a:t/>
            </a:r>
          </a:p>
          <a:p xmlns:a="http://schemas.openxmlformats.org/drawingml/2006/main">
            <a:r>
              <a:t>DEFENSE NOTES AND SOURCES</a:t>
            </a:r>
          </a:p>
          <a:p xmlns:a="http://schemas.openxmlformats.org/drawingml/2006/main">
            <a:r>
              <a:t>Show these real screens from the report. The profile stores goals, body data, allergies, preferences and training constraints. This data is reused by the workout and nutrition modules. Source: report Chapter VI, onboarding figures.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1:10</a:t>
            </a:r>
          </a:p>
          <a:p xmlns:a="http://schemas.openxmlformats.org/drawingml/2006/main">
            <a:r>
              <a:t/>
            </a:r>
          </a:p>
          <a:p xmlns:a="http://schemas.openxmlformats.org/drawingml/2006/main">
            <a:r>
              <a:t>SPEAKING SCRIPT</a:t>
            </a:r>
          </a:p>
          <a:p xmlns:a="http://schemas.openxmlformats.org/drawingml/2006/main">
            <a:r>
              <a:t>TrainCore receives the user's profile, including goal, level, location, frequency and physical limitations. It converts those inputs into features and scores candidate exercises from the local dataset. Safety rules remove unsuitable choices, and the backend builds and stores the final plan. On the screen, the user sees a weekly program and a daily workout with exercises, sets and repetitions. This is not a fixed plan copied for every person; the selected exercises depend on the profile. We will return to the test results shortly.</a:t>
            </a:r>
          </a:p>
          <a:p xmlns:a="http://schemas.openxmlformats.org/drawingml/2006/main">
            <a:r>
              <a:t/>
            </a:r>
          </a:p>
          <a:p xmlns:a="http://schemas.openxmlformats.org/drawingml/2006/main">
            <a:r>
              <a:t>DEFENSE NOTES AND SOURCES</a:t>
            </a:r>
          </a:p>
          <a:p xmlns:a="http://schemas.openxmlformats.org/drawingml/2006/main">
            <a:r>
              <a:t>Say: TrainCore takes the user profile, turns it into numeric features, scores exercises from a local dataset, applies safety rules, builds a plan and saves it. The report states 3,960 synthetic profiles/plan combinations, 74,250 ranked exercise slots and MAE 0.0329. This is model fit against generated suitability labels, not clinical accuracy. Source: report Chapter VI; ml/workout_ai.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1:10</a:t>
            </a:r>
          </a:p>
          <a:p xmlns:a="http://schemas.openxmlformats.org/drawingml/2006/main">
            <a:r>
              <a:t/>
            </a:r>
          </a:p>
          <a:p xmlns:a="http://schemas.openxmlformats.org/drawingml/2006/main">
            <a:r>
              <a:t>SPEAKING SCRIPT</a:t>
            </a:r>
          </a:p>
          <a:p xmlns:a="http://schemas.openxmlformats.org/drawingml/2006/main">
            <a:r>
              <a:t>NutriCore works in a similar way for food. The app passes nutrition targets, preferences and restrictions to the backend. A locally trained model ranks meals in the project dataset, while hard filters block allergens and disliked ingredients. The fridge feature lets the user select ingredients they have, so the app can suggest practical alternatives instead of only an ideal meal plan. The screenshots show the daily meals and the fridge-selection interface. A high model score alone is not enough: the expert approval check still applies.</a:t>
            </a:r>
          </a:p>
          <a:p xmlns:a="http://schemas.openxmlformats.org/drawingml/2006/main">
            <a:r>
              <a:t/>
            </a:r>
          </a:p>
          <a:p xmlns:a="http://schemas.openxmlformats.org/drawingml/2006/main">
            <a:r>
              <a:t>DEFENSE NOTES AND SOURCES</a:t>
            </a:r>
          </a:p>
          <a:p xmlns:a="http://schemas.openxmlformats.org/drawingml/2006/main">
            <a:r>
              <a:t>Say: NutriCore does not invent arbitrary meals on the phone. USDA-derived meal data and a locally trained model support suitability ranking. The backend enforces hard safety filters and expert approval before display. The report cites 99% training and 100% validation accuracy on its prepared validation set; this is not a clinical outcome. Source: report Chapter VI and ml/nutrition_ai.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0:40</a:t>
            </a:r>
          </a:p>
          <a:p xmlns:a="http://schemas.openxmlformats.org/drawingml/2006/main">
            <a:r>
              <a:t/>
            </a:r>
          </a:p>
          <a:p xmlns:a="http://schemas.openxmlformats.org/drawingml/2006/main">
            <a:r>
              <a:t>SPEAKING SCRIPT</a:t>
            </a:r>
          </a:p>
          <a:p xmlns:a="http://schemas.openxmlformats.org/drawingml/2006/main">
            <a:r>
              <a:t>This slide shows the safety gate. NutriCore may propose a meal, but the expert reviewer can approve or reject it. The decision is stored in the database and checked before that meal appears in the user's final plan. That separation matters because a machine-learned suitability score does not replace professional judgment. It also lets us inspect why a recommendation should be changed. In the prototype, the review screen shows the meal, its nutrition values and its approval state.</a:t>
            </a:r>
          </a:p>
          <a:p xmlns:a="http://schemas.openxmlformats.org/drawingml/2006/main">
            <a:r>
              <a:t/>
            </a:r>
          </a:p>
          <a:p xmlns:a="http://schemas.openxmlformats.org/drawingml/2006/main">
            <a:r>
              <a:t>DEFENSE NOTES AND SOURCES</a:t>
            </a:r>
          </a:p>
          <a:p xmlns:a="http://schemas.openxmlformats.org/drawingml/2006/main">
            <a:r>
              <a:t>Point out the expert review screen. The AI recommends; it does not bypass human approval. The review decision is stored and checked before showing final meals. Source: report Chapter V-VI, expert review figures and Table 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1:25</a:t>
            </a:r>
          </a:p>
          <a:p xmlns:a="http://schemas.openxmlformats.org/drawingml/2006/main">
            <a:r>
              <a:t/>
            </a:r>
          </a:p>
          <a:p xmlns:a="http://schemas.openxmlformats.org/drawingml/2006/main">
            <a:r>
              <a:t>SPEAKING SCRIPT</a:t>
            </a:r>
          </a:p>
          <a:p xmlns:a="http://schemas.openxmlformats.org/drawingml/2006/main">
            <a:r>
              <a:t>PoseForm begins when the user records or uploads a full exercise video. The phone sends the video and exercise information to the PHP backend. The file is stored temporarily while the local Python analyzer reads it frame by frame. MediaPipe detects landmarks such as hips, knees, shoulders and elbows. Our exercise-specific rules use those points to estimate angles and movement phases, count repetitions and flag possible form mistakes. The analyzer returns a JSON result, which the backend passes to the app. This is recorded-video feedback, not continuous live analysis.</a:t>
            </a:r>
          </a:p>
          <a:p xmlns:a="http://schemas.openxmlformats.org/drawingml/2006/main">
            <a:r>
              <a:t/>
            </a:r>
          </a:p>
          <a:p xmlns:a="http://schemas.openxmlformats.org/drawingml/2006/main">
            <a:r>
              <a:t>DEFENSE NOTES AND SOURCES</a:t>
            </a:r>
          </a:p>
          <a:p xmlns:a="http://schemas.openxmlformats.org/drawingml/2006/main">
            <a:r>
              <a:t>Speak slowly through the actual flow: the user records or uploads a full exercise video. The mobile app sends multipart data to PHP. The backend saves the video temporarily and starts the Python analyzer. MediaPipe extracts joint landmarks; exercise rules inspect angles and movement phases, estimate reps and form, then return JSON. PoseForm is a local vision-and-rules pipeline, not a newly trained pose detector. Source: report Chapter VI, PoseForm test; backend/controllers/ExerciseAIController.php and ml/exercise_ai/video_pose_analyzer.py.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0:40</a:t>
            </a:r>
          </a:p>
          <a:p xmlns:a="http://schemas.openxmlformats.org/drawingml/2006/main">
            <a:r>
              <a:t/>
            </a:r>
          </a:p>
          <a:p xmlns:a="http://schemas.openxmlformats.org/drawingml/2006/main">
            <a:r>
              <a:t>SPEAKING SCRIPT</a:t>
            </a:r>
          </a:p>
          <a:p xmlns:a="http://schemas.openxmlformats.org/drawingml/2006/main">
            <a:r>
              <a:t>The app also includes features that support repeated use. Users can interact in the community, join challenges and earn points or rewards. These do not replace the AI modules; they help a person stay engaged with a plan after the first day. The screenshots show the rewards store, the community screen and daily missions. Progress logs also feed the user dashboard. For this defense, our main technical focus remains the connected workout, nutrition and PoseForm workflows.</a:t>
            </a:r>
          </a:p>
          <a:p xmlns:a="http://schemas.openxmlformats.org/drawingml/2006/main">
            <a:r>
              <a:t/>
            </a:r>
          </a:p>
          <a:p xmlns:a="http://schemas.openxmlformats.org/drawingml/2006/main">
            <a:r>
              <a:t>DEFENSE NOTES AND SOURCES</a:t>
            </a:r>
          </a:p>
          <a:p xmlns:a="http://schemas.openxmlformats.org/drawingml/2006/main">
            <a:r>
              <a:t>The app is more than recommendation screens. The report documents meal/workout/progress tracking, friends and clubs, challenges, achievements and rewards. These help users return to the app and make the plans actionable. Source: report Chapters V-VI.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0:55</a:t>
            </a:r>
          </a:p>
          <a:p xmlns:a="http://schemas.openxmlformats.org/drawingml/2006/main">
            <a:r>
              <a:t/>
            </a:r>
          </a:p>
          <a:p xmlns:a="http://schemas.openxmlformats.org/drawingml/2006/main">
            <a:r>
              <a:t>SPEAKING SCRIPT</a:t>
            </a:r>
          </a:p>
          <a:p xmlns:a="http://schemas.openxmlformats.org/drawingml/2006/main">
            <a:r>
              <a:t>It is important to be precise about the word local. TrainCore and NutriCore use model weights saved with the project and run on the backend computer. PoseForm analyzes video locally with MediaPipe and project-specific rules; we did not train MediaPipe ourselves. The AI Coach chat is a separate feature using a Gemini service, so we do not claim that chat is local. Also, local AI does not mean the phone works without any network: it still needs to reach our backend, usually on the same network during testing.</a:t>
            </a:r>
          </a:p>
          <a:p xmlns:a="http://schemas.openxmlformats.org/drawingml/2006/main">
            <a:r>
              <a:t/>
            </a:r>
          </a:p>
          <a:p xmlns:a="http://schemas.openxmlformats.org/drawingml/2006/main">
            <a:r>
              <a:t>DEFENSE NOTES AND SOURCES</a:t>
            </a:r>
          </a:p>
          <a:p xmlns:a="http://schemas.openxmlformats.org/drawingml/2006/main">
            <a:r>
              <a:t>Be precise with the advisor: TrainCore and NutriCore have saved local model weights; PoseForm combines a pretrained MediaPipe landmark detector with custom local rules. The chat feature uses Gemini and is not part of the claim that the core modules are local. Source: report Chapter V; backend/services/GeminiService.php.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1:20</a:t>
            </a:r>
          </a:p>
          <a:p xmlns:a="http://schemas.openxmlformats.org/drawingml/2006/main">
            <a:r>
              <a:t/>
            </a:r>
          </a:p>
          <a:p xmlns:a="http://schemas.openxmlformats.org/drawingml/2006/main">
            <a:r>
              <a:t>SPEAKING SCRIPT</a:t>
            </a:r>
          </a:p>
          <a:p xmlns:a="http://schemas.openxmlformats.org/drawingml/2006/main">
            <a:r>
              <a:t>We tested complete application flows as well as model behavior. Authentication tests covered registration, login, tokens and profile storage. The TrainCore report gives an MAE of 0.0329 for suitability scoring and records 191 distinct recommended exercises. NutriCore reached 100 percent validation accuracy on its prepared set, and allergy filtering excluded the restricted meals in its test. PoseForm passed 17 template checks, three analyzer checks and 24 smoke-test profiles. These results support prototype functionality, but they do not establish clinical effectiveness or guarantee performance for every real user.</a:t>
            </a:r>
          </a:p>
          <a:p xmlns:a="http://schemas.openxmlformats.org/drawingml/2006/main">
            <a:r>
              <a:t/>
            </a:r>
          </a:p>
          <a:p xmlns:a="http://schemas.openxmlformats.org/drawingml/2006/main">
            <a:r>
              <a:t>DEFENSE NOTES AND SOURCES</a:t>
            </a:r>
          </a:p>
          <a:p xmlns:a="http://schemas.openxmlformats.org/drawingml/2006/main">
            <a:r>
              <a:t>Read the evidence accurately. TrainCore MAE is suitability prediction error; NutriCore accuracy is on a prepared dataset, so it can overstate generalization. PoseForm counts are software/template checks, not a population-level biomechanics study. Source: report Chapter VI, Tables 11-14.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1:45</a:t>
            </a:r>
          </a:p>
          <a:p xmlns:a="http://schemas.openxmlformats.org/drawingml/2006/main">
            <a:r>
              <a:t/>
            </a:r>
          </a:p>
          <a:p xmlns:a="http://schemas.openxmlformats.org/drawingml/2006/main">
            <a:r>
              <a:t>SPEAKING SCRIPT</a:t>
            </a:r>
          </a:p>
          <a:p xmlns:a="http://schemas.openxmlformats.org/drawingml/2006/main">
            <a:r>
              <a:t>Now we will show a short live journey. We will open a prepared profile, then show a generated workout and exercise detail. Next we will show approved meals and a fridge-based alternative. Finally, we will upload a prepared short exercise clip and show the returned PoseForm feedback. We are keeping this to the four key actions rather than touring every tab. If the local network or camera is unavailable, the screenshots we have already shown document the same flow, and we can still explain each backend step.</a:t>
            </a:r>
          </a:p>
          <a:p xmlns:a="http://schemas.openxmlformats.org/drawingml/2006/main">
            <a:r>
              <a:t/>
            </a:r>
          </a:p>
          <a:p xmlns:a="http://schemas.openxmlformats.org/drawingml/2006/main">
            <a:r>
              <a:t>DEFENSE NOTES AND SOURCES</a:t>
            </a:r>
          </a:p>
          <a:p xmlns:a="http://schemas.openxmlformats.org/drawingml/2006/main">
            <a:r>
              <a:t>Target demo: about 1 minute 45 seconds. Prepare the logged-in test account and a short supported exercise video before the defense. Do not spend time registering on stage. Show the four actions only; avoid navigating every tab. If Wi-Fi, Expo or the backend fails, immediately use the screenshots already in this deck and explain the flow. Source: project prototype screenshots and Chapter VI.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0:50</a:t>
            </a:r>
          </a:p>
          <a:p xmlns:a="http://schemas.openxmlformats.org/drawingml/2006/main">
            <a:r>
              <a:t/>
            </a:r>
          </a:p>
          <a:p xmlns:a="http://schemas.openxmlformats.org/drawingml/2006/main">
            <a:r>
              <a:t>SPEAKING SCRIPT</a:t>
            </a:r>
          </a:p>
          <a:p xmlns:a="http://schemas.openxmlformats.org/drawingml/2006/main">
            <a:r>
              <a:t>There are clear limitations. The recommendation models were trained and evaluated on prepared datasets and need broader real-user testing. Meal variety should be expanded to include more regional foods and practical constraints such as cost. PoseForm depends on lighting, camera angle, body visibility and supported exercises. A public release would also require stronger security, privacy review and professional evaluation. Our next step would be to widen the data and test with more users and qualified reviewers.</a:t>
            </a:r>
          </a:p>
          <a:p xmlns:a="http://schemas.openxmlformats.org/drawingml/2006/main">
            <a:r>
              <a:t/>
            </a:r>
          </a:p>
          <a:p xmlns:a="http://schemas.openxmlformats.org/drawingml/2006/main">
            <a:r>
              <a:t>DEFENSE NOTES AND SOURCES</a:t>
            </a:r>
          </a:p>
          <a:p xmlns:a="http://schemas.openxmlformats.org/drawingml/2006/main">
            <a:r>
              <a:t>Present limitations confidently. The report notes the prepared data and user tests do not prove broad real-world performance. PoseForm depends on clear visibility and supported exercises. Public deployment requires larger evaluations and stronger security. Source: report Chapter VII.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0:35</a:t>
            </a:r>
          </a:p>
          <a:p xmlns:a="http://schemas.openxmlformats.org/drawingml/2006/main">
            <a:r>
              <a:t/>
            </a:r>
          </a:p>
          <a:p xmlns:a="http://schemas.openxmlformats.org/drawingml/2006/main">
            <a:r>
              <a:t>SPEAKING SCRIPT</a:t>
            </a:r>
          </a:p>
          <a:p xmlns:a="http://schemas.openxmlformats.org/drawingml/2006/main">
            <a:r>
              <a:t>To conclude, we built a connected mobile prototype rather than three isolated scripts. The user profile drives workout and meal recommendations; expert review adds a human safety layer; and recorded videos produce form feedback through a local analysis pipeline. We verified the main workflows and documented the limits of our tests. Thank you for listening. We are ready for your questions.</a:t>
            </a:r>
          </a:p>
          <a:p xmlns:a="http://schemas.openxmlformats.org/drawingml/2006/main">
            <a:r>
              <a:t/>
            </a:r>
          </a:p>
          <a:p xmlns:a="http://schemas.openxmlformats.org/drawingml/2006/main">
            <a:r>
              <a:t>DEFENSE NOTES AND SOURCES</a:t>
            </a:r>
          </a:p>
          <a:p xmlns:a="http://schemas.openxmlformats.org/drawingml/2006/main">
            <a:r>
              <a:t>Conclude in one sentence: we implemented and tested a connected fitness app that combines personalized workouts, safer meal recommendations and video form feedback. Thank the committee and invite questions. Do not repeat the full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829579a78fa44d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fb0555bf4f549be" /><Relationship Type="http://schemas.openxmlformats.org/officeDocument/2006/relationships/slideLayout" Target="/ppt/slideLayouts/slideLayout1.xml" Id="R271e769d715b468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71e769d715b468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88e369a105341dc" /><Relationship Type="http://schemas.openxmlformats.org/officeDocument/2006/relationships/image" Target="/ppt/media/image.png" Id="Rabee47b0d66e4d65" /><Relationship Type="http://schemas.openxmlformats.org/officeDocument/2006/relationships/notesSlide" Target="/ppt/notesSlides/notesSlide1.xml" Id="R0c8e24f7d18a4b8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34b305195a44a7a" /><Relationship Type="http://schemas.openxmlformats.org/officeDocument/2006/relationships/notesSlide" Target="/ppt/notesSlides/notesSlide2.xml" Id="R3f32a84b2d9f497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fd53df859da40d1" /><Relationship Type="http://schemas.openxmlformats.org/officeDocument/2006/relationships/notesSlide" Target="/ppt/notesSlides/notesSlide3.xml" Id="R5f3a8132ac2f4f2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8d6785903cb401e" /><Relationship Type="http://schemas.openxmlformats.org/officeDocument/2006/relationships/notesSlide" Target="/ppt/notesSlides/notesSlide4.xml" Id="R765fa312d74e43b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e8ec95452a9447e" /><Relationship Type="http://schemas.openxmlformats.org/officeDocument/2006/relationships/notesSlide" Target="/ppt/notesSlides/notesSlide5.xml" Id="Re4f459e012fb421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69203b18f7844cf" /><Relationship Type="http://schemas.openxmlformats.org/officeDocument/2006/relationships/notesSlide" Target="/ppt/notesSlides/notesSlide6.xml" Id="R280dbc06967a4cb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f6fe129d38d40d5" /><Relationship Type="http://schemas.openxmlformats.org/officeDocument/2006/relationships/notesSlide" Target="/ppt/notesSlides/notesSlide7.xml" Id="Rce85716b0f74474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8d12e4f348d42c0" /><Relationship Type="http://schemas.openxmlformats.org/officeDocument/2006/relationships/notesSlide" Target="/ppt/notesSlides/notesSlide8.xml" Id="Rb8747801bf9a407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9e7ca26f49f4d7c" /><Relationship Type="http://schemas.openxmlformats.org/officeDocument/2006/relationships/image" Target="/ppt/media/image.jpeg" Id="R92f5cee568af49e9" /><Relationship Type="http://schemas.openxmlformats.org/officeDocument/2006/relationships/image" Target="/ppt/media/image2.jpeg" Id="Rd8e47635947f4c47" /><Relationship Type="http://schemas.openxmlformats.org/officeDocument/2006/relationships/image" Target="/ppt/media/image3.jpeg" Id="R23428c880a384348" /><Relationship Type="http://schemas.openxmlformats.org/officeDocument/2006/relationships/notesSlide" Target="/ppt/notesSlides/notesSlide9.xml" Id="Re991579e72284b0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33e431702f249e5" /><Relationship Type="http://schemas.openxmlformats.org/officeDocument/2006/relationships/image" Target="/ppt/media/image4.jpeg" Id="R77e4506125994f99" /><Relationship Type="http://schemas.openxmlformats.org/officeDocument/2006/relationships/image" Target="/ppt/media/image5.jpeg" Id="Rae5baaaec30d42bc" /><Relationship Type="http://schemas.openxmlformats.org/officeDocument/2006/relationships/notesSlide" Target="/ppt/notesSlides/notesSlide10.xml" Id="R79334f4861aa402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1da1513d27a446c3" /><Relationship Type="http://schemas.openxmlformats.org/officeDocument/2006/relationships/image" Target="/ppt/media/image6.jpeg" Id="Rcfeb396b51f84d56" /><Relationship Type="http://schemas.openxmlformats.org/officeDocument/2006/relationships/image" Target="/ppt/media/image7.jpeg" Id="R50fb66d7f0824789" /><Relationship Type="http://schemas.openxmlformats.org/officeDocument/2006/relationships/notesSlide" Target="/ppt/notesSlides/notesSlide11.xml" Id="Ra588a5aae17e436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c1f3c1e1727640de" /><Relationship Type="http://schemas.openxmlformats.org/officeDocument/2006/relationships/image" Target="/ppt/media/image8.jpeg" Id="R014e15038d7c4445" /><Relationship Type="http://schemas.openxmlformats.org/officeDocument/2006/relationships/notesSlide" Target="/ppt/notesSlides/notesSlide12.xml" Id="R0183d49a346a4cc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96321e5a70fc4a85" /><Relationship Type="http://schemas.openxmlformats.org/officeDocument/2006/relationships/image" Target="/ppt/media/image9.jpeg" Id="Rdd8addeb16bd430c" /><Relationship Type="http://schemas.openxmlformats.org/officeDocument/2006/relationships/notesSlide" Target="/ppt/notesSlides/notesSlide13.xml" Id="Rb3a20e312742436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4b8e8e70ab824395" /><Relationship Type="http://schemas.openxmlformats.org/officeDocument/2006/relationships/image" Target="/ppt/media/image10.jpeg" Id="Rd6ca56f88c644ec1" /><Relationship Type="http://schemas.openxmlformats.org/officeDocument/2006/relationships/image" Target="/ppt/media/image11.jpeg" Id="R26e8d4bf43cd4847" /><Relationship Type="http://schemas.openxmlformats.org/officeDocument/2006/relationships/image" Target="/ppt/media/image12.jpeg" Id="Rf818cf651fe348c3" /><Relationship Type="http://schemas.openxmlformats.org/officeDocument/2006/relationships/notesSlide" Target="/ppt/notesSlides/notesSlide14.xml" Id="Rde2e2e9270e24fc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cad70d8922934999" /><Relationship Type="http://schemas.openxmlformats.org/officeDocument/2006/relationships/notesSlide" Target="/ppt/notesSlides/notesSlide15.xml" Id="Rab7ed12bc7a44aa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33f3c6da37ab4921" /><Relationship Type="http://schemas.openxmlformats.org/officeDocument/2006/relationships/notesSlide" Target="/ppt/notesSlides/notesSlide16.xml" Id="Rff87b34cb7f04cba"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e17ccba1844840ca" /><Relationship Type="http://schemas.openxmlformats.org/officeDocument/2006/relationships/notesSlide" Target="/ppt/notesSlides/notesSlide17.xml" Id="Ree326a54ac7c4620"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13b985ff6ce247a9" /><Relationship Type="http://schemas.openxmlformats.org/officeDocument/2006/relationships/notesSlide" Target="/ppt/notesSlides/notesSlide18.xml" Id="R7f86427d8a46449b"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3bee5c20fd8b4b00" /><Relationship Type="http://schemas.openxmlformats.org/officeDocument/2006/relationships/image" Target="/ppt/media/image2.png" Id="R4c65fc2dae0e4fd4" /><Relationship Type="http://schemas.openxmlformats.org/officeDocument/2006/relationships/notesSlide" Target="/ppt/notesSlides/notesSlide19.xml" Id="R1aed753f78734256" /></Relationships>
</file>

<file path=ppt/slides/slide1.xml><?xml version="1.0" encoding="utf-8"?>
<p:sld xmlns:p="http://schemas.openxmlformats.org/presentationml/2006/main">
  <p:cSld>
    <p:bg>
      <p:bgPr>
        <a:solidFill xmlns:a="http://schemas.openxmlformats.org/drawingml/2006/main">
          <a:srgbClr val="17232F"/>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abee47b0d66e4d65"/>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2BC486D0-E8B8-4B90-911A-98A124939378}"/>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F2684E"/>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CBCB372-82CC-4B5F-A061-D9F96D0CC98A}"/>
              </a:ext>
            </a:extLst>
          </p:cNvPr>
          <p:cNvSpPr>
            <a:spLocks xmlns:a="http://schemas.openxmlformats.org/drawingml/2006/main" noGrp="1"/>
          </p:cNvSpPr>
          <p:nvPr/>
        </p:nvSpPr>
        <p:spPr>
          <a:xfrm xmlns:a="http://schemas.openxmlformats.org/drawingml/2006/main">
            <a:off x="685800" y="514350"/>
            <a:ext cx="6238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AEE585"/>
                </a:solidFill>
                <a:latin typeface="Arial"/>
                <a:ea typeface="Arial"/>
                <a:cs typeface="Arial"/>
              </a:defRPr>
            </a:pPr>
            <a:r>
              <a:rPr sz="1350" b="1">
                <a:solidFill>
                  <a:srgbClr val="AEE585"/>
                </a:solidFill>
                <a:latin typeface="Arial"/>
                <a:ea typeface="Arial"/>
                <a:cs typeface="Arial"/>
              </a:rPr>
              <a:t>ANTONINE UNIVERSITY  /  COMPUTER SCIENCE</a:t>
            </a:r>
          </a:p>
        </p:txBody>
      </p:sp>
      <p:sp>
        <p:nvSpPr>
          <p:cNvPr id="4" name="">
            <a:extLst xmlns:a="http://schemas.openxmlformats.org/drawingml/2006/main">
              <a:ext uri="{FF2B5EF4-FFF2-40B4-BE49-F238E27FC236}">
                <a16:creationId xmlns:a16="http://schemas.microsoft.com/office/drawing/2014/main" id="{E0F8D929-B8D9-440A-9026-EC2067A310DD}"/>
              </a:ext>
            </a:extLst>
          </p:cNvPr>
          <p:cNvSpPr>
            <a:spLocks xmlns:a="http://schemas.openxmlformats.org/drawingml/2006/main" noGrp="1"/>
          </p:cNvSpPr>
          <p:nvPr/>
        </p:nvSpPr>
        <p:spPr>
          <a:xfrm xmlns:a="http://schemas.openxmlformats.org/drawingml/2006/main">
            <a:off x="666750" y="1809750"/>
            <a:ext cx="638175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4575" b="1">
                <a:solidFill>
                  <a:srgbClr val="FFFFFF"/>
                </a:solidFill>
                <a:latin typeface="Arial"/>
                <a:ea typeface="Arial"/>
                <a:cs typeface="Arial"/>
              </a:defRPr>
            </a:pPr>
            <a:r>
              <a:rPr sz="4575" b="1">
                <a:solidFill>
                  <a:srgbClr val="FFFFFF"/>
                </a:solidFill>
                <a:latin typeface="Arial"/>
                <a:ea typeface="Arial"/>
                <a:cs typeface="Arial"/>
              </a:rPr>
              <a:t>ELITE</a:t>
            </a:r>
          </a:p>
          <a:p xmlns:a="http://schemas.openxmlformats.org/drawingml/2006/main">
            <a:pPr algn="l">
              <a:defRPr sz="4575" b="1">
                <a:solidFill>
                  <a:srgbClr val="FFFFFF"/>
                </a:solidFill>
                <a:latin typeface="Arial"/>
                <a:ea typeface="Arial"/>
                <a:cs typeface="Arial"/>
              </a:defRPr>
            </a:pPr>
            <a:r>
              <a:rPr sz="4575" b="1">
                <a:solidFill>
                  <a:srgbClr val="FFFFFF"/>
                </a:solidFill>
                <a:latin typeface="Arial"/>
                <a:ea typeface="Arial"/>
                <a:cs typeface="Arial"/>
              </a:rPr>
              <a:t>FITNESS APP</a:t>
            </a:r>
          </a:p>
        </p:txBody>
      </p:sp>
      <p:sp>
        <p:nvSpPr>
          <p:cNvPr id="5" name="">
            <a:extLst xmlns:a="http://schemas.openxmlformats.org/drawingml/2006/main">
              <a:ext uri="{FF2B5EF4-FFF2-40B4-BE49-F238E27FC236}">
                <a16:creationId xmlns:a16="http://schemas.microsoft.com/office/drawing/2014/main" id="{B78686A2-89CA-458C-BC3E-51D4CC599277}"/>
              </a:ext>
            </a:extLst>
          </p:cNvPr>
          <p:cNvSpPr>
            <a:spLocks xmlns:a="http://schemas.openxmlformats.org/drawingml/2006/main" noGrp="1"/>
          </p:cNvSpPr>
          <p:nvPr/>
        </p:nvSpPr>
        <p:spPr>
          <a:xfrm xmlns:a="http://schemas.openxmlformats.org/drawingml/2006/main">
            <a:off x="704850" y="3638550"/>
            <a:ext cx="5810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025" b="0">
                <a:solidFill>
                  <a:srgbClr val="FFFFFF"/>
                </a:solidFill>
                <a:latin typeface="Arial"/>
                <a:ea typeface="Arial"/>
                <a:cs typeface="Arial"/>
              </a:defRPr>
            </a:pPr>
            <a:r>
              <a:rPr sz="2025" b="0">
                <a:solidFill>
                  <a:srgbClr val="FFFFFF"/>
                </a:solidFill>
                <a:latin typeface="Arial"/>
                <a:ea typeface="Arial"/>
                <a:cs typeface="Arial"/>
              </a:rPr>
              <a:t>Personalized training, nutrition and exercise feedback</a:t>
            </a:r>
          </a:p>
        </p:txBody>
      </p:sp>
      <p:sp>
        <p:nvSpPr>
          <p:cNvPr id="6" name="">
            <a:extLst xmlns:a="http://schemas.openxmlformats.org/drawingml/2006/main">
              <a:ext uri="{FF2B5EF4-FFF2-40B4-BE49-F238E27FC236}">
                <a16:creationId xmlns:a16="http://schemas.microsoft.com/office/drawing/2014/main" id="{900AB7F0-12EB-46FA-9F6D-224452D0E44B}"/>
              </a:ext>
            </a:extLst>
          </p:cNvPr>
          <p:cNvSpPr>
            <a:spLocks xmlns:a="http://schemas.openxmlformats.org/drawingml/2006/main" noGrp="1"/>
          </p:cNvSpPr>
          <p:nvPr/>
        </p:nvSpPr>
        <p:spPr>
          <a:xfrm xmlns:a="http://schemas.openxmlformats.org/drawingml/2006/main">
            <a:off x="714375" y="4781550"/>
            <a:ext cx="4762500" cy="47625"/>
          </a:xfrm>
          <a:prstGeom xmlns:a="http://schemas.openxmlformats.org/drawingml/2006/main" prst="rect">
            <a:avLst/>
          </a:prstGeom>
          <a:solidFill xmlns:a="http://schemas.openxmlformats.org/drawingml/2006/main">
            <a:srgbClr val="F2684E"/>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0A956D31-2B6E-4B9B-BBB2-E56359702C4B}"/>
              </a:ext>
            </a:extLst>
          </p:cNvPr>
          <p:cNvSpPr>
            <a:spLocks xmlns:a="http://schemas.openxmlformats.org/drawingml/2006/main" noGrp="1"/>
          </p:cNvSpPr>
          <p:nvPr/>
        </p:nvSpPr>
        <p:spPr>
          <a:xfrm xmlns:a="http://schemas.openxmlformats.org/drawingml/2006/main">
            <a:off x="704850" y="5067300"/>
            <a:ext cx="5810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1">
                <a:solidFill>
                  <a:srgbClr val="FFFFFF"/>
                </a:solidFill>
                <a:latin typeface="Arial"/>
                <a:ea typeface="Arial"/>
                <a:cs typeface="Arial"/>
              </a:defRPr>
            </a:pPr>
            <a:r>
              <a:rPr sz="1800" b="1">
                <a:solidFill>
                  <a:srgbClr val="FFFFFF"/>
                </a:solidFill>
                <a:latin typeface="Arial"/>
                <a:ea typeface="Arial"/>
                <a:cs typeface="Arial"/>
              </a:rPr>
              <a:t>Oliver Mattar  ·  Nour Fakih</a:t>
            </a:r>
          </a:p>
        </p:txBody>
      </p:sp>
      <p:sp>
        <p:nvSpPr>
          <p:cNvPr id="8" name="">
            <a:extLst xmlns:a="http://schemas.openxmlformats.org/drawingml/2006/main">
              <a:ext uri="{FF2B5EF4-FFF2-40B4-BE49-F238E27FC236}">
                <a16:creationId xmlns:a16="http://schemas.microsoft.com/office/drawing/2014/main" id="{94DC60BB-180D-4113-9F82-2D96101FA2D6}"/>
              </a:ext>
            </a:extLst>
          </p:cNvPr>
          <p:cNvSpPr>
            <a:spLocks xmlns:a="http://schemas.openxmlformats.org/drawingml/2006/main" noGrp="1"/>
          </p:cNvSpPr>
          <p:nvPr/>
        </p:nvSpPr>
        <p:spPr>
          <a:xfrm xmlns:a="http://schemas.openxmlformats.org/drawingml/2006/main">
            <a:off x="704850" y="5534025"/>
            <a:ext cx="5810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0">
                <a:solidFill>
                  <a:srgbClr val="FFFFFF"/>
                </a:solidFill>
                <a:latin typeface="Arial"/>
                <a:ea typeface="Arial"/>
                <a:cs typeface="Arial"/>
              </a:defRPr>
            </a:pPr>
            <a:r>
              <a:rPr sz="1500" b="0">
                <a:solidFill>
                  <a:srgbClr val="FFFFFF"/>
                </a:solidFill>
                <a:latin typeface="Arial"/>
                <a:ea typeface="Arial"/>
                <a:cs typeface="Arial"/>
              </a:rPr>
              <a:t>Supervisor: Dr. Joseph Gmayel</a:t>
            </a:r>
          </a:p>
        </p:txBody>
      </p:sp>
    </p:spTree>
    <p:extLst>
      <p:ext uri="{BB962C8B-B14F-4D97-AF65-F5344CB8AC3E}">
        <p14:creationId xmlns:p14="http://schemas.microsoft.com/office/powerpoint/2010/main" val="711138066"/>
      </p:ext>
    </p:extLst>
  </p:cSld>
</p:sld>
</file>

<file path=ppt/slides/slide2.xml><?xml version="1.0" encoding="utf-8"?>
<p:sld xmlns:p="http://schemas.openxmlformats.org/presentationml/2006/main">
  <p:cSld>
    <p:bg>
      <p:bgPr>
        <a:solidFill xmlns:a="http://schemas.openxmlformats.org/drawingml/2006/main">
          <a:srgbClr val="E8F5E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52CBDEBE-179A-4A56-858A-010968CF8237}"/>
              </a:ext>
            </a:extLst>
          </p:cNvPr>
          <p:cNvSpPr>
            <a:spLocks xmlns:a="http://schemas.openxmlformats.org/drawingml/2006/main" noGrp="1"/>
          </p:cNvSpPr>
          <p:nvPr/>
        </p:nvSpPr>
        <p:spPr>
          <a:xfrm xmlns:a="http://schemas.openxmlformats.org/drawingml/2006/main">
            <a:off x="0" y="0"/>
            <a:ext cx="12192000" cy="1257300"/>
          </a:xfrm>
          <a:prstGeom xmlns:a="http://schemas.openxmlformats.org/drawingml/2006/main" prst="rect">
            <a:avLst/>
          </a:prstGeom>
          <a:solidFill xmlns:a="http://schemas.openxmlformats.org/drawingml/2006/main">
            <a:srgbClr val="123E3D"/>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8D6B5F6-BE97-4C5C-B78D-B38B93810071}"/>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F2684E"/>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32BA60DA-18BC-40C8-B839-3D3A74491E9C}"/>
              </a:ext>
            </a:extLst>
          </p:cNvPr>
          <p:cNvSpPr>
            <a:spLocks xmlns:a="http://schemas.openxmlformats.org/drawingml/2006/main" noGrp="1"/>
          </p:cNvSpPr>
          <p:nvPr/>
        </p:nvSpPr>
        <p:spPr>
          <a:xfrm xmlns:a="http://schemas.openxmlformats.org/drawingml/2006/main">
            <a:off x="609600" y="333375"/>
            <a:ext cx="108394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700" b="1">
                <a:solidFill>
                  <a:srgbClr val="FFFFFF"/>
                </a:solidFill>
                <a:latin typeface="Arial"/>
                <a:ea typeface="Arial"/>
                <a:cs typeface="Arial"/>
              </a:defRPr>
            </a:pPr>
            <a:r>
              <a:rPr sz="2700" b="1">
                <a:solidFill>
                  <a:srgbClr val="FFFFFF"/>
                </a:solidFill>
                <a:latin typeface="Arial"/>
                <a:ea typeface="Arial"/>
                <a:cs typeface="Arial"/>
              </a:rPr>
              <a:t>Why this project matters</a:t>
            </a:r>
          </a:p>
        </p:txBody>
      </p:sp>
      <p:sp>
        <p:nvSpPr>
          <p:cNvPr id="4" name="">
            <a:extLst xmlns:a="http://schemas.openxmlformats.org/drawingml/2006/main">
              <a:ext uri="{FF2B5EF4-FFF2-40B4-BE49-F238E27FC236}">
                <a16:creationId xmlns:a16="http://schemas.microsoft.com/office/drawing/2014/main" id="{21616144-96B1-4324-9C8C-E8B54135DB8E}"/>
              </a:ext>
            </a:extLst>
          </p:cNvPr>
          <p:cNvSpPr>
            <a:spLocks xmlns:a="http://schemas.openxmlformats.org/drawingml/2006/main" noGrp="1"/>
          </p:cNvSpPr>
          <p:nvPr/>
        </p:nvSpPr>
        <p:spPr>
          <a:xfrm xmlns:a="http://schemas.openxmlformats.org/drawingml/2006/main">
            <a:off x="609600" y="1219200"/>
            <a:ext cx="10982325" cy="38100"/>
          </a:xfrm>
          <a:prstGeom xmlns:a="http://schemas.openxmlformats.org/drawingml/2006/main" prst="rect">
            <a:avLst/>
          </a:prstGeom>
          <a:solidFill xmlns:a="http://schemas.openxmlformats.org/drawingml/2006/main">
            <a:srgbClr val="F2684E"/>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99EFC7D-D870-481B-B946-4B761DB8B03B}"/>
              </a:ext>
            </a:extLst>
          </p:cNvPr>
          <p:cNvSpPr>
            <a:spLocks xmlns:a="http://schemas.openxmlformats.org/drawingml/2006/main" noGrp="1"/>
          </p:cNvSpPr>
          <p:nvPr/>
        </p:nvSpPr>
        <p:spPr>
          <a:xfrm xmlns:a="http://schemas.openxmlformats.org/drawingml/2006/main">
            <a:off x="609600" y="640080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lgn="l">
              <a:defRPr sz="975" b="1">
                <a:solidFill>
                  <a:srgbClr val="123E3D"/>
                </a:solidFill>
                <a:latin typeface="Arial"/>
                <a:ea typeface="Arial"/>
                <a:cs typeface="Arial"/>
              </a:defRPr>
            </a:pPr>
            <a:r>
              <a:rPr sz="975" b="1">
                <a:solidFill>
                  <a:srgbClr val="123E3D"/>
                </a:solidFill>
                <a:latin typeface="Arial"/>
                <a:ea typeface="Arial"/>
                <a:cs typeface="Arial"/>
              </a:rPr>
              <a:t>PROBLEM</a:t>
            </a:r>
          </a:p>
        </p:txBody>
      </p:sp>
      <p:sp>
        <p:nvSpPr>
          <p:cNvPr id="6" name="">
            <a:extLst xmlns:a="http://schemas.openxmlformats.org/drawingml/2006/main">
              <a:ext uri="{FF2B5EF4-FFF2-40B4-BE49-F238E27FC236}">
                <a16:creationId xmlns:a16="http://schemas.microsoft.com/office/drawing/2014/main" id="{07865A31-0160-4524-B919-5B521304E97C}"/>
              </a:ext>
            </a:extLst>
          </p:cNvPr>
          <p:cNvSpPr>
            <a:spLocks xmlns:a="http://schemas.openxmlformats.org/drawingml/2006/main" noGrp="1"/>
          </p:cNvSpPr>
          <p:nvPr/>
        </p:nvSpPr>
        <p:spPr>
          <a:xfrm xmlns:a="http://schemas.openxmlformats.org/drawingml/2006/main">
            <a:off x="10972800" y="6372225"/>
            <a:ext cx="6000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125" b="1">
                <a:solidFill>
                  <a:srgbClr val="123E3D"/>
                </a:solidFill>
                <a:latin typeface="Arial"/>
                <a:ea typeface="Arial"/>
                <a:cs typeface="Arial"/>
              </a:defRPr>
            </a:pPr>
            <a:r>
              <a:rPr sz="1125" b="1">
                <a:solidFill>
                  <a:srgbClr val="123E3D"/>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2094E6E8-D380-4603-A26D-935D754FBCCD}"/>
              </a:ext>
            </a:extLst>
          </p:cNvPr>
          <p:cNvSpPr>
            <a:spLocks xmlns:a="http://schemas.openxmlformats.org/drawingml/2006/main" noGrp="1"/>
          </p:cNvSpPr>
          <p:nvPr/>
        </p:nvSpPr>
        <p:spPr>
          <a:xfrm xmlns:a="http://schemas.openxmlformats.org/drawingml/2006/main">
            <a:off x="609600" y="1457325"/>
            <a:ext cx="10191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100" b="1">
                <a:solidFill>
                  <a:srgbClr val="17232F"/>
                </a:solidFill>
                <a:latin typeface="Arial"/>
                <a:ea typeface="Arial"/>
                <a:cs typeface="Arial"/>
              </a:defRPr>
            </a:pPr>
            <a:r>
              <a:rPr sz="2100" b="1">
                <a:solidFill>
                  <a:srgbClr val="17232F"/>
                </a:solidFill>
                <a:latin typeface="Arial"/>
                <a:ea typeface="Arial"/>
                <a:cs typeface="Arial"/>
              </a:rPr>
              <a:t>Generic fitness apps often treat different users the same.</a:t>
            </a:r>
          </a:p>
        </p:txBody>
      </p:sp>
      <p:sp>
        <p:nvSpPr>
          <p:cNvPr id="8" name="">
            <a:extLst xmlns:a="http://schemas.openxmlformats.org/drawingml/2006/main">
              <a:ext uri="{FF2B5EF4-FFF2-40B4-BE49-F238E27FC236}">
                <a16:creationId xmlns:a16="http://schemas.microsoft.com/office/drawing/2014/main" id="{23CA7BEB-BFBA-4AA7-B32E-2D0B3B61A142}"/>
              </a:ext>
            </a:extLst>
          </p:cNvPr>
          <p:cNvSpPr>
            <a:spLocks xmlns:a="http://schemas.openxmlformats.org/drawingml/2006/main" noGrp="1"/>
          </p:cNvSpPr>
          <p:nvPr/>
        </p:nvSpPr>
        <p:spPr>
          <a:xfrm xmlns:a="http://schemas.openxmlformats.org/drawingml/2006/main">
            <a:off x="714375" y="2457450"/>
            <a:ext cx="66675" cy="400050"/>
          </a:xfrm>
          <a:prstGeom xmlns:a="http://schemas.openxmlformats.org/drawingml/2006/main" prst="rect">
            <a:avLst/>
          </a:prstGeom>
          <a:solidFill xmlns:a="http://schemas.openxmlformats.org/drawingml/2006/main">
            <a:srgbClr val="0F936F"/>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4763DDFD-4AD6-4441-A112-9FB75B84B232}"/>
              </a:ext>
            </a:extLst>
          </p:cNvPr>
          <p:cNvSpPr>
            <a:spLocks xmlns:a="http://schemas.openxmlformats.org/drawingml/2006/main" noGrp="1"/>
          </p:cNvSpPr>
          <p:nvPr/>
        </p:nvSpPr>
        <p:spPr>
          <a:xfrm xmlns:a="http://schemas.openxmlformats.org/drawingml/2006/main">
            <a:off x="942975" y="2381250"/>
            <a:ext cx="101536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0">
                <a:solidFill>
                  <a:srgbClr val="17232F"/>
                </a:solidFill>
                <a:latin typeface="Arial"/>
                <a:ea typeface="Arial"/>
                <a:cs typeface="Arial"/>
              </a:defRPr>
            </a:pPr>
            <a:r>
              <a:rPr sz="1725" b="0">
                <a:solidFill>
                  <a:srgbClr val="17232F"/>
                </a:solidFill>
                <a:latin typeface="Arial"/>
                <a:ea typeface="Arial"/>
                <a:cs typeface="Arial"/>
              </a:rPr>
              <a:t>Workout plans may ignore injuries, training location and available equipment.</a:t>
            </a:r>
          </a:p>
        </p:txBody>
      </p:sp>
      <p:sp>
        <p:nvSpPr>
          <p:cNvPr id="10" name="">
            <a:extLst xmlns:a="http://schemas.openxmlformats.org/drawingml/2006/main">
              <a:ext uri="{FF2B5EF4-FFF2-40B4-BE49-F238E27FC236}">
                <a16:creationId xmlns:a16="http://schemas.microsoft.com/office/drawing/2014/main" id="{8621AD8A-2153-4A44-B9F1-1ED7A288CD3A}"/>
              </a:ext>
            </a:extLst>
          </p:cNvPr>
          <p:cNvSpPr>
            <a:spLocks xmlns:a="http://schemas.openxmlformats.org/drawingml/2006/main" noGrp="1"/>
          </p:cNvSpPr>
          <p:nvPr/>
        </p:nvSpPr>
        <p:spPr>
          <a:xfrm xmlns:a="http://schemas.openxmlformats.org/drawingml/2006/main">
            <a:off x="714375" y="3429000"/>
            <a:ext cx="66675" cy="400050"/>
          </a:xfrm>
          <a:prstGeom xmlns:a="http://schemas.openxmlformats.org/drawingml/2006/main" prst="rect">
            <a:avLst/>
          </a:prstGeom>
          <a:solidFill xmlns:a="http://schemas.openxmlformats.org/drawingml/2006/main">
            <a:srgbClr val="0F936F"/>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8D22A296-0AE4-4CE6-A6C6-746209C2F91F}"/>
              </a:ext>
            </a:extLst>
          </p:cNvPr>
          <p:cNvSpPr>
            <a:spLocks xmlns:a="http://schemas.openxmlformats.org/drawingml/2006/main" noGrp="1"/>
          </p:cNvSpPr>
          <p:nvPr/>
        </p:nvSpPr>
        <p:spPr>
          <a:xfrm xmlns:a="http://schemas.openxmlformats.org/drawingml/2006/main">
            <a:off x="942975" y="3352800"/>
            <a:ext cx="101536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0">
                <a:solidFill>
                  <a:srgbClr val="17232F"/>
                </a:solidFill>
                <a:latin typeface="Arial"/>
                <a:ea typeface="Arial"/>
                <a:cs typeface="Arial"/>
              </a:defRPr>
            </a:pPr>
            <a:r>
              <a:rPr sz="1725" b="0">
                <a:solidFill>
                  <a:srgbClr val="17232F"/>
                </a:solidFill>
                <a:latin typeface="Arial"/>
                <a:ea typeface="Arial"/>
                <a:cs typeface="Arial"/>
              </a:rPr>
              <a:t>Meal suggestions may ignore allergies, dislikes and ingredients already at home.</a:t>
            </a:r>
          </a:p>
        </p:txBody>
      </p:sp>
      <p:sp>
        <p:nvSpPr>
          <p:cNvPr id="12" name="">
            <a:extLst xmlns:a="http://schemas.openxmlformats.org/drawingml/2006/main">
              <a:ext uri="{FF2B5EF4-FFF2-40B4-BE49-F238E27FC236}">
                <a16:creationId xmlns:a16="http://schemas.microsoft.com/office/drawing/2014/main" id="{7AD4C0C8-95B1-44C8-B7D5-BD56FE820299}"/>
              </a:ext>
            </a:extLst>
          </p:cNvPr>
          <p:cNvSpPr>
            <a:spLocks xmlns:a="http://schemas.openxmlformats.org/drawingml/2006/main" noGrp="1"/>
          </p:cNvSpPr>
          <p:nvPr/>
        </p:nvSpPr>
        <p:spPr>
          <a:xfrm xmlns:a="http://schemas.openxmlformats.org/drawingml/2006/main">
            <a:off x="714375" y="4400550"/>
            <a:ext cx="66675" cy="400050"/>
          </a:xfrm>
          <a:prstGeom xmlns:a="http://schemas.openxmlformats.org/drawingml/2006/main" prst="rect">
            <a:avLst/>
          </a:prstGeom>
          <a:solidFill xmlns:a="http://schemas.openxmlformats.org/drawingml/2006/main">
            <a:srgbClr val="0F936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FD6FD36E-4C56-429B-90B3-71EC47011FE3}"/>
              </a:ext>
            </a:extLst>
          </p:cNvPr>
          <p:cNvSpPr>
            <a:spLocks xmlns:a="http://schemas.openxmlformats.org/drawingml/2006/main" noGrp="1"/>
          </p:cNvSpPr>
          <p:nvPr/>
        </p:nvSpPr>
        <p:spPr>
          <a:xfrm xmlns:a="http://schemas.openxmlformats.org/drawingml/2006/main">
            <a:off x="942975" y="4324350"/>
            <a:ext cx="101536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0">
                <a:solidFill>
                  <a:srgbClr val="17232F"/>
                </a:solidFill>
                <a:latin typeface="Arial"/>
                <a:ea typeface="Arial"/>
                <a:cs typeface="Arial"/>
              </a:defRPr>
            </a:pPr>
            <a:r>
              <a:rPr sz="1725" b="0">
                <a:solidFill>
                  <a:srgbClr val="17232F"/>
                </a:solidFill>
                <a:latin typeface="Arial"/>
                <a:ea typeface="Arial"/>
                <a:cs typeface="Arial"/>
              </a:rPr>
              <a:t>Users need feedback on exercise form, not just a list of exercises.</a:t>
            </a:r>
          </a:p>
        </p:txBody>
      </p:sp>
      <p:sp>
        <p:nvSpPr>
          <p:cNvPr id="14" name="">
            <a:extLst xmlns:a="http://schemas.openxmlformats.org/drawingml/2006/main">
              <a:ext uri="{FF2B5EF4-FFF2-40B4-BE49-F238E27FC236}">
                <a16:creationId xmlns:a16="http://schemas.microsoft.com/office/drawing/2014/main" id="{0A25B9C7-FB3B-434A-AE2E-FB95B5C7FFC2}"/>
              </a:ext>
            </a:extLst>
          </p:cNvPr>
          <p:cNvSpPr>
            <a:spLocks xmlns:a="http://schemas.openxmlformats.org/drawingml/2006/main" noGrp="1"/>
          </p:cNvSpPr>
          <p:nvPr/>
        </p:nvSpPr>
        <p:spPr>
          <a:xfrm xmlns:a="http://schemas.openxmlformats.org/drawingml/2006/main">
            <a:off x="714375" y="5629275"/>
            <a:ext cx="10382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1">
                <a:solidFill>
                  <a:srgbClr val="0F936F"/>
                </a:solidFill>
                <a:latin typeface="Arial"/>
                <a:ea typeface="Arial"/>
                <a:cs typeface="Arial"/>
              </a:defRPr>
            </a:pPr>
            <a:r>
              <a:rPr sz="1800" b="1">
                <a:solidFill>
                  <a:srgbClr val="0F936F"/>
                </a:solidFill>
                <a:latin typeface="Arial"/>
                <a:ea typeface="Arial"/>
                <a:cs typeface="Arial"/>
              </a:rPr>
              <a:t>Our goal: one connected, personalized journey from onboarding to progress.</a:t>
            </a:r>
          </a:p>
        </p:txBody>
      </p:sp>
    </p:spTree>
    <p:extLst>
      <p:ext uri="{BB962C8B-B14F-4D97-AF65-F5344CB8AC3E}">
        <p14:creationId xmlns:p14="http://schemas.microsoft.com/office/powerpoint/2010/main" val="1630778624"/>
      </p:ext>
    </p:extLst>
  </p:cSld>
</p:sld>
</file>

<file path=ppt/slides/slide3.xml><?xml version="1.0" encoding="utf-8"?>
<p:sld xmlns:p="http://schemas.openxmlformats.org/presentationml/2006/main">
  <p:cSld>
    <p:bg>
      <p:bgPr>
        <a:solidFill xmlns:a="http://schemas.openxmlformats.org/drawingml/2006/main">
          <a:srgbClr val="EAF2F8"/>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0EAD5D1A-A7D8-46F8-BEDC-B56BBE1EE539}"/>
              </a:ext>
            </a:extLst>
          </p:cNvPr>
          <p:cNvSpPr>
            <a:spLocks xmlns:a="http://schemas.openxmlformats.org/drawingml/2006/main" noGrp="1"/>
          </p:cNvSpPr>
          <p:nvPr/>
        </p:nvSpPr>
        <p:spPr>
          <a:xfrm xmlns:a="http://schemas.openxmlformats.org/drawingml/2006/main">
            <a:off x="0" y="0"/>
            <a:ext cx="12192000" cy="1257300"/>
          </a:xfrm>
          <a:prstGeom xmlns:a="http://schemas.openxmlformats.org/drawingml/2006/main" prst="rect">
            <a:avLst/>
          </a:prstGeom>
          <a:solidFill xmlns:a="http://schemas.openxmlformats.org/drawingml/2006/main">
            <a:srgbClr val="12344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BFB3CD4-94EF-4B48-AA68-637DDE9A6ED8}"/>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F2684E"/>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A3FA5F1-03FC-4226-B382-C888CA0A0163}"/>
              </a:ext>
            </a:extLst>
          </p:cNvPr>
          <p:cNvSpPr>
            <a:spLocks xmlns:a="http://schemas.openxmlformats.org/drawingml/2006/main" noGrp="1"/>
          </p:cNvSpPr>
          <p:nvPr/>
        </p:nvSpPr>
        <p:spPr>
          <a:xfrm xmlns:a="http://schemas.openxmlformats.org/drawingml/2006/main">
            <a:off x="609600" y="333375"/>
            <a:ext cx="108394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700" b="1">
                <a:solidFill>
                  <a:srgbClr val="FFFFFF"/>
                </a:solidFill>
                <a:latin typeface="Arial"/>
                <a:ea typeface="Arial"/>
                <a:cs typeface="Arial"/>
              </a:defRPr>
            </a:pPr>
            <a:r>
              <a:rPr sz="2700" b="1">
                <a:solidFill>
                  <a:srgbClr val="FFFFFF"/>
                </a:solidFill>
                <a:latin typeface="Arial"/>
                <a:ea typeface="Arial"/>
                <a:cs typeface="Arial"/>
              </a:rPr>
              <a:t>Project objectives</a:t>
            </a:r>
          </a:p>
        </p:txBody>
      </p:sp>
      <p:sp>
        <p:nvSpPr>
          <p:cNvPr id="4" name="">
            <a:extLst xmlns:a="http://schemas.openxmlformats.org/drawingml/2006/main">
              <a:ext uri="{FF2B5EF4-FFF2-40B4-BE49-F238E27FC236}">
                <a16:creationId xmlns:a16="http://schemas.microsoft.com/office/drawing/2014/main" id="{6C883629-ED30-4FE2-859D-CFAD73B40186}"/>
              </a:ext>
            </a:extLst>
          </p:cNvPr>
          <p:cNvSpPr>
            <a:spLocks xmlns:a="http://schemas.openxmlformats.org/drawingml/2006/main" noGrp="1"/>
          </p:cNvSpPr>
          <p:nvPr/>
        </p:nvSpPr>
        <p:spPr>
          <a:xfrm xmlns:a="http://schemas.openxmlformats.org/drawingml/2006/main">
            <a:off x="609600" y="1219200"/>
            <a:ext cx="10982325" cy="38100"/>
          </a:xfrm>
          <a:prstGeom xmlns:a="http://schemas.openxmlformats.org/drawingml/2006/main" prst="rect">
            <a:avLst/>
          </a:prstGeom>
          <a:solidFill xmlns:a="http://schemas.openxmlformats.org/drawingml/2006/main">
            <a:srgbClr val="F2684E"/>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82E2DE7-CF50-4548-B512-A617ABDBEB9D}"/>
              </a:ext>
            </a:extLst>
          </p:cNvPr>
          <p:cNvSpPr>
            <a:spLocks xmlns:a="http://schemas.openxmlformats.org/drawingml/2006/main" noGrp="1"/>
          </p:cNvSpPr>
          <p:nvPr/>
        </p:nvSpPr>
        <p:spPr>
          <a:xfrm xmlns:a="http://schemas.openxmlformats.org/drawingml/2006/main">
            <a:off x="609600" y="640080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lgn="l">
              <a:defRPr sz="975" b="1">
                <a:solidFill>
                  <a:srgbClr val="12344E"/>
                </a:solidFill>
                <a:latin typeface="Arial"/>
                <a:ea typeface="Arial"/>
                <a:cs typeface="Arial"/>
              </a:defRPr>
            </a:pPr>
            <a:r>
              <a:rPr sz="975" b="1">
                <a:solidFill>
                  <a:srgbClr val="12344E"/>
                </a:solidFill>
                <a:latin typeface="Arial"/>
                <a:ea typeface="Arial"/>
                <a:cs typeface="Arial"/>
              </a:rPr>
              <a:t>SCOPE</a:t>
            </a:r>
          </a:p>
        </p:txBody>
      </p:sp>
      <p:sp>
        <p:nvSpPr>
          <p:cNvPr id="6" name="">
            <a:extLst xmlns:a="http://schemas.openxmlformats.org/drawingml/2006/main">
              <a:ext uri="{FF2B5EF4-FFF2-40B4-BE49-F238E27FC236}">
                <a16:creationId xmlns:a16="http://schemas.microsoft.com/office/drawing/2014/main" id="{D413F807-60DF-4376-8834-F706CDB7FC5D}"/>
              </a:ext>
            </a:extLst>
          </p:cNvPr>
          <p:cNvSpPr>
            <a:spLocks xmlns:a="http://schemas.openxmlformats.org/drawingml/2006/main" noGrp="1"/>
          </p:cNvSpPr>
          <p:nvPr/>
        </p:nvSpPr>
        <p:spPr>
          <a:xfrm xmlns:a="http://schemas.openxmlformats.org/drawingml/2006/main">
            <a:off x="10972800" y="6372225"/>
            <a:ext cx="6000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125" b="1">
                <a:solidFill>
                  <a:srgbClr val="12344E"/>
                </a:solidFill>
                <a:latin typeface="Arial"/>
                <a:ea typeface="Arial"/>
                <a:cs typeface="Arial"/>
              </a:defRPr>
            </a:pPr>
            <a:r>
              <a:rPr sz="1125" b="1">
                <a:solidFill>
                  <a:srgbClr val="12344E"/>
                </a:solidFill>
                <a:latin typeface="Arial"/>
                <a:ea typeface="Arial"/>
                <a:cs typeface="Arial"/>
              </a:rPr>
              <a:t>03</a:t>
            </a:r>
          </a:p>
        </p:txBody>
      </p:sp>
      <p:sp>
        <p:nvSpPr>
          <p:cNvPr id="7" name="">
            <a:extLst xmlns:a="http://schemas.openxmlformats.org/drawingml/2006/main">
              <a:ext uri="{FF2B5EF4-FFF2-40B4-BE49-F238E27FC236}">
                <a16:creationId xmlns:a16="http://schemas.microsoft.com/office/drawing/2014/main" id="{63C4AF76-65CE-46A7-B253-B00A533433F9}"/>
              </a:ext>
            </a:extLst>
          </p:cNvPr>
          <p:cNvSpPr>
            <a:spLocks xmlns:a="http://schemas.openxmlformats.org/drawingml/2006/main" noGrp="1"/>
          </p:cNvSpPr>
          <p:nvPr/>
        </p:nvSpPr>
        <p:spPr>
          <a:xfrm xmlns:a="http://schemas.openxmlformats.org/drawingml/2006/main">
            <a:off x="666750" y="1533525"/>
            <a:ext cx="666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325" b="1">
                <a:solidFill>
                  <a:srgbClr val="F2684E"/>
                </a:solidFill>
                <a:latin typeface="Arial"/>
                <a:ea typeface="Arial"/>
                <a:cs typeface="Arial"/>
              </a:defRPr>
            </a:pPr>
            <a:r>
              <a:rPr sz="2325" b="1">
                <a:solidFill>
                  <a:srgbClr val="F2684E"/>
                </a:solidFill>
                <a:latin typeface="Arial"/>
                <a:ea typeface="Arial"/>
                <a:cs typeface="Arial"/>
              </a:rPr>
              <a:t>01</a:t>
            </a:r>
          </a:p>
        </p:txBody>
      </p:sp>
      <p:sp>
        <p:nvSpPr>
          <p:cNvPr id="8" name="">
            <a:extLst xmlns:a="http://schemas.openxmlformats.org/drawingml/2006/main">
              <a:ext uri="{FF2B5EF4-FFF2-40B4-BE49-F238E27FC236}">
                <a16:creationId xmlns:a16="http://schemas.microsoft.com/office/drawing/2014/main" id="{5A9880F6-75D2-461B-B140-AC3CFAA57375}"/>
              </a:ext>
            </a:extLst>
          </p:cNvPr>
          <p:cNvSpPr>
            <a:spLocks xmlns:a="http://schemas.openxmlformats.org/drawingml/2006/main" noGrp="1"/>
          </p:cNvSpPr>
          <p:nvPr/>
        </p:nvSpPr>
        <p:spPr>
          <a:xfrm xmlns:a="http://schemas.openxmlformats.org/drawingml/2006/main">
            <a:off x="1524000" y="1533525"/>
            <a:ext cx="342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75" b="1">
                <a:solidFill>
                  <a:srgbClr val="17232F"/>
                </a:solidFill>
                <a:latin typeface="Arial"/>
                <a:ea typeface="Arial"/>
                <a:cs typeface="Arial"/>
              </a:defRPr>
            </a:pPr>
            <a:r>
              <a:rPr sz="1875" b="1">
                <a:solidFill>
                  <a:srgbClr val="17232F"/>
                </a:solidFill>
                <a:latin typeface="Arial"/>
                <a:ea typeface="Arial"/>
                <a:cs typeface="Arial"/>
              </a:rPr>
              <a:t>Personalized training</a:t>
            </a:r>
          </a:p>
        </p:txBody>
      </p:sp>
      <p:sp>
        <p:nvSpPr>
          <p:cNvPr id="9" name="">
            <a:extLst xmlns:a="http://schemas.openxmlformats.org/drawingml/2006/main">
              <a:ext uri="{FF2B5EF4-FFF2-40B4-BE49-F238E27FC236}">
                <a16:creationId xmlns:a16="http://schemas.microsoft.com/office/drawing/2014/main" id="{F3935B40-5EDB-40EB-B0DB-AA7F62ECABFD}"/>
              </a:ext>
            </a:extLst>
          </p:cNvPr>
          <p:cNvSpPr>
            <a:spLocks xmlns:a="http://schemas.openxmlformats.org/drawingml/2006/main" noGrp="1"/>
          </p:cNvSpPr>
          <p:nvPr/>
        </p:nvSpPr>
        <p:spPr>
          <a:xfrm xmlns:a="http://schemas.openxmlformats.org/drawingml/2006/main">
            <a:off x="4933950" y="1533525"/>
            <a:ext cx="62769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0">
                <a:solidFill>
                  <a:srgbClr val="526675"/>
                </a:solidFill>
                <a:latin typeface="Arial"/>
                <a:ea typeface="Arial"/>
                <a:cs typeface="Arial"/>
              </a:defRPr>
            </a:pPr>
            <a:r>
              <a:rPr sz="1575" b="0">
                <a:solidFill>
                  <a:srgbClr val="526675"/>
                </a:solidFill>
                <a:latin typeface="Arial"/>
                <a:ea typeface="Arial"/>
                <a:cs typeface="Arial"/>
              </a:rPr>
              <a:t>Adapt workouts to goal, location, level and injuries.</a:t>
            </a:r>
          </a:p>
        </p:txBody>
      </p:sp>
      <p:sp>
        <p:nvSpPr>
          <p:cNvPr id="10" name="">
            <a:extLst xmlns:a="http://schemas.openxmlformats.org/drawingml/2006/main">
              <a:ext uri="{FF2B5EF4-FFF2-40B4-BE49-F238E27FC236}">
                <a16:creationId xmlns:a16="http://schemas.microsoft.com/office/drawing/2014/main" id="{9A6E5AB1-BBDE-4D89-94B6-9B79F52E7548}"/>
              </a:ext>
            </a:extLst>
          </p:cNvPr>
          <p:cNvSpPr>
            <a:spLocks xmlns:a="http://schemas.openxmlformats.org/drawingml/2006/main" noGrp="1"/>
          </p:cNvSpPr>
          <p:nvPr/>
        </p:nvSpPr>
        <p:spPr>
          <a:xfrm xmlns:a="http://schemas.openxmlformats.org/drawingml/2006/main">
            <a:off x="666750" y="2362200"/>
            <a:ext cx="10477500" cy="19050"/>
          </a:xfrm>
          <a:prstGeom xmlns:a="http://schemas.openxmlformats.org/drawingml/2006/main" prst="rect">
            <a:avLst/>
          </a:prstGeom>
          <a:solidFill xmlns:a="http://schemas.openxmlformats.org/drawingml/2006/main">
            <a:srgbClr val="BBCED1"/>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A62FF288-9846-4C76-BF91-B05092D956A3}"/>
              </a:ext>
            </a:extLst>
          </p:cNvPr>
          <p:cNvSpPr>
            <a:spLocks xmlns:a="http://schemas.openxmlformats.org/drawingml/2006/main" noGrp="1"/>
          </p:cNvSpPr>
          <p:nvPr/>
        </p:nvSpPr>
        <p:spPr>
          <a:xfrm xmlns:a="http://schemas.openxmlformats.org/drawingml/2006/main">
            <a:off x="666750" y="2647950"/>
            <a:ext cx="666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325" b="1">
                <a:solidFill>
                  <a:srgbClr val="F2684E"/>
                </a:solidFill>
                <a:latin typeface="Arial"/>
                <a:ea typeface="Arial"/>
                <a:cs typeface="Arial"/>
              </a:defRPr>
            </a:pPr>
            <a:r>
              <a:rPr sz="2325" b="1">
                <a:solidFill>
                  <a:srgbClr val="F2684E"/>
                </a:solidFill>
                <a:latin typeface="Arial"/>
                <a:ea typeface="Arial"/>
                <a:cs typeface="Arial"/>
              </a:rPr>
              <a:t>02</a:t>
            </a:r>
          </a:p>
        </p:txBody>
      </p:sp>
      <p:sp>
        <p:nvSpPr>
          <p:cNvPr id="12" name="">
            <a:extLst xmlns:a="http://schemas.openxmlformats.org/drawingml/2006/main">
              <a:ext uri="{FF2B5EF4-FFF2-40B4-BE49-F238E27FC236}">
                <a16:creationId xmlns:a16="http://schemas.microsoft.com/office/drawing/2014/main" id="{EBEA86D9-7179-4185-8D10-9DCE16866F95}"/>
              </a:ext>
            </a:extLst>
          </p:cNvPr>
          <p:cNvSpPr>
            <a:spLocks xmlns:a="http://schemas.openxmlformats.org/drawingml/2006/main" noGrp="1"/>
          </p:cNvSpPr>
          <p:nvPr/>
        </p:nvSpPr>
        <p:spPr>
          <a:xfrm xmlns:a="http://schemas.openxmlformats.org/drawingml/2006/main">
            <a:off x="1524000" y="2647950"/>
            <a:ext cx="342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75" b="1">
                <a:solidFill>
                  <a:srgbClr val="17232F"/>
                </a:solidFill>
                <a:latin typeface="Arial"/>
                <a:ea typeface="Arial"/>
                <a:cs typeface="Arial"/>
              </a:defRPr>
            </a:pPr>
            <a:r>
              <a:rPr sz="1875" b="1">
                <a:solidFill>
                  <a:srgbClr val="17232F"/>
                </a:solidFill>
                <a:latin typeface="Arial"/>
                <a:ea typeface="Arial"/>
                <a:cs typeface="Arial"/>
              </a:rPr>
              <a:t>Safer meal planning</a:t>
            </a:r>
          </a:p>
        </p:txBody>
      </p:sp>
      <p:sp>
        <p:nvSpPr>
          <p:cNvPr id="13" name="">
            <a:extLst xmlns:a="http://schemas.openxmlformats.org/drawingml/2006/main">
              <a:ext uri="{FF2B5EF4-FFF2-40B4-BE49-F238E27FC236}">
                <a16:creationId xmlns:a16="http://schemas.microsoft.com/office/drawing/2014/main" id="{EB3EFC26-6F89-45FA-9EB5-A72C6DB970B0}"/>
              </a:ext>
            </a:extLst>
          </p:cNvPr>
          <p:cNvSpPr>
            <a:spLocks xmlns:a="http://schemas.openxmlformats.org/drawingml/2006/main" noGrp="1"/>
          </p:cNvSpPr>
          <p:nvPr/>
        </p:nvSpPr>
        <p:spPr>
          <a:xfrm xmlns:a="http://schemas.openxmlformats.org/drawingml/2006/main">
            <a:off x="4933950" y="2647950"/>
            <a:ext cx="62769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0">
                <a:solidFill>
                  <a:srgbClr val="526675"/>
                </a:solidFill>
                <a:latin typeface="Arial"/>
                <a:ea typeface="Arial"/>
                <a:cs typeface="Arial"/>
              </a:defRPr>
            </a:pPr>
            <a:r>
              <a:rPr sz="1575" b="0">
                <a:solidFill>
                  <a:srgbClr val="526675"/>
                </a:solidFill>
                <a:latin typeface="Arial"/>
                <a:ea typeface="Arial"/>
                <a:cs typeface="Arial"/>
              </a:rPr>
              <a:t>Respect calorie targets, allergies, fridge items and expert approval.</a:t>
            </a:r>
          </a:p>
        </p:txBody>
      </p:sp>
      <p:sp>
        <p:nvSpPr>
          <p:cNvPr id="14" name="">
            <a:extLst xmlns:a="http://schemas.openxmlformats.org/drawingml/2006/main">
              <a:ext uri="{FF2B5EF4-FFF2-40B4-BE49-F238E27FC236}">
                <a16:creationId xmlns:a16="http://schemas.microsoft.com/office/drawing/2014/main" id="{B3C4A6A0-98FE-4D0E-9896-5A1EDCB2965C}"/>
              </a:ext>
            </a:extLst>
          </p:cNvPr>
          <p:cNvSpPr>
            <a:spLocks xmlns:a="http://schemas.openxmlformats.org/drawingml/2006/main" noGrp="1"/>
          </p:cNvSpPr>
          <p:nvPr/>
        </p:nvSpPr>
        <p:spPr>
          <a:xfrm xmlns:a="http://schemas.openxmlformats.org/drawingml/2006/main">
            <a:off x="666750" y="3476625"/>
            <a:ext cx="10477500" cy="19050"/>
          </a:xfrm>
          <a:prstGeom xmlns:a="http://schemas.openxmlformats.org/drawingml/2006/main" prst="rect">
            <a:avLst/>
          </a:prstGeom>
          <a:solidFill xmlns:a="http://schemas.openxmlformats.org/drawingml/2006/main">
            <a:srgbClr val="BBCED1"/>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881DB7BB-3B16-4B93-BDFA-6BA79D16BAC7}"/>
              </a:ext>
            </a:extLst>
          </p:cNvPr>
          <p:cNvSpPr>
            <a:spLocks xmlns:a="http://schemas.openxmlformats.org/drawingml/2006/main" noGrp="1"/>
          </p:cNvSpPr>
          <p:nvPr/>
        </p:nvSpPr>
        <p:spPr>
          <a:xfrm xmlns:a="http://schemas.openxmlformats.org/drawingml/2006/main">
            <a:off x="666750" y="3762375"/>
            <a:ext cx="666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325" b="1">
                <a:solidFill>
                  <a:srgbClr val="F2684E"/>
                </a:solidFill>
                <a:latin typeface="Arial"/>
                <a:ea typeface="Arial"/>
                <a:cs typeface="Arial"/>
              </a:defRPr>
            </a:pPr>
            <a:r>
              <a:rPr sz="2325" b="1">
                <a:solidFill>
                  <a:srgbClr val="F2684E"/>
                </a:solidFill>
                <a:latin typeface="Arial"/>
                <a:ea typeface="Arial"/>
                <a:cs typeface="Arial"/>
              </a:rPr>
              <a:t>03</a:t>
            </a:r>
          </a:p>
        </p:txBody>
      </p:sp>
      <p:sp>
        <p:nvSpPr>
          <p:cNvPr id="16" name="">
            <a:extLst xmlns:a="http://schemas.openxmlformats.org/drawingml/2006/main">
              <a:ext uri="{FF2B5EF4-FFF2-40B4-BE49-F238E27FC236}">
                <a16:creationId xmlns:a16="http://schemas.microsoft.com/office/drawing/2014/main" id="{DE8B8F0F-C4BD-48B0-8809-824A09D580A6}"/>
              </a:ext>
            </a:extLst>
          </p:cNvPr>
          <p:cNvSpPr>
            <a:spLocks xmlns:a="http://schemas.openxmlformats.org/drawingml/2006/main" noGrp="1"/>
          </p:cNvSpPr>
          <p:nvPr/>
        </p:nvSpPr>
        <p:spPr>
          <a:xfrm xmlns:a="http://schemas.openxmlformats.org/drawingml/2006/main">
            <a:off x="1524000" y="3762375"/>
            <a:ext cx="342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75" b="1">
                <a:solidFill>
                  <a:srgbClr val="17232F"/>
                </a:solidFill>
                <a:latin typeface="Arial"/>
                <a:ea typeface="Arial"/>
                <a:cs typeface="Arial"/>
              </a:defRPr>
            </a:pPr>
            <a:r>
              <a:rPr sz="1875" b="1">
                <a:solidFill>
                  <a:srgbClr val="17232F"/>
                </a:solidFill>
                <a:latin typeface="Arial"/>
                <a:ea typeface="Arial"/>
                <a:cs typeface="Arial"/>
              </a:rPr>
              <a:t>Form feedback</a:t>
            </a:r>
          </a:p>
        </p:txBody>
      </p:sp>
      <p:sp>
        <p:nvSpPr>
          <p:cNvPr id="17" name="">
            <a:extLst xmlns:a="http://schemas.openxmlformats.org/drawingml/2006/main">
              <a:ext uri="{FF2B5EF4-FFF2-40B4-BE49-F238E27FC236}">
                <a16:creationId xmlns:a16="http://schemas.microsoft.com/office/drawing/2014/main" id="{6C4B659E-C182-477D-B477-7726C6DDB03E}"/>
              </a:ext>
            </a:extLst>
          </p:cNvPr>
          <p:cNvSpPr>
            <a:spLocks xmlns:a="http://schemas.openxmlformats.org/drawingml/2006/main" noGrp="1"/>
          </p:cNvSpPr>
          <p:nvPr/>
        </p:nvSpPr>
        <p:spPr>
          <a:xfrm xmlns:a="http://schemas.openxmlformats.org/drawingml/2006/main">
            <a:off x="4933950" y="3762375"/>
            <a:ext cx="62769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032"/>
          </a:bodyPr>
          <a:lstStyle xmlns:a="http://schemas.openxmlformats.org/drawingml/2006/main"/>
          <a:p xmlns:a="http://schemas.openxmlformats.org/drawingml/2006/main">
            <a:pPr algn="l">
              <a:defRPr sz="1575" b="0">
                <a:solidFill>
                  <a:srgbClr val="526675"/>
                </a:solidFill>
                <a:latin typeface="Arial"/>
                <a:ea typeface="Arial"/>
                <a:cs typeface="Arial"/>
              </a:defRPr>
            </a:pPr>
            <a:r>
              <a:rPr sz="1575" b="0">
                <a:solidFill>
                  <a:srgbClr val="526675"/>
                </a:solidFill>
                <a:latin typeface="Arial"/>
                <a:ea typeface="Arial"/>
                <a:cs typeface="Arial"/>
              </a:rPr>
              <a:t>Analyze a recorded exercise video and return reps and technique advice.</a:t>
            </a:r>
          </a:p>
        </p:txBody>
      </p:sp>
      <p:sp>
        <p:nvSpPr>
          <p:cNvPr id="18" name="">
            <a:extLst xmlns:a="http://schemas.openxmlformats.org/drawingml/2006/main">
              <a:ext uri="{FF2B5EF4-FFF2-40B4-BE49-F238E27FC236}">
                <a16:creationId xmlns:a16="http://schemas.microsoft.com/office/drawing/2014/main" id="{B75D3630-C7B2-486A-A3B6-407790F65189}"/>
              </a:ext>
            </a:extLst>
          </p:cNvPr>
          <p:cNvSpPr>
            <a:spLocks xmlns:a="http://schemas.openxmlformats.org/drawingml/2006/main" noGrp="1"/>
          </p:cNvSpPr>
          <p:nvPr/>
        </p:nvSpPr>
        <p:spPr>
          <a:xfrm xmlns:a="http://schemas.openxmlformats.org/drawingml/2006/main">
            <a:off x="666750" y="4591050"/>
            <a:ext cx="10477500" cy="19050"/>
          </a:xfrm>
          <a:prstGeom xmlns:a="http://schemas.openxmlformats.org/drawingml/2006/main" prst="rect">
            <a:avLst/>
          </a:prstGeom>
          <a:solidFill xmlns:a="http://schemas.openxmlformats.org/drawingml/2006/main">
            <a:srgbClr val="BBCED1"/>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2968893E-B6CC-414D-B9DB-9C3C1CAD276F}"/>
              </a:ext>
            </a:extLst>
          </p:cNvPr>
          <p:cNvSpPr>
            <a:spLocks xmlns:a="http://schemas.openxmlformats.org/drawingml/2006/main" noGrp="1"/>
          </p:cNvSpPr>
          <p:nvPr/>
        </p:nvSpPr>
        <p:spPr>
          <a:xfrm xmlns:a="http://schemas.openxmlformats.org/drawingml/2006/main">
            <a:off x="666750" y="4876800"/>
            <a:ext cx="666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325" b="1">
                <a:solidFill>
                  <a:srgbClr val="F2684E"/>
                </a:solidFill>
                <a:latin typeface="Arial"/>
                <a:ea typeface="Arial"/>
                <a:cs typeface="Arial"/>
              </a:defRPr>
            </a:pPr>
            <a:r>
              <a:rPr sz="2325" b="1">
                <a:solidFill>
                  <a:srgbClr val="F2684E"/>
                </a:solidFill>
                <a:latin typeface="Arial"/>
                <a:ea typeface="Arial"/>
                <a:cs typeface="Arial"/>
              </a:rPr>
              <a:t>04</a:t>
            </a:r>
          </a:p>
        </p:txBody>
      </p:sp>
      <p:sp>
        <p:nvSpPr>
          <p:cNvPr id="20" name="">
            <a:extLst xmlns:a="http://schemas.openxmlformats.org/drawingml/2006/main">
              <a:ext uri="{FF2B5EF4-FFF2-40B4-BE49-F238E27FC236}">
                <a16:creationId xmlns:a16="http://schemas.microsoft.com/office/drawing/2014/main" id="{868A4D94-6C48-4338-B846-A441A7158084}"/>
              </a:ext>
            </a:extLst>
          </p:cNvPr>
          <p:cNvSpPr>
            <a:spLocks xmlns:a="http://schemas.openxmlformats.org/drawingml/2006/main" noGrp="1"/>
          </p:cNvSpPr>
          <p:nvPr/>
        </p:nvSpPr>
        <p:spPr>
          <a:xfrm xmlns:a="http://schemas.openxmlformats.org/drawingml/2006/main">
            <a:off x="1524000" y="4876800"/>
            <a:ext cx="342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75" b="1">
                <a:solidFill>
                  <a:srgbClr val="17232F"/>
                </a:solidFill>
                <a:latin typeface="Arial"/>
                <a:ea typeface="Arial"/>
                <a:cs typeface="Arial"/>
              </a:defRPr>
            </a:pPr>
            <a:r>
              <a:rPr sz="1875" b="1">
                <a:solidFill>
                  <a:srgbClr val="17232F"/>
                </a:solidFill>
                <a:latin typeface="Arial"/>
                <a:ea typeface="Arial"/>
                <a:cs typeface="Arial"/>
              </a:rPr>
              <a:t>Continued engagement</a:t>
            </a:r>
          </a:p>
        </p:txBody>
      </p:sp>
      <p:sp>
        <p:nvSpPr>
          <p:cNvPr id="21" name="">
            <a:extLst xmlns:a="http://schemas.openxmlformats.org/drawingml/2006/main">
              <a:ext uri="{FF2B5EF4-FFF2-40B4-BE49-F238E27FC236}">
                <a16:creationId xmlns:a16="http://schemas.microsoft.com/office/drawing/2014/main" id="{8DFEFB1E-55D6-42F2-8BD6-790E4281DA31}"/>
              </a:ext>
            </a:extLst>
          </p:cNvPr>
          <p:cNvSpPr>
            <a:spLocks xmlns:a="http://schemas.openxmlformats.org/drawingml/2006/main" noGrp="1"/>
          </p:cNvSpPr>
          <p:nvPr/>
        </p:nvSpPr>
        <p:spPr>
          <a:xfrm xmlns:a="http://schemas.openxmlformats.org/drawingml/2006/main">
            <a:off x="4933950" y="4876800"/>
            <a:ext cx="62769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759"/>
          </a:bodyPr>
          <a:lstStyle xmlns:a="http://schemas.openxmlformats.org/drawingml/2006/main"/>
          <a:p xmlns:a="http://schemas.openxmlformats.org/drawingml/2006/main">
            <a:pPr algn="l">
              <a:defRPr sz="1575" b="0">
                <a:solidFill>
                  <a:srgbClr val="526675"/>
                </a:solidFill>
                <a:latin typeface="Arial"/>
                <a:ea typeface="Arial"/>
                <a:cs typeface="Arial"/>
              </a:defRPr>
            </a:pPr>
            <a:r>
              <a:rPr sz="1575" b="0">
                <a:solidFill>
                  <a:srgbClr val="526675"/>
                </a:solidFill>
                <a:latin typeface="Arial"/>
                <a:ea typeface="Arial"/>
                <a:cs typeface="Arial"/>
              </a:rPr>
              <a:t>Track progress and support habits through community and challenges.</a:t>
            </a:r>
          </a:p>
        </p:txBody>
      </p:sp>
    </p:spTree>
    <p:extLst>
      <p:ext uri="{BB962C8B-B14F-4D97-AF65-F5344CB8AC3E}">
        <p14:creationId xmlns:p14="http://schemas.microsoft.com/office/powerpoint/2010/main" val="487467180"/>
      </p:ext>
    </p:extLst>
  </p:cSld>
</p:sld>
</file>

<file path=ppt/slides/slide4.xml><?xml version="1.0" encoding="utf-8"?>
<p:sld xmlns:p="http://schemas.openxmlformats.org/presentationml/2006/main">
  <p:cSld>
    <p:bg>
      <p:bgPr>
        <a:solidFill xmlns:a="http://schemas.openxmlformats.org/drawingml/2006/main">
          <a:srgbClr val="F1F8F4"/>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130F8A98-4750-4CA1-B42B-00C16F1B7D0D}"/>
              </a:ext>
            </a:extLst>
          </p:cNvPr>
          <p:cNvSpPr>
            <a:spLocks xmlns:a="http://schemas.openxmlformats.org/drawingml/2006/main" noGrp="1"/>
          </p:cNvSpPr>
          <p:nvPr/>
        </p:nvSpPr>
        <p:spPr>
          <a:xfrm xmlns:a="http://schemas.openxmlformats.org/drawingml/2006/main">
            <a:off x="0" y="0"/>
            <a:ext cx="12192000" cy="1257300"/>
          </a:xfrm>
          <a:prstGeom xmlns:a="http://schemas.openxmlformats.org/drawingml/2006/main" prst="rect">
            <a:avLst/>
          </a:prstGeom>
          <a:solidFill xmlns:a="http://schemas.openxmlformats.org/drawingml/2006/main">
            <a:srgbClr val="17594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F5E84A5-F8C8-4C81-A6BF-8164C8E36595}"/>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F2684E"/>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CC9CE81-7C9F-4324-99B8-2276D82A9474}"/>
              </a:ext>
            </a:extLst>
          </p:cNvPr>
          <p:cNvSpPr>
            <a:spLocks xmlns:a="http://schemas.openxmlformats.org/drawingml/2006/main" noGrp="1"/>
          </p:cNvSpPr>
          <p:nvPr/>
        </p:nvSpPr>
        <p:spPr>
          <a:xfrm xmlns:a="http://schemas.openxmlformats.org/drawingml/2006/main">
            <a:off x="609600" y="333375"/>
            <a:ext cx="108394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700" b="1">
                <a:solidFill>
                  <a:srgbClr val="FFFFFF"/>
                </a:solidFill>
                <a:latin typeface="Arial"/>
                <a:ea typeface="Arial"/>
                <a:cs typeface="Arial"/>
              </a:defRPr>
            </a:pPr>
            <a:r>
              <a:rPr sz="2700" b="1">
                <a:solidFill>
                  <a:srgbClr val="FFFFFF"/>
                </a:solidFill>
                <a:latin typeface="Arial"/>
                <a:ea typeface="Arial"/>
                <a:cs typeface="Arial"/>
              </a:rPr>
              <a:t>How the app works for a user</a:t>
            </a:r>
          </a:p>
        </p:txBody>
      </p:sp>
      <p:sp>
        <p:nvSpPr>
          <p:cNvPr id="4" name="">
            <a:extLst xmlns:a="http://schemas.openxmlformats.org/drawingml/2006/main">
              <a:ext uri="{FF2B5EF4-FFF2-40B4-BE49-F238E27FC236}">
                <a16:creationId xmlns:a16="http://schemas.microsoft.com/office/drawing/2014/main" id="{464E35E6-0484-43F8-BB53-72ADB236358D}"/>
              </a:ext>
            </a:extLst>
          </p:cNvPr>
          <p:cNvSpPr>
            <a:spLocks xmlns:a="http://schemas.openxmlformats.org/drawingml/2006/main" noGrp="1"/>
          </p:cNvSpPr>
          <p:nvPr/>
        </p:nvSpPr>
        <p:spPr>
          <a:xfrm xmlns:a="http://schemas.openxmlformats.org/drawingml/2006/main">
            <a:off x="609600" y="1219200"/>
            <a:ext cx="10982325" cy="38100"/>
          </a:xfrm>
          <a:prstGeom xmlns:a="http://schemas.openxmlformats.org/drawingml/2006/main" prst="rect">
            <a:avLst/>
          </a:prstGeom>
          <a:solidFill xmlns:a="http://schemas.openxmlformats.org/drawingml/2006/main">
            <a:srgbClr val="F2684E"/>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762B965-ACC9-479C-99CC-DE05E7EE7C68}"/>
              </a:ext>
            </a:extLst>
          </p:cNvPr>
          <p:cNvSpPr>
            <a:spLocks xmlns:a="http://schemas.openxmlformats.org/drawingml/2006/main" noGrp="1"/>
          </p:cNvSpPr>
          <p:nvPr/>
        </p:nvSpPr>
        <p:spPr>
          <a:xfrm xmlns:a="http://schemas.openxmlformats.org/drawingml/2006/main">
            <a:off x="609600" y="640080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lgn="l">
              <a:defRPr sz="975" b="1">
                <a:solidFill>
                  <a:srgbClr val="175947"/>
                </a:solidFill>
                <a:latin typeface="Arial"/>
                <a:ea typeface="Arial"/>
                <a:cs typeface="Arial"/>
              </a:defRPr>
            </a:pPr>
            <a:r>
              <a:rPr sz="975" b="1">
                <a:solidFill>
                  <a:srgbClr val="175947"/>
                </a:solidFill>
                <a:latin typeface="Arial"/>
                <a:ea typeface="Arial"/>
                <a:cs typeface="Arial"/>
              </a:rPr>
              <a:t>USER JOURNEY</a:t>
            </a:r>
          </a:p>
        </p:txBody>
      </p:sp>
      <p:sp>
        <p:nvSpPr>
          <p:cNvPr id="6" name="">
            <a:extLst xmlns:a="http://schemas.openxmlformats.org/drawingml/2006/main">
              <a:ext uri="{FF2B5EF4-FFF2-40B4-BE49-F238E27FC236}">
                <a16:creationId xmlns:a16="http://schemas.microsoft.com/office/drawing/2014/main" id="{0D9645E7-E5FB-4261-8266-7444859C51B5}"/>
              </a:ext>
            </a:extLst>
          </p:cNvPr>
          <p:cNvSpPr>
            <a:spLocks xmlns:a="http://schemas.openxmlformats.org/drawingml/2006/main" noGrp="1"/>
          </p:cNvSpPr>
          <p:nvPr/>
        </p:nvSpPr>
        <p:spPr>
          <a:xfrm xmlns:a="http://schemas.openxmlformats.org/drawingml/2006/main">
            <a:off x="10972800" y="6372225"/>
            <a:ext cx="6000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125" b="1">
                <a:solidFill>
                  <a:srgbClr val="175947"/>
                </a:solidFill>
                <a:latin typeface="Arial"/>
                <a:ea typeface="Arial"/>
                <a:cs typeface="Arial"/>
              </a:defRPr>
            </a:pPr>
            <a:r>
              <a:rPr sz="1125" b="1">
                <a:solidFill>
                  <a:srgbClr val="175947"/>
                </a:solidFill>
                <a:latin typeface="Arial"/>
                <a:ea typeface="Arial"/>
                <a:cs typeface="Arial"/>
              </a:rPr>
              <a:t>04</a:t>
            </a:r>
          </a:p>
        </p:txBody>
      </p:sp>
      <p:sp>
        <p:nvSpPr>
          <p:cNvPr id="7" name="">
            <a:extLst xmlns:a="http://schemas.openxmlformats.org/drawingml/2006/main">
              <a:ext uri="{FF2B5EF4-FFF2-40B4-BE49-F238E27FC236}">
                <a16:creationId xmlns:a16="http://schemas.microsoft.com/office/drawing/2014/main" id="{66229A4E-A397-44D7-9565-38DC08FFB540}"/>
              </a:ext>
            </a:extLst>
          </p:cNvPr>
          <p:cNvSpPr>
            <a:spLocks xmlns:a="http://schemas.openxmlformats.org/drawingml/2006/main" noGrp="1"/>
          </p:cNvSpPr>
          <p:nvPr/>
        </p:nvSpPr>
        <p:spPr>
          <a:xfrm xmlns:a="http://schemas.openxmlformats.org/drawingml/2006/main">
            <a:off x="647700" y="1981200"/>
            <a:ext cx="523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475" b="1">
                <a:solidFill>
                  <a:srgbClr val="0F936F"/>
                </a:solidFill>
                <a:latin typeface="Arial"/>
                <a:ea typeface="Arial"/>
                <a:cs typeface="Arial"/>
              </a:defRPr>
            </a:pPr>
            <a:r>
              <a:rPr sz="2475" b="1">
                <a:solidFill>
                  <a:srgbClr val="0F936F"/>
                </a:solidFill>
                <a:latin typeface="Arial"/>
                <a:ea typeface="Arial"/>
                <a:cs typeface="Arial"/>
              </a:rPr>
              <a:t>1</a:t>
            </a:r>
          </a:p>
        </p:txBody>
      </p:sp>
      <p:sp>
        <p:nvSpPr>
          <p:cNvPr id="8" name="">
            <a:extLst xmlns:a="http://schemas.openxmlformats.org/drawingml/2006/main">
              <a:ext uri="{FF2B5EF4-FFF2-40B4-BE49-F238E27FC236}">
                <a16:creationId xmlns:a16="http://schemas.microsoft.com/office/drawing/2014/main" id="{0F238BFF-7107-49E1-B6A5-65216431112F}"/>
              </a:ext>
            </a:extLst>
          </p:cNvPr>
          <p:cNvSpPr>
            <a:spLocks xmlns:a="http://schemas.openxmlformats.org/drawingml/2006/main" noGrp="1"/>
          </p:cNvSpPr>
          <p:nvPr/>
        </p:nvSpPr>
        <p:spPr>
          <a:xfrm xmlns:a="http://schemas.openxmlformats.org/drawingml/2006/main">
            <a:off x="647700" y="2638425"/>
            <a:ext cx="1752600" cy="28575"/>
          </a:xfrm>
          <a:prstGeom xmlns:a="http://schemas.openxmlformats.org/drawingml/2006/main" prst="rect">
            <a:avLst/>
          </a:prstGeom>
          <a:solidFill xmlns:a="http://schemas.openxmlformats.org/drawingml/2006/main">
            <a:srgbClr val="0F936F"/>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2CD21A93-7411-4549-AAD3-BC78A59335DF}"/>
              </a:ext>
            </a:extLst>
          </p:cNvPr>
          <p:cNvSpPr>
            <a:spLocks xmlns:a="http://schemas.openxmlformats.org/drawingml/2006/main" noGrp="1"/>
          </p:cNvSpPr>
          <p:nvPr/>
        </p:nvSpPr>
        <p:spPr>
          <a:xfrm xmlns:a="http://schemas.openxmlformats.org/drawingml/2006/main">
            <a:off x="647700" y="2962275"/>
            <a:ext cx="1809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1">
                <a:solidFill>
                  <a:srgbClr val="17232F"/>
                </a:solidFill>
                <a:latin typeface="Arial"/>
                <a:ea typeface="Arial"/>
                <a:cs typeface="Arial"/>
              </a:defRPr>
            </a:pPr>
            <a:r>
              <a:rPr sz="1725" b="1">
                <a:solidFill>
                  <a:srgbClr val="17232F"/>
                </a:solidFill>
                <a:latin typeface="Arial"/>
                <a:ea typeface="Arial"/>
                <a:cs typeface="Arial"/>
              </a:rPr>
              <a:t>Sign up</a:t>
            </a:r>
          </a:p>
        </p:txBody>
      </p:sp>
      <p:sp>
        <p:nvSpPr>
          <p:cNvPr id="10" name="">
            <a:extLst xmlns:a="http://schemas.openxmlformats.org/drawingml/2006/main">
              <a:ext uri="{FF2B5EF4-FFF2-40B4-BE49-F238E27FC236}">
                <a16:creationId xmlns:a16="http://schemas.microsoft.com/office/drawing/2014/main" id="{B8901987-31A7-4F94-B8F4-8DE343F283B5}"/>
              </a:ext>
            </a:extLst>
          </p:cNvPr>
          <p:cNvSpPr>
            <a:spLocks xmlns:a="http://schemas.openxmlformats.org/drawingml/2006/main" noGrp="1"/>
          </p:cNvSpPr>
          <p:nvPr/>
        </p:nvSpPr>
        <p:spPr>
          <a:xfrm xmlns:a="http://schemas.openxmlformats.org/drawingml/2006/main">
            <a:off x="647700" y="3552825"/>
            <a:ext cx="17907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526675"/>
                </a:solidFill>
                <a:latin typeface="Arial"/>
                <a:ea typeface="Arial"/>
                <a:cs typeface="Arial"/>
              </a:defRPr>
            </a:pPr>
            <a:r>
              <a:rPr sz="1425" b="0">
                <a:solidFill>
                  <a:srgbClr val="526675"/>
                </a:solidFill>
                <a:latin typeface="Arial"/>
                <a:ea typeface="Arial"/>
                <a:cs typeface="Arial"/>
              </a:rPr>
              <a:t>Secure account</a:t>
            </a:r>
          </a:p>
        </p:txBody>
      </p:sp>
      <p:sp>
        <p:nvSpPr>
          <p:cNvPr id="11" name="">
            <a:extLst xmlns:a="http://schemas.openxmlformats.org/drawingml/2006/main">
              <a:ext uri="{FF2B5EF4-FFF2-40B4-BE49-F238E27FC236}">
                <a16:creationId xmlns:a16="http://schemas.microsoft.com/office/drawing/2014/main" id="{8F475384-28BC-48EB-AC49-751CA6C7321A}"/>
              </a:ext>
            </a:extLst>
          </p:cNvPr>
          <p:cNvSpPr>
            <a:spLocks xmlns:a="http://schemas.openxmlformats.org/drawingml/2006/main" noGrp="1"/>
          </p:cNvSpPr>
          <p:nvPr/>
        </p:nvSpPr>
        <p:spPr>
          <a:xfrm xmlns:a="http://schemas.openxmlformats.org/drawingml/2006/main">
            <a:off x="2486025" y="2505075"/>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7356"/>
          </a:bodyPr>
          <a:lstStyle xmlns:a="http://schemas.openxmlformats.org/drawingml/2006/main"/>
          <a:p xmlns:a="http://schemas.openxmlformats.org/drawingml/2006/main">
            <a:pPr algn="l">
              <a:defRPr sz="2175" b="1">
                <a:solidFill>
                  <a:srgbClr val="0F936F"/>
                </a:solidFill>
                <a:latin typeface="Arial"/>
                <a:ea typeface="Arial"/>
                <a:cs typeface="Arial"/>
              </a:defRPr>
            </a:pPr>
            <a:r>
              <a:rPr sz="2175" b="1">
                <a:solidFill>
                  <a:srgbClr val="0F936F"/>
                </a:solidFill>
                <a:latin typeface="Arial"/>
                <a:ea typeface="Arial"/>
                <a:cs typeface="Arial"/>
              </a:rPr>
              <a:t>→</a:t>
            </a:r>
          </a:p>
        </p:txBody>
      </p:sp>
      <p:sp>
        <p:nvSpPr>
          <p:cNvPr id="12" name="">
            <a:extLst xmlns:a="http://schemas.openxmlformats.org/drawingml/2006/main">
              <a:ext uri="{FF2B5EF4-FFF2-40B4-BE49-F238E27FC236}">
                <a16:creationId xmlns:a16="http://schemas.microsoft.com/office/drawing/2014/main" id="{C991852E-563C-4DDD-8C1A-9048241B5861}"/>
              </a:ext>
            </a:extLst>
          </p:cNvPr>
          <p:cNvSpPr>
            <a:spLocks xmlns:a="http://schemas.openxmlformats.org/drawingml/2006/main" noGrp="1"/>
          </p:cNvSpPr>
          <p:nvPr/>
        </p:nvSpPr>
        <p:spPr>
          <a:xfrm xmlns:a="http://schemas.openxmlformats.org/drawingml/2006/main">
            <a:off x="2962275" y="1981200"/>
            <a:ext cx="523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475" b="1">
                <a:solidFill>
                  <a:srgbClr val="0F936F"/>
                </a:solidFill>
                <a:latin typeface="Arial"/>
                <a:ea typeface="Arial"/>
                <a:cs typeface="Arial"/>
              </a:defRPr>
            </a:pPr>
            <a:r>
              <a:rPr sz="2475" b="1">
                <a:solidFill>
                  <a:srgbClr val="0F936F"/>
                </a:solidFill>
                <a:latin typeface="Arial"/>
                <a:ea typeface="Arial"/>
                <a:cs typeface="Arial"/>
              </a:rPr>
              <a:t>2</a:t>
            </a:r>
          </a:p>
        </p:txBody>
      </p:sp>
      <p:sp>
        <p:nvSpPr>
          <p:cNvPr id="13" name="">
            <a:extLst xmlns:a="http://schemas.openxmlformats.org/drawingml/2006/main">
              <a:ext uri="{FF2B5EF4-FFF2-40B4-BE49-F238E27FC236}">
                <a16:creationId xmlns:a16="http://schemas.microsoft.com/office/drawing/2014/main" id="{674CB74D-6344-4BC4-A8F6-ED985555A916}"/>
              </a:ext>
            </a:extLst>
          </p:cNvPr>
          <p:cNvSpPr>
            <a:spLocks xmlns:a="http://schemas.openxmlformats.org/drawingml/2006/main" noGrp="1"/>
          </p:cNvSpPr>
          <p:nvPr/>
        </p:nvSpPr>
        <p:spPr>
          <a:xfrm xmlns:a="http://schemas.openxmlformats.org/drawingml/2006/main">
            <a:off x="2962275" y="2638425"/>
            <a:ext cx="1752600" cy="28575"/>
          </a:xfrm>
          <a:prstGeom xmlns:a="http://schemas.openxmlformats.org/drawingml/2006/main" prst="rect">
            <a:avLst/>
          </a:prstGeom>
          <a:solidFill xmlns:a="http://schemas.openxmlformats.org/drawingml/2006/main">
            <a:srgbClr val="0F936F"/>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E8432E30-80B2-4517-B7AA-240EF5776BD7}"/>
              </a:ext>
            </a:extLst>
          </p:cNvPr>
          <p:cNvSpPr>
            <a:spLocks xmlns:a="http://schemas.openxmlformats.org/drawingml/2006/main" noGrp="1"/>
          </p:cNvSpPr>
          <p:nvPr/>
        </p:nvSpPr>
        <p:spPr>
          <a:xfrm xmlns:a="http://schemas.openxmlformats.org/drawingml/2006/main">
            <a:off x="2962275" y="2962275"/>
            <a:ext cx="1809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1">
                <a:solidFill>
                  <a:srgbClr val="17232F"/>
                </a:solidFill>
                <a:latin typeface="Arial"/>
                <a:ea typeface="Arial"/>
                <a:cs typeface="Arial"/>
              </a:defRPr>
            </a:pPr>
            <a:r>
              <a:rPr sz="1725" b="1">
                <a:solidFill>
                  <a:srgbClr val="17232F"/>
                </a:solidFill>
                <a:latin typeface="Arial"/>
                <a:ea typeface="Arial"/>
                <a:cs typeface="Arial"/>
              </a:rPr>
              <a:t>Set profile</a:t>
            </a:r>
          </a:p>
        </p:txBody>
      </p:sp>
      <p:sp>
        <p:nvSpPr>
          <p:cNvPr id="15" name="">
            <a:extLst xmlns:a="http://schemas.openxmlformats.org/drawingml/2006/main">
              <a:ext uri="{FF2B5EF4-FFF2-40B4-BE49-F238E27FC236}">
                <a16:creationId xmlns:a16="http://schemas.microsoft.com/office/drawing/2014/main" id="{DEB3BF37-166E-4D0F-B34C-53F7974978A3}"/>
              </a:ext>
            </a:extLst>
          </p:cNvPr>
          <p:cNvSpPr>
            <a:spLocks xmlns:a="http://schemas.openxmlformats.org/drawingml/2006/main" noGrp="1"/>
          </p:cNvSpPr>
          <p:nvPr/>
        </p:nvSpPr>
        <p:spPr>
          <a:xfrm xmlns:a="http://schemas.openxmlformats.org/drawingml/2006/main">
            <a:off x="2962275" y="3552825"/>
            <a:ext cx="17907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526675"/>
                </a:solidFill>
                <a:latin typeface="Arial"/>
                <a:ea typeface="Arial"/>
                <a:cs typeface="Arial"/>
              </a:defRPr>
            </a:pPr>
            <a:r>
              <a:rPr sz="1425" b="0">
                <a:solidFill>
                  <a:srgbClr val="526675"/>
                </a:solidFill>
                <a:latin typeface="Arial"/>
                <a:ea typeface="Arial"/>
                <a:cs typeface="Arial"/>
              </a:rPr>
              <a:t>Goal, body data, injuries, allergies</a:t>
            </a:r>
          </a:p>
        </p:txBody>
      </p:sp>
      <p:sp>
        <p:nvSpPr>
          <p:cNvPr id="16" name="">
            <a:extLst xmlns:a="http://schemas.openxmlformats.org/drawingml/2006/main">
              <a:ext uri="{FF2B5EF4-FFF2-40B4-BE49-F238E27FC236}">
                <a16:creationId xmlns:a16="http://schemas.microsoft.com/office/drawing/2014/main" id="{A8BD337F-282C-4BE0-994A-A9E13B818969}"/>
              </a:ext>
            </a:extLst>
          </p:cNvPr>
          <p:cNvSpPr>
            <a:spLocks xmlns:a="http://schemas.openxmlformats.org/drawingml/2006/main" noGrp="1"/>
          </p:cNvSpPr>
          <p:nvPr/>
        </p:nvSpPr>
        <p:spPr>
          <a:xfrm xmlns:a="http://schemas.openxmlformats.org/drawingml/2006/main">
            <a:off x="4800600" y="2505075"/>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7356"/>
          </a:bodyPr>
          <a:lstStyle xmlns:a="http://schemas.openxmlformats.org/drawingml/2006/main"/>
          <a:p xmlns:a="http://schemas.openxmlformats.org/drawingml/2006/main">
            <a:pPr algn="l">
              <a:defRPr sz="2175" b="1">
                <a:solidFill>
                  <a:srgbClr val="0F936F"/>
                </a:solidFill>
                <a:latin typeface="Arial"/>
                <a:ea typeface="Arial"/>
                <a:cs typeface="Arial"/>
              </a:defRPr>
            </a:pPr>
            <a:r>
              <a:rPr sz="2175" b="1">
                <a:solidFill>
                  <a:srgbClr val="0F936F"/>
                </a:solidFill>
                <a:latin typeface="Arial"/>
                <a:ea typeface="Arial"/>
                <a:cs typeface="Arial"/>
              </a:rPr>
              <a:t>→</a:t>
            </a:r>
          </a:p>
        </p:txBody>
      </p:sp>
      <p:sp>
        <p:nvSpPr>
          <p:cNvPr id="17" name="">
            <a:extLst xmlns:a="http://schemas.openxmlformats.org/drawingml/2006/main">
              <a:ext uri="{FF2B5EF4-FFF2-40B4-BE49-F238E27FC236}">
                <a16:creationId xmlns:a16="http://schemas.microsoft.com/office/drawing/2014/main" id="{0F051041-D53D-4612-B53F-81CD83BF64D9}"/>
              </a:ext>
            </a:extLst>
          </p:cNvPr>
          <p:cNvSpPr>
            <a:spLocks xmlns:a="http://schemas.openxmlformats.org/drawingml/2006/main" noGrp="1"/>
          </p:cNvSpPr>
          <p:nvPr/>
        </p:nvSpPr>
        <p:spPr>
          <a:xfrm xmlns:a="http://schemas.openxmlformats.org/drawingml/2006/main">
            <a:off x="5276850" y="1981200"/>
            <a:ext cx="523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475" b="1">
                <a:solidFill>
                  <a:srgbClr val="0F936F"/>
                </a:solidFill>
                <a:latin typeface="Arial"/>
                <a:ea typeface="Arial"/>
                <a:cs typeface="Arial"/>
              </a:defRPr>
            </a:pPr>
            <a:r>
              <a:rPr sz="2475" b="1">
                <a:solidFill>
                  <a:srgbClr val="0F936F"/>
                </a:solidFill>
                <a:latin typeface="Arial"/>
                <a:ea typeface="Arial"/>
                <a:cs typeface="Arial"/>
              </a:rPr>
              <a:t>3</a:t>
            </a:r>
          </a:p>
        </p:txBody>
      </p:sp>
      <p:sp>
        <p:nvSpPr>
          <p:cNvPr id="18" name="">
            <a:extLst xmlns:a="http://schemas.openxmlformats.org/drawingml/2006/main">
              <a:ext uri="{FF2B5EF4-FFF2-40B4-BE49-F238E27FC236}">
                <a16:creationId xmlns:a16="http://schemas.microsoft.com/office/drawing/2014/main" id="{6099F0F3-0304-43AF-9EDB-BF990F108244}"/>
              </a:ext>
            </a:extLst>
          </p:cNvPr>
          <p:cNvSpPr>
            <a:spLocks xmlns:a="http://schemas.openxmlformats.org/drawingml/2006/main" noGrp="1"/>
          </p:cNvSpPr>
          <p:nvPr/>
        </p:nvSpPr>
        <p:spPr>
          <a:xfrm xmlns:a="http://schemas.openxmlformats.org/drawingml/2006/main">
            <a:off x="5276850" y="2638425"/>
            <a:ext cx="1752600" cy="28575"/>
          </a:xfrm>
          <a:prstGeom xmlns:a="http://schemas.openxmlformats.org/drawingml/2006/main" prst="rect">
            <a:avLst/>
          </a:prstGeom>
          <a:solidFill xmlns:a="http://schemas.openxmlformats.org/drawingml/2006/main">
            <a:srgbClr val="0F936F"/>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0A13CAA8-EE51-4C6D-B5C5-8CF08184236D}"/>
              </a:ext>
            </a:extLst>
          </p:cNvPr>
          <p:cNvSpPr>
            <a:spLocks xmlns:a="http://schemas.openxmlformats.org/drawingml/2006/main" noGrp="1"/>
          </p:cNvSpPr>
          <p:nvPr/>
        </p:nvSpPr>
        <p:spPr>
          <a:xfrm xmlns:a="http://schemas.openxmlformats.org/drawingml/2006/main">
            <a:off x="5276850" y="2962275"/>
            <a:ext cx="1809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1">
                <a:solidFill>
                  <a:srgbClr val="17232F"/>
                </a:solidFill>
                <a:latin typeface="Arial"/>
                <a:ea typeface="Arial"/>
                <a:cs typeface="Arial"/>
              </a:defRPr>
            </a:pPr>
            <a:r>
              <a:rPr sz="1725" b="1">
                <a:solidFill>
                  <a:srgbClr val="17232F"/>
                </a:solidFill>
                <a:latin typeface="Arial"/>
                <a:ea typeface="Arial"/>
                <a:cs typeface="Arial"/>
              </a:rPr>
              <a:t>Get plans</a:t>
            </a:r>
          </a:p>
        </p:txBody>
      </p:sp>
      <p:sp>
        <p:nvSpPr>
          <p:cNvPr id="20" name="">
            <a:extLst xmlns:a="http://schemas.openxmlformats.org/drawingml/2006/main">
              <a:ext uri="{FF2B5EF4-FFF2-40B4-BE49-F238E27FC236}">
                <a16:creationId xmlns:a16="http://schemas.microsoft.com/office/drawing/2014/main" id="{48C43A55-1627-4829-9E09-166EA2777FE9}"/>
              </a:ext>
            </a:extLst>
          </p:cNvPr>
          <p:cNvSpPr>
            <a:spLocks xmlns:a="http://schemas.openxmlformats.org/drawingml/2006/main" noGrp="1"/>
          </p:cNvSpPr>
          <p:nvPr/>
        </p:nvSpPr>
        <p:spPr>
          <a:xfrm xmlns:a="http://schemas.openxmlformats.org/drawingml/2006/main">
            <a:off x="5276850" y="3552825"/>
            <a:ext cx="17907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526675"/>
                </a:solidFill>
                <a:latin typeface="Arial"/>
                <a:ea typeface="Arial"/>
                <a:cs typeface="Arial"/>
              </a:defRPr>
            </a:pPr>
            <a:r>
              <a:rPr sz="1425" b="0">
                <a:solidFill>
                  <a:srgbClr val="526675"/>
                </a:solidFill>
                <a:latin typeface="Arial"/>
                <a:ea typeface="Arial"/>
                <a:cs typeface="Arial"/>
              </a:rPr>
              <a:t>Workouts, meals and swaps</a:t>
            </a:r>
          </a:p>
        </p:txBody>
      </p:sp>
      <p:sp>
        <p:nvSpPr>
          <p:cNvPr id="21" name="">
            <a:extLst xmlns:a="http://schemas.openxmlformats.org/drawingml/2006/main">
              <a:ext uri="{FF2B5EF4-FFF2-40B4-BE49-F238E27FC236}">
                <a16:creationId xmlns:a16="http://schemas.microsoft.com/office/drawing/2014/main" id="{CB3E5C24-493C-460C-AA9A-9A557C99F659}"/>
              </a:ext>
            </a:extLst>
          </p:cNvPr>
          <p:cNvSpPr>
            <a:spLocks xmlns:a="http://schemas.openxmlformats.org/drawingml/2006/main" noGrp="1"/>
          </p:cNvSpPr>
          <p:nvPr/>
        </p:nvSpPr>
        <p:spPr>
          <a:xfrm xmlns:a="http://schemas.openxmlformats.org/drawingml/2006/main">
            <a:off x="7115175" y="2505075"/>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7356"/>
          </a:bodyPr>
          <a:lstStyle xmlns:a="http://schemas.openxmlformats.org/drawingml/2006/main"/>
          <a:p xmlns:a="http://schemas.openxmlformats.org/drawingml/2006/main">
            <a:pPr algn="l">
              <a:defRPr sz="2175" b="1">
                <a:solidFill>
                  <a:srgbClr val="0F936F"/>
                </a:solidFill>
                <a:latin typeface="Arial"/>
                <a:ea typeface="Arial"/>
                <a:cs typeface="Arial"/>
              </a:defRPr>
            </a:pPr>
            <a:r>
              <a:rPr sz="2175" b="1">
                <a:solidFill>
                  <a:srgbClr val="0F936F"/>
                </a:solidFill>
                <a:latin typeface="Arial"/>
                <a:ea typeface="Arial"/>
                <a:cs typeface="Arial"/>
              </a:rPr>
              <a:t>→</a:t>
            </a:r>
          </a:p>
        </p:txBody>
      </p:sp>
      <p:sp>
        <p:nvSpPr>
          <p:cNvPr id="22" name="">
            <a:extLst xmlns:a="http://schemas.openxmlformats.org/drawingml/2006/main">
              <a:ext uri="{FF2B5EF4-FFF2-40B4-BE49-F238E27FC236}">
                <a16:creationId xmlns:a16="http://schemas.microsoft.com/office/drawing/2014/main" id="{DFD7EA11-4582-4693-9388-409E31DCE5C6}"/>
              </a:ext>
            </a:extLst>
          </p:cNvPr>
          <p:cNvSpPr>
            <a:spLocks xmlns:a="http://schemas.openxmlformats.org/drawingml/2006/main" noGrp="1"/>
          </p:cNvSpPr>
          <p:nvPr/>
        </p:nvSpPr>
        <p:spPr>
          <a:xfrm xmlns:a="http://schemas.openxmlformats.org/drawingml/2006/main">
            <a:off x="7591425" y="1981200"/>
            <a:ext cx="523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475" b="1">
                <a:solidFill>
                  <a:srgbClr val="0F936F"/>
                </a:solidFill>
                <a:latin typeface="Arial"/>
                <a:ea typeface="Arial"/>
                <a:cs typeface="Arial"/>
              </a:defRPr>
            </a:pPr>
            <a:r>
              <a:rPr sz="2475" b="1">
                <a:solidFill>
                  <a:srgbClr val="0F936F"/>
                </a:solidFill>
                <a:latin typeface="Arial"/>
                <a:ea typeface="Arial"/>
                <a:cs typeface="Arial"/>
              </a:rPr>
              <a:t>4</a:t>
            </a:r>
          </a:p>
        </p:txBody>
      </p:sp>
      <p:sp>
        <p:nvSpPr>
          <p:cNvPr id="23" name="">
            <a:extLst xmlns:a="http://schemas.openxmlformats.org/drawingml/2006/main">
              <a:ext uri="{FF2B5EF4-FFF2-40B4-BE49-F238E27FC236}">
                <a16:creationId xmlns:a16="http://schemas.microsoft.com/office/drawing/2014/main" id="{7757E4AA-20A1-46FE-BE95-1C575BF16B31}"/>
              </a:ext>
            </a:extLst>
          </p:cNvPr>
          <p:cNvSpPr>
            <a:spLocks xmlns:a="http://schemas.openxmlformats.org/drawingml/2006/main" noGrp="1"/>
          </p:cNvSpPr>
          <p:nvPr/>
        </p:nvSpPr>
        <p:spPr>
          <a:xfrm xmlns:a="http://schemas.openxmlformats.org/drawingml/2006/main">
            <a:off x="7591425" y="2638425"/>
            <a:ext cx="1752600" cy="28575"/>
          </a:xfrm>
          <a:prstGeom xmlns:a="http://schemas.openxmlformats.org/drawingml/2006/main" prst="rect">
            <a:avLst/>
          </a:prstGeom>
          <a:solidFill xmlns:a="http://schemas.openxmlformats.org/drawingml/2006/main">
            <a:srgbClr val="0F936F"/>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BEA65164-A9F4-4C63-8971-CACDF41F8CD4}"/>
              </a:ext>
            </a:extLst>
          </p:cNvPr>
          <p:cNvSpPr>
            <a:spLocks xmlns:a="http://schemas.openxmlformats.org/drawingml/2006/main" noGrp="1"/>
          </p:cNvSpPr>
          <p:nvPr/>
        </p:nvSpPr>
        <p:spPr>
          <a:xfrm xmlns:a="http://schemas.openxmlformats.org/drawingml/2006/main">
            <a:off x="7591425" y="2962275"/>
            <a:ext cx="1809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1">
                <a:solidFill>
                  <a:srgbClr val="17232F"/>
                </a:solidFill>
                <a:latin typeface="Arial"/>
                <a:ea typeface="Arial"/>
                <a:cs typeface="Arial"/>
              </a:defRPr>
            </a:pPr>
            <a:r>
              <a:rPr sz="1725" b="1">
                <a:solidFill>
                  <a:srgbClr val="17232F"/>
                </a:solidFill>
                <a:latin typeface="Arial"/>
                <a:ea typeface="Arial"/>
                <a:cs typeface="Arial"/>
              </a:rPr>
              <a:t>Act &amp; track</a:t>
            </a:r>
          </a:p>
        </p:txBody>
      </p:sp>
      <p:sp>
        <p:nvSpPr>
          <p:cNvPr id="25" name="">
            <a:extLst xmlns:a="http://schemas.openxmlformats.org/drawingml/2006/main">
              <a:ext uri="{FF2B5EF4-FFF2-40B4-BE49-F238E27FC236}">
                <a16:creationId xmlns:a16="http://schemas.microsoft.com/office/drawing/2014/main" id="{65EC3457-B3C5-4487-9AC0-4EC83224094C}"/>
              </a:ext>
            </a:extLst>
          </p:cNvPr>
          <p:cNvSpPr>
            <a:spLocks xmlns:a="http://schemas.openxmlformats.org/drawingml/2006/main" noGrp="1"/>
          </p:cNvSpPr>
          <p:nvPr/>
        </p:nvSpPr>
        <p:spPr>
          <a:xfrm xmlns:a="http://schemas.openxmlformats.org/drawingml/2006/main">
            <a:off x="7591425" y="3552825"/>
            <a:ext cx="17907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526675"/>
                </a:solidFill>
                <a:latin typeface="Arial"/>
                <a:ea typeface="Arial"/>
                <a:cs typeface="Arial"/>
              </a:defRPr>
            </a:pPr>
            <a:r>
              <a:rPr sz="1425" b="0">
                <a:solidFill>
                  <a:srgbClr val="526675"/>
                </a:solidFill>
                <a:latin typeface="Arial"/>
                <a:ea typeface="Arial"/>
                <a:cs typeface="Arial"/>
              </a:rPr>
              <a:t>Train, eat, log progress</a:t>
            </a:r>
          </a:p>
        </p:txBody>
      </p:sp>
      <p:sp>
        <p:nvSpPr>
          <p:cNvPr id="26" name="">
            <a:extLst xmlns:a="http://schemas.openxmlformats.org/drawingml/2006/main">
              <a:ext uri="{FF2B5EF4-FFF2-40B4-BE49-F238E27FC236}">
                <a16:creationId xmlns:a16="http://schemas.microsoft.com/office/drawing/2014/main" id="{66701F40-D260-4E05-A929-8BDCB06289C1}"/>
              </a:ext>
            </a:extLst>
          </p:cNvPr>
          <p:cNvSpPr>
            <a:spLocks xmlns:a="http://schemas.openxmlformats.org/drawingml/2006/main" noGrp="1"/>
          </p:cNvSpPr>
          <p:nvPr/>
        </p:nvSpPr>
        <p:spPr>
          <a:xfrm xmlns:a="http://schemas.openxmlformats.org/drawingml/2006/main">
            <a:off x="9429750" y="2505075"/>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7356"/>
          </a:bodyPr>
          <a:lstStyle xmlns:a="http://schemas.openxmlformats.org/drawingml/2006/main"/>
          <a:p xmlns:a="http://schemas.openxmlformats.org/drawingml/2006/main">
            <a:pPr algn="l">
              <a:defRPr sz="2175" b="1">
                <a:solidFill>
                  <a:srgbClr val="0F936F"/>
                </a:solidFill>
                <a:latin typeface="Arial"/>
                <a:ea typeface="Arial"/>
                <a:cs typeface="Arial"/>
              </a:defRPr>
            </a:pPr>
            <a:r>
              <a:rPr sz="2175" b="1">
                <a:solidFill>
                  <a:srgbClr val="0F936F"/>
                </a:solidFill>
                <a:latin typeface="Arial"/>
                <a:ea typeface="Arial"/>
                <a:cs typeface="Arial"/>
              </a:rPr>
              <a:t>→</a:t>
            </a:r>
          </a:p>
        </p:txBody>
      </p:sp>
      <p:sp>
        <p:nvSpPr>
          <p:cNvPr id="27" name="">
            <a:extLst xmlns:a="http://schemas.openxmlformats.org/drawingml/2006/main">
              <a:ext uri="{FF2B5EF4-FFF2-40B4-BE49-F238E27FC236}">
                <a16:creationId xmlns:a16="http://schemas.microsoft.com/office/drawing/2014/main" id="{633EBFBB-20E3-4B92-8DB0-29123A8450C0}"/>
              </a:ext>
            </a:extLst>
          </p:cNvPr>
          <p:cNvSpPr>
            <a:spLocks xmlns:a="http://schemas.openxmlformats.org/drawingml/2006/main" noGrp="1"/>
          </p:cNvSpPr>
          <p:nvPr/>
        </p:nvSpPr>
        <p:spPr>
          <a:xfrm xmlns:a="http://schemas.openxmlformats.org/drawingml/2006/main">
            <a:off x="9906000" y="1981200"/>
            <a:ext cx="523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475" b="1">
                <a:solidFill>
                  <a:srgbClr val="0F936F"/>
                </a:solidFill>
                <a:latin typeface="Arial"/>
                <a:ea typeface="Arial"/>
                <a:cs typeface="Arial"/>
              </a:defRPr>
            </a:pPr>
            <a:r>
              <a:rPr sz="2475" b="1">
                <a:solidFill>
                  <a:srgbClr val="0F936F"/>
                </a:solidFill>
                <a:latin typeface="Arial"/>
                <a:ea typeface="Arial"/>
                <a:cs typeface="Arial"/>
              </a:rPr>
              <a:t>5</a:t>
            </a:r>
          </a:p>
        </p:txBody>
      </p:sp>
      <p:sp>
        <p:nvSpPr>
          <p:cNvPr id="28" name="">
            <a:extLst xmlns:a="http://schemas.openxmlformats.org/drawingml/2006/main">
              <a:ext uri="{FF2B5EF4-FFF2-40B4-BE49-F238E27FC236}">
                <a16:creationId xmlns:a16="http://schemas.microsoft.com/office/drawing/2014/main" id="{7A625781-7AE7-4F31-89F4-2D557D81615A}"/>
              </a:ext>
            </a:extLst>
          </p:cNvPr>
          <p:cNvSpPr>
            <a:spLocks xmlns:a="http://schemas.openxmlformats.org/drawingml/2006/main" noGrp="1"/>
          </p:cNvSpPr>
          <p:nvPr/>
        </p:nvSpPr>
        <p:spPr>
          <a:xfrm xmlns:a="http://schemas.openxmlformats.org/drawingml/2006/main">
            <a:off x="9906000" y="2638425"/>
            <a:ext cx="1752600" cy="28575"/>
          </a:xfrm>
          <a:prstGeom xmlns:a="http://schemas.openxmlformats.org/drawingml/2006/main" prst="rect">
            <a:avLst/>
          </a:prstGeom>
          <a:solidFill xmlns:a="http://schemas.openxmlformats.org/drawingml/2006/main">
            <a:srgbClr val="0F936F"/>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3AFF748D-FCBE-42FE-BDC7-06D922911864}"/>
              </a:ext>
            </a:extLst>
          </p:cNvPr>
          <p:cNvSpPr>
            <a:spLocks xmlns:a="http://schemas.openxmlformats.org/drawingml/2006/main" noGrp="1"/>
          </p:cNvSpPr>
          <p:nvPr/>
        </p:nvSpPr>
        <p:spPr>
          <a:xfrm xmlns:a="http://schemas.openxmlformats.org/drawingml/2006/main">
            <a:off x="9906000" y="2962275"/>
            <a:ext cx="1809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1">
                <a:solidFill>
                  <a:srgbClr val="17232F"/>
                </a:solidFill>
                <a:latin typeface="Arial"/>
                <a:ea typeface="Arial"/>
                <a:cs typeface="Arial"/>
              </a:defRPr>
            </a:pPr>
            <a:r>
              <a:rPr sz="1725" b="1">
                <a:solidFill>
                  <a:srgbClr val="17232F"/>
                </a:solidFill>
                <a:latin typeface="Arial"/>
                <a:ea typeface="Arial"/>
                <a:cs typeface="Arial"/>
              </a:rPr>
              <a:t>Adapt</a:t>
            </a:r>
          </a:p>
        </p:txBody>
      </p:sp>
      <p:sp>
        <p:nvSpPr>
          <p:cNvPr id="30" name="">
            <a:extLst xmlns:a="http://schemas.openxmlformats.org/drawingml/2006/main">
              <a:ext uri="{FF2B5EF4-FFF2-40B4-BE49-F238E27FC236}">
                <a16:creationId xmlns:a16="http://schemas.microsoft.com/office/drawing/2014/main" id="{FBE625C8-3B34-494C-99BA-0787DD77AC50}"/>
              </a:ext>
            </a:extLst>
          </p:cNvPr>
          <p:cNvSpPr>
            <a:spLocks xmlns:a="http://schemas.openxmlformats.org/drawingml/2006/main" noGrp="1"/>
          </p:cNvSpPr>
          <p:nvPr/>
        </p:nvSpPr>
        <p:spPr>
          <a:xfrm xmlns:a="http://schemas.openxmlformats.org/drawingml/2006/main">
            <a:off x="9906000" y="3552825"/>
            <a:ext cx="17907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526675"/>
                </a:solidFill>
                <a:latin typeface="Arial"/>
                <a:ea typeface="Arial"/>
                <a:cs typeface="Arial"/>
              </a:defRPr>
            </a:pPr>
            <a:r>
              <a:rPr sz="1425" b="0">
                <a:solidFill>
                  <a:srgbClr val="526675"/>
                </a:solidFill>
                <a:latin typeface="Arial"/>
                <a:ea typeface="Arial"/>
                <a:cs typeface="Arial"/>
              </a:rPr>
              <a:t>Updated guidance and feedback</a:t>
            </a:r>
          </a:p>
        </p:txBody>
      </p:sp>
      <p:sp>
        <p:nvSpPr>
          <p:cNvPr id="31" name="">
            <a:extLst xmlns:a="http://schemas.openxmlformats.org/drawingml/2006/main">
              <a:ext uri="{FF2B5EF4-FFF2-40B4-BE49-F238E27FC236}">
                <a16:creationId xmlns:a16="http://schemas.microsoft.com/office/drawing/2014/main" id="{B3DBED01-A87D-43FC-B657-3FE9F6BDF951}"/>
              </a:ext>
            </a:extLst>
          </p:cNvPr>
          <p:cNvSpPr>
            <a:spLocks xmlns:a="http://schemas.openxmlformats.org/drawingml/2006/main" noGrp="1"/>
          </p:cNvSpPr>
          <p:nvPr/>
        </p:nvSpPr>
        <p:spPr>
          <a:xfrm xmlns:a="http://schemas.openxmlformats.org/drawingml/2006/main">
            <a:off x="647700" y="5419725"/>
            <a:ext cx="10782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17232F"/>
                </a:solidFill>
                <a:latin typeface="Arial"/>
                <a:ea typeface="Arial"/>
                <a:cs typeface="Arial"/>
              </a:defRPr>
            </a:pPr>
            <a:r>
              <a:rPr sz="1650" b="1">
                <a:solidFill>
                  <a:srgbClr val="17232F"/>
                </a:solidFill>
                <a:latin typeface="Arial"/>
                <a:ea typeface="Arial"/>
                <a:cs typeface="Arial"/>
              </a:rPr>
              <a:t>The phone sends requests; the backend stores data and calls the right local module.</a:t>
            </a:r>
          </a:p>
        </p:txBody>
      </p:sp>
    </p:spTree>
    <p:extLst>
      <p:ext uri="{BB962C8B-B14F-4D97-AF65-F5344CB8AC3E}">
        <p14:creationId xmlns:p14="http://schemas.microsoft.com/office/powerpoint/2010/main" val="1187359349"/>
      </p:ext>
    </p:extLst>
  </p:cSld>
</p:sld>
</file>

<file path=ppt/slides/slide5.xml><?xml version="1.0" encoding="utf-8"?>
<p:sld xmlns:p="http://schemas.openxmlformats.org/presentationml/2006/main">
  <p:cSld>
    <p:bg>
      <p:bgPr>
        <a:solidFill xmlns:a="http://schemas.openxmlformats.org/drawingml/2006/main">
          <a:srgbClr val="E6F1F5"/>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3551DD6-6DBD-4B35-9A5F-0C2042D11CCD}"/>
              </a:ext>
            </a:extLst>
          </p:cNvPr>
          <p:cNvSpPr>
            <a:spLocks xmlns:a="http://schemas.openxmlformats.org/drawingml/2006/main" noGrp="1"/>
          </p:cNvSpPr>
          <p:nvPr/>
        </p:nvSpPr>
        <p:spPr>
          <a:xfrm xmlns:a="http://schemas.openxmlformats.org/drawingml/2006/main">
            <a:off x="0" y="0"/>
            <a:ext cx="12192000" cy="1257300"/>
          </a:xfrm>
          <a:prstGeom xmlns:a="http://schemas.openxmlformats.org/drawingml/2006/main" prst="rect">
            <a:avLst/>
          </a:prstGeom>
          <a:solidFill xmlns:a="http://schemas.openxmlformats.org/drawingml/2006/main">
            <a:srgbClr val="133D5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9EADEB9-E98C-4B73-AF0C-789C2F985298}"/>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F2684E"/>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036D474-70C4-48F5-9619-73FF26E7C300}"/>
              </a:ext>
            </a:extLst>
          </p:cNvPr>
          <p:cNvSpPr>
            <a:spLocks xmlns:a="http://schemas.openxmlformats.org/drawingml/2006/main" noGrp="1"/>
          </p:cNvSpPr>
          <p:nvPr/>
        </p:nvSpPr>
        <p:spPr>
          <a:xfrm xmlns:a="http://schemas.openxmlformats.org/drawingml/2006/main">
            <a:off x="609600" y="333375"/>
            <a:ext cx="108394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700" b="1">
                <a:solidFill>
                  <a:srgbClr val="FFFFFF"/>
                </a:solidFill>
                <a:latin typeface="Arial"/>
                <a:ea typeface="Arial"/>
                <a:cs typeface="Arial"/>
              </a:defRPr>
            </a:pPr>
            <a:r>
              <a:rPr sz="2700" b="1">
                <a:solidFill>
                  <a:srgbClr val="FFFFFF"/>
                </a:solidFill>
                <a:latin typeface="Arial"/>
                <a:ea typeface="Arial"/>
                <a:cs typeface="Arial"/>
              </a:rPr>
              <a:t>Comparison with existing apps</a:t>
            </a:r>
          </a:p>
        </p:txBody>
      </p:sp>
      <p:sp>
        <p:nvSpPr>
          <p:cNvPr id="4" name="">
            <a:extLst xmlns:a="http://schemas.openxmlformats.org/drawingml/2006/main">
              <a:ext uri="{FF2B5EF4-FFF2-40B4-BE49-F238E27FC236}">
                <a16:creationId xmlns:a16="http://schemas.microsoft.com/office/drawing/2014/main" id="{F3E3D27F-CCC6-483A-A724-6E1CEA0CF089}"/>
              </a:ext>
            </a:extLst>
          </p:cNvPr>
          <p:cNvSpPr>
            <a:spLocks xmlns:a="http://schemas.openxmlformats.org/drawingml/2006/main" noGrp="1"/>
          </p:cNvSpPr>
          <p:nvPr/>
        </p:nvSpPr>
        <p:spPr>
          <a:xfrm xmlns:a="http://schemas.openxmlformats.org/drawingml/2006/main">
            <a:off x="609600" y="1219200"/>
            <a:ext cx="10982325" cy="38100"/>
          </a:xfrm>
          <a:prstGeom xmlns:a="http://schemas.openxmlformats.org/drawingml/2006/main" prst="rect">
            <a:avLst/>
          </a:prstGeom>
          <a:solidFill xmlns:a="http://schemas.openxmlformats.org/drawingml/2006/main">
            <a:srgbClr val="F2684E"/>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EF8F960-ED6E-4426-A52C-1669CDF688D2}"/>
              </a:ext>
            </a:extLst>
          </p:cNvPr>
          <p:cNvSpPr>
            <a:spLocks xmlns:a="http://schemas.openxmlformats.org/drawingml/2006/main" noGrp="1"/>
          </p:cNvSpPr>
          <p:nvPr/>
        </p:nvSpPr>
        <p:spPr>
          <a:xfrm xmlns:a="http://schemas.openxmlformats.org/drawingml/2006/main">
            <a:off x="609600" y="640080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lgn="l">
              <a:defRPr sz="975" b="1">
                <a:solidFill>
                  <a:srgbClr val="133D50"/>
                </a:solidFill>
                <a:latin typeface="Arial"/>
                <a:ea typeface="Arial"/>
                <a:cs typeface="Arial"/>
              </a:defRPr>
            </a:pPr>
            <a:r>
              <a:rPr sz="975" b="1">
                <a:solidFill>
                  <a:srgbClr val="133D50"/>
                </a:solidFill>
                <a:latin typeface="Arial"/>
                <a:ea typeface="Arial"/>
                <a:cs typeface="Arial"/>
              </a:rPr>
              <a:t>COMPARATIVE STUDY</a:t>
            </a:r>
          </a:p>
        </p:txBody>
      </p:sp>
      <p:sp>
        <p:nvSpPr>
          <p:cNvPr id="6" name="">
            <a:extLst xmlns:a="http://schemas.openxmlformats.org/drawingml/2006/main">
              <a:ext uri="{FF2B5EF4-FFF2-40B4-BE49-F238E27FC236}">
                <a16:creationId xmlns:a16="http://schemas.microsoft.com/office/drawing/2014/main" id="{EA6C4F59-67E3-4D77-9885-4CA52C8F440A}"/>
              </a:ext>
            </a:extLst>
          </p:cNvPr>
          <p:cNvSpPr>
            <a:spLocks xmlns:a="http://schemas.openxmlformats.org/drawingml/2006/main" noGrp="1"/>
          </p:cNvSpPr>
          <p:nvPr/>
        </p:nvSpPr>
        <p:spPr>
          <a:xfrm xmlns:a="http://schemas.openxmlformats.org/drawingml/2006/main">
            <a:off x="10972800" y="6372225"/>
            <a:ext cx="6000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125" b="1">
                <a:solidFill>
                  <a:srgbClr val="133D50"/>
                </a:solidFill>
                <a:latin typeface="Arial"/>
                <a:ea typeface="Arial"/>
                <a:cs typeface="Arial"/>
              </a:defRPr>
            </a:pPr>
            <a:r>
              <a:rPr sz="1125" b="1">
                <a:solidFill>
                  <a:srgbClr val="133D50"/>
                </a:solidFill>
                <a:latin typeface="Arial"/>
                <a:ea typeface="Arial"/>
                <a:cs typeface="Arial"/>
              </a:rPr>
              <a:t>05</a:t>
            </a:r>
          </a:p>
        </p:txBody>
      </p:sp>
      <p:graphicFrame>
        <p:nvGraphicFramePr>
          <p:cNvPr id="15" name=""/>
          <p:cNvGraphicFramePr/>
          <p:nvPr/>
        </p:nvGraphicFramePr>
        <p:xfrm>
          <a:off xmlns:a="http://schemas.openxmlformats.org/drawingml/2006/main" x="590550" y="1514475"/>
          <a:ext xmlns:a="http://schemas.openxmlformats.org/drawingml/2006/main" cx="11001375" cy="3876675"/>
        </p:xfrm>
        <a:graphic xmlns:a="http://schemas.openxmlformats.org/drawingml/2006/main">
          <a:graphicData uri="http://schemas.openxmlformats.org/drawingml/2006/table">
            <a:tbl>
              <a:tblPr firstRow="1" bandRow="0"/>
              <a:tblGrid>
                <a:gridCol w="2714625"/>
                <a:gridCol w="1476375"/>
                <a:gridCol w="1381125"/>
                <a:gridCol w="1857375"/>
                <a:gridCol w="1285875"/>
                <a:gridCol w="2286000"/>
              </a:tblGrid>
              <a:tr h="553811">
                <a:tc>
                  <a:txBody>
                    <a:bodyPr/>
                    <a:lstStyle/>
                    <a:p>
                      <a:r>
                        <a:rPr sz="1275" b="1">
                          <a:solidFill>
                            <a:srgbClr val="FFFFFF"/>
                          </a:solidFill>
                          <a:latin typeface="Arial"/>
                          <a:ea typeface="Arial"/>
                          <a:cs typeface="Arial"/>
                        </a:rPr>
                        <a:t>Capability</a:t>
                      </a:r>
                    </a:p>
                  </a:txBody>
                  <a:tcPr marL="91440" marR="91440" marT="45720" marB="45720">
                    <a:solidFill>
                      <a:srgbClr val="17232F"/>
                    </a:solidFill>
                  </a:tcPr>
                </a:tc>
                <a:tc>
                  <a:txBody>
                    <a:bodyPr/>
                    <a:lstStyle/>
                    <a:p>
                      <a:r>
                        <a:rPr sz="1275" b="1">
                          <a:solidFill>
                            <a:srgbClr val="FFFFFF"/>
                          </a:solidFill>
                          <a:latin typeface="Arial"/>
                          <a:ea typeface="Arial"/>
                          <a:cs typeface="Arial"/>
                        </a:rPr>
                        <a:t>Nike TC</a:t>
                      </a:r>
                    </a:p>
                  </a:txBody>
                  <a:tcPr marL="91440" marR="91440" marT="45720" marB="45720">
                    <a:solidFill>
                      <a:srgbClr val="17232F"/>
                    </a:solidFill>
                  </a:tcPr>
                </a:tc>
                <a:tc>
                  <a:txBody>
                    <a:bodyPr/>
                    <a:lstStyle/>
                    <a:p>
                      <a:r>
                        <a:rPr sz="1275" b="1">
                          <a:solidFill>
                            <a:srgbClr val="FFFFFF"/>
                          </a:solidFill>
                          <a:latin typeface="Arial"/>
                          <a:ea typeface="Arial"/>
                          <a:cs typeface="Arial"/>
                        </a:rPr>
                        <a:t>Fitbod</a:t>
                      </a:r>
                    </a:p>
                  </a:txBody>
                  <a:tcPr marL="91440" marR="91440" marT="45720" marB="45720">
                    <a:solidFill>
                      <a:srgbClr val="17232F"/>
                    </a:solidFill>
                  </a:tcPr>
                </a:tc>
                <a:tc>
                  <a:txBody>
                    <a:bodyPr/>
                    <a:lstStyle/>
                    <a:p>
                      <a:r>
                        <a:rPr sz="1275" b="1">
                          <a:solidFill>
                            <a:srgbClr val="FFFFFF"/>
                          </a:solidFill>
                          <a:latin typeface="Arial"/>
                          <a:ea typeface="Arial"/>
                          <a:cs typeface="Arial"/>
                        </a:rPr>
                        <a:t>MyFitnessPal</a:t>
                      </a:r>
                    </a:p>
                  </a:txBody>
                  <a:tcPr marL="91440" marR="91440" marT="45720" marB="45720">
                    <a:solidFill>
                      <a:srgbClr val="17232F"/>
                    </a:solidFill>
                  </a:tcPr>
                </a:tc>
                <a:tc>
                  <a:txBody>
                    <a:bodyPr/>
                    <a:lstStyle/>
                    <a:p>
                      <a:r>
                        <a:rPr sz="1275" b="1">
                          <a:solidFill>
                            <a:srgbClr val="FFFFFF"/>
                          </a:solidFill>
                          <a:latin typeface="Arial"/>
                          <a:ea typeface="Arial"/>
                          <a:cs typeface="Arial"/>
                        </a:rPr>
                        <a:t>Strava</a:t>
                      </a:r>
                    </a:p>
                  </a:txBody>
                  <a:tcPr marL="91440" marR="91440" marT="45720" marB="45720">
                    <a:solidFill>
                      <a:srgbClr val="17232F"/>
                    </a:solidFill>
                  </a:tcPr>
                </a:tc>
                <a:tc>
                  <a:txBody>
                    <a:bodyPr/>
                    <a:lstStyle/>
                    <a:p>
                      <a:r>
                        <a:rPr sz="1275" b="1">
                          <a:solidFill>
                            <a:srgbClr val="FFFFFF"/>
                          </a:solidFill>
                          <a:latin typeface="Arial"/>
                          <a:ea typeface="Arial"/>
                          <a:cs typeface="Arial"/>
                        </a:rPr>
                        <a:t>Elite Fitness</a:t>
                      </a:r>
                    </a:p>
                  </a:txBody>
                  <a:tcPr marL="91440" marR="91440" marT="45720" marB="45720">
                    <a:solidFill>
                      <a:srgbClr val="17232F"/>
                    </a:solidFill>
                  </a:tcPr>
                </a:tc>
              </a:tr>
              <a:tr h="553811">
                <a:tc>
                  <a:txBody>
                    <a:bodyPr/>
                    <a:lstStyle/>
                    <a:p>
                      <a:r>
                        <a:rPr sz="1425" b="0">
                          <a:solidFill>
                            <a:srgbClr val="17232F"/>
                          </a:solidFill>
                          <a:latin typeface="Arial"/>
                          <a:ea typeface="Arial"/>
                          <a:cs typeface="Arial"/>
                        </a:rPr>
                        <a:t>Workout plan</a:t>
                      </a:r>
                    </a:p>
                  </a:txBody>
                  <a:tcPr marL="91440" marR="91440" marT="45720" marB="45720">
                    <a:solidFill>
                      <a:srgbClr val="FFFFFF"/>
                    </a:solidFill>
                  </a:tcPr>
                </a:tc>
                <a:tc>
                  <a:txBody>
                    <a:bodyPr/>
                    <a:lstStyle/>
                    <a:p>
                      <a:r>
                        <a:rPr sz="1425" b="0">
                          <a:solidFill>
                            <a:srgbClr val="17232F"/>
                          </a:solidFill>
                          <a:latin typeface="Arial"/>
                          <a:ea typeface="Arial"/>
                          <a:cs typeface="Arial"/>
                        </a:rPr>
                        <a:t>Yes</a:t>
                      </a:r>
                    </a:p>
                  </a:txBody>
                  <a:tcPr marL="91440" marR="91440" marT="45720" marB="45720">
                    <a:solidFill>
                      <a:srgbClr val="FFFFFF"/>
                    </a:solidFill>
                  </a:tcPr>
                </a:tc>
                <a:tc>
                  <a:txBody>
                    <a:bodyPr/>
                    <a:lstStyle/>
                    <a:p>
                      <a:r>
                        <a:rPr sz="1425" b="0">
                          <a:solidFill>
                            <a:srgbClr val="17232F"/>
                          </a:solidFill>
                          <a:latin typeface="Arial"/>
                          <a:ea typeface="Arial"/>
                          <a:cs typeface="Arial"/>
                        </a:rPr>
                        <a:t>Yes</a:t>
                      </a:r>
                    </a:p>
                  </a:txBody>
                  <a:tcPr marL="91440" marR="91440" marT="45720" marB="45720">
                    <a:solidFill>
                      <a:srgbClr val="FFFFFF"/>
                    </a:solidFill>
                  </a:tcPr>
                </a:tc>
                <a:tc>
                  <a:txBody>
                    <a:bodyPr/>
                    <a:lstStyle/>
                    <a:p>
                      <a:r>
                        <a:rPr sz="1425" b="0">
                          <a:solidFill>
                            <a:srgbClr val="17232F"/>
                          </a:solidFill>
                          <a:latin typeface="Arial"/>
                          <a:ea typeface="Arial"/>
                          <a:cs typeface="Arial"/>
                        </a:rPr>
                        <a:t>Limited</a:t>
                      </a:r>
                    </a:p>
                  </a:txBody>
                  <a:tcPr marL="91440" marR="91440" marT="45720" marB="45720">
                    <a:solidFill>
                      <a:srgbClr val="FFFFFF"/>
                    </a:solidFill>
                  </a:tcPr>
                </a:tc>
                <a:tc>
                  <a:txBody>
                    <a:bodyPr/>
                    <a:lstStyle/>
                    <a:p>
                      <a:r>
                        <a:rPr sz="1425" b="0">
                          <a:solidFill>
                            <a:srgbClr val="17232F"/>
                          </a:solidFill>
                          <a:latin typeface="Arial"/>
                          <a:ea typeface="Arial"/>
                          <a:cs typeface="Arial"/>
                        </a:rPr>
                        <a:t>Limited</a:t>
                      </a:r>
                    </a:p>
                  </a:txBody>
                  <a:tcPr marL="91440" marR="91440" marT="45720" marB="45720">
                    <a:solidFill>
                      <a:srgbClr val="FFFFFF"/>
                    </a:solidFill>
                  </a:tcPr>
                </a:tc>
                <a:tc>
                  <a:txBody>
                    <a:bodyPr/>
                    <a:lstStyle/>
                    <a:p>
                      <a:r>
                        <a:rPr sz="1425" b="1">
                          <a:solidFill>
                            <a:srgbClr val="0F936F"/>
                          </a:solidFill>
                          <a:latin typeface="Arial"/>
                          <a:ea typeface="Arial"/>
                          <a:cs typeface="Arial"/>
                        </a:rPr>
                        <a:t>Yes</a:t>
                      </a:r>
                    </a:p>
                  </a:txBody>
                  <a:tcPr marL="91440" marR="91440" marT="45720" marB="45720">
                    <a:solidFill>
                      <a:srgbClr val="EAF5F1"/>
                    </a:solidFill>
                  </a:tcPr>
                </a:tc>
              </a:tr>
              <a:tr h="553811">
                <a:tc>
                  <a:txBody>
                    <a:bodyPr/>
                    <a:lstStyle/>
                    <a:p>
                      <a:r>
                        <a:rPr sz="1425" b="0">
                          <a:solidFill>
                            <a:srgbClr val="17232F"/>
                          </a:solidFill>
                          <a:latin typeface="Arial"/>
                          <a:ea typeface="Arial"/>
                          <a:cs typeface="Arial"/>
                        </a:rPr>
                        <a:t>Nutrition plan</a:t>
                      </a:r>
                    </a:p>
                  </a:txBody>
                  <a:tcPr marL="91440" marR="91440" marT="45720" marB="45720">
                    <a:solidFill>
                      <a:srgbClr val="FFFFFF"/>
                    </a:solidFill>
                  </a:tcPr>
                </a:tc>
                <a:tc>
                  <a:txBody>
                    <a:bodyPr/>
                    <a:lstStyle/>
                    <a:p>
                      <a:r>
                        <a:rPr sz="1425" b="0">
                          <a:solidFill>
                            <a:srgbClr val="17232F"/>
                          </a:solidFill>
                          <a:latin typeface="Arial"/>
                          <a:ea typeface="Arial"/>
                          <a:cs typeface="Arial"/>
                        </a:rPr>
                        <a:t>No</a:t>
                      </a:r>
                    </a:p>
                  </a:txBody>
                  <a:tcPr marL="91440" marR="91440" marT="45720" marB="45720">
                    <a:solidFill>
                      <a:srgbClr val="FFFFFF"/>
                    </a:solidFill>
                  </a:tcPr>
                </a:tc>
                <a:tc>
                  <a:txBody>
                    <a:bodyPr/>
                    <a:lstStyle/>
                    <a:p>
                      <a:r>
                        <a:rPr sz="1425" b="0">
                          <a:solidFill>
                            <a:srgbClr val="17232F"/>
                          </a:solidFill>
                          <a:latin typeface="Arial"/>
                          <a:ea typeface="Arial"/>
                          <a:cs typeface="Arial"/>
                        </a:rPr>
                        <a:t>No</a:t>
                      </a:r>
                    </a:p>
                  </a:txBody>
                  <a:tcPr marL="91440" marR="91440" marT="45720" marB="45720">
                    <a:solidFill>
                      <a:srgbClr val="FFFFFF"/>
                    </a:solidFill>
                  </a:tcPr>
                </a:tc>
                <a:tc>
                  <a:txBody>
                    <a:bodyPr/>
                    <a:lstStyle/>
                    <a:p>
                      <a:r>
                        <a:rPr sz="1425" b="0">
                          <a:solidFill>
                            <a:srgbClr val="17232F"/>
                          </a:solidFill>
                          <a:latin typeface="Arial"/>
                          <a:ea typeface="Arial"/>
                          <a:cs typeface="Arial"/>
                        </a:rPr>
                        <a:t>Limited</a:t>
                      </a:r>
                    </a:p>
                  </a:txBody>
                  <a:tcPr marL="91440" marR="91440" marT="45720" marB="45720">
                    <a:solidFill>
                      <a:srgbClr val="FFFFFF"/>
                    </a:solidFill>
                  </a:tcPr>
                </a:tc>
                <a:tc>
                  <a:txBody>
                    <a:bodyPr/>
                    <a:lstStyle/>
                    <a:p>
                      <a:r>
                        <a:rPr sz="1425" b="0">
                          <a:solidFill>
                            <a:srgbClr val="17232F"/>
                          </a:solidFill>
                          <a:latin typeface="Arial"/>
                          <a:ea typeface="Arial"/>
                          <a:cs typeface="Arial"/>
                        </a:rPr>
                        <a:t>No</a:t>
                      </a:r>
                    </a:p>
                  </a:txBody>
                  <a:tcPr marL="91440" marR="91440" marT="45720" marB="45720">
                    <a:solidFill>
                      <a:srgbClr val="FFFFFF"/>
                    </a:solidFill>
                  </a:tcPr>
                </a:tc>
                <a:tc>
                  <a:txBody>
                    <a:bodyPr/>
                    <a:lstStyle/>
                    <a:p>
                      <a:r>
                        <a:rPr sz="1425" b="1">
                          <a:solidFill>
                            <a:srgbClr val="0F936F"/>
                          </a:solidFill>
                          <a:latin typeface="Arial"/>
                          <a:ea typeface="Arial"/>
                          <a:cs typeface="Arial"/>
                        </a:rPr>
                        <a:t>Yes</a:t>
                      </a:r>
                    </a:p>
                  </a:txBody>
                  <a:tcPr marL="91440" marR="91440" marT="45720" marB="45720">
                    <a:solidFill>
                      <a:srgbClr val="EAF5F1"/>
                    </a:solidFill>
                  </a:tcPr>
                </a:tc>
              </a:tr>
              <a:tr h="553811">
                <a:tc>
                  <a:txBody>
                    <a:bodyPr/>
                    <a:lstStyle/>
                    <a:p>
                      <a:r>
                        <a:rPr sz="1425" b="0">
                          <a:solidFill>
                            <a:srgbClr val="17232F"/>
                          </a:solidFill>
                          <a:latin typeface="Arial"/>
                          <a:ea typeface="Arial"/>
                          <a:cs typeface="Arial"/>
                        </a:rPr>
                        <a:t>Fridge meal swaps</a:t>
                      </a:r>
                    </a:p>
                  </a:txBody>
                  <a:tcPr marL="91440" marR="91440" marT="45720" marB="45720">
                    <a:solidFill>
                      <a:srgbClr val="FFFFFF"/>
                    </a:solidFill>
                  </a:tcPr>
                </a:tc>
                <a:tc>
                  <a:txBody>
                    <a:bodyPr/>
                    <a:lstStyle/>
                    <a:p>
                      <a:r>
                        <a:rPr sz="1425" b="0">
                          <a:solidFill>
                            <a:srgbClr val="17232F"/>
                          </a:solidFill>
                          <a:latin typeface="Arial"/>
                          <a:ea typeface="Arial"/>
                          <a:cs typeface="Arial"/>
                        </a:rPr>
                        <a:t>No</a:t>
                      </a:r>
                    </a:p>
                  </a:txBody>
                  <a:tcPr marL="91440" marR="91440" marT="45720" marB="45720">
                    <a:solidFill>
                      <a:srgbClr val="FFFFFF"/>
                    </a:solidFill>
                  </a:tcPr>
                </a:tc>
                <a:tc>
                  <a:txBody>
                    <a:bodyPr/>
                    <a:lstStyle/>
                    <a:p>
                      <a:r>
                        <a:rPr sz="1425" b="0">
                          <a:solidFill>
                            <a:srgbClr val="17232F"/>
                          </a:solidFill>
                          <a:latin typeface="Arial"/>
                          <a:ea typeface="Arial"/>
                          <a:cs typeface="Arial"/>
                        </a:rPr>
                        <a:t>No</a:t>
                      </a:r>
                    </a:p>
                  </a:txBody>
                  <a:tcPr marL="91440" marR="91440" marT="45720" marB="45720">
                    <a:solidFill>
                      <a:srgbClr val="FFFFFF"/>
                    </a:solidFill>
                  </a:tcPr>
                </a:tc>
                <a:tc>
                  <a:txBody>
                    <a:bodyPr/>
                    <a:lstStyle/>
                    <a:p>
                      <a:r>
                        <a:rPr sz="1425" b="0">
                          <a:solidFill>
                            <a:srgbClr val="17232F"/>
                          </a:solidFill>
                          <a:latin typeface="Arial"/>
                          <a:ea typeface="Arial"/>
                          <a:cs typeface="Arial"/>
                        </a:rPr>
                        <a:t>No</a:t>
                      </a:r>
                    </a:p>
                  </a:txBody>
                  <a:tcPr marL="91440" marR="91440" marT="45720" marB="45720">
                    <a:solidFill>
                      <a:srgbClr val="FFFFFF"/>
                    </a:solidFill>
                  </a:tcPr>
                </a:tc>
                <a:tc>
                  <a:txBody>
                    <a:bodyPr/>
                    <a:lstStyle/>
                    <a:p>
                      <a:r>
                        <a:rPr sz="1425" b="0">
                          <a:solidFill>
                            <a:srgbClr val="17232F"/>
                          </a:solidFill>
                          <a:latin typeface="Arial"/>
                          <a:ea typeface="Arial"/>
                          <a:cs typeface="Arial"/>
                        </a:rPr>
                        <a:t>No</a:t>
                      </a:r>
                    </a:p>
                  </a:txBody>
                  <a:tcPr marL="91440" marR="91440" marT="45720" marB="45720">
                    <a:solidFill>
                      <a:srgbClr val="FFFFFF"/>
                    </a:solidFill>
                  </a:tcPr>
                </a:tc>
                <a:tc>
                  <a:txBody>
                    <a:bodyPr/>
                    <a:lstStyle/>
                    <a:p>
                      <a:r>
                        <a:rPr sz="1425" b="1">
                          <a:solidFill>
                            <a:srgbClr val="0F936F"/>
                          </a:solidFill>
                          <a:latin typeface="Arial"/>
                          <a:ea typeface="Arial"/>
                          <a:cs typeface="Arial"/>
                        </a:rPr>
                        <a:t>Yes</a:t>
                      </a:r>
                    </a:p>
                  </a:txBody>
                  <a:tcPr marL="91440" marR="91440" marT="45720" marB="45720">
                    <a:solidFill>
                      <a:srgbClr val="EAF5F1"/>
                    </a:solidFill>
                  </a:tcPr>
                </a:tc>
              </a:tr>
              <a:tr h="553811">
                <a:tc>
                  <a:txBody>
                    <a:bodyPr/>
                    <a:lstStyle/>
                    <a:p>
                      <a:r>
                        <a:rPr sz="1425" b="0">
                          <a:solidFill>
                            <a:srgbClr val="17232F"/>
                          </a:solidFill>
                          <a:latin typeface="Arial"/>
                          <a:ea typeface="Arial"/>
                          <a:cs typeface="Arial"/>
                        </a:rPr>
                        <a:t>Expert meal approval</a:t>
                      </a:r>
                    </a:p>
                  </a:txBody>
                  <a:tcPr marL="91440" marR="91440" marT="45720" marB="45720">
                    <a:solidFill>
                      <a:srgbClr val="FFFFFF"/>
                    </a:solidFill>
                  </a:tcPr>
                </a:tc>
                <a:tc>
                  <a:txBody>
                    <a:bodyPr/>
                    <a:lstStyle/>
                    <a:p>
                      <a:r>
                        <a:rPr sz="1425" b="0">
                          <a:solidFill>
                            <a:srgbClr val="17232F"/>
                          </a:solidFill>
                          <a:latin typeface="Arial"/>
                          <a:ea typeface="Arial"/>
                          <a:cs typeface="Arial"/>
                        </a:rPr>
                        <a:t>No</a:t>
                      </a:r>
                    </a:p>
                  </a:txBody>
                  <a:tcPr marL="91440" marR="91440" marT="45720" marB="45720">
                    <a:solidFill>
                      <a:srgbClr val="FFFFFF"/>
                    </a:solidFill>
                  </a:tcPr>
                </a:tc>
                <a:tc>
                  <a:txBody>
                    <a:bodyPr/>
                    <a:lstStyle/>
                    <a:p>
                      <a:r>
                        <a:rPr sz="1425" b="0">
                          <a:solidFill>
                            <a:srgbClr val="17232F"/>
                          </a:solidFill>
                          <a:latin typeface="Arial"/>
                          <a:ea typeface="Arial"/>
                          <a:cs typeface="Arial"/>
                        </a:rPr>
                        <a:t>No</a:t>
                      </a:r>
                    </a:p>
                  </a:txBody>
                  <a:tcPr marL="91440" marR="91440" marT="45720" marB="45720">
                    <a:solidFill>
                      <a:srgbClr val="FFFFFF"/>
                    </a:solidFill>
                  </a:tcPr>
                </a:tc>
                <a:tc>
                  <a:txBody>
                    <a:bodyPr/>
                    <a:lstStyle/>
                    <a:p>
                      <a:r>
                        <a:rPr sz="1425" b="0">
                          <a:solidFill>
                            <a:srgbClr val="17232F"/>
                          </a:solidFill>
                          <a:latin typeface="Arial"/>
                          <a:ea typeface="Arial"/>
                          <a:cs typeface="Arial"/>
                        </a:rPr>
                        <a:t>No</a:t>
                      </a:r>
                    </a:p>
                  </a:txBody>
                  <a:tcPr marL="91440" marR="91440" marT="45720" marB="45720">
                    <a:solidFill>
                      <a:srgbClr val="FFFFFF"/>
                    </a:solidFill>
                  </a:tcPr>
                </a:tc>
                <a:tc>
                  <a:txBody>
                    <a:bodyPr/>
                    <a:lstStyle/>
                    <a:p>
                      <a:r>
                        <a:rPr sz="1425" b="0">
                          <a:solidFill>
                            <a:srgbClr val="17232F"/>
                          </a:solidFill>
                          <a:latin typeface="Arial"/>
                          <a:ea typeface="Arial"/>
                          <a:cs typeface="Arial"/>
                        </a:rPr>
                        <a:t>No</a:t>
                      </a:r>
                    </a:p>
                  </a:txBody>
                  <a:tcPr marL="91440" marR="91440" marT="45720" marB="45720">
                    <a:solidFill>
                      <a:srgbClr val="FFFFFF"/>
                    </a:solidFill>
                  </a:tcPr>
                </a:tc>
                <a:tc>
                  <a:txBody>
                    <a:bodyPr/>
                    <a:lstStyle/>
                    <a:p>
                      <a:r>
                        <a:rPr sz="1425" b="1">
                          <a:solidFill>
                            <a:srgbClr val="0F936F"/>
                          </a:solidFill>
                          <a:latin typeface="Arial"/>
                          <a:ea typeface="Arial"/>
                          <a:cs typeface="Arial"/>
                        </a:rPr>
                        <a:t>Yes</a:t>
                      </a:r>
                    </a:p>
                  </a:txBody>
                  <a:tcPr marL="91440" marR="91440" marT="45720" marB="45720">
                    <a:solidFill>
                      <a:srgbClr val="EAF5F1"/>
                    </a:solidFill>
                  </a:tcPr>
                </a:tc>
              </a:tr>
              <a:tr h="553811">
                <a:tc>
                  <a:txBody>
                    <a:bodyPr/>
                    <a:lstStyle/>
                    <a:p>
                      <a:r>
                        <a:rPr sz="1425" b="0">
                          <a:solidFill>
                            <a:srgbClr val="17232F"/>
                          </a:solidFill>
                          <a:latin typeface="Arial"/>
                          <a:ea typeface="Arial"/>
                          <a:cs typeface="Arial"/>
                        </a:rPr>
                        <a:t>Exercise form analysis</a:t>
                      </a:r>
                    </a:p>
                  </a:txBody>
                  <a:tcPr marL="91440" marR="91440" marT="45720" marB="45720">
                    <a:solidFill>
                      <a:srgbClr val="FFFFFF"/>
                    </a:solidFill>
                  </a:tcPr>
                </a:tc>
                <a:tc>
                  <a:txBody>
                    <a:bodyPr/>
                    <a:lstStyle/>
                    <a:p>
                      <a:r>
                        <a:rPr sz="1425" b="0">
                          <a:solidFill>
                            <a:srgbClr val="17232F"/>
                          </a:solidFill>
                          <a:latin typeface="Arial"/>
                          <a:ea typeface="Arial"/>
                          <a:cs typeface="Arial"/>
                        </a:rPr>
                        <a:t>Limited</a:t>
                      </a:r>
                    </a:p>
                  </a:txBody>
                  <a:tcPr marL="91440" marR="91440" marT="45720" marB="45720">
                    <a:solidFill>
                      <a:srgbClr val="FFFFFF"/>
                    </a:solidFill>
                  </a:tcPr>
                </a:tc>
                <a:tc>
                  <a:txBody>
                    <a:bodyPr/>
                    <a:lstStyle/>
                    <a:p>
                      <a:r>
                        <a:rPr sz="1425" b="0">
                          <a:solidFill>
                            <a:srgbClr val="17232F"/>
                          </a:solidFill>
                          <a:latin typeface="Arial"/>
                          <a:ea typeface="Arial"/>
                          <a:cs typeface="Arial"/>
                        </a:rPr>
                        <a:t>No</a:t>
                      </a:r>
                    </a:p>
                  </a:txBody>
                  <a:tcPr marL="91440" marR="91440" marT="45720" marB="45720">
                    <a:solidFill>
                      <a:srgbClr val="FFFFFF"/>
                    </a:solidFill>
                  </a:tcPr>
                </a:tc>
                <a:tc>
                  <a:txBody>
                    <a:bodyPr/>
                    <a:lstStyle/>
                    <a:p>
                      <a:r>
                        <a:rPr sz="1425" b="0">
                          <a:solidFill>
                            <a:srgbClr val="17232F"/>
                          </a:solidFill>
                          <a:latin typeface="Arial"/>
                          <a:ea typeface="Arial"/>
                          <a:cs typeface="Arial"/>
                        </a:rPr>
                        <a:t>No</a:t>
                      </a:r>
                    </a:p>
                  </a:txBody>
                  <a:tcPr marL="91440" marR="91440" marT="45720" marB="45720">
                    <a:solidFill>
                      <a:srgbClr val="FFFFFF"/>
                    </a:solidFill>
                  </a:tcPr>
                </a:tc>
                <a:tc>
                  <a:txBody>
                    <a:bodyPr/>
                    <a:lstStyle/>
                    <a:p>
                      <a:r>
                        <a:rPr sz="1425" b="0">
                          <a:solidFill>
                            <a:srgbClr val="17232F"/>
                          </a:solidFill>
                          <a:latin typeface="Arial"/>
                          <a:ea typeface="Arial"/>
                          <a:cs typeface="Arial"/>
                        </a:rPr>
                        <a:t>No</a:t>
                      </a:r>
                    </a:p>
                  </a:txBody>
                  <a:tcPr marL="91440" marR="91440" marT="45720" marB="45720">
                    <a:solidFill>
                      <a:srgbClr val="FFFFFF"/>
                    </a:solidFill>
                  </a:tcPr>
                </a:tc>
                <a:tc>
                  <a:txBody>
                    <a:bodyPr/>
                    <a:lstStyle/>
                    <a:p>
                      <a:r>
                        <a:rPr sz="1425" b="1">
                          <a:solidFill>
                            <a:srgbClr val="0F936F"/>
                          </a:solidFill>
                          <a:latin typeface="Arial"/>
                          <a:ea typeface="Arial"/>
                          <a:cs typeface="Arial"/>
                        </a:rPr>
                        <a:t>Yes</a:t>
                      </a:r>
                    </a:p>
                  </a:txBody>
                  <a:tcPr marL="91440" marR="91440" marT="45720" marB="45720">
                    <a:solidFill>
                      <a:srgbClr val="EAF5F1"/>
                    </a:solidFill>
                  </a:tcPr>
                </a:tc>
              </a:tr>
              <a:tr h="553811">
                <a:tc>
                  <a:txBody>
                    <a:bodyPr/>
                    <a:lstStyle/>
                    <a:p>
                      <a:r>
                        <a:rPr sz="1425" b="0">
                          <a:solidFill>
                            <a:srgbClr val="17232F"/>
                          </a:solidFill>
                          <a:latin typeface="Arial"/>
                          <a:ea typeface="Arial"/>
                          <a:cs typeface="Arial"/>
                        </a:rPr>
                        <a:t>Injury-aware planning</a:t>
                      </a:r>
                    </a:p>
                  </a:txBody>
                  <a:tcPr marL="91440" marR="91440" marT="45720" marB="45720">
                    <a:solidFill>
                      <a:srgbClr val="FFFFFF"/>
                    </a:solidFill>
                  </a:tcPr>
                </a:tc>
                <a:tc>
                  <a:txBody>
                    <a:bodyPr/>
                    <a:lstStyle/>
                    <a:p>
                      <a:r>
                        <a:rPr sz="1425" b="0">
                          <a:solidFill>
                            <a:srgbClr val="17232F"/>
                          </a:solidFill>
                          <a:latin typeface="Arial"/>
                          <a:ea typeface="Arial"/>
                          <a:cs typeface="Arial"/>
                        </a:rPr>
                        <a:t>Limited</a:t>
                      </a:r>
                    </a:p>
                  </a:txBody>
                  <a:tcPr marL="91440" marR="91440" marT="45720" marB="45720">
                    <a:solidFill>
                      <a:srgbClr val="FFFFFF"/>
                    </a:solidFill>
                  </a:tcPr>
                </a:tc>
                <a:tc>
                  <a:txBody>
                    <a:bodyPr/>
                    <a:lstStyle/>
                    <a:p>
                      <a:r>
                        <a:rPr sz="1425" b="0">
                          <a:solidFill>
                            <a:srgbClr val="17232F"/>
                          </a:solidFill>
                          <a:latin typeface="Arial"/>
                          <a:ea typeface="Arial"/>
                          <a:cs typeface="Arial"/>
                        </a:rPr>
                        <a:t>Limited</a:t>
                      </a:r>
                    </a:p>
                  </a:txBody>
                  <a:tcPr marL="91440" marR="91440" marT="45720" marB="45720">
                    <a:solidFill>
                      <a:srgbClr val="FFFFFF"/>
                    </a:solidFill>
                  </a:tcPr>
                </a:tc>
                <a:tc>
                  <a:txBody>
                    <a:bodyPr/>
                    <a:lstStyle/>
                    <a:p>
                      <a:r>
                        <a:rPr sz="1425" b="0">
                          <a:solidFill>
                            <a:srgbClr val="17232F"/>
                          </a:solidFill>
                          <a:latin typeface="Arial"/>
                          <a:ea typeface="Arial"/>
                          <a:cs typeface="Arial"/>
                        </a:rPr>
                        <a:t>No</a:t>
                      </a:r>
                    </a:p>
                  </a:txBody>
                  <a:tcPr marL="91440" marR="91440" marT="45720" marB="45720">
                    <a:solidFill>
                      <a:srgbClr val="FFFFFF"/>
                    </a:solidFill>
                  </a:tcPr>
                </a:tc>
                <a:tc>
                  <a:txBody>
                    <a:bodyPr/>
                    <a:lstStyle/>
                    <a:p>
                      <a:r>
                        <a:rPr sz="1425" b="0">
                          <a:solidFill>
                            <a:srgbClr val="17232F"/>
                          </a:solidFill>
                          <a:latin typeface="Arial"/>
                          <a:ea typeface="Arial"/>
                          <a:cs typeface="Arial"/>
                        </a:rPr>
                        <a:t>No</a:t>
                      </a:r>
                    </a:p>
                  </a:txBody>
                  <a:tcPr marL="91440" marR="91440" marT="45720" marB="45720">
                    <a:solidFill>
                      <a:srgbClr val="FFFFFF"/>
                    </a:solidFill>
                  </a:tcPr>
                </a:tc>
                <a:tc>
                  <a:txBody>
                    <a:bodyPr/>
                    <a:lstStyle/>
                    <a:p>
                      <a:r>
                        <a:rPr sz="1425" b="1">
                          <a:solidFill>
                            <a:srgbClr val="0F936F"/>
                          </a:solidFill>
                          <a:latin typeface="Arial"/>
                          <a:ea typeface="Arial"/>
                          <a:cs typeface="Arial"/>
                        </a:rPr>
                        <a:t>Yes</a:t>
                      </a:r>
                    </a:p>
                  </a:txBody>
                  <a:tcPr marL="91440" marR="91440" marT="45720" marB="45720">
                    <a:solidFill>
                      <a:srgbClr val="EAF5F1"/>
                    </a:solidFill>
                  </a:tcPr>
                </a:tc>
              </a:tr>
            </a:tbl>
          </a:graphicData>
        </a:graphic>
      </p:graphicFrame>
      <p:sp>
        <p:nvSpPr>
          <p:cNvPr id="8" name="">
            <a:extLst xmlns:a="http://schemas.openxmlformats.org/drawingml/2006/main">
              <a:ext uri="{FF2B5EF4-FFF2-40B4-BE49-F238E27FC236}">
                <a16:creationId xmlns:a16="http://schemas.microsoft.com/office/drawing/2014/main" id="{557BBB3B-0DE2-4883-9E28-C68D7EE52567}"/>
              </a:ext>
            </a:extLst>
          </p:cNvPr>
          <p:cNvSpPr>
            <a:spLocks xmlns:a="http://schemas.openxmlformats.org/drawingml/2006/main" noGrp="1"/>
          </p:cNvSpPr>
          <p:nvPr/>
        </p:nvSpPr>
        <p:spPr>
          <a:xfrm xmlns:a="http://schemas.openxmlformats.org/drawingml/2006/main">
            <a:off x="600075" y="5591175"/>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526675"/>
                </a:solidFill>
                <a:latin typeface="Arial"/>
                <a:ea typeface="Arial"/>
                <a:cs typeface="Arial"/>
              </a:defRPr>
            </a:pPr>
            <a:r>
              <a:rPr sz="1200" b="0">
                <a:solidFill>
                  <a:srgbClr val="526675"/>
                </a:solidFill>
                <a:latin typeface="Arial"/>
                <a:ea typeface="Arial"/>
                <a:cs typeface="Arial"/>
              </a:rPr>
              <a:t>Based on the feature-level comparison in the project report; feature scope may change in commercial apps.</a:t>
            </a:r>
          </a:p>
        </p:txBody>
      </p:sp>
    </p:spTree>
    <p:extLst>
      <p:ext uri="{BB962C8B-B14F-4D97-AF65-F5344CB8AC3E}">
        <p14:creationId xmlns:p14="http://schemas.microsoft.com/office/powerpoint/2010/main" val="671259623"/>
      </p:ext>
    </p:extLst>
  </p:cSld>
</p:sld>
</file>

<file path=ppt/slides/slide6.xml><?xml version="1.0" encoding="utf-8"?>
<p:sld xmlns:p="http://schemas.openxmlformats.org/presentationml/2006/main">
  <p:cSld>
    <p:bg>
      <p:bgPr>
        <a:solidFill xmlns:a="http://schemas.openxmlformats.org/drawingml/2006/main">
          <a:srgbClr val="EAF7F2"/>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325A7261-6C5C-4903-BBD3-4B5CD7AEB6DD}"/>
              </a:ext>
            </a:extLst>
          </p:cNvPr>
          <p:cNvSpPr>
            <a:spLocks xmlns:a="http://schemas.openxmlformats.org/drawingml/2006/main" noGrp="1"/>
          </p:cNvSpPr>
          <p:nvPr/>
        </p:nvSpPr>
        <p:spPr>
          <a:xfrm xmlns:a="http://schemas.openxmlformats.org/drawingml/2006/main">
            <a:off x="0" y="0"/>
            <a:ext cx="12192000" cy="1257300"/>
          </a:xfrm>
          <a:prstGeom xmlns:a="http://schemas.openxmlformats.org/drawingml/2006/main" prst="rect">
            <a:avLst/>
          </a:prstGeom>
          <a:solidFill xmlns:a="http://schemas.openxmlformats.org/drawingml/2006/main">
            <a:srgbClr val="0F5B5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BEED17A-A7EF-4F3D-83F0-117A44B90EE5}"/>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F2684E"/>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4DCA19B-8B16-4127-8072-E56FDD2ED3C3}"/>
              </a:ext>
            </a:extLst>
          </p:cNvPr>
          <p:cNvSpPr>
            <a:spLocks xmlns:a="http://schemas.openxmlformats.org/drawingml/2006/main" noGrp="1"/>
          </p:cNvSpPr>
          <p:nvPr/>
        </p:nvSpPr>
        <p:spPr>
          <a:xfrm xmlns:a="http://schemas.openxmlformats.org/drawingml/2006/main">
            <a:off x="609600" y="333375"/>
            <a:ext cx="108394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700" b="1">
                <a:solidFill>
                  <a:srgbClr val="FFFFFF"/>
                </a:solidFill>
                <a:latin typeface="Arial"/>
                <a:ea typeface="Arial"/>
                <a:cs typeface="Arial"/>
              </a:defRPr>
            </a:pPr>
            <a:r>
              <a:rPr sz="2700" b="1">
                <a:solidFill>
                  <a:srgbClr val="FFFFFF"/>
                </a:solidFill>
                <a:latin typeface="Arial"/>
                <a:ea typeface="Arial"/>
                <a:cs typeface="Arial"/>
              </a:rPr>
              <a:t>Development methodology</a:t>
            </a:r>
          </a:p>
        </p:txBody>
      </p:sp>
      <p:sp>
        <p:nvSpPr>
          <p:cNvPr id="4" name="">
            <a:extLst xmlns:a="http://schemas.openxmlformats.org/drawingml/2006/main">
              <a:ext uri="{FF2B5EF4-FFF2-40B4-BE49-F238E27FC236}">
                <a16:creationId xmlns:a16="http://schemas.microsoft.com/office/drawing/2014/main" id="{7BCD1DEC-33BC-4EE7-86D3-874BB13CC4B7}"/>
              </a:ext>
            </a:extLst>
          </p:cNvPr>
          <p:cNvSpPr>
            <a:spLocks xmlns:a="http://schemas.openxmlformats.org/drawingml/2006/main" noGrp="1"/>
          </p:cNvSpPr>
          <p:nvPr/>
        </p:nvSpPr>
        <p:spPr>
          <a:xfrm xmlns:a="http://schemas.openxmlformats.org/drawingml/2006/main">
            <a:off x="609600" y="1219200"/>
            <a:ext cx="10982325" cy="38100"/>
          </a:xfrm>
          <a:prstGeom xmlns:a="http://schemas.openxmlformats.org/drawingml/2006/main" prst="rect">
            <a:avLst/>
          </a:prstGeom>
          <a:solidFill xmlns:a="http://schemas.openxmlformats.org/drawingml/2006/main">
            <a:srgbClr val="F2684E"/>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DC77D93-2991-42DA-9AC0-A0658D2BFF58}"/>
              </a:ext>
            </a:extLst>
          </p:cNvPr>
          <p:cNvSpPr>
            <a:spLocks xmlns:a="http://schemas.openxmlformats.org/drawingml/2006/main" noGrp="1"/>
          </p:cNvSpPr>
          <p:nvPr/>
        </p:nvSpPr>
        <p:spPr>
          <a:xfrm xmlns:a="http://schemas.openxmlformats.org/drawingml/2006/main">
            <a:off x="609600" y="640080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lgn="l">
              <a:defRPr sz="975" b="1">
                <a:solidFill>
                  <a:srgbClr val="0F5B50"/>
                </a:solidFill>
                <a:latin typeface="Arial"/>
                <a:ea typeface="Arial"/>
                <a:cs typeface="Arial"/>
              </a:defRPr>
            </a:pPr>
            <a:r>
              <a:rPr sz="975" b="1">
                <a:solidFill>
                  <a:srgbClr val="0F5B50"/>
                </a:solidFill>
                <a:latin typeface="Arial"/>
                <a:ea typeface="Arial"/>
                <a:cs typeface="Arial"/>
              </a:rPr>
              <a:t>METHOD</a:t>
            </a:r>
          </a:p>
        </p:txBody>
      </p:sp>
      <p:sp>
        <p:nvSpPr>
          <p:cNvPr id="6" name="">
            <a:extLst xmlns:a="http://schemas.openxmlformats.org/drawingml/2006/main">
              <a:ext uri="{FF2B5EF4-FFF2-40B4-BE49-F238E27FC236}">
                <a16:creationId xmlns:a16="http://schemas.microsoft.com/office/drawing/2014/main" id="{EA8C98C5-C1D9-4AFF-9DCB-9538093B41EC}"/>
              </a:ext>
            </a:extLst>
          </p:cNvPr>
          <p:cNvSpPr>
            <a:spLocks xmlns:a="http://schemas.openxmlformats.org/drawingml/2006/main" noGrp="1"/>
          </p:cNvSpPr>
          <p:nvPr/>
        </p:nvSpPr>
        <p:spPr>
          <a:xfrm xmlns:a="http://schemas.openxmlformats.org/drawingml/2006/main">
            <a:off x="10972800" y="6372225"/>
            <a:ext cx="6000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125" b="1">
                <a:solidFill>
                  <a:srgbClr val="0F5B50"/>
                </a:solidFill>
                <a:latin typeface="Arial"/>
                <a:ea typeface="Arial"/>
                <a:cs typeface="Arial"/>
              </a:defRPr>
            </a:pPr>
            <a:r>
              <a:rPr sz="1125" b="1">
                <a:solidFill>
                  <a:srgbClr val="0F5B50"/>
                </a:solidFill>
                <a:latin typeface="Arial"/>
                <a:ea typeface="Arial"/>
                <a:cs typeface="Arial"/>
              </a:rPr>
              <a:t>06</a:t>
            </a:r>
          </a:p>
        </p:txBody>
      </p:sp>
      <p:sp>
        <p:nvSpPr>
          <p:cNvPr id="7" name="">
            <a:extLst xmlns:a="http://schemas.openxmlformats.org/drawingml/2006/main">
              <a:ext uri="{FF2B5EF4-FFF2-40B4-BE49-F238E27FC236}">
                <a16:creationId xmlns:a16="http://schemas.microsoft.com/office/drawing/2014/main" id="{048FB82B-785D-4B0C-9E55-261D4F2EFA3D}"/>
              </a:ext>
            </a:extLst>
          </p:cNvPr>
          <p:cNvSpPr>
            <a:spLocks xmlns:a="http://schemas.openxmlformats.org/drawingml/2006/main" noGrp="1"/>
          </p:cNvSpPr>
          <p:nvPr/>
        </p:nvSpPr>
        <p:spPr>
          <a:xfrm xmlns:a="http://schemas.openxmlformats.org/drawingml/2006/main">
            <a:off x="723900" y="1619250"/>
            <a:ext cx="6191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325" b="1">
                <a:solidFill>
                  <a:srgbClr val="0F936F"/>
                </a:solidFill>
                <a:latin typeface="Arial"/>
                <a:ea typeface="Arial"/>
                <a:cs typeface="Arial"/>
              </a:defRPr>
            </a:pPr>
            <a:r>
              <a:rPr sz="2325" b="1">
                <a:solidFill>
                  <a:srgbClr val="0F936F"/>
                </a:solidFill>
                <a:latin typeface="Arial"/>
                <a:ea typeface="Arial"/>
                <a:cs typeface="Arial"/>
              </a:rPr>
              <a:t>01</a:t>
            </a:r>
          </a:p>
        </p:txBody>
      </p:sp>
      <p:sp>
        <p:nvSpPr>
          <p:cNvPr id="8" name="">
            <a:extLst xmlns:a="http://schemas.openxmlformats.org/drawingml/2006/main">
              <a:ext uri="{FF2B5EF4-FFF2-40B4-BE49-F238E27FC236}">
                <a16:creationId xmlns:a16="http://schemas.microsoft.com/office/drawing/2014/main" id="{69AFCB86-DAE7-41D7-AF36-2FA67681DAAF}"/>
              </a:ext>
            </a:extLst>
          </p:cNvPr>
          <p:cNvSpPr>
            <a:spLocks xmlns:a="http://schemas.openxmlformats.org/drawingml/2006/main" noGrp="1"/>
          </p:cNvSpPr>
          <p:nvPr/>
        </p:nvSpPr>
        <p:spPr>
          <a:xfrm xmlns:a="http://schemas.openxmlformats.org/drawingml/2006/main">
            <a:off x="1514475" y="1676400"/>
            <a:ext cx="66675" cy="504825"/>
          </a:xfrm>
          <a:prstGeom xmlns:a="http://schemas.openxmlformats.org/drawingml/2006/main" prst="rect">
            <a:avLst/>
          </a:prstGeom>
          <a:solidFill xmlns:a="http://schemas.openxmlformats.org/drawingml/2006/main">
            <a:srgbClr val="F2684E"/>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8CD02D1D-CEC3-4ECB-9C42-3DF1F4CBE076}"/>
              </a:ext>
            </a:extLst>
          </p:cNvPr>
          <p:cNvSpPr>
            <a:spLocks xmlns:a="http://schemas.openxmlformats.org/drawingml/2006/main" noGrp="1"/>
          </p:cNvSpPr>
          <p:nvPr/>
        </p:nvSpPr>
        <p:spPr>
          <a:xfrm xmlns:a="http://schemas.openxmlformats.org/drawingml/2006/main">
            <a:off x="1838325" y="1619250"/>
            <a:ext cx="2381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950" b="1">
                <a:solidFill>
                  <a:srgbClr val="17232F"/>
                </a:solidFill>
                <a:latin typeface="Arial"/>
                <a:ea typeface="Arial"/>
                <a:cs typeface="Arial"/>
              </a:defRPr>
            </a:pPr>
            <a:r>
              <a:rPr sz="1950" b="1">
                <a:solidFill>
                  <a:srgbClr val="17232F"/>
                </a:solidFill>
                <a:latin typeface="Arial"/>
                <a:ea typeface="Arial"/>
                <a:cs typeface="Arial"/>
              </a:rPr>
              <a:t>Study</a:t>
            </a:r>
          </a:p>
        </p:txBody>
      </p:sp>
      <p:sp>
        <p:nvSpPr>
          <p:cNvPr id="10" name="">
            <a:extLst xmlns:a="http://schemas.openxmlformats.org/drawingml/2006/main">
              <a:ext uri="{FF2B5EF4-FFF2-40B4-BE49-F238E27FC236}">
                <a16:creationId xmlns:a16="http://schemas.microsoft.com/office/drawing/2014/main" id="{751CB20B-3635-49E3-95A8-A92E749895A2}"/>
              </a:ext>
            </a:extLst>
          </p:cNvPr>
          <p:cNvSpPr>
            <a:spLocks xmlns:a="http://schemas.openxmlformats.org/drawingml/2006/main" noGrp="1"/>
          </p:cNvSpPr>
          <p:nvPr/>
        </p:nvSpPr>
        <p:spPr>
          <a:xfrm xmlns:a="http://schemas.openxmlformats.org/drawingml/2006/main">
            <a:off x="4238625" y="1619250"/>
            <a:ext cx="676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0">
                <a:solidFill>
                  <a:srgbClr val="526675"/>
                </a:solidFill>
                <a:latin typeface="Arial"/>
                <a:ea typeface="Arial"/>
                <a:cs typeface="Arial"/>
              </a:defRPr>
            </a:pPr>
            <a:r>
              <a:rPr sz="1575" b="0">
                <a:solidFill>
                  <a:srgbClr val="526675"/>
                </a:solidFill>
                <a:latin typeface="Arial"/>
                <a:ea typeface="Arial"/>
                <a:cs typeface="Arial"/>
              </a:rPr>
              <a:t>Requirements and competitor comparison</a:t>
            </a:r>
          </a:p>
        </p:txBody>
      </p:sp>
      <p:sp>
        <p:nvSpPr>
          <p:cNvPr id="11" name="">
            <a:extLst xmlns:a="http://schemas.openxmlformats.org/drawingml/2006/main">
              <a:ext uri="{FF2B5EF4-FFF2-40B4-BE49-F238E27FC236}">
                <a16:creationId xmlns:a16="http://schemas.microsoft.com/office/drawing/2014/main" id="{C4D57B4E-CBA0-4A01-B1E3-1C7BDFF99208}"/>
              </a:ext>
            </a:extLst>
          </p:cNvPr>
          <p:cNvSpPr>
            <a:spLocks xmlns:a="http://schemas.openxmlformats.org/drawingml/2006/main" noGrp="1"/>
          </p:cNvSpPr>
          <p:nvPr/>
        </p:nvSpPr>
        <p:spPr>
          <a:xfrm xmlns:a="http://schemas.openxmlformats.org/drawingml/2006/main">
            <a:off x="723900" y="2638425"/>
            <a:ext cx="6191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325" b="1">
                <a:solidFill>
                  <a:srgbClr val="0F936F"/>
                </a:solidFill>
                <a:latin typeface="Arial"/>
                <a:ea typeface="Arial"/>
                <a:cs typeface="Arial"/>
              </a:defRPr>
            </a:pPr>
            <a:r>
              <a:rPr sz="2325" b="1">
                <a:solidFill>
                  <a:srgbClr val="0F936F"/>
                </a:solidFill>
                <a:latin typeface="Arial"/>
                <a:ea typeface="Arial"/>
                <a:cs typeface="Arial"/>
              </a:rPr>
              <a:t>02</a:t>
            </a:r>
          </a:p>
        </p:txBody>
      </p:sp>
      <p:sp>
        <p:nvSpPr>
          <p:cNvPr id="12" name="">
            <a:extLst xmlns:a="http://schemas.openxmlformats.org/drawingml/2006/main">
              <a:ext uri="{FF2B5EF4-FFF2-40B4-BE49-F238E27FC236}">
                <a16:creationId xmlns:a16="http://schemas.microsoft.com/office/drawing/2014/main" id="{4615ED5F-66AF-4F43-B2E7-CCA80BD51182}"/>
              </a:ext>
            </a:extLst>
          </p:cNvPr>
          <p:cNvSpPr>
            <a:spLocks xmlns:a="http://schemas.openxmlformats.org/drawingml/2006/main" noGrp="1"/>
          </p:cNvSpPr>
          <p:nvPr/>
        </p:nvSpPr>
        <p:spPr>
          <a:xfrm xmlns:a="http://schemas.openxmlformats.org/drawingml/2006/main">
            <a:off x="1514475" y="2695575"/>
            <a:ext cx="66675" cy="504825"/>
          </a:xfrm>
          <a:prstGeom xmlns:a="http://schemas.openxmlformats.org/drawingml/2006/main" prst="rect">
            <a:avLst/>
          </a:prstGeom>
          <a:solidFill xmlns:a="http://schemas.openxmlformats.org/drawingml/2006/main">
            <a:srgbClr val="F2684E"/>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661D91FF-E929-461A-A4FB-AB67BAA8E313}"/>
              </a:ext>
            </a:extLst>
          </p:cNvPr>
          <p:cNvSpPr>
            <a:spLocks xmlns:a="http://schemas.openxmlformats.org/drawingml/2006/main" noGrp="1"/>
          </p:cNvSpPr>
          <p:nvPr/>
        </p:nvSpPr>
        <p:spPr>
          <a:xfrm xmlns:a="http://schemas.openxmlformats.org/drawingml/2006/main">
            <a:off x="1838325" y="2638425"/>
            <a:ext cx="2381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950" b="1">
                <a:solidFill>
                  <a:srgbClr val="17232F"/>
                </a:solidFill>
                <a:latin typeface="Arial"/>
                <a:ea typeface="Arial"/>
                <a:cs typeface="Arial"/>
              </a:defRPr>
            </a:pPr>
            <a:r>
              <a:rPr sz="1950" b="1">
                <a:solidFill>
                  <a:srgbClr val="17232F"/>
                </a:solidFill>
                <a:latin typeface="Arial"/>
                <a:ea typeface="Arial"/>
                <a:cs typeface="Arial"/>
              </a:rPr>
              <a:t>Design</a:t>
            </a:r>
          </a:p>
        </p:txBody>
      </p:sp>
      <p:sp>
        <p:nvSpPr>
          <p:cNvPr id="14" name="">
            <a:extLst xmlns:a="http://schemas.openxmlformats.org/drawingml/2006/main">
              <a:ext uri="{FF2B5EF4-FFF2-40B4-BE49-F238E27FC236}">
                <a16:creationId xmlns:a16="http://schemas.microsoft.com/office/drawing/2014/main" id="{E28B438E-CA65-4AD9-A959-FA73E65766FC}"/>
              </a:ext>
            </a:extLst>
          </p:cNvPr>
          <p:cNvSpPr>
            <a:spLocks xmlns:a="http://schemas.openxmlformats.org/drawingml/2006/main" noGrp="1"/>
          </p:cNvSpPr>
          <p:nvPr/>
        </p:nvSpPr>
        <p:spPr>
          <a:xfrm xmlns:a="http://schemas.openxmlformats.org/drawingml/2006/main">
            <a:off x="4238625" y="2638425"/>
            <a:ext cx="676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0">
                <a:solidFill>
                  <a:srgbClr val="526675"/>
                </a:solidFill>
                <a:latin typeface="Arial"/>
                <a:ea typeface="Arial"/>
                <a:cs typeface="Arial"/>
              </a:defRPr>
            </a:pPr>
            <a:r>
              <a:rPr sz="1575" b="0">
                <a:solidFill>
                  <a:srgbClr val="526675"/>
                </a:solidFill>
                <a:latin typeface="Arial"/>
                <a:ea typeface="Arial"/>
                <a:cs typeface="Arial"/>
              </a:rPr>
              <a:t>Mobile screens, API routes and database schema</a:t>
            </a:r>
          </a:p>
        </p:txBody>
      </p:sp>
      <p:sp>
        <p:nvSpPr>
          <p:cNvPr id="15" name="">
            <a:extLst xmlns:a="http://schemas.openxmlformats.org/drawingml/2006/main">
              <a:ext uri="{FF2B5EF4-FFF2-40B4-BE49-F238E27FC236}">
                <a16:creationId xmlns:a16="http://schemas.microsoft.com/office/drawing/2014/main" id="{A1854B6B-B4F5-477C-949D-EFF879FD7329}"/>
              </a:ext>
            </a:extLst>
          </p:cNvPr>
          <p:cNvSpPr>
            <a:spLocks xmlns:a="http://schemas.openxmlformats.org/drawingml/2006/main" noGrp="1"/>
          </p:cNvSpPr>
          <p:nvPr/>
        </p:nvSpPr>
        <p:spPr>
          <a:xfrm xmlns:a="http://schemas.openxmlformats.org/drawingml/2006/main">
            <a:off x="723900" y="3657600"/>
            <a:ext cx="6191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325" b="1">
                <a:solidFill>
                  <a:srgbClr val="0F936F"/>
                </a:solidFill>
                <a:latin typeface="Arial"/>
                <a:ea typeface="Arial"/>
                <a:cs typeface="Arial"/>
              </a:defRPr>
            </a:pPr>
            <a:r>
              <a:rPr sz="2325" b="1">
                <a:solidFill>
                  <a:srgbClr val="0F936F"/>
                </a:solidFill>
                <a:latin typeface="Arial"/>
                <a:ea typeface="Arial"/>
                <a:cs typeface="Arial"/>
              </a:rPr>
              <a:t>03</a:t>
            </a:r>
          </a:p>
        </p:txBody>
      </p:sp>
      <p:sp>
        <p:nvSpPr>
          <p:cNvPr id="16" name="">
            <a:extLst xmlns:a="http://schemas.openxmlformats.org/drawingml/2006/main">
              <a:ext uri="{FF2B5EF4-FFF2-40B4-BE49-F238E27FC236}">
                <a16:creationId xmlns:a16="http://schemas.microsoft.com/office/drawing/2014/main" id="{B0399966-AD40-43A4-BD30-70A1DF3A33ED}"/>
              </a:ext>
            </a:extLst>
          </p:cNvPr>
          <p:cNvSpPr>
            <a:spLocks xmlns:a="http://schemas.openxmlformats.org/drawingml/2006/main" noGrp="1"/>
          </p:cNvSpPr>
          <p:nvPr/>
        </p:nvSpPr>
        <p:spPr>
          <a:xfrm xmlns:a="http://schemas.openxmlformats.org/drawingml/2006/main">
            <a:off x="1514475" y="3714750"/>
            <a:ext cx="66675" cy="504825"/>
          </a:xfrm>
          <a:prstGeom xmlns:a="http://schemas.openxmlformats.org/drawingml/2006/main" prst="rect">
            <a:avLst/>
          </a:prstGeom>
          <a:solidFill xmlns:a="http://schemas.openxmlformats.org/drawingml/2006/main">
            <a:srgbClr val="F2684E"/>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03BCABD1-9F51-4137-BC06-0EE022203D10}"/>
              </a:ext>
            </a:extLst>
          </p:cNvPr>
          <p:cNvSpPr>
            <a:spLocks xmlns:a="http://schemas.openxmlformats.org/drawingml/2006/main" noGrp="1"/>
          </p:cNvSpPr>
          <p:nvPr/>
        </p:nvSpPr>
        <p:spPr>
          <a:xfrm xmlns:a="http://schemas.openxmlformats.org/drawingml/2006/main">
            <a:off x="1838325" y="3657600"/>
            <a:ext cx="2381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950" b="1">
                <a:solidFill>
                  <a:srgbClr val="17232F"/>
                </a:solidFill>
                <a:latin typeface="Arial"/>
                <a:ea typeface="Arial"/>
                <a:cs typeface="Arial"/>
              </a:defRPr>
            </a:pPr>
            <a:r>
              <a:rPr sz="1950" b="1">
                <a:solidFill>
                  <a:srgbClr val="17232F"/>
                </a:solidFill>
                <a:latin typeface="Arial"/>
                <a:ea typeface="Arial"/>
                <a:cs typeface="Arial"/>
              </a:rPr>
              <a:t>Build</a:t>
            </a:r>
          </a:p>
        </p:txBody>
      </p:sp>
      <p:sp>
        <p:nvSpPr>
          <p:cNvPr id="18" name="">
            <a:extLst xmlns:a="http://schemas.openxmlformats.org/drawingml/2006/main">
              <a:ext uri="{FF2B5EF4-FFF2-40B4-BE49-F238E27FC236}">
                <a16:creationId xmlns:a16="http://schemas.microsoft.com/office/drawing/2014/main" id="{7FA588CE-98E3-4E39-8D80-C5DC9D48EE95}"/>
              </a:ext>
            </a:extLst>
          </p:cNvPr>
          <p:cNvSpPr>
            <a:spLocks xmlns:a="http://schemas.openxmlformats.org/drawingml/2006/main" noGrp="1"/>
          </p:cNvSpPr>
          <p:nvPr/>
        </p:nvSpPr>
        <p:spPr>
          <a:xfrm xmlns:a="http://schemas.openxmlformats.org/drawingml/2006/main">
            <a:off x="4238625" y="3657600"/>
            <a:ext cx="676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0">
                <a:solidFill>
                  <a:srgbClr val="526675"/>
                </a:solidFill>
                <a:latin typeface="Arial"/>
                <a:ea typeface="Arial"/>
                <a:cs typeface="Arial"/>
              </a:defRPr>
            </a:pPr>
            <a:r>
              <a:rPr sz="1575" b="0">
                <a:solidFill>
                  <a:srgbClr val="526675"/>
                </a:solidFill>
                <a:latin typeface="Arial"/>
                <a:ea typeface="Arial"/>
                <a:cs typeface="Arial"/>
              </a:rPr>
              <a:t>Core app, local AI modules and expert review</a:t>
            </a:r>
          </a:p>
        </p:txBody>
      </p:sp>
      <p:sp>
        <p:nvSpPr>
          <p:cNvPr id="19" name="">
            <a:extLst xmlns:a="http://schemas.openxmlformats.org/drawingml/2006/main">
              <a:ext uri="{FF2B5EF4-FFF2-40B4-BE49-F238E27FC236}">
                <a16:creationId xmlns:a16="http://schemas.microsoft.com/office/drawing/2014/main" id="{C3FA65A6-4B1B-4141-87B7-7561C0FD12B1}"/>
              </a:ext>
            </a:extLst>
          </p:cNvPr>
          <p:cNvSpPr>
            <a:spLocks xmlns:a="http://schemas.openxmlformats.org/drawingml/2006/main" noGrp="1"/>
          </p:cNvSpPr>
          <p:nvPr/>
        </p:nvSpPr>
        <p:spPr>
          <a:xfrm xmlns:a="http://schemas.openxmlformats.org/drawingml/2006/main">
            <a:off x="723900" y="4676775"/>
            <a:ext cx="6191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325" b="1">
                <a:solidFill>
                  <a:srgbClr val="0F936F"/>
                </a:solidFill>
                <a:latin typeface="Arial"/>
                <a:ea typeface="Arial"/>
                <a:cs typeface="Arial"/>
              </a:defRPr>
            </a:pPr>
            <a:r>
              <a:rPr sz="2325" b="1">
                <a:solidFill>
                  <a:srgbClr val="0F936F"/>
                </a:solidFill>
                <a:latin typeface="Arial"/>
                <a:ea typeface="Arial"/>
                <a:cs typeface="Arial"/>
              </a:rPr>
              <a:t>04</a:t>
            </a:r>
          </a:p>
        </p:txBody>
      </p:sp>
      <p:sp>
        <p:nvSpPr>
          <p:cNvPr id="20" name="">
            <a:extLst xmlns:a="http://schemas.openxmlformats.org/drawingml/2006/main">
              <a:ext uri="{FF2B5EF4-FFF2-40B4-BE49-F238E27FC236}">
                <a16:creationId xmlns:a16="http://schemas.microsoft.com/office/drawing/2014/main" id="{0686E3B0-9D8A-4186-BC10-DA7CD16C93F1}"/>
              </a:ext>
            </a:extLst>
          </p:cNvPr>
          <p:cNvSpPr>
            <a:spLocks xmlns:a="http://schemas.openxmlformats.org/drawingml/2006/main" noGrp="1"/>
          </p:cNvSpPr>
          <p:nvPr/>
        </p:nvSpPr>
        <p:spPr>
          <a:xfrm xmlns:a="http://schemas.openxmlformats.org/drawingml/2006/main">
            <a:off x="1514475" y="4733925"/>
            <a:ext cx="66675" cy="504825"/>
          </a:xfrm>
          <a:prstGeom xmlns:a="http://schemas.openxmlformats.org/drawingml/2006/main" prst="rect">
            <a:avLst/>
          </a:prstGeom>
          <a:solidFill xmlns:a="http://schemas.openxmlformats.org/drawingml/2006/main">
            <a:srgbClr val="F2684E"/>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F0FDC128-2903-4117-9C53-2B89A42C3FCE}"/>
              </a:ext>
            </a:extLst>
          </p:cNvPr>
          <p:cNvSpPr>
            <a:spLocks xmlns:a="http://schemas.openxmlformats.org/drawingml/2006/main" noGrp="1"/>
          </p:cNvSpPr>
          <p:nvPr/>
        </p:nvSpPr>
        <p:spPr>
          <a:xfrm xmlns:a="http://schemas.openxmlformats.org/drawingml/2006/main">
            <a:off x="1838325" y="4676775"/>
            <a:ext cx="2381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950" b="1">
                <a:solidFill>
                  <a:srgbClr val="17232F"/>
                </a:solidFill>
                <a:latin typeface="Arial"/>
                <a:ea typeface="Arial"/>
                <a:cs typeface="Arial"/>
              </a:defRPr>
            </a:pPr>
            <a:r>
              <a:rPr sz="1950" b="1">
                <a:solidFill>
                  <a:srgbClr val="17232F"/>
                </a:solidFill>
                <a:latin typeface="Arial"/>
                <a:ea typeface="Arial"/>
                <a:cs typeface="Arial"/>
              </a:rPr>
              <a:t>Verify</a:t>
            </a:r>
          </a:p>
        </p:txBody>
      </p:sp>
      <p:sp>
        <p:nvSpPr>
          <p:cNvPr id="22" name="">
            <a:extLst xmlns:a="http://schemas.openxmlformats.org/drawingml/2006/main">
              <a:ext uri="{FF2B5EF4-FFF2-40B4-BE49-F238E27FC236}">
                <a16:creationId xmlns:a16="http://schemas.microsoft.com/office/drawing/2014/main" id="{1011343A-4B38-4781-8CDC-7D19A205E3C1}"/>
              </a:ext>
            </a:extLst>
          </p:cNvPr>
          <p:cNvSpPr>
            <a:spLocks xmlns:a="http://schemas.openxmlformats.org/drawingml/2006/main" noGrp="1"/>
          </p:cNvSpPr>
          <p:nvPr/>
        </p:nvSpPr>
        <p:spPr>
          <a:xfrm xmlns:a="http://schemas.openxmlformats.org/drawingml/2006/main">
            <a:off x="4238625" y="4676775"/>
            <a:ext cx="676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0">
                <a:solidFill>
                  <a:srgbClr val="526675"/>
                </a:solidFill>
                <a:latin typeface="Arial"/>
                <a:ea typeface="Arial"/>
                <a:cs typeface="Arial"/>
              </a:defRPr>
            </a:pPr>
            <a:r>
              <a:rPr sz="1575" b="0">
                <a:solidFill>
                  <a:srgbClr val="526675"/>
                </a:solidFill>
                <a:latin typeface="Arial"/>
                <a:ea typeface="Arial"/>
                <a:cs typeface="Arial"/>
              </a:rPr>
              <a:t>Functional tests, model checks and phone walkthrough</a:t>
            </a:r>
          </a:p>
        </p:txBody>
      </p:sp>
      <p:sp>
        <p:nvSpPr>
          <p:cNvPr id="23" name="">
            <a:extLst xmlns:a="http://schemas.openxmlformats.org/drawingml/2006/main">
              <a:ext uri="{FF2B5EF4-FFF2-40B4-BE49-F238E27FC236}">
                <a16:creationId xmlns:a16="http://schemas.microsoft.com/office/drawing/2014/main" id="{45336664-2656-4D2B-85E5-17B6E9A9A29C}"/>
              </a:ext>
            </a:extLst>
          </p:cNvPr>
          <p:cNvSpPr>
            <a:spLocks xmlns:a="http://schemas.openxmlformats.org/drawingml/2006/main" noGrp="1"/>
          </p:cNvSpPr>
          <p:nvPr/>
        </p:nvSpPr>
        <p:spPr>
          <a:xfrm xmlns:a="http://schemas.openxmlformats.org/drawingml/2006/main">
            <a:off x="733425" y="5772150"/>
            <a:ext cx="10344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1">
                <a:solidFill>
                  <a:srgbClr val="17232F"/>
                </a:solidFill>
                <a:latin typeface="Arial"/>
                <a:ea typeface="Arial"/>
                <a:cs typeface="Arial"/>
              </a:defRPr>
            </a:pPr>
            <a:r>
              <a:rPr sz="1575" b="1">
                <a:solidFill>
                  <a:srgbClr val="17232F"/>
                </a:solidFill>
                <a:latin typeface="Arial"/>
                <a:ea typeface="Arial"/>
                <a:cs typeface="Arial"/>
              </a:rPr>
              <a:t>Incremental development over about four months by a two-person team.</a:t>
            </a:r>
          </a:p>
        </p:txBody>
      </p:sp>
    </p:spTree>
    <p:extLst>
      <p:ext uri="{BB962C8B-B14F-4D97-AF65-F5344CB8AC3E}">
        <p14:creationId xmlns:p14="http://schemas.microsoft.com/office/powerpoint/2010/main" val="1412904565"/>
      </p:ext>
    </p:extLst>
  </p:cSld>
</p:sld>
</file>

<file path=ppt/slides/slide7.xml><?xml version="1.0" encoding="utf-8"?>
<p:sld xmlns:p="http://schemas.openxmlformats.org/presentationml/2006/main">
  <p:cSld>
    <p:bg>
      <p:bgPr>
        <a:solidFill xmlns:a="http://schemas.openxmlformats.org/drawingml/2006/main">
          <a:srgbClr val="EDF3F8"/>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8DF0965A-97D7-4E9C-A88C-D2A63C593235}"/>
              </a:ext>
            </a:extLst>
          </p:cNvPr>
          <p:cNvSpPr>
            <a:spLocks xmlns:a="http://schemas.openxmlformats.org/drawingml/2006/main" noGrp="1"/>
          </p:cNvSpPr>
          <p:nvPr/>
        </p:nvSpPr>
        <p:spPr>
          <a:xfrm xmlns:a="http://schemas.openxmlformats.org/drawingml/2006/main">
            <a:off x="0" y="0"/>
            <a:ext cx="12192000" cy="1257300"/>
          </a:xfrm>
          <a:prstGeom xmlns:a="http://schemas.openxmlformats.org/drawingml/2006/main" prst="rect">
            <a:avLst/>
          </a:prstGeom>
          <a:solidFill xmlns:a="http://schemas.openxmlformats.org/drawingml/2006/main">
            <a:srgbClr val="14384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D4F4D7C-80B4-495E-A3E9-E03A7107E624}"/>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F2684E"/>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1367025-123F-475C-8017-05D0388FA921}"/>
              </a:ext>
            </a:extLst>
          </p:cNvPr>
          <p:cNvSpPr>
            <a:spLocks xmlns:a="http://schemas.openxmlformats.org/drawingml/2006/main" noGrp="1"/>
          </p:cNvSpPr>
          <p:nvPr/>
        </p:nvSpPr>
        <p:spPr>
          <a:xfrm xmlns:a="http://schemas.openxmlformats.org/drawingml/2006/main">
            <a:off x="609600" y="333375"/>
            <a:ext cx="108394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700" b="1">
                <a:solidFill>
                  <a:srgbClr val="FFFFFF"/>
                </a:solidFill>
                <a:latin typeface="Arial"/>
                <a:ea typeface="Arial"/>
                <a:cs typeface="Arial"/>
              </a:defRPr>
            </a:pPr>
            <a:r>
              <a:rPr sz="2700" b="1">
                <a:solidFill>
                  <a:srgbClr val="FFFFFF"/>
                </a:solidFill>
                <a:latin typeface="Arial"/>
                <a:ea typeface="Arial"/>
                <a:cs typeface="Arial"/>
              </a:rPr>
              <a:t>System architecture</a:t>
            </a:r>
          </a:p>
        </p:txBody>
      </p:sp>
      <p:sp>
        <p:nvSpPr>
          <p:cNvPr id="4" name="">
            <a:extLst xmlns:a="http://schemas.openxmlformats.org/drawingml/2006/main">
              <a:ext uri="{FF2B5EF4-FFF2-40B4-BE49-F238E27FC236}">
                <a16:creationId xmlns:a16="http://schemas.microsoft.com/office/drawing/2014/main" id="{57269D75-3288-4C35-B8AE-F011800E0A30}"/>
              </a:ext>
            </a:extLst>
          </p:cNvPr>
          <p:cNvSpPr>
            <a:spLocks xmlns:a="http://schemas.openxmlformats.org/drawingml/2006/main" noGrp="1"/>
          </p:cNvSpPr>
          <p:nvPr/>
        </p:nvSpPr>
        <p:spPr>
          <a:xfrm xmlns:a="http://schemas.openxmlformats.org/drawingml/2006/main">
            <a:off x="609600" y="1219200"/>
            <a:ext cx="10982325" cy="38100"/>
          </a:xfrm>
          <a:prstGeom xmlns:a="http://schemas.openxmlformats.org/drawingml/2006/main" prst="rect">
            <a:avLst/>
          </a:prstGeom>
          <a:solidFill xmlns:a="http://schemas.openxmlformats.org/drawingml/2006/main">
            <a:srgbClr val="F2684E"/>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E976FA3E-6ED5-4EE0-A85D-A57B72EDD61C}"/>
              </a:ext>
            </a:extLst>
          </p:cNvPr>
          <p:cNvSpPr>
            <a:spLocks xmlns:a="http://schemas.openxmlformats.org/drawingml/2006/main" noGrp="1"/>
          </p:cNvSpPr>
          <p:nvPr/>
        </p:nvSpPr>
        <p:spPr>
          <a:xfrm xmlns:a="http://schemas.openxmlformats.org/drawingml/2006/main">
            <a:off x="609600" y="640080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lgn="l">
              <a:defRPr sz="975" b="1">
                <a:solidFill>
                  <a:srgbClr val="14384B"/>
                </a:solidFill>
                <a:latin typeface="Arial"/>
                <a:ea typeface="Arial"/>
                <a:cs typeface="Arial"/>
              </a:defRPr>
            </a:pPr>
            <a:r>
              <a:rPr sz="975" b="1">
                <a:solidFill>
                  <a:srgbClr val="14384B"/>
                </a:solidFill>
                <a:latin typeface="Arial"/>
                <a:ea typeface="Arial"/>
                <a:cs typeface="Arial"/>
              </a:rPr>
              <a:t>TECHNICAL FLOW</a:t>
            </a:r>
          </a:p>
        </p:txBody>
      </p:sp>
      <p:sp>
        <p:nvSpPr>
          <p:cNvPr id="6" name="">
            <a:extLst xmlns:a="http://schemas.openxmlformats.org/drawingml/2006/main">
              <a:ext uri="{FF2B5EF4-FFF2-40B4-BE49-F238E27FC236}">
                <a16:creationId xmlns:a16="http://schemas.microsoft.com/office/drawing/2014/main" id="{D196228C-96E0-4B54-A1B2-049854EDFAB5}"/>
              </a:ext>
            </a:extLst>
          </p:cNvPr>
          <p:cNvSpPr>
            <a:spLocks xmlns:a="http://schemas.openxmlformats.org/drawingml/2006/main" noGrp="1"/>
          </p:cNvSpPr>
          <p:nvPr/>
        </p:nvSpPr>
        <p:spPr>
          <a:xfrm xmlns:a="http://schemas.openxmlformats.org/drawingml/2006/main">
            <a:off x="10972800" y="6372225"/>
            <a:ext cx="6000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125" b="1">
                <a:solidFill>
                  <a:srgbClr val="14384B"/>
                </a:solidFill>
                <a:latin typeface="Arial"/>
                <a:ea typeface="Arial"/>
                <a:cs typeface="Arial"/>
              </a:defRPr>
            </a:pPr>
            <a:r>
              <a:rPr sz="1125" b="1">
                <a:solidFill>
                  <a:srgbClr val="14384B"/>
                </a:solidFill>
                <a:latin typeface="Arial"/>
                <a:ea typeface="Arial"/>
                <a:cs typeface="Arial"/>
              </a:rPr>
              <a:t>07</a:t>
            </a:r>
          </a:p>
        </p:txBody>
      </p:sp>
      <p:sp>
        <p:nvSpPr>
          <p:cNvPr id="7" name="">
            <a:extLst xmlns:a="http://schemas.openxmlformats.org/drawingml/2006/main">
              <a:ext uri="{FF2B5EF4-FFF2-40B4-BE49-F238E27FC236}">
                <a16:creationId xmlns:a16="http://schemas.microsoft.com/office/drawing/2014/main" id="{C27647D0-75A4-43B4-9182-FFB260070574}"/>
              </a:ext>
            </a:extLst>
          </p:cNvPr>
          <p:cNvSpPr>
            <a:spLocks xmlns:a="http://schemas.openxmlformats.org/drawingml/2006/main" noGrp="1"/>
          </p:cNvSpPr>
          <p:nvPr/>
        </p:nvSpPr>
        <p:spPr>
          <a:xfrm xmlns:a="http://schemas.openxmlformats.org/drawingml/2006/main">
            <a:off x="685800" y="2505075"/>
            <a:ext cx="2419350" cy="76200"/>
          </a:xfrm>
          <a:prstGeom xmlns:a="http://schemas.openxmlformats.org/drawingml/2006/main" prst="rect">
            <a:avLst/>
          </a:prstGeom>
          <a:solidFill xmlns:a="http://schemas.openxmlformats.org/drawingml/2006/main">
            <a:srgbClr val="0F936F"/>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3992E096-7F6B-4A08-96EC-10FD6B87AE69}"/>
              </a:ext>
            </a:extLst>
          </p:cNvPr>
          <p:cNvSpPr>
            <a:spLocks xmlns:a="http://schemas.openxmlformats.org/drawingml/2006/main" noGrp="1"/>
          </p:cNvSpPr>
          <p:nvPr/>
        </p:nvSpPr>
        <p:spPr>
          <a:xfrm xmlns:a="http://schemas.openxmlformats.org/drawingml/2006/main">
            <a:off x="685800" y="2733675"/>
            <a:ext cx="2419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0F936F"/>
                </a:solidFill>
                <a:latin typeface="Arial"/>
                <a:ea typeface="Arial"/>
                <a:cs typeface="Arial"/>
              </a:defRPr>
            </a:pPr>
            <a:r>
              <a:rPr sz="1350" b="1">
                <a:solidFill>
                  <a:srgbClr val="0F936F"/>
                </a:solidFill>
                <a:latin typeface="Arial"/>
                <a:ea typeface="Arial"/>
                <a:cs typeface="Arial"/>
              </a:rPr>
              <a:t>PHONE</a:t>
            </a:r>
          </a:p>
        </p:txBody>
      </p:sp>
      <p:sp>
        <p:nvSpPr>
          <p:cNvPr id="9" name="">
            <a:extLst xmlns:a="http://schemas.openxmlformats.org/drawingml/2006/main">
              <a:ext uri="{FF2B5EF4-FFF2-40B4-BE49-F238E27FC236}">
                <a16:creationId xmlns:a16="http://schemas.microsoft.com/office/drawing/2014/main" id="{6ED12821-FA53-4C59-A74E-03BADADC79AA}"/>
              </a:ext>
            </a:extLst>
          </p:cNvPr>
          <p:cNvSpPr>
            <a:spLocks xmlns:a="http://schemas.openxmlformats.org/drawingml/2006/main" noGrp="1"/>
          </p:cNvSpPr>
          <p:nvPr/>
        </p:nvSpPr>
        <p:spPr>
          <a:xfrm xmlns:a="http://schemas.openxmlformats.org/drawingml/2006/main">
            <a:off x="685800" y="3305175"/>
            <a:ext cx="24193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67"/>
          </a:bodyPr>
          <a:lstStyle xmlns:a="http://schemas.openxmlformats.org/drawingml/2006/main"/>
          <a:p xmlns:a="http://schemas.openxmlformats.org/drawingml/2006/main">
            <a:pPr algn="l">
              <a:defRPr sz="1950" b="1">
                <a:solidFill>
                  <a:srgbClr val="17232F"/>
                </a:solidFill>
                <a:latin typeface="Arial"/>
                <a:ea typeface="Arial"/>
                <a:cs typeface="Arial"/>
              </a:defRPr>
            </a:pPr>
            <a:r>
              <a:rPr sz="1950" b="1">
                <a:solidFill>
                  <a:srgbClr val="17232F"/>
                </a:solidFill>
                <a:latin typeface="Arial"/>
                <a:ea typeface="Arial"/>
                <a:cs typeface="Arial"/>
              </a:rPr>
              <a:t>React Native + Expo</a:t>
            </a:r>
          </a:p>
        </p:txBody>
      </p:sp>
      <p:sp>
        <p:nvSpPr>
          <p:cNvPr id="10" name="">
            <a:extLst xmlns:a="http://schemas.openxmlformats.org/drawingml/2006/main">
              <a:ext uri="{FF2B5EF4-FFF2-40B4-BE49-F238E27FC236}">
                <a16:creationId xmlns:a16="http://schemas.microsoft.com/office/drawing/2014/main" id="{BA2AF82D-CD99-4FEC-96E3-9B45BFF71F1B}"/>
              </a:ext>
            </a:extLst>
          </p:cNvPr>
          <p:cNvSpPr>
            <a:spLocks xmlns:a="http://schemas.openxmlformats.org/drawingml/2006/main" noGrp="1"/>
          </p:cNvSpPr>
          <p:nvPr/>
        </p:nvSpPr>
        <p:spPr>
          <a:xfrm xmlns:a="http://schemas.openxmlformats.org/drawingml/2006/main">
            <a:off x="685800" y="3971925"/>
            <a:ext cx="2419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0">
                <a:solidFill>
                  <a:srgbClr val="526675"/>
                </a:solidFill>
                <a:latin typeface="Arial"/>
                <a:ea typeface="Arial"/>
                <a:cs typeface="Arial"/>
              </a:defRPr>
            </a:pPr>
            <a:r>
              <a:rPr sz="1500" b="0">
                <a:solidFill>
                  <a:srgbClr val="526675"/>
                </a:solidFill>
                <a:latin typeface="Arial"/>
                <a:ea typeface="Arial"/>
                <a:cs typeface="Arial"/>
              </a:rPr>
              <a:t>Screens and user actions</a:t>
            </a:r>
          </a:p>
        </p:txBody>
      </p:sp>
      <p:sp>
        <p:nvSpPr>
          <p:cNvPr id="11" name="">
            <a:extLst xmlns:a="http://schemas.openxmlformats.org/drawingml/2006/main">
              <a:ext uri="{FF2B5EF4-FFF2-40B4-BE49-F238E27FC236}">
                <a16:creationId xmlns:a16="http://schemas.microsoft.com/office/drawing/2014/main" id="{37F7F874-29D1-4F4F-89B3-63A5A8C99F77}"/>
              </a:ext>
            </a:extLst>
          </p:cNvPr>
          <p:cNvSpPr>
            <a:spLocks xmlns:a="http://schemas.openxmlformats.org/drawingml/2006/main" noGrp="1"/>
          </p:cNvSpPr>
          <p:nvPr/>
        </p:nvSpPr>
        <p:spPr>
          <a:xfrm xmlns:a="http://schemas.openxmlformats.org/drawingml/2006/main">
            <a:off x="3248025" y="3248025"/>
            <a:ext cx="5143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0F936F"/>
                </a:solidFill>
                <a:latin typeface="Arial"/>
                <a:ea typeface="Arial"/>
                <a:cs typeface="Arial"/>
              </a:defRPr>
            </a:pPr>
            <a:r>
              <a:rPr sz="2550" b="1">
                <a:solidFill>
                  <a:srgbClr val="0F936F"/>
                </a:solidFill>
                <a:latin typeface="Arial"/>
                <a:ea typeface="Arial"/>
                <a:cs typeface="Arial"/>
              </a:rPr>
              <a:t>→</a:t>
            </a:r>
          </a:p>
        </p:txBody>
      </p:sp>
      <p:sp>
        <p:nvSpPr>
          <p:cNvPr id="12" name="">
            <a:extLst xmlns:a="http://schemas.openxmlformats.org/drawingml/2006/main">
              <a:ext uri="{FF2B5EF4-FFF2-40B4-BE49-F238E27FC236}">
                <a16:creationId xmlns:a16="http://schemas.microsoft.com/office/drawing/2014/main" id="{0A6B12EA-8C65-44D1-B641-766FB0AAB005}"/>
              </a:ext>
            </a:extLst>
          </p:cNvPr>
          <p:cNvSpPr>
            <a:spLocks xmlns:a="http://schemas.openxmlformats.org/drawingml/2006/main" noGrp="1"/>
          </p:cNvSpPr>
          <p:nvPr/>
        </p:nvSpPr>
        <p:spPr>
          <a:xfrm xmlns:a="http://schemas.openxmlformats.org/drawingml/2006/main">
            <a:off x="3895725" y="2505075"/>
            <a:ext cx="2590800" cy="76200"/>
          </a:xfrm>
          <a:prstGeom xmlns:a="http://schemas.openxmlformats.org/drawingml/2006/main" prst="rect">
            <a:avLst/>
          </a:prstGeom>
          <a:solidFill xmlns:a="http://schemas.openxmlformats.org/drawingml/2006/main">
            <a:srgbClr val="0F936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4202B2B7-D005-44D0-AF2D-EDE899965D7E}"/>
              </a:ext>
            </a:extLst>
          </p:cNvPr>
          <p:cNvSpPr>
            <a:spLocks xmlns:a="http://schemas.openxmlformats.org/drawingml/2006/main" noGrp="1"/>
          </p:cNvSpPr>
          <p:nvPr/>
        </p:nvSpPr>
        <p:spPr>
          <a:xfrm xmlns:a="http://schemas.openxmlformats.org/drawingml/2006/main">
            <a:off x="3895725" y="2733675"/>
            <a:ext cx="2590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0F936F"/>
                </a:solidFill>
                <a:latin typeface="Arial"/>
                <a:ea typeface="Arial"/>
                <a:cs typeface="Arial"/>
              </a:defRPr>
            </a:pPr>
            <a:r>
              <a:rPr sz="1350" b="1">
                <a:solidFill>
                  <a:srgbClr val="0F936F"/>
                </a:solidFill>
                <a:latin typeface="Arial"/>
                <a:ea typeface="Arial"/>
                <a:cs typeface="Arial"/>
              </a:rPr>
              <a:t>API</a:t>
            </a:r>
          </a:p>
        </p:txBody>
      </p:sp>
      <p:sp>
        <p:nvSpPr>
          <p:cNvPr id="14" name="">
            <a:extLst xmlns:a="http://schemas.openxmlformats.org/drawingml/2006/main">
              <a:ext uri="{FF2B5EF4-FFF2-40B4-BE49-F238E27FC236}">
                <a16:creationId xmlns:a16="http://schemas.microsoft.com/office/drawing/2014/main" id="{232EE7C6-FBD4-4BC4-BBBE-1AA2F977608A}"/>
              </a:ext>
            </a:extLst>
          </p:cNvPr>
          <p:cNvSpPr>
            <a:spLocks xmlns:a="http://schemas.openxmlformats.org/drawingml/2006/main" noGrp="1"/>
          </p:cNvSpPr>
          <p:nvPr/>
        </p:nvSpPr>
        <p:spPr>
          <a:xfrm xmlns:a="http://schemas.openxmlformats.org/drawingml/2006/main">
            <a:off x="3895725" y="3305175"/>
            <a:ext cx="2590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950" b="1">
                <a:solidFill>
                  <a:srgbClr val="17232F"/>
                </a:solidFill>
                <a:latin typeface="Arial"/>
                <a:ea typeface="Arial"/>
                <a:cs typeface="Arial"/>
              </a:defRPr>
            </a:pPr>
            <a:r>
              <a:rPr sz="1950" b="1">
                <a:solidFill>
                  <a:srgbClr val="17232F"/>
                </a:solidFill>
                <a:latin typeface="Arial"/>
                <a:ea typeface="Arial"/>
                <a:cs typeface="Arial"/>
              </a:rPr>
              <a:t>PHP controllers</a:t>
            </a:r>
          </a:p>
        </p:txBody>
      </p:sp>
      <p:sp>
        <p:nvSpPr>
          <p:cNvPr id="15" name="">
            <a:extLst xmlns:a="http://schemas.openxmlformats.org/drawingml/2006/main">
              <a:ext uri="{FF2B5EF4-FFF2-40B4-BE49-F238E27FC236}">
                <a16:creationId xmlns:a16="http://schemas.microsoft.com/office/drawing/2014/main" id="{50F7D3BE-25F6-4A4C-AC4B-C0ED7BE60B07}"/>
              </a:ext>
            </a:extLst>
          </p:cNvPr>
          <p:cNvSpPr>
            <a:spLocks xmlns:a="http://schemas.openxmlformats.org/drawingml/2006/main" noGrp="1"/>
          </p:cNvSpPr>
          <p:nvPr/>
        </p:nvSpPr>
        <p:spPr>
          <a:xfrm xmlns:a="http://schemas.openxmlformats.org/drawingml/2006/main">
            <a:off x="3895725" y="3971925"/>
            <a:ext cx="2590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0">
                <a:solidFill>
                  <a:srgbClr val="526675"/>
                </a:solidFill>
                <a:latin typeface="Arial"/>
                <a:ea typeface="Arial"/>
                <a:cs typeface="Arial"/>
              </a:defRPr>
            </a:pPr>
            <a:r>
              <a:rPr sz="1500" b="0">
                <a:solidFill>
                  <a:srgbClr val="526675"/>
                </a:solidFill>
                <a:latin typeface="Arial"/>
                <a:ea typeface="Arial"/>
                <a:cs typeface="Arial"/>
              </a:rPr>
              <a:t>Authentication and routing</a:t>
            </a:r>
          </a:p>
        </p:txBody>
      </p:sp>
      <p:sp>
        <p:nvSpPr>
          <p:cNvPr id="16" name="">
            <a:extLst xmlns:a="http://schemas.openxmlformats.org/drawingml/2006/main">
              <a:ext uri="{FF2B5EF4-FFF2-40B4-BE49-F238E27FC236}">
                <a16:creationId xmlns:a16="http://schemas.microsoft.com/office/drawing/2014/main" id="{FEEC5AEC-0F29-4BE5-BCCA-9E3C503CF84D}"/>
              </a:ext>
            </a:extLst>
          </p:cNvPr>
          <p:cNvSpPr>
            <a:spLocks xmlns:a="http://schemas.openxmlformats.org/drawingml/2006/main" noGrp="1"/>
          </p:cNvSpPr>
          <p:nvPr/>
        </p:nvSpPr>
        <p:spPr>
          <a:xfrm xmlns:a="http://schemas.openxmlformats.org/drawingml/2006/main">
            <a:off x="6610350" y="2457450"/>
            <a:ext cx="5143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250" b="1">
                <a:solidFill>
                  <a:srgbClr val="1160A3"/>
                </a:solidFill>
                <a:latin typeface="Arial"/>
                <a:ea typeface="Arial"/>
                <a:cs typeface="Arial"/>
              </a:defRPr>
            </a:pPr>
            <a:r>
              <a:rPr sz="2250" b="1">
                <a:solidFill>
                  <a:srgbClr val="1160A3"/>
                </a:solidFill>
                <a:latin typeface="Arial"/>
                <a:ea typeface="Arial"/>
                <a:cs typeface="Arial"/>
              </a:rPr>
              <a:t>→</a:t>
            </a:r>
          </a:p>
        </p:txBody>
      </p:sp>
      <p:sp>
        <p:nvSpPr>
          <p:cNvPr id="17" name="">
            <a:extLst xmlns:a="http://schemas.openxmlformats.org/drawingml/2006/main">
              <a:ext uri="{FF2B5EF4-FFF2-40B4-BE49-F238E27FC236}">
                <a16:creationId xmlns:a16="http://schemas.microsoft.com/office/drawing/2014/main" id="{8198D79D-F6E5-4FF7-B4BB-D9FC7C445AFC}"/>
              </a:ext>
            </a:extLst>
          </p:cNvPr>
          <p:cNvSpPr>
            <a:spLocks xmlns:a="http://schemas.openxmlformats.org/drawingml/2006/main" noGrp="1"/>
          </p:cNvSpPr>
          <p:nvPr/>
        </p:nvSpPr>
        <p:spPr>
          <a:xfrm xmlns:a="http://schemas.openxmlformats.org/drawingml/2006/main">
            <a:off x="6610350" y="4057650"/>
            <a:ext cx="5143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250" b="1">
                <a:solidFill>
                  <a:srgbClr val="1160A3"/>
                </a:solidFill>
                <a:latin typeface="Arial"/>
                <a:ea typeface="Arial"/>
                <a:cs typeface="Arial"/>
              </a:defRPr>
            </a:pPr>
            <a:r>
              <a:rPr sz="2250" b="1">
                <a:solidFill>
                  <a:srgbClr val="1160A3"/>
                </a:solidFill>
                <a:latin typeface="Arial"/>
                <a:ea typeface="Arial"/>
                <a:cs typeface="Arial"/>
              </a:rPr>
              <a:t>→</a:t>
            </a:r>
          </a:p>
        </p:txBody>
      </p:sp>
      <p:sp>
        <p:nvSpPr>
          <p:cNvPr id="18" name="">
            <a:extLst xmlns:a="http://schemas.openxmlformats.org/drawingml/2006/main">
              <a:ext uri="{FF2B5EF4-FFF2-40B4-BE49-F238E27FC236}">
                <a16:creationId xmlns:a16="http://schemas.microsoft.com/office/drawing/2014/main" id="{ED4A322C-3E88-4555-9601-AAF052EE51CD}"/>
              </a:ext>
            </a:extLst>
          </p:cNvPr>
          <p:cNvSpPr>
            <a:spLocks xmlns:a="http://schemas.openxmlformats.org/drawingml/2006/main" noGrp="1"/>
          </p:cNvSpPr>
          <p:nvPr/>
        </p:nvSpPr>
        <p:spPr>
          <a:xfrm xmlns:a="http://schemas.openxmlformats.org/drawingml/2006/main">
            <a:off x="7286625" y="1809750"/>
            <a:ext cx="3971925" cy="57150"/>
          </a:xfrm>
          <a:prstGeom xmlns:a="http://schemas.openxmlformats.org/drawingml/2006/main" prst="rect">
            <a:avLst/>
          </a:prstGeom>
          <a:solidFill xmlns:a="http://schemas.openxmlformats.org/drawingml/2006/main">
            <a:srgbClr val="1160A3"/>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7B6D6558-452C-4893-B186-4AFCF30D284E}"/>
              </a:ext>
            </a:extLst>
          </p:cNvPr>
          <p:cNvSpPr>
            <a:spLocks xmlns:a="http://schemas.openxmlformats.org/drawingml/2006/main" noGrp="1"/>
          </p:cNvSpPr>
          <p:nvPr/>
        </p:nvSpPr>
        <p:spPr>
          <a:xfrm xmlns:a="http://schemas.openxmlformats.org/drawingml/2006/main">
            <a:off x="7286625" y="2019300"/>
            <a:ext cx="381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1160A3"/>
                </a:solidFill>
                <a:latin typeface="Arial"/>
                <a:ea typeface="Arial"/>
                <a:cs typeface="Arial"/>
              </a:defRPr>
            </a:pPr>
            <a:r>
              <a:rPr sz="1275" b="1">
                <a:solidFill>
                  <a:srgbClr val="1160A3"/>
                </a:solidFill>
                <a:latin typeface="Arial"/>
                <a:ea typeface="Arial"/>
                <a:cs typeface="Arial"/>
              </a:rPr>
              <a:t>DATA</a:t>
            </a:r>
          </a:p>
        </p:txBody>
      </p:sp>
      <p:sp>
        <p:nvSpPr>
          <p:cNvPr id="20" name="">
            <a:extLst xmlns:a="http://schemas.openxmlformats.org/drawingml/2006/main">
              <a:ext uri="{FF2B5EF4-FFF2-40B4-BE49-F238E27FC236}">
                <a16:creationId xmlns:a16="http://schemas.microsoft.com/office/drawing/2014/main" id="{BE417377-F61B-42F7-85A7-BB9544380890}"/>
              </a:ext>
            </a:extLst>
          </p:cNvPr>
          <p:cNvSpPr>
            <a:spLocks xmlns:a="http://schemas.openxmlformats.org/drawingml/2006/main" noGrp="1"/>
          </p:cNvSpPr>
          <p:nvPr/>
        </p:nvSpPr>
        <p:spPr>
          <a:xfrm xmlns:a="http://schemas.openxmlformats.org/drawingml/2006/main">
            <a:off x="7286625" y="2390775"/>
            <a:ext cx="3810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75" b="1">
                <a:solidFill>
                  <a:srgbClr val="17232F"/>
                </a:solidFill>
                <a:latin typeface="Arial"/>
                <a:ea typeface="Arial"/>
                <a:cs typeface="Arial"/>
              </a:defRPr>
            </a:pPr>
            <a:r>
              <a:rPr sz="1875" b="1">
                <a:solidFill>
                  <a:srgbClr val="17232F"/>
                </a:solidFill>
                <a:latin typeface="Arial"/>
                <a:ea typeface="Arial"/>
                <a:cs typeface="Arial"/>
              </a:rPr>
              <a:t>MySQL</a:t>
            </a:r>
          </a:p>
        </p:txBody>
      </p:sp>
      <p:sp>
        <p:nvSpPr>
          <p:cNvPr id="21" name="">
            <a:extLst xmlns:a="http://schemas.openxmlformats.org/drawingml/2006/main">
              <a:ext uri="{FF2B5EF4-FFF2-40B4-BE49-F238E27FC236}">
                <a16:creationId xmlns:a16="http://schemas.microsoft.com/office/drawing/2014/main" id="{7F109B31-5EE8-4615-9EB9-FC6716355039}"/>
              </a:ext>
            </a:extLst>
          </p:cNvPr>
          <p:cNvSpPr>
            <a:spLocks xmlns:a="http://schemas.openxmlformats.org/drawingml/2006/main" noGrp="1"/>
          </p:cNvSpPr>
          <p:nvPr/>
        </p:nvSpPr>
        <p:spPr>
          <a:xfrm xmlns:a="http://schemas.openxmlformats.org/drawingml/2006/main">
            <a:off x="7286625" y="2857500"/>
            <a:ext cx="3810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526675"/>
                </a:solidFill>
                <a:latin typeface="Arial"/>
                <a:ea typeface="Arial"/>
                <a:cs typeface="Arial"/>
              </a:defRPr>
            </a:pPr>
            <a:r>
              <a:rPr sz="1425" b="0">
                <a:solidFill>
                  <a:srgbClr val="526675"/>
                </a:solidFill>
                <a:latin typeface="Arial"/>
                <a:ea typeface="Arial"/>
                <a:cs typeface="Arial"/>
              </a:rPr>
              <a:t>Profiles, plans and logs</a:t>
            </a:r>
          </a:p>
        </p:txBody>
      </p:sp>
      <p:sp>
        <p:nvSpPr>
          <p:cNvPr id="22" name="">
            <a:extLst xmlns:a="http://schemas.openxmlformats.org/drawingml/2006/main">
              <a:ext uri="{FF2B5EF4-FFF2-40B4-BE49-F238E27FC236}">
                <a16:creationId xmlns:a16="http://schemas.microsoft.com/office/drawing/2014/main" id="{383C6471-896C-4120-B4B1-5155178E39B2}"/>
              </a:ext>
            </a:extLst>
          </p:cNvPr>
          <p:cNvSpPr>
            <a:spLocks xmlns:a="http://schemas.openxmlformats.org/drawingml/2006/main" noGrp="1"/>
          </p:cNvSpPr>
          <p:nvPr/>
        </p:nvSpPr>
        <p:spPr>
          <a:xfrm xmlns:a="http://schemas.openxmlformats.org/drawingml/2006/main">
            <a:off x="7286625" y="3524250"/>
            <a:ext cx="3971925" cy="57150"/>
          </a:xfrm>
          <a:prstGeom xmlns:a="http://schemas.openxmlformats.org/drawingml/2006/main" prst="rect">
            <a:avLst/>
          </a:prstGeom>
          <a:solidFill xmlns:a="http://schemas.openxmlformats.org/drawingml/2006/main">
            <a:srgbClr val="1160A3"/>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9CD51E89-FA43-431A-866D-2E87A34BD871}"/>
              </a:ext>
            </a:extLst>
          </p:cNvPr>
          <p:cNvSpPr>
            <a:spLocks xmlns:a="http://schemas.openxmlformats.org/drawingml/2006/main" noGrp="1"/>
          </p:cNvSpPr>
          <p:nvPr/>
        </p:nvSpPr>
        <p:spPr>
          <a:xfrm xmlns:a="http://schemas.openxmlformats.org/drawingml/2006/main">
            <a:off x="7286625" y="3714750"/>
            <a:ext cx="381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1160A3"/>
                </a:solidFill>
                <a:latin typeface="Arial"/>
                <a:ea typeface="Arial"/>
                <a:cs typeface="Arial"/>
              </a:defRPr>
            </a:pPr>
            <a:r>
              <a:rPr sz="1275" b="1">
                <a:solidFill>
                  <a:srgbClr val="1160A3"/>
                </a:solidFill>
                <a:latin typeface="Arial"/>
                <a:ea typeface="Arial"/>
                <a:cs typeface="Arial"/>
              </a:rPr>
              <a:t>LOCAL AI</a:t>
            </a:r>
          </a:p>
        </p:txBody>
      </p:sp>
      <p:sp>
        <p:nvSpPr>
          <p:cNvPr id="24" name="">
            <a:extLst xmlns:a="http://schemas.openxmlformats.org/drawingml/2006/main">
              <a:ext uri="{FF2B5EF4-FFF2-40B4-BE49-F238E27FC236}">
                <a16:creationId xmlns:a16="http://schemas.microsoft.com/office/drawing/2014/main" id="{45EC76CA-3A4A-4FD9-A4D7-42C9F4A98B37}"/>
              </a:ext>
            </a:extLst>
          </p:cNvPr>
          <p:cNvSpPr>
            <a:spLocks xmlns:a="http://schemas.openxmlformats.org/drawingml/2006/main" noGrp="1"/>
          </p:cNvSpPr>
          <p:nvPr/>
        </p:nvSpPr>
        <p:spPr>
          <a:xfrm xmlns:a="http://schemas.openxmlformats.org/drawingml/2006/main">
            <a:off x="7286625" y="4114800"/>
            <a:ext cx="3810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75" b="1">
                <a:solidFill>
                  <a:srgbClr val="17232F"/>
                </a:solidFill>
                <a:latin typeface="Arial"/>
                <a:ea typeface="Arial"/>
                <a:cs typeface="Arial"/>
              </a:defRPr>
            </a:pPr>
            <a:r>
              <a:rPr sz="1875" b="1">
                <a:solidFill>
                  <a:srgbClr val="17232F"/>
                </a:solidFill>
                <a:latin typeface="Arial"/>
                <a:ea typeface="Arial"/>
                <a:cs typeface="Arial"/>
              </a:rPr>
              <a:t>Python + saved models</a:t>
            </a:r>
          </a:p>
        </p:txBody>
      </p:sp>
      <p:sp>
        <p:nvSpPr>
          <p:cNvPr id="25" name="">
            <a:extLst xmlns:a="http://schemas.openxmlformats.org/drawingml/2006/main">
              <a:ext uri="{FF2B5EF4-FFF2-40B4-BE49-F238E27FC236}">
                <a16:creationId xmlns:a16="http://schemas.microsoft.com/office/drawing/2014/main" id="{6B668F0D-43EE-456D-9C79-0562A16FF849}"/>
              </a:ext>
            </a:extLst>
          </p:cNvPr>
          <p:cNvSpPr>
            <a:spLocks xmlns:a="http://schemas.openxmlformats.org/drawingml/2006/main" noGrp="1"/>
          </p:cNvSpPr>
          <p:nvPr/>
        </p:nvSpPr>
        <p:spPr>
          <a:xfrm xmlns:a="http://schemas.openxmlformats.org/drawingml/2006/main">
            <a:off x="7286625" y="4581525"/>
            <a:ext cx="3810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526675"/>
                </a:solidFill>
                <a:latin typeface="Arial"/>
                <a:ea typeface="Arial"/>
                <a:cs typeface="Arial"/>
              </a:defRPr>
            </a:pPr>
            <a:r>
              <a:rPr sz="1425" b="0">
                <a:solidFill>
                  <a:srgbClr val="526675"/>
                </a:solidFill>
                <a:latin typeface="Arial"/>
                <a:ea typeface="Arial"/>
                <a:cs typeface="Arial"/>
              </a:rPr>
              <a:t>TrainCore, NutriCore, PoseForm</a:t>
            </a:r>
          </a:p>
        </p:txBody>
      </p:sp>
      <p:sp>
        <p:nvSpPr>
          <p:cNvPr id="26" name="">
            <a:extLst xmlns:a="http://schemas.openxmlformats.org/drawingml/2006/main">
              <a:ext uri="{FF2B5EF4-FFF2-40B4-BE49-F238E27FC236}">
                <a16:creationId xmlns:a16="http://schemas.microsoft.com/office/drawing/2014/main" id="{C4E5D7CB-54E5-4AB0-9599-086DFBB9475B}"/>
              </a:ext>
            </a:extLst>
          </p:cNvPr>
          <p:cNvSpPr>
            <a:spLocks xmlns:a="http://schemas.openxmlformats.org/drawingml/2006/main" noGrp="1"/>
          </p:cNvSpPr>
          <p:nvPr/>
        </p:nvSpPr>
        <p:spPr>
          <a:xfrm xmlns:a="http://schemas.openxmlformats.org/drawingml/2006/main">
            <a:off x="695325" y="5305425"/>
            <a:ext cx="10382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17232F"/>
                </a:solidFill>
                <a:latin typeface="Arial"/>
                <a:ea typeface="Arial"/>
                <a:cs typeface="Arial"/>
              </a:defRPr>
            </a:pPr>
            <a:r>
              <a:rPr sz="1650" b="1">
                <a:solidFill>
                  <a:srgbClr val="17232F"/>
                </a:solidFill>
                <a:latin typeface="Arial"/>
                <a:ea typeface="Arial"/>
                <a:cs typeface="Arial"/>
              </a:rPr>
              <a:t>The mobile app never runs the Python model directly. The backend returns JSON for the screen to display.</a:t>
            </a:r>
          </a:p>
        </p:txBody>
      </p:sp>
    </p:spTree>
    <p:extLst>
      <p:ext uri="{BB962C8B-B14F-4D97-AF65-F5344CB8AC3E}">
        <p14:creationId xmlns:p14="http://schemas.microsoft.com/office/powerpoint/2010/main" val="1093531257"/>
      </p:ext>
    </p:extLst>
  </p:cSld>
</p:sld>
</file>

<file path=ppt/slides/slide8.xml><?xml version="1.0" encoding="utf-8"?>
<p:sld xmlns:p="http://schemas.openxmlformats.org/presentationml/2006/main">
  <p:cSld>
    <p:bg>
      <p:bgPr>
        <a:solidFill xmlns:a="http://schemas.openxmlformats.org/drawingml/2006/main">
          <a:srgbClr val="FFF2E9"/>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9556B21D-F441-4138-88A4-F574144EB733}"/>
              </a:ext>
            </a:extLst>
          </p:cNvPr>
          <p:cNvSpPr>
            <a:spLocks xmlns:a="http://schemas.openxmlformats.org/drawingml/2006/main" noGrp="1"/>
          </p:cNvSpPr>
          <p:nvPr/>
        </p:nvSpPr>
        <p:spPr>
          <a:xfrm xmlns:a="http://schemas.openxmlformats.org/drawingml/2006/main">
            <a:off x="0" y="0"/>
            <a:ext cx="12192000" cy="1257300"/>
          </a:xfrm>
          <a:prstGeom xmlns:a="http://schemas.openxmlformats.org/drawingml/2006/main" prst="rect">
            <a:avLst/>
          </a:prstGeom>
          <a:solidFill xmlns:a="http://schemas.openxmlformats.org/drawingml/2006/main">
            <a:srgbClr val="7A3B2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0A8E48D-81BF-4FCE-B491-752ADBB7B02B}"/>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F2684E"/>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925351D-EE7C-4406-99F4-8B9C9F194B51}"/>
              </a:ext>
            </a:extLst>
          </p:cNvPr>
          <p:cNvSpPr>
            <a:spLocks xmlns:a="http://schemas.openxmlformats.org/drawingml/2006/main" noGrp="1"/>
          </p:cNvSpPr>
          <p:nvPr/>
        </p:nvSpPr>
        <p:spPr>
          <a:xfrm xmlns:a="http://schemas.openxmlformats.org/drawingml/2006/main">
            <a:off x="609600" y="333375"/>
            <a:ext cx="108394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700" b="1">
                <a:solidFill>
                  <a:srgbClr val="FFFFFF"/>
                </a:solidFill>
                <a:latin typeface="Arial"/>
                <a:ea typeface="Arial"/>
                <a:cs typeface="Arial"/>
              </a:defRPr>
            </a:pPr>
            <a:r>
              <a:rPr sz="2700" b="1">
                <a:solidFill>
                  <a:srgbClr val="FFFFFF"/>
                </a:solidFill>
                <a:latin typeface="Arial"/>
                <a:ea typeface="Arial"/>
                <a:cs typeface="Arial"/>
              </a:rPr>
              <a:t>How the local models were built</a:t>
            </a:r>
          </a:p>
        </p:txBody>
      </p:sp>
      <p:sp>
        <p:nvSpPr>
          <p:cNvPr id="4" name="">
            <a:extLst xmlns:a="http://schemas.openxmlformats.org/drawingml/2006/main">
              <a:ext uri="{FF2B5EF4-FFF2-40B4-BE49-F238E27FC236}">
                <a16:creationId xmlns:a16="http://schemas.microsoft.com/office/drawing/2014/main" id="{120BDE9D-7EA4-4CFB-8DEC-4DFB5E780089}"/>
              </a:ext>
            </a:extLst>
          </p:cNvPr>
          <p:cNvSpPr>
            <a:spLocks xmlns:a="http://schemas.openxmlformats.org/drawingml/2006/main" noGrp="1"/>
          </p:cNvSpPr>
          <p:nvPr/>
        </p:nvSpPr>
        <p:spPr>
          <a:xfrm xmlns:a="http://schemas.openxmlformats.org/drawingml/2006/main">
            <a:off x="609600" y="1219200"/>
            <a:ext cx="10982325" cy="38100"/>
          </a:xfrm>
          <a:prstGeom xmlns:a="http://schemas.openxmlformats.org/drawingml/2006/main" prst="rect">
            <a:avLst/>
          </a:prstGeom>
          <a:solidFill xmlns:a="http://schemas.openxmlformats.org/drawingml/2006/main">
            <a:srgbClr val="F2684E"/>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B1098F8-BCE0-40FA-BA72-7518CDB0D538}"/>
              </a:ext>
            </a:extLst>
          </p:cNvPr>
          <p:cNvSpPr>
            <a:spLocks xmlns:a="http://schemas.openxmlformats.org/drawingml/2006/main" noGrp="1"/>
          </p:cNvSpPr>
          <p:nvPr/>
        </p:nvSpPr>
        <p:spPr>
          <a:xfrm xmlns:a="http://schemas.openxmlformats.org/drawingml/2006/main">
            <a:off x="609600" y="640080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lgn="l">
              <a:defRPr sz="975" b="1">
                <a:solidFill>
                  <a:srgbClr val="7A3B2F"/>
                </a:solidFill>
                <a:latin typeface="Arial"/>
                <a:ea typeface="Arial"/>
                <a:cs typeface="Arial"/>
              </a:defRPr>
            </a:pPr>
            <a:r>
              <a:rPr sz="975" b="1">
                <a:solidFill>
                  <a:srgbClr val="7A3B2F"/>
                </a:solidFill>
                <a:latin typeface="Arial"/>
                <a:ea typeface="Arial"/>
                <a:cs typeface="Arial"/>
              </a:rPr>
              <a:t>AI METHODOLOGY</a:t>
            </a:r>
          </a:p>
        </p:txBody>
      </p:sp>
      <p:sp>
        <p:nvSpPr>
          <p:cNvPr id="6" name="">
            <a:extLst xmlns:a="http://schemas.openxmlformats.org/drawingml/2006/main">
              <a:ext uri="{FF2B5EF4-FFF2-40B4-BE49-F238E27FC236}">
                <a16:creationId xmlns:a16="http://schemas.microsoft.com/office/drawing/2014/main" id="{9C2F1AD3-0FB5-4641-82B3-A9F91093464F}"/>
              </a:ext>
            </a:extLst>
          </p:cNvPr>
          <p:cNvSpPr>
            <a:spLocks xmlns:a="http://schemas.openxmlformats.org/drawingml/2006/main" noGrp="1"/>
          </p:cNvSpPr>
          <p:nvPr/>
        </p:nvSpPr>
        <p:spPr>
          <a:xfrm xmlns:a="http://schemas.openxmlformats.org/drawingml/2006/main">
            <a:off x="10972800" y="6372225"/>
            <a:ext cx="6000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125" b="1">
                <a:solidFill>
                  <a:srgbClr val="7A3B2F"/>
                </a:solidFill>
                <a:latin typeface="Arial"/>
                <a:ea typeface="Arial"/>
                <a:cs typeface="Arial"/>
              </a:defRPr>
            </a:pPr>
            <a:r>
              <a:rPr sz="1125" b="1">
                <a:solidFill>
                  <a:srgbClr val="7A3B2F"/>
                </a:solidFill>
                <a:latin typeface="Arial"/>
                <a:ea typeface="Arial"/>
                <a:cs typeface="Arial"/>
              </a:rPr>
              <a:t>08</a:t>
            </a:r>
          </a:p>
        </p:txBody>
      </p:sp>
      <p:sp>
        <p:nvSpPr>
          <p:cNvPr id="7" name="">
            <a:extLst xmlns:a="http://schemas.openxmlformats.org/drawingml/2006/main">
              <a:ext uri="{FF2B5EF4-FFF2-40B4-BE49-F238E27FC236}">
                <a16:creationId xmlns:a16="http://schemas.microsoft.com/office/drawing/2014/main" id="{7A870CB4-C9EC-4A4D-ADC4-1B5D1FCE9C29}"/>
              </a:ext>
            </a:extLst>
          </p:cNvPr>
          <p:cNvSpPr>
            <a:spLocks xmlns:a="http://schemas.openxmlformats.org/drawingml/2006/main" noGrp="1"/>
          </p:cNvSpPr>
          <p:nvPr/>
        </p:nvSpPr>
        <p:spPr>
          <a:xfrm xmlns:a="http://schemas.openxmlformats.org/drawingml/2006/main">
            <a:off x="685800" y="1590675"/>
            <a:ext cx="4762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325" b="1">
                <a:solidFill>
                  <a:srgbClr val="17232F"/>
                </a:solidFill>
                <a:latin typeface="Arial"/>
                <a:ea typeface="Arial"/>
                <a:cs typeface="Arial"/>
              </a:defRPr>
            </a:pPr>
            <a:r>
              <a:rPr sz="2325" b="1">
                <a:solidFill>
                  <a:srgbClr val="17232F"/>
                </a:solidFill>
                <a:latin typeface="Arial"/>
                <a:ea typeface="Arial"/>
                <a:cs typeface="Arial"/>
              </a:rPr>
              <a:t>TrainCore</a:t>
            </a:r>
          </a:p>
        </p:txBody>
      </p:sp>
      <p:sp>
        <p:nvSpPr>
          <p:cNvPr id="8" name="">
            <a:extLst xmlns:a="http://schemas.openxmlformats.org/drawingml/2006/main">
              <a:ext uri="{FF2B5EF4-FFF2-40B4-BE49-F238E27FC236}">
                <a16:creationId xmlns:a16="http://schemas.microsoft.com/office/drawing/2014/main" id="{11C71FA1-BC0C-4C07-93FC-18444EF1F047}"/>
              </a:ext>
            </a:extLst>
          </p:cNvPr>
          <p:cNvSpPr>
            <a:spLocks xmlns:a="http://schemas.openxmlformats.org/drawingml/2006/main" noGrp="1"/>
          </p:cNvSpPr>
          <p:nvPr/>
        </p:nvSpPr>
        <p:spPr>
          <a:xfrm xmlns:a="http://schemas.openxmlformats.org/drawingml/2006/main">
            <a:off x="685800" y="2143125"/>
            <a:ext cx="4905375" cy="47625"/>
          </a:xfrm>
          <a:prstGeom xmlns:a="http://schemas.openxmlformats.org/drawingml/2006/main" prst="rect">
            <a:avLst/>
          </a:prstGeom>
          <a:solidFill xmlns:a="http://schemas.openxmlformats.org/drawingml/2006/main">
            <a:srgbClr val="0F936F"/>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69FD0C8B-BA45-43D2-8C2E-55DAD253557A}"/>
              </a:ext>
            </a:extLst>
          </p:cNvPr>
          <p:cNvSpPr>
            <a:spLocks xmlns:a="http://schemas.openxmlformats.org/drawingml/2006/main" noGrp="1"/>
          </p:cNvSpPr>
          <p:nvPr/>
        </p:nvSpPr>
        <p:spPr>
          <a:xfrm xmlns:a="http://schemas.openxmlformats.org/drawingml/2006/main">
            <a:off x="685800" y="2381250"/>
            <a:ext cx="4762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1">
                <a:solidFill>
                  <a:srgbClr val="0F936F"/>
                </a:solidFill>
                <a:latin typeface="Arial"/>
                <a:ea typeface="Arial"/>
                <a:cs typeface="Arial"/>
              </a:defRPr>
            </a:pPr>
            <a:r>
              <a:rPr sz="1800" b="1">
                <a:solidFill>
                  <a:srgbClr val="0F936F"/>
                </a:solidFill>
                <a:latin typeface="Arial"/>
                <a:ea typeface="Arial"/>
                <a:cs typeface="Arial"/>
              </a:rPr>
              <a:t>220 exercise records</a:t>
            </a:r>
          </a:p>
        </p:txBody>
      </p:sp>
      <p:sp>
        <p:nvSpPr>
          <p:cNvPr id="10" name="">
            <a:extLst xmlns:a="http://schemas.openxmlformats.org/drawingml/2006/main">
              <a:ext uri="{FF2B5EF4-FFF2-40B4-BE49-F238E27FC236}">
                <a16:creationId xmlns:a16="http://schemas.microsoft.com/office/drawing/2014/main" id="{AD1806F2-A604-49C5-A467-4BBB183D17B3}"/>
              </a:ext>
            </a:extLst>
          </p:cNvPr>
          <p:cNvSpPr>
            <a:spLocks xmlns:a="http://schemas.openxmlformats.org/drawingml/2006/main" noGrp="1"/>
          </p:cNvSpPr>
          <p:nvPr/>
        </p:nvSpPr>
        <p:spPr>
          <a:xfrm xmlns:a="http://schemas.openxmlformats.org/drawingml/2006/main">
            <a:off x="685800" y="2952750"/>
            <a:ext cx="4762500" cy="1733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0">
                <a:solidFill>
                  <a:srgbClr val="17232F"/>
                </a:solidFill>
                <a:latin typeface="Arial"/>
                <a:ea typeface="Arial"/>
                <a:cs typeface="Arial"/>
              </a:defRPr>
            </a:pPr>
            <a:r>
              <a:rPr sz="1650" b="0">
                <a:solidFill>
                  <a:srgbClr val="17232F"/>
                </a:solidFill>
                <a:latin typeface="Arial"/>
                <a:ea typeface="Arial"/>
                <a:cs typeface="Arial"/>
              </a:rPr>
              <a:t>Normalize exercise fields; create suitability labels from expert rules; train a small neural network; save its weights locally.</a:t>
            </a:r>
          </a:p>
        </p:txBody>
      </p:sp>
      <p:sp>
        <p:nvSpPr>
          <p:cNvPr id="11" name="">
            <a:extLst xmlns:a="http://schemas.openxmlformats.org/drawingml/2006/main">
              <a:ext uri="{FF2B5EF4-FFF2-40B4-BE49-F238E27FC236}">
                <a16:creationId xmlns:a16="http://schemas.microsoft.com/office/drawing/2014/main" id="{297929C5-38DE-418E-9ADC-BFE4D3ABCBFF}"/>
              </a:ext>
            </a:extLst>
          </p:cNvPr>
          <p:cNvSpPr>
            <a:spLocks xmlns:a="http://schemas.openxmlformats.org/drawingml/2006/main" noGrp="1"/>
          </p:cNvSpPr>
          <p:nvPr/>
        </p:nvSpPr>
        <p:spPr>
          <a:xfrm xmlns:a="http://schemas.openxmlformats.org/drawingml/2006/main">
            <a:off x="6334125" y="1590675"/>
            <a:ext cx="4762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325" b="1">
                <a:solidFill>
                  <a:srgbClr val="17232F"/>
                </a:solidFill>
                <a:latin typeface="Arial"/>
                <a:ea typeface="Arial"/>
                <a:cs typeface="Arial"/>
              </a:defRPr>
            </a:pPr>
            <a:r>
              <a:rPr sz="2325" b="1">
                <a:solidFill>
                  <a:srgbClr val="17232F"/>
                </a:solidFill>
                <a:latin typeface="Arial"/>
                <a:ea typeface="Arial"/>
                <a:cs typeface="Arial"/>
              </a:rPr>
              <a:t>NutriCore</a:t>
            </a:r>
          </a:p>
        </p:txBody>
      </p:sp>
      <p:sp>
        <p:nvSpPr>
          <p:cNvPr id="12" name="">
            <a:extLst xmlns:a="http://schemas.openxmlformats.org/drawingml/2006/main">
              <a:ext uri="{FF2B5EF4-FFF2-40B4-BE49-F238E27FC236}">
                <a16:creationId xmlns:a16="http://schemas.microsoft.com/office/drawing/2014/main" id="{AD280386-5F41-4C3D-9006-F459865DBBA0}"/>
              </a:ext>
            </a:extLst>
          </p:cNvPr>
          <p:cNvSpPr>
            <a:spLocks xmlns:a="http://schemas.openxmlformats.org/drawingml/2006/main" noGrp="1"/>
          </p:cNvSpPr>
          <p:nvPr/>
        </p:nvSpPr>
        <p:spPr>
          <a:xfrm xmlns:a="http://schemas.openxmlformats.org/drawingml/2006/main">
            <a:off x="6334125" y="2143125"/>
            <a:ext cx="4905375" cy="47625"/>
          </a:xfrm>
          <a:prstGeom xmlns:a="http://schemas.openxmlformats.org/drawingml/2006/main" prst="rect">
            <a:avLst/>
          </a:prstGeom>
          <a:solidFill xmlns:a="http://schemas.openxmlformats.org/drawingml/2006/main">
            <a:srgbClr val="F2684E"/>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CF5B42C0-3D85-4046-BBB4-DAD712897855}"/>
              </a:ext>
            </a:extLst>
          </p:cNvPr>
          <p:cNvSpPr>
            <a:spLocks xmlns:a="http://schemas.openxmlformats.org/drawingml/2006/main" noGrp="1"/>
          </p:cNvSpPr>
          <p:nvPr/>
        </p:nvSpPr>
        <p:spPr>
          <a:xfrm xmlns:a="http://schemas.openxmlformats.org/drawingml/2006/main">
            <a:off x="6334125" y="2381250"/>
            <a:ext cx="4762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1">
                <a:solidFill>
                  <a:srgbClr val="F2684E"/>
                </a:solidFill>
                <a:latin typeface="Arial"/>
                <a:ea typeface="Arial"/>
                <a:cs typeface="Arial"/>
              </a:defRPr>
            </a:pPr>
            <a:r>
              <a:rPr sz="1800" b="1">
                <a:solidFill>
                  <a:srgbClr val="F2684E"/>
                </a:solidFill>
                <a:latin typeface="Arial"/>
                <a:ea typeface="Arial"/>
                <a:cs typeface="Arial"/>
              </a:rPr>
              <a:t>72 meals × 4 example profiles</a:t>
            </a:r>
          </a:p>
        </p:txBody>
      </p:sp>
      <p:sp>
        <p:nvSpPr>
          <p:cNvPr id="14" name="">
            <a:extLst xmlns:a="http://schemas.openxmlformats.org/drawingml/2006/main">
              <a:ext uri="{FF2B5EF4-FFF2-40B4-BE49-F238E27FC236}">
                <a16:creationId xmlns:a16="http://schemas.microsoft.com/office/drawing/2014/main" id="{59487175-1D45-4D12-AE9A-66E3DDC866F0}"/>
              </a:ext>
            </a:extLst>
          </p:cNvPr>
          <p:cNvSpPr>
            <a:spLocks xmlns:a="http://schemas.openxmlformats.org/drawingml/2006/main" noGrp="1"/>
          </p:cNvSpPr>
          <p:nvPr/>
        </p:nvSpPr>
        <p:spPr>
          <a:xfrm xmlns:a="http://schemas.openxmlformats.org/drawingml/2006/main">
            <a:off x="6334125" y="2952750"/>
            <a:ext cx="4762500" cy="1733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0">
                <a:solidFill>
                  <a:srgbClr val="17232F"/>
                </a:solidFill>
                <a:latin typeface="Arial"/>
                <a:ea typeface="Arial"/>
                <a:cs typeface="Arial"/>
              </a:defRPr>
            </a:pPr>
            <a:r>
              <a:rPr sz="1650" b="0">
                <a:solidFill>
                  <a:srgbClr val="17232F"/>
                </a:solidFill>
                <a:latin typeface="Arial"/>
                <a:ea typeface="Arial"/>
                <a:cs typeface="Arial"/>
              </a:rPr>
              <a:t>Create 288 labeled meal-person pairs. Train on 216; validate on 72. Run 180 epochs and save the learned weights locally.</a:t>
            </a:r>
          </a:p>
        </p:txBody>
      </p:sp>
      <p:sp>
        <p:nvSpPr>
          <p:cNvPr id="15" name="">
            <a:extLst xmlns:a="http://schemas.openxmlformats.org/drawingml/2006/main">
              <a:ext uri="{FF2B5EF4-FFF2-40B4-BE49-F238E27FC236}">
                <a16:creationId xmlns:a16="http://schemas.microsoft.com/office/drawing/2014/main" id="{5D90B46E-1AE8-4B42-9910-BD913C0A85FC}"/>
              </a:ext>
            </a:extLst>
          </p:cNvPr>
          <p:cNvSpPr>
            <a:spLocks xmlns:a="http://schemas.openxmlformats.org/drawingml/2006/main" noGrp="1"/>
          </p:cNvSpPr>
          <p:nvPr/>
        </p:nvSpPr>
        <p:spPr>
          <a:xfrm xmlns:a="http://schemas.openxmlformats.org/drawingml/2006/main">
            <a:off x="5962650" y="1609725"/>
            <a:ext cx="19050" cy="3390900"/>
          </a:xfrm>
          <a:prstGeom xmlns:a="http://schemas.openxmlformats.org/drawingml/2006/main" prst="rect">
            <a:avLst/>
          </a:prstGeom>
          <a:solidFill xmlns:a="http://schemas.openxmlformats.org/drawingml/2006/main">
            <a:srgbClr val="BBCED1"/>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FA4A9669-53E1-4D47-8BB7-01FF695E5B04}"/>
              </a:ext>
            </a:extLst>
          </p:cNvPr>
          <p:cNvSpPr>
            <a:spLocks xmlns:a="http://schemas.openxmlformats.org/drawingml/2006/main" noGrp="1"/>
          </p:cNvSpPr>
          <p:nvPr/>
        </p:nvSpPr>
        <p:spPr>
          <a:xfrm xmlns:a="http://schemas.openxmlformats.org/drawingml/2006/main">
            <a:off x="695325" y="5295900"/>
            <a:ext cx="105822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17232F"/>
                </a:solidFill>
                <a:latin typeface="Arial"/>
                <a:ea typeface="Arial"/>
                <a:cs typeface="Arial"/>
              </a:defRPr>
            </a:pPr>
            <a:r>
              <a:rPr sz="1650" b="1">
                <a:solidFill>
                  <a:srgbClr val="17232F"/>
                </a:solidFill>
                <a:latin typeface="Arial"/>
                <a:ea typeface="Arial"/>
                <a:cs typeface="Arial"/>
              </a:rPr>
              <a:t>PoseForm is different: MediaPipe detects landmarks; our local movement rules analyze them.</a:t>
            </a:r>
          </a:p>
        </p:txBody>
      </p:sp>
    </p:spTree>
    <p:extLst>
      <p:ext uri="{BB962C8B-B14F-4D97-AF65-F5344CB8AC3E}">
        <p14:creationId xmlns:p14="http://schemas.microsoft.com/office/powerpoint/2010/main" val="1356252554"/>
      </p:ext>
    </p:extLst>
  </p:cSld>
</p:sld>
</file>

<file path=ppt/slides/slide9.xml><?xml version="1.0" encoding="utf-8"?>
<p:sld xmlns:p="http://schemas.openxmlformats.org/presentationml/2006/main">
  <p:cSld>
    <p:bg>
      <p:bgPr>
        <a:solidFill xmlns:a="http://schemas.openxmlformats.org/drawingml/2006/main">
          <a:srgbClr val="EAF4F8"/>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F0CF7A3B-1A61-4396-AA35-F110A199B2F8}"/>
              </a:ext>
            </a:extLst>
          </p:cNvPr>
          <p:cNvSpPr>
            <a:spLocks xmlns:a="http://schemas.openxmlformats.org/drawingml/2006/main" noGrp="1"/>
          </p:cNvSpPr>
          <p:nvPr/>
        </p:nvSpPr>
        <p:spPr>
          <a:xfrm xmlns:a="http://schemas.openxmlformats.org/drawingml/2006/main">
            <a:off x="0" y="0"/>
            <a:ext cx="12192000" cy="1257300"/>
          </a:xfrm>
          <a:prstGeom xmlns:a="http://schemas.openxmlformats.org/drawingml/2006/main" prst="rect">
            <a:avLst/>
          </a:prstGeom>
          <a:solidFill xmlns:a="http://schemas.openxmlformats.org/drawingml/2006/main">
            <a:srgbClr val="154C6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E69E4F1-C956-4324-8D60-C9F1AD75BA79}"/>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F2684E"/>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3FAD7979-ECDE-4B6B-BB4F-DE332463A6F1}"/>
              </a:ext>
            </a:extLst>
          </p:cNvPr>
          <p:cNvSpPr>
            <a:spLocks xmlns:a="http://schemas.openxmlformats.org/drawingml/2006/main" noGrp="1"/>
          </p:cNvSpPr>
          <p:nvPr/>
        </p:nvSpPr>
        <p:spPr>
          <a:xfrm xmlns:a="http://schemas.openxmlformats.org/drawingml/2006/main">
            <a:off x="609600" y="333375"/>
            <a:ext cx="108394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700" b="1">
                <a:solidFill>
                  <a:srgbClr val="FFFFFF"/>
                </a:solidFill>
                <a:latin typeface="Arial"/>
                <a:ea typeface="Arial"/>
                <a:cs typeface="Arial"/>
              </a:defRPr>
            </a:pPr>
            <a:r>
              <a:rPr sz="2700" b="1">
                <a:solidFill>
                  <a:srgbClr val="FFFFFF"/>
                </a:solidFill>
                <a:latin typeface="Arial"/>
                <a:ea typeface="Arial"/>
                <a:cs typeface="Arial"/>
              </a:rPr>
              <a:t>Onboarding makes plans personal</a:t>
            </a:r>
          </a:p>
        </p:txBody>
      </p:sp>
      <p:sp>
        <p:nvSpPr>
          <p:cNvPr id="4" name="">
            <a:extLst xmlns:a="http://schemas.openxmlformats.org/drawingml/2006/main">
              <a:ext uri="{FF2B5EF4-FFF2-40B4-BE49-F238E27FC236}">
                <a16:creationId xmlns:a16="http://schemas.microsoft.com/office/drawing/2014/main" id="{EC8D0CD3-27AD-4575-85AE-CE252AEC8BCD}"/>
              </a:ext>
            </a:extLst>
          </p:cNvPr>
          <p:cNvSpPr>
            <a:spLocks xmlns:a="http://schemas.openxmlformats.org/drawingml/2006/main" noGrp="1"/>
          </p:cNvSpPr>
          <p:nvPr/>
        </p:nvSpPr>
        <p:spPr>
          <a:xfrm xmlns:a="http://schemas.openxmlformats.org/drawingml/2006/main">
            <a:off x="609600" y="1219200"/>
            <a:ext cx="10982325" cy="38100"/>
          </a:xfrm>
          <a:prstGeom xmlns:a="http://schemas.openxmlformats.org/drawingml/2006/main" prst="rect">
            <a:avLst/>
          </a:prstGeom>
          <a:solidFill xmlns:a="http://schemas.openxmlformats.org/drawingml/2006/main">
            <a:srgbClr val="F2684E"/>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EBA9CAAB-8169-4B47-A764-005165466016}"/>
              </a:ext>
            </a:extLst>
          </p:cNvPr>
          <p:cNvSpPr>
            <a:spLocks xmlns:a="http://schemas.openxmlformats.org/drawingml/2006/main" noGrp="1"/>
          </p:cNvSpPr>
          <p:nvPr/>
        </p:nvSpPr>
        <p:spPr>
          <a:xfrm xmlns:a="http://schemas.openxmlformats.org/drawingml/2006/main">
            <a:off x="609600" y="640080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lgn="l">
              <a:defRPr sz="975" b="1">
                <a:solidFill>
                  <a:srgbClr val="154C60"/>
                </a:solidFill>
                <a:latin typeface="Arial"/>
                <a:ea typeface="Arial"/>
                <a:cs typeface="Arial"/>
              </a:defRPr>
            </a:pPr>
            <a:r>
              <a:rPr sz="975" b="1">
                <a:solidFill>
                  <a:srgbClr val="154C60"/>
                </a:solidFill>
                <a:latin typeface="Arial"/>
                <a:ea typeface="Arial"/>
                <a:cs typeface="Arial"/>
              </a:rPr>
              <a:t>APP WALKTHROUGH</a:t>
            </a:r>
          </a:p>
        </p:txBody>
      </p:sp>
      <p:sp>
        <p:nvSpPr>
          <p:cNvPr id="6" name="">
            <a:extLst xmlns:a="http://schemas.openxmlformats.org/drawingml/2006/main">
              <a:ext uri="{FF2B5EF4-FFF2-40B4-BE49-F238E27FC236}">
                <a16:creationId xmlns:a16="http://schemas.microsoft.com/office/drawing/2014/main" id="{3BE32B6A-ED00-4B67-B464-5B18CC44FAF1}"/>
              </a:ext>
            </a:extLst>
          </p:cNvPr>
          <p:cNvSpPr>
            <a:spLocks xmlns:a="http://schemas.openxmlformats.org/drawingml/2006/main" noGrp="1"/>
          </p:cNvSpPr>
          <p:nvPr/>
        </p:nvSpPr>
        <p:spPr>
          <a:xfrm xmlns:a="http://schemas.openxmlformats.org/drawingml/2006/main">
            <a:off x="10972800" y="6372225"/>
            <a:ext cx="6000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125" b="1">
                <a:solidFill>
                  <a:srgbClr val="154C60"/>
                </a:solidFill>
                <a:latin typeface="Arial"/>
                <a:ea typeface="Arial"/>
                <a:cs typeface="Arial"/>
              </a:defRPr>
            </a:pPr>
            <a:r>
              <a:rPr sz="1125" b="1">
                <a:solidFill>
                  <a:srgbClr val="154C60"/>
                </a:solidFill>
                <a:latin typeface="Arial"/>
                <a:ea typeface="Arial"/>
                <a:cs typeface="Arial"/>
              </a:rPr>
              <a:t>09</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92f5cee568af49e9"/>
          <a:stretch xmlns:a="http://schemas.openxmlformats.org/drawingml/2006/main"/>
        </p:blipFill>
        <p:spPr>
          <a:xfrm xmlns:a="http://schemas.openxmlformats.org/drawingml/2006/main">
            <a:off x="817563" y="1409700"/>
            <a:ext cx="2670175" cy="4419600"/>
          </a:xfrm>
          <a:prstGeom xmlns:a="http://schemas.openxmlformats.org/drawingml/2006/main" prst="rect">
            <a:avLst/>
          </a:prstGeom>
        </p:spPr>
      </p:pic>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d8e47635947f4c47"/>
          <a:stretch xmlns:a="http://schemas.openxmlformats.org/drawingml/2006/main"/>
        </p:blipFill>
        <p:spPr>
          <a:xfrm xmlns:a="http://schemas.openxmlformats.org/drawingml/2006/main">
            <a:off x="4041770" y="1409700"/>
            <a:ext cx="2698761" cy="4419600"/>
          </a:xfrm>
          <a:prstGeom xmlns:a="http://schemas.openxmlformats.org/drawingml/2006/main" prst="rect">
            <a:avLst/>
          </a:prstGeom>
        </p:spPr>
      </p:pic>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23428c880a384348"/>
          <a:stretch xmlns:a="http://schemas.openxmlformats.org/drawingml/2006/main"/>
        </p:blipFill>
        <p:spPr>
          <a:xfrm xmlns:a="http://schemas.openxmlformats.org/drawingml/2006/main">
            <a:off x="7463367" y="1409700"/>
            <a:ext cx="2332567" cy="441960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79ED1B4E-A4AD-4B96-88E5-52D3F54B1A33}"/>
              </a:ext>
            </a:extLst>
          </p:cNvPr>
          <p:cNvSpPr>
            <a:spLocks xmlns:a="http://schemas.openxmlformats.org/drawingml/2006/main" noGrp="1"/>
          </p:cNvSpPr>
          <p:nvPr/>
        </p:nvSpPr>
        <p:spPr>
          <a:xfrm xmlns:a="http://schemas.openxmlformats.org/drawingml/2006/main">
            <a:off x="781050" y="5781675"/>
            <a:ext cx="2638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425" b="1">
                <a:solidFill>
                  <a:srgbClr val="17232F"/>
                </a:solidFill>
                <a:latin typeface="Arial"/>
                <a:ea typeface="Arial"/>
                <a:cs typeface="Arial"/>
              </a:defRPr>
            </a:pPr>
            <a:r>
              <a:rPr sz="1425" b="1">
                <a:solidFill>
                  <a:srgbClr val="17232F"/>
                </a:solidFill>
                <a:latin typeface="Arial"/>
                <a:ea typeface="Arial"/>
                <a:cs typeface="Arial"/>
              </a:rPr>
              <a:t>Profile identity</a:t>
            </a:r>
          </a:p>
        </p:txBody>
      </p:sp>
      <p:sp>
        <p:nvSpPr>
          <p:cNvPr id="11" name="">
            <a:extLst xmlns:a="http://schemas.openxmlformats.org/drawingml/2006/main">
              <a:ext uri="{FF2B5EF4-FFF2-40B4-BE49-F238E27FC236}">
                <a16:creationId xmlns:a16="http://schemas.microsoft.com/office/drawing/2014/main" id="{0E320EB1-7DE0-4184-B560-4224E3784BAA}"/>
              </a:ext>
            </a:extLst>
          </p:cNvPr>
          <p:cNvSpPr>
            <a:spLocks xmlns:a="http://schemas.openxmlformats.org/drawingml/2006/main" noGrp="1"/>
          </p:cNvSpPr>
          <p:nvPr/>
        </p:nvSpPr>
        <p:spPr>
          <a:xfrm xmlns:a="http://schemas.openxmlformats.org/drawingml/2006/main">
            <a:off x="4029075" y="5781675"/>
            <a:ext cx="2638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425" b="1">
                <a:solidFill>
                  <a:srgbClr val="17232F"/>
                </a:solidFill>
                <a:latin typeface="Arial"/>
                <a:ea typeface="Arial"/>
                <a:cs typeface="Arial"/>
              </a:defRPr>
            </a:pPr>
            <a:r>
              <a:rPr sz="1425" b="1">
                <a:solidFill>
                  <a:srgbClr val="17232F"/>
                </a:solidFill>
                <a:latin typeface="Arial"/>
                <a:ea typeface="Arial"/>
                <a:cs typeface="Arial"/>
              </a:rPr>
              <a:t>Food safety</a:t>
            </a:r>
          </a:p>
        </p:txBody>
      </p:sp>
      <p:sp>
        <p:nvSpPr>
          <p:cNvPr id="12" name="">
            <a:extLst xmlns:a="http://schemas.openxmlformats.org/drawingml/2006/main">
              <a:ext uri="{FF2B5EF4-FFF2-40B4-BE49-F238E27FC236}">
                <a16:creationId xmlns:a16="http://schemas.microsoft.com/office/drawing/2014/main" id="{AAE11052-D473-40A6-A4B5-C7C9BF729F6D}"/>
              </a:ext>
            </a:extLst>
          </p:cNvPr>
          <p:cNvSpPr>
            <a:spLocks xmlns:a="http://schemas.openxmlformats.org/drawingml/2006/main" noGrp="1"/>
          </p:cNvSpPr>
          <p:nvPr/>
        </p:nvSpPr>
        <p:spPr>
          <a:xfrm xmlns:a="http://schemas.openxmlformats.org/drawingml/2006/main">
            <a:off x="7267575" y="5781675"/>
            <a:ext cx="2638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425" b="1">
                <a:solidFill>
                  <a:srgbClr val="17232F"/>
                </a:solidFill>
                <a:latin typeface="Arial"/>
                <a:ea typeface="Arial"/>
                <a:cs typeface="Arial"/>
              </a:defRPr>
            </a:pPr>
            <a:r>
              <a:rPr sz="1425" b="1">
                <a:solidFill>
                  <a:srgbClr val="17232F"/>
                </a:solidFill>
                <a:latin typeface="Arial"/>
                <a:ea typeface="Arial"/>
                <a:cs typeface="Arial"/>
              </a:rPr>
              <a:t>Training safety</a:t>
            </a:r>
          </a:p>
        </p:txBody>
      </p:sp>
    </p:spTree>
    <p:extLst>
      <p:ext uri="{BB962C8B-B14F-4D97-AF65-F5344CB8AC3E}">
        <p14:creationId xmlns:p14="http://schemas.microsoft.com/office/powerpoint/2010/main" val="976219991"/>
      </p:ext>
    </p:extLst>
  </p:cSld>
</p:sld>
</file>

<file path=ppt/slides/slide10.xml><?xml version="1.0" encoding="utf-8"?>
<p:sld xmlns:p="http://schemas.openxmlformats.org/presentationml/2006/main">
  <p:cSld>
    <p:bg>
      <p:bgPr>
        <a:solidFill xmlns:a="http://schemas.openxmlformats.org/drawingml/2006/main">
          <a:srgbClr val="E8F4E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E4AB1728-E82B-43AC-A08E-AD1FB81DC902}"/>
              </a:ext>
            </a:extLst>
          </p:cNvPr>
          <p:cNvSpPr>
            <a:spLocks xmlns:a="http://schemas.openxmlformats.org/drawingml/2006/main" noGrp="1"/>
          </p:cNvSpPr>
          <p:nvPr/>
        </p:nvSpPr>
        <p:spPr>
          <a:xfrm xmlns:a="http://schemas.openxmlformats.org/drawingml/2006/main">
            <a:off x="0" y="0"/>
            <a:ext cx="12192000" cy="1257300"/>
          </a:xfrm>
          <a:prstGeom xmlns:a="http://schemas.openxmlformats.org/drawingml/2006/main" prst="rect">
            <a:avLst/>
          </a:prstGeom>
          <a:solidFill xmlns:a="http://schemas.openxmlformats.org/drawingml/2006/main">
            <a:srgbClr val="103F3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94741D8-0DFD-4C75-B923-39E2E026DF07}"/>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F2684E"/>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1D7AE7E-D6CF-41F1-B33C-C202CE221F76}"/>
              </a:ext>
            </a:extLst>
          </p:cNvPr>
          <p:cNvSpPr>
            <a:spLocks xmlns:a="http://schemas.openxmlformats.org/drawingml/2006/main" noGrp="1"/>
          </p:cNvSpPr>
          <p:nvPr/>
        </p:nvSpPr>
        <p:spPr>
          <a:xfrm xmlns:a="http://schemas.openxmlformats.org/drawingml/2006/main">
            <a:off x="609600" y="333375"/>
            <a:ext cx="108394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700" b="1">
                <a:solidFill>
                  <a:srgbClr val="FFFFFF"/>
                </a:solidFill>
                <a:latin typeface="Arial"/>
                <a:ea typeface="Arial"/>
                <a:cs typeface="Arial"/>
              </a:defRPr>
            </a:pPr>
            <a:r>
              <a:rPr sz="2700" b="1">
                <a:solidFill>
                  <a:srgbClr val="FFFFFF"/>
                </a:solidFill>
                <a:latin typeface="Arial"/>
                <a:ea typeface="Arial"/>
                <a:cs typeface="Arial"/>
              </a:rPr>
              <a:t>TrainCore: personalized workouts</a:t>
            </a:r>
          </a:p>
        </p:txBody>
      </p:sp>
      <p:sp>
        <p:nvSpPr>
          <p:cNvPr id="4" name="">
            <a:extLst xmlns:a="http://schemas.openxmlformats.org/drawingml/2006/main">
              <a:ext uri="{FF2B5EF4-FFF2-40B4-BE49-F238E27FC236}">
                <a16:creationId xmlns:a16="http://schemas.microsoft.com/office/drawing/2014/main" id="{5EC2AF24-92EC-4108-9A37-73215E08CD36}"/>
              </a:ext>
            </a:extLst>
          </p:cNvPr>
          <p:cNvSpPr>
            <a:spLocks xmlns:a="http://schemas.openxmlformats.org/drawingml/2006/main" noGrp="1"/>
          </p:cNvSpPr>
          <p:nvPr/>
        </p:nvSpPr>
        <p:spPr>
          <a:xfrm xmlns:a="http://schemas.openxmlformats.org/drawingml/2006/main">
            <a:off x="609600" y="1219200"/>
            <a:ext cx="10982325" cy="38100"/>
          </a:xfrm>
          <a:prstGeom xmlns:a="http://schemas.openxmlformats.org/drawingml/2006/main" prst="rect">
            <a:avLst/>
          </a:prstGeom>
          <a:solidFill xmlns:a="http://schemas.openxmlformats.org/drawingml/2006/main">
            <a:srgbClr val="F2684E"/>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269455F-5ADB-4252-B2C5-AF99C11DC013}"/>
              </a:ext>
            </a:extLst>
          </p:cNvPr>
          <p:cNvSpPr>
            <a:spLocks xmlns:a="http://schemas.openxmlformats.org/drawingml/2006/main" noGrp="1"/>
          </p:cNvSpPr>
          <p:nvPr/>
        </p:nvSpPr>
        <p:spPr>
          <a:xfrm xmlns:a="http://schemas.openxmlformats.org/drawingml/2006/main">
            <a:off x="609600" y="640080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lgn="l">
              <a:defRPr sz="975" b="1">
                <a:solidFill>
                  <a:srgbClr val="103F3F"/>
                </a:solidFill>
                <a:latin typeface="Arial"/>
                <a:ea typeface="Arial"/>
                <a:cs typeface="Arial"/>
              </a:defRPr>
            </a:pPr>
            <a:r>
              <a:rPr sz="975" b="1">
                <a:solidFill>
                  <a:srgbClr val="103F3F"/>
                </a:solidFill>
                <a:latin typeface="Arial"/>
                <a:ea typeface="Arial"/>
                <a:cs typeface="Arial"/>
              </a:rPr>
              <a:t>LOCAL AI MODULE</a:t>
            </a:r>
          </a:p>
        </p:txBody>
      </p:sp>
      <p:sp>
        <p:nvSpPr>
          <p:cNvPr id="6" name="">
            <a:extLst xmlns:a="http://schemas.openxmlformats.org/drawingml/2006/main">
              <a:ext uri="{FF2B5EF4-FFF2-40B4-BE49-F238E27FC236}">
                <a16:creationId xmlns:a16="http://schemas.microsoft.com/office/drawing/2014/main" id="{2A4279A0-0BEB-4EBA-B24A-C9DC9C4DD334}"/>
              </a:ext>
            </a:extLst>
          </p:cNvPr>
          <p:cNvSpPr>
            <a:spLocks xmlns:a="http://schemas.openxmlformats.org/drawingml/2006/main" noGrp="1"/>
          </p:cNvSpPr>
          <p:nvPr/>
        </p:nvSpPr>
        <p:spPr>
          <a:xfrm xmlns:a="http://schemas.openxmlformats.org/drawingml/2006/main">
            <a:off x="10972800" y="6372225"/>
            <a:ext cx="6000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125" b="1">
                <a:solidFill>
                  <a:srgbClr val="103F3F"/>
                </a:solidFill>
                <a:latin typeface="Arial"/>
                <a:ea typeface="Arial"/>
                <a:cs typeface="Arial"/>
              </a:defRPr>
            </a:pPr>
            <a:r>
              <a:rPr sz="1125" b="1">
                <a:solidFill>
                  <a:srgbClr val="103F3F"/>
                </a:solidFill>
                <a:latin typeface="Arial"/>
                <a:ea typeface="Arial"/>
                <a:cs typeface="Arial"/>
              </a:rPr>
              <a:t>10</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77e4506125994f99"/>
          <a:stretch xmlns:a="http://schemas.openxmlformats.org/drawingml/2006/main"/>
        </p:blipFill>
        <p:spPr>
          <a:xfrm xmlns:a="http://schemas.openxmlformats.org/drawingml/2006/main">
            <a:off x="683931" y="1390650"/>
            <a:ext cx="2432614" cy="4695825"/>
          </a:xfrm>
          <a:prstGeom xmlns:a="http://schemas.openxmlformats.org/drawingml/2006/main" prst="rect">
            <a:avLst/>
          </a:prstGeom>
        </p:spPr>
      </p:pic>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ae5baaaec30d42bc"/>
          <a:stretch xmlns:a="http://schemas.openxmlformats.org/drawingml/2006/main"/>
        </p:blipFill>
        <p:spPr>
          <a:xfrm xmlns:a="http://schemas.openxmlformats.org/drawingml/2006/main">
            <a:off x="3219450" y="1650033"/>
            <a:ext cx="2543175" cy="4177058"/>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3E766B75-915A-4045-8371-3AB56A6AB3CC}"/>
              </a:ext>
            </a:extLst>
          </p:cNvPr>
          <p:cNvSpPr>
            <a:spLocks xmlns:a="http://schemas.openxmlformats.org/drawingml/2006/main" noGrp="1"/>
          </p:cNvSpPr>
          <p:nvPr/>
        </p:nvSpPr>
        <p:spPr>
          <a:xfrm xmlns:a="http://schemas.openxmlformats.org/drawingml/2006/main">
            <a:off x="6172200" y="1647825"/>
            <a:ext cx="5429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950" b="1">
                <a:solidFill>
                  <a:srgbClr val="17232F"/>
                </a:solidFill>
                <a:latin typeface="Arial"/>
                <a:ea typeface="Arial"/>
                <a:cs typeface="Arial"/>
              </a:defRPr>
            </a:pPr>
            <a:r>
              <a:rPr sz="1950" b="1">
                <a:solidFill>
                  <a:srgbClr val="17232F"/>
                </a:solidFill>
                <a:latin typeface="Arial"/>
                <a:ea typeface="Arial"/>
                <a:cs typeface="Arial"/>
              </a:rPr>
              <a:t>Profile + exercise dataset</a:t>
            </a:r>
          </a:p>
        </p:txBody>
      </p:sp>
      <p:sp>
        <p:nvSpPr>
          <p:cNvPr id="10" name="">
            <a:extLst xmlns:a="http://schemas.openxmlformats.org/drawingml/2006/main">
              <a:ext uri="{FF2B5EF4-FFF2-40B4-BE49-F238E27FC236}">
                <a16:creationId xmlns:a16="http://schemas.microsoft.com/office/drawing/2014/main" id="{C0B689F8-02FE-4234-A16E-9BEDC669FF2C}"/>
              </a:ext>
            </a:extLst>
          </p:cNvPr>
          <p:cNvSpPr>
            <a:spLocks xmlns:a="http://schemas.openxmlformats.org/drawingml/2006/main" noGrp="1"/>
          </p:cNvSpPr>
          <p:nvPr/>
        </p:nvSpPr>
        <p:spPr>
          <a:xfrm xmlns:a="http://schemas.openxmlformats.org/drawingml/2006/main">
            <a:off x="6181725" y="2533650"/>
            <a:ext cx="66675" cy="400050"/>
          </a:xfrm>
          <a:prstGeom xmlns:a="http://schemas.openxmlformats.org/drawingml/2006/main" prst="rect">
            <a:avLst/>
          </a:prstGeom>
          <a:solidFill xmlns:a="http://schemas.openxmlformats.org/drawingml/2006/main">
            <a:srgbClr val="0F936F"/>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372B8A2D-D27E-424F-A410-E134261740A7}"/>
              </a:ext>
            </a:extLst>
          </p:cNvPr>
          <p:cNvSpPr>
            <a:spLocks xmlns:a="http://schemas.openxmlformats.org/drawingml/2006/main" noGrp="1"/>
          </p:cNvSpPr>
          <p:nvPr/>
        </p:nvSpPr>
        <p:spPr>
          <a:xfrm xmlns:a="http://schemas.openxmlformats.org/drawingml/2006/main">
            <a:off x="6410325" y="2457450"/>
            <a:ext cx="5029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0">
                <a:solidFill>
                  <a:srgbClr val="17232F"/>
                </a:solidFill>
                <a:latin typeface="Arial"/>
                <a:ea typeface="Arial"/>
                <a:cs typeface="Arial"/>
              </a:defRPr>
            </a:pPr>
            <a:r>
              <a:rPr sz="1575" b="0">
                <a:solidFill>
                  <a:srgbClr val="17232F"/>
                </a:solidFill>
                <a:latin typeface="Arial"/>
                <a:ea typeface="Arial"/>
                <a:cs typeface="Arial"/>
              </a:rPr>
              <a:t>Local neural network scores candidate exercises.</a:t>
            </a:r>
          </a:p>
        </p:txBody>
      </p:sp>
      <p:sp>
        <p:nvSpPr>
          <p:cNvPr id="12" name="">
            <a:extLst xmlns:a="http://schemas.openxmlformats.org/drawingml/2006/main">
              <a:ext uri="{FF2B5EF4-FFF2-40B4-BE49-F238E27FC236}">
                <a16:creationId xmlns:a16="http://schemas.microsoft.com/office/drawing/2014/main" id="{8F68363D-FFB8-42D6-81F6-B9820D821CA9}"/>
              </a:ext>
            </a:extLst>
          </p:cNvPr>
          <p:cNvSpPr>
            <a:spLocks xmlns:a="http://schemas.openxmlformats.org/drawingml/2006/main" noGrp="1"/>
          </p:cNvSpPr>
          <p:nvPr/>
        </p:nvSpPr>
        <p:spPr>
          <a:xfrm xmlns:a="http://schemas.openxmlformats.org/drawingml/2006/main">
            <a:off x="6181725" y="3524250"/>
            <a:ext cx="66675" cy="400050"/>
          </a:xfrm>
          <a:prstGeom xmlns:a="http://schemas.openxmlformats.org/drawingml/2006/main" prst="rect">
            <a:avLst/>
          </a:prstGeom>
          <a:solidFill xmlns:a="http://schemas.openxmlformats.org/drawingml/2006/main">
            <a:srgbClr val="0F936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B9BA4BD6-28F5-4921-8753-6919FF546623}"/>
              </a:ext>
            </a:extLst>
          </p:cNvPr>
          <p:cNvSpPr>
            <a:spLocks xmlns:a="http://schemas.openxmlformats.org/drawingml/2006/main" noGrp="1"/>
          </p:cNvSpPr>
          <p:nvPr/>
        </p:nvSpPr>
        <p:spPr>
          <a:xfrm xmlns:a="http://schemas.openxmlformats.org/drawingml/2006/main">
            <a:off x="6410325" y="3448050"/>
            <a:ext cx="5029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0">
                <a:solidFill>
                  <a:srgbClr val="17232F"/>
                </a:solidFill>
                <a:latin typeface="Arial"/>
                <a:ea typeface="Arial"/>
                <a:cs typeface="Arial"/>
              </a:defRPr>
            </a:pPr>
            <a:r>
              <a:rPr sz="1575" b="0">
                <a:solidFill>
                  <a:srgbClr val="17232F"/>
                </a:solidFill>
                <a:latin typeface="Arial"/>
                <a:ea typeface="Arial"/>
                <a:cs typeface="Arial"/>
              </a:rPr>
              <a:t>Safety filters account for injuries and constraints.</a:t>
            </a:r>
          </a:p>
        </p:txBody>
      </p:sp>
      <p:sp>
        <p:nvSpPr>
          <p:cNvPr id="14" name="">
            <a:extLst xmlns:a="http://schemas.openxmlformats.org/drawingml/2006/main">
              <a:ext uri="{FF2B5EF4-FFF2-40B4-BE49-F238E27FC236}">
                <a16:creationId xmlns:a16="http://schemas.microsoft.com/office/drawing/2014/main" id="{092A7735-C926-477F-96EC-A41420781061}"/>
              </a:ext>
            </a:extLst>
          </p:cNvPr>
          <p:cNvSpPr>
            <a:spLocks xmlns:a="http://schemas.openxmlformats.org/drawingml/2006/main" noGrp="1"/>
          </p:cNvSpPr>
          <p:nvPr/>
        </p:nvSpPr>
        <p:spPr>
          <a:xfrm xmlns:a="http://schemas.openxmlformats.org/drawingml/2006/main">
            <a:off x="6181725" y="4514850"/>
            <a:ext cx="66675" cy="400050"/>
          </a:xfrm>
          <a:prstGeom xmlns:a="http://schemas.openxmlformats.org/drawingml/2006/main" prst="rect">
            <a:avLst/>
          </a:prstGeom>
          <a:solidFill xmlns:a="http://schemas.openxmlformats.org/drawingml/2006/main">
            <a:srgbClr val="0F936F"/>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7EF0F7FA-C578-4FC5-80BD-4E849BA0FF74}"/>
              </a:ext>
            </a:extLst>
          </p:cNvPr>
          <p:cNvSpPr>
            <a:spLocks xmlns:a="http://schemas.openxmlformats.org/drawingml/2006/main" noGrp="1"/>
          </p:cNvSpPr>
          <p:nvPr/>
        </p:nvSpPr>
        <p:spPr>
          <a:xfrm xmlns:a="http://schemas.openxmlformats.org/drawingml/2006/main">
            <a:off x="6410325" y="4438650"/>
            <a:ext cx="5029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0">
                <a:solidFill>
                  <a:srgbClr val="17232F"/>
                </a:solidFill>
                <a:latin typeface="Arial"/>
                <a:ea typeface="Arial"/>
                <a:cs typeface="Arial"/>
              </a:defRPr>
            </a:pPr>
            <a:r>
              <a:rPr sz="1575" b="0">
                <a:solidFill>
                  <a:srgbClr val="17232F"/>
                </a:solidFill>
                <a:latin typeface="Arial"/>
                <a:ea typeface="Arial"/>
                <a:cs typeface="Arial"/>
              </a:rPr>
              <a:t>Backend saves the resulting workout plan.</a:t>
            </a:r>
          </a:p>
        </p:txBody>
      </p:sp>
    </p:spTree>
    <p:extLst>
      <p:ext uri="{BB962C8B-B14F-4D97-AF65-F5344CB8AC3E}">
        <p14:creationId xmlns:p14="http://schemas.microsoft.com/office/powerpoint/2010/main" val="625865375"/>
      </p:ext>
    </p:extLst>
  </p:cSld>
</p:sld>
</file>

<file path=ppt/slides/slide11.xml><?xml version="1.0" encoding="utf-8"?>
<p:sld xmlns:p="http://schemas.openxmlformats.org/presentationml/2006/main">
  <p:cSld>
    <p:bg>
      <p:bgPr>
        <a:solidFill xmlns:a="http://schemas.openxmlformats.org/drawingml/2006/main">
          <a:srgbClr val="EDF7F1"/>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E1347E41-AA4B-4E06-B9D9-4D8BF5BDC0A1}"/>
              </a:ext>
            </a:extLst>
          </p:cNvPr>
          <p:cNvSpPr>
            <a:spLocks xmlns:a="http://schemas.openxmlformats.org/drawingml/2006/main" noGrp="1"/>
          </p:cNvSpPr>
          <p:nvPr/>
        </p:nvSpPr>
        <p:spPr>
          <a:xfrm xmlns:a="http://schemas.openxmlformats.org/drawingml/2006/main">
            <a:off x="0" y="0"/>
            <a:ext cx="12192000" cy="1257300"/>
          </a:xfrm>
          <a:prstGeom xmlns:a="http://schemas.openxmlformats.org/drawingml/2006/main" prst="rect">
            <a:avLst/>
          </a:prstGeom>
          <a:solidFill xmlns:a="http://schemas.openxmlformats.org/drawingml/2006/main">
            <a:srgbClr val="20594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588C403-BF2E-492B-8C53-9A75F59999F1}"/>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F2684E"/>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107F95E-70DD-445C-BB1C-5D9B89317BF0}"/>
              </a:ext>
            </a:extLst>
          </p:cNvPr>
          <p:cNvSpPr>
            <a:spLocks xmlns:a="http://schemas.openxmlformats.org/drawingml/2006/main" noGrp="1"/>
          </p:cNvSpPr>
          <p:nvPr/>
        </p:nvSpPr>
        <p:spPr>
          <a:xfrm xmlns:a="http://schemas.openxmlformats.org/drawingml/2006/main">
            <a:off x="609600" y="333375"/>
            <a:ext cx="108394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700" b="1">
                <a:solidFill>
                  <a:srgbClr val="FFFFFF"/>
                </a:solidFill>
                <a:latin typeface="Arial"/>
                <a:ea typeface="Arial"/>
                <a:cs typeface="Arial"/>
              </a:defRPr>
            </a:pPr>
            <a:r>
              <a:rPr sz="2700" b="1">
                <a:solidFill>
                  <a:srgbClr val="FFFFFF"/>
                </a:solidFill>
                <a:latin typeface="Arial"/>
                <a:ea typeface="Arial"/>
                <a:cs typeface="Arial"/>
              </a:rPr>
              <a:t>NutriCore: meals and fridge swaps</a:t>
            </a:r>
          </a:p>
        </p:txBody>
      </p:sp>
      <p:sp>
        <p:nvSpPr>
          <p:cNvPr id="4" name="">
            <a:extLst xmlns:a="http://schemas.openxmlformats.org/drawingml/2006/main">
              <a:ext uri="{FF2B5EF4-FFF2-40B4-BE49-F238E27FC236}">
                <a16:creationId xmlns:a16="http://schemas.microsoft.com/office/drawing/2014/main" id="{AC034C1C-6FC9-442B-86D6-52E0A338B29C}"/>
              </a:ext>
            </a:extLst>
          </p:cNvPr>
          <p:cNvSpPr>
            <a:spLocks xmlns:a="http://schemas.openxmlformats.org/drawingml/2006/main" noGrp="1"/>
          </p:cNvSpPr>
          <p:nvPr/>
        </p:nvSpPr>
        <p:spPr>
          <a:xfrm xmlns:a="http://schemas.openxmlformats.org/drawingml/2006/main">
            <a:off x="609600" y="1219200"/>
            <a:ext cx="10982325" cy="38100"/>
          </a:xfrm>
          <a:prstGeom xmlns:a="http://schemas.openxmlformats.org/drawingml/2006/main" prst="rect">
            <a:avLst/>
          </a:prstGeom>
          <a:solidFill xmlns:a="http://schemas.openxmlformats.org/drawingml/2006/main">
            <a:srgbClr val="F2684E"/>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CAC0CE1-5CC3-4F22-BF0C-796EAC65601C}"/>
              </a:ext>
            </a:extLst>
          </p:cNvPr>
          <p:cNvSpPr>
            <a:spLocks xmlns:a="http://schemas.openxmlformats.org/drawingml/2006/main" noGrp="1"/>
          </p:cNvSpPr>
          <p:nvPr/>
        </p:nvSpPr>
        <p:spPr>
          <a:xfrm xmlns:a="http://schemas.openxmlformats.org/drawingml/2006/main">
            <a:off x="609600" y="640080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lgn="l">
              <a:defRPr sz="975" b="1">
                <a:solidFill>
                  <a:srgbClr val="205947"/>
                </a:solidFill>
                <a:latin typeface="Arial"/>
                <a:ea typeface="Arial"/>
                <a:cs typeface="Arial"/>
              </a:defRPr>
            </a:pPr>
            <a:r>
              <a:rPr sz="975" b="1">
                <a:solidFill>
                  <a:srgbClr val="205947"/>
                </a:solidFill>
                <a:latin typeface="Arial"/>
                <a:ea typeface="Arial"/>
                <a:cs typeface="Arial"/>
              </a:rPr>
              <a:t>LOCAL AI MODULE</a:t>
            </a:r>
          </a:p>
        </p:txBody>
      </p:sp>
      <p:sp>
        <p:nvSpPr>
          <p:cNvPr id="6" name="">
            <a:extLst xmlns:a="http://schemas.openxmlformats.org/drawingml/2006/main">
              <a:ext uri="{FF2B5EF4-FFF2-40B4-BE49-F238E27FC236}">
                <a16:creationId xmlns:a16="http://schemas.microsoft.com/office/drawing/2014/main" id="{1EC2EC01-9744-4A00-829A-BEB3C770236F}"/>
              </a:ext>
            </a:extLst>
          </p:cNvPr>
          <p:cNvSpPr>
            <a:spLocks xmlns:a="http://schemas.openxmlformats.org/drawingml/2006/main" noGrp="1"/>
          </p:cNvSpPr>
          <p:nvPr/>
        </p:nvSpPr>
        <p:spPr>
          <a:xfrm xmlns:a="http://schemas.openxmlformats.org/drawingml/2006/main">
            <a:off x="10972800" y="6372225"/>
            <a:ext cx="6000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125" b="1">
                <a:solidFill>
                  <a:srgbClr val="205947"/>
                </a:solidFill>
                <a:latin typeface="Arial"/>
                <a:ea typeface="Arial"/>
                <a:cs typeface="Arial"/>
              </a:defRPr>
            </a:pPr>
            <a:r>
              <a:rPr sz="1125" b="1">
                <a:solidFill>
                  <a:srgbClr val="205947"/>
                </a:solidFill>
                <a:latin typeface="Arial"/>
                <a:ea typeface="Arial"/>
                <a:cs typeface="Arial"/>
              </a:rPr>
              <a:t>11</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cfeb396b51f84d56"/>
          <a:stretch xmlns:a="http://schemas.openxmlformats.org/drawingml/2006/main"/>
        </p:blipFill>
        <p:spPr>
          <a:xfrm xmlns:a="http://schemas.openxmlformats.org/drawingml/2006/main">
            <a:off x="600075" y="1456673"/>
            <a:ext cx="2543175" cy="4563780"/>
          </a:xfrm>
          <a:prstGeom xmlns:a="http://schemas.openxmlformats.org/drawingml/2006/main" prst="rect">
            <a:avLst/>
          </a:prstGeom>
        </p:spPr>
      </p:pic>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50fb66d7f0824789"/>
          <a:stretch xmlns:a="http://schemas.openxmlformats.org/drawingml/2006/main"/>
        </p:blipFill>
        <p:spPr>
          <a:xfrm xmlns:a="http://schemas.openxmlformats.org/drawingml/2006/main">
            <a:off x="3415722" y="1390650"/>
            <a:ext cx="2188732" cy="4695825"/>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64D215E7-9A30-4038-A1F8-AFA253C47EB1}"/>
              </a:ext>
            </a:extLst>
          </p:cNvPr>
          <p:cNvSpPr>
            <a:spLocks xmlns:a="http://schemas.openxmlformats.org/drawingml/2006/main" noGrp="1"/>
          </p:cNvSpPr>
          <p:nvPr/>
        </p:nvSpPr>
        <p:spPr>
          <a:xfrm xmlns:a="http://schemas.openxmlformats.org/drawingml/2006/main">
            <a:off x="6181725" y="1647825"/>
            <a:ext cx="5429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950" b="1">
                <a:solidFill>
                  <a:srgbClr val="17232F"/>
                </a:solidFill>
                <a:latin typeface="Arial"/>
                <a:ea typeface="Arial"/>
                <a:cs typeface="Arial"/>
              </a:defRPr>
            </a:pPr>
            <a:r>
              <a:rPr sz="1950" b="1">
                <a:solidFill>
                  <a:srgbClr val="17232F"/>
                </a:solidFill>
                <a:latin typeface="Arial"/>
                <a:ea typeface="Arial"/>
                <a:cs typeface="Arial"/>
              </a:rPr>
              <a:t>Profile + local meal data</a:t>
            </a:r>
          </a:p>
        </p:txBody>
      </p:sp>
      <p:sp>
        <p:nvSpPr>
          <p:cNvPr id="10" name="">
            <a:extLst xmlns:a="http://schemas.openxmlformats.org/drawingml/2006/main">
              <a:ext uri="{FF2B5EF4-FFF2-40B4-BE49-F238E27FC236}">
                <a16:creationId xmlns:a16="http://schemas.microsoft.com/office/drawing/2014/main" id="{5333AF1C-AD84-4DDB-BE09-3C41ACCE0D3B}"/>
              </a:ext>
            </a:extLst>
          </p:cNvPr>
          <p:cNvSpPr>
            <a:spLocks xmlns:a="http://schemas.openxmlformats.org/drawingml/2006/main" noGrp="1"/>
          </p:cNvSpPr>
          <p:nvPr/>
        </p:nvSpPr>
        <p:spPr>
          <a:xfrm xmlns:a="http://schemas.openxmlformats.org/drawingml/2006/main">
            <a:off x="6191250" y="2533650"/>
            <a:ext cx="66675" cy="400050"/>
          </a:xfrm>
          <a:prstGeom xmlns:a="http://schemas.openxmlformats.org/drawingml/2006/main" prst="rect">
            <a:avLst/>
          </a:prstGeom>
          <a:solidFill xmlns:a="http://schemas.openxmlformats.org/drawingml/2006/main">
            <a:srgbClr val="0F936F"/>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C1EE5BFC-ACD3-4D12-943E-8FDED7D25AF0}"/>
              </a:ext>
            </a:extLst>
          </p:cNvPr>
          <p:cNvSpPr>
            <a:spLocks xmlns:a="http://schemas.openxmlformats.org/drawingml/2006/main" noGrp="1"/>
          </p:cNvSpPr>
          <p:nvPr/>
        </p:nvSpPr>
        <p:spPr>
          <a:xfrm xmlns:a="http://schemas.openxmlformats.org/drawingml/2006/main">
            <a:off x="6419850" y="2457450"/>
            <a:ext cx="5029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0">
                <a:solidFill>
                  <a:srgbClr val="17232F"/>
                </a:solidFill>
                <a:latin typeface="Arial"/>
                <a:ea typeface="Arial"/>
                <a:cs typeface="Arial"/>
              </a:defRPr>
            </a:pPr>
            <a:r>
              <a:rPr sz="1575" b="0">
                <a:solidFill>
                  <a:srgbClr val="17232F"/>
                </a:solidFill>
                <a:latin typeface="Arial"/>
                <a:ea typeface="Arial"/>
                <a:cs typeface="Arial"/>
              </a:rPr>
              <a:t>Model ranks meals against calorie and nutrition needs.</a:t>
            </a:r>
          </a:p>
        </p:txBody>
      </p:sp>
      <p:sp>
        <p:nvSpPr>
          <p:cNvPr id="12" name="">
            <a:extLst xmlns:a="http://schemas.openxmlformats.org/drawingml/2006/main">
              <a:ext uri="{FF2B5EF4-FFF2-40B4-BE49-F238E27FC236}">
                <a16:creationId xmlns:a16="http://schemas.microsoft.com/office/drawing/2014/main" id="{B45A0EB4-48BB-40D5-B9F3-1ED38592C2EB}"/>
              </a:ext>
            </a:extLst>
          </p:cNvPr>
          <p:cNvSpPr>
            <a:spLocks xmlns:a="http://schemas.openxmlformats.org/drawingml/2006/main" noGrp="1"/>
          </p:cNvSpPr>
          <p:nvPr/>
        </p:nvSpPr>
        <p:spPr>
          <a:xfrm xmlns:a="http://schemas.openxmlformats.org/drawingml/2006/main">
            <a:off x="6191250" y="3524250"/>
            <a:ext cx="66675" cy="400050"/>
          </a:xfrm>
          <a:prstGeom xmlns:a="http://schemas.openxmlformats.org/drawingml/2006/main" prst="rect">
            <a:avLst/>
          </a:prstGeom>
          <a:solidFill xmlns:a="http://schemas.openxmlformats.org/drawingml/2006/main">
            <a:srgbClr val="0F936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E50A8418-1DEF-40EF-B0DF-026EBC6999C4}"/>
              </a:ext>
            </a:extLst>
          </p:cNvPr>
          <p:cNvSpPr>
            <a:spLocks xmlns:a="http://schemas.openxmlformats.org/drawingml/2006/main" noGrp="1"/>
          </p:cNvSpPr>
          <p:nvPr/>
        </p:nvSpPr>
        <p:spPr>
          <a:xfrm xmlns:a="http://schemas.openxmlformats.org/drawingml/2006/main">
            <a:off x="6419850" y="3448050"/>
            <a:ext cx="5029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0">
                <a:solidFill>
                  <a:srgbClr val="17232F"/>
                </a:solidFill>
                <a:latin typeface="Arial"/>
                <a:ea typeface="Arial"/>
                <a:cs typeface="Arial"/>
              </a:defRPr>
            </a:pPr>
            <a:r>
              <a:rPr sz="1575" b="0">
                <a:solidFill>
                  <a:srgbClr val="17232F"/>
                </a:solidFill>
                <a:latin typeface="Arial"/>
                <a:ea typeface="Arial"/>
                <a:cs typeface="Arial"/>
              </a:rPr>
              <a:t>Allergies and disliked foods are filtered out.</a:t>
            </a:r>
          </a:p>
        </p:txBody>
      </p:sp>
      <p:sp>
        <p:nvSpPr>
          <p:cNvPr id="14" name="">
            <a:extLst xmlns:a="http://schemas.openxmlformats.org/drawingml/2006/main">
              <a:ext uri="{FF2B5EF4-FFF2-40B4-BE49-F238E27FC236}">
                <a16:creationId xmlns:a16="http://schemas.microsoft.com/office/drawing/2014/main" id="{2C44531D-6F78-4ADD-8D22-E77BE6660EB6}"/>
              </a:ext>
            </a:extLst>
          </p:cNvPr>
          <p:cNvSpPr>
            <a:spLocks xmlns:a="http://schemas.openxmlformats.org/drawingml/2006/main" noGrp="1"/>
          </p:cNvSpPr>
          <p:nvPr/>
        </p:nvSpPr>
        <p:spPr>
          <a:xfrm xmlns:a="http://schemas.openxmlformats.org/drawingml/2006/main">
            <a:off x="6191250" y="4514850"/>
            <a:ext cx="66675" cy="400050"/>
          </a:xfrm>
          <a:prstGeom xmlns:a="http://schemas.openxmlformats.org/drawingml/2006/main" prst="rect">
            <a:avLst/>
          </a:prstGeom>
          <a:solidFill xmlns:a="http://schemas.openxmlformats.org/drawingml/2006/main">
            <a:srgbClr val="0F936F"/>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31A08917-9104-4F65-92FE-7C89FA0AD695}"/>
              </a:ext>
            </a:extLst>
          </p:cNvPr>
          <p:cNvSpPr>
            <a:spLocks xmlns:a="http://schemas.openxmlformats.org/drawingml/2006/main" noGrp="1"/>
          </p:cNvSpPr>
          <p:nvPr/>
        </p:nvSpPr>
        <p:spPr>
          <a:xfrm xmlns:a="http://schemas.openxmlformats.org/drawingml/2006/main">
            <a:off x="6419850" y="4438650"/>
            <a:ext cx="5029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0">
                <a:solidFill>
                  <a:srgbClr val="17232F"/>
                </a:solidFill>
                <a:latin typeface="Arial"/>
                <a:ea typeface="Arial"/>
                <a:cs typeface="Arial"/>
              </a:defRPr>
            </a:pPr>
            <a:r>
              <a:rPr sz="1575" b="0">
                <a:solidFill>
                  <a:srgbClr val="17232F"/>
                </a:solidFill>
                <a:latin typeface="Arial"/>
                <a:ea typeface="Arial"/>
                <a:cs typeface="Arial"/>
              </a:rPr>
              <a:t>Fridge ingredients produce practical alternatives.</a:t>
            </a:r>
          </a:p>
        </p:txBody>
      </p:sp>
    </p:spTree>
    <p:extLst>
      <p:ext uri="{BB962C8B-B14F-4D97-AF65-F5344CB8AC3E}">
        <p14:creationId xmlns:p14="http://schemas.microsoft.com/office/powerpoint/2010/main" val="585484666"/>
      </p:ext>
    </p:extLst>
  </p:cSld>
</p:sld>
</file>

<file path=ppt/slides/slide12.xml><?xml version="1.0" encoding="utf-8"?>
<p:sld xmlns:p="http://schemas.openxmlformats.org/presentationml/2006/main">
  <p:cSld>
    <p:bg>
      <p:bgPr>
        <a:solidFill xmlns:a="http://schemas.openxmlformats.org/drawingml/2006/main">
          <a:srgbClr val="EAF2F8"/>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6E3613C2-8EC3-47D6-9BA7-D45F895ECCBC}"/>
              </a:ext>
            </a:extLst>
          </p:cNvPr>
          <p:cNvSpPr>
            <a:spLocks xmlns:a="http://schemas.openxmlformats.org/drawingml/2006/main" noGrp="1"/>
          </p:cNvSpPr>
          <p:nvPr/>
        </p:nvSpPr>
        <p:spPr>
          <a:xfrm xmlns:a="http://schemas.openxmlformats.org/drawingml/2006/main">
            <a:off x="0" y="0"/>
            <a:ext cx="12192000" cy="1257300"/>
          </a:xfrm>
          <a:prstGeom xmlns:a="http://schemas.openxmlformats.org/drawingml/2006/main" prst="rect">
            <a:avLst/>
          </a:prstGeom>
          <a:solidFill xmlns:a="http://schemas.openxmlformats.org/drawingml/2006/main">
            <a:srgbClr val="173B5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D476EDB-73B4-4118-BB36-FA5782E6A1C5}"/>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F2684E"/>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39800357-39A1-45F5-9BE1-D4D8FFE27506}"/>
              </a:ext>
            </a:extLst>
          </p:cNvPr>
          <p:cNvSpPr>
            <a:spLocks xmlns:a="http://schemas.openxmlformats.org/drawingml/2006/main" noGrp="1"/>
          </p:cNvSpPr>
          <p:nvPr/>
        </p:nvSpPr>
        <p:spPr>
          <a:xfrm xmlns:a="http://schemas.openxmlformats.org/drawingml/2006/main">
            <a:off x="609600" y="333375"/>
            <a:ext cx="108394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700" b="1">
                <a:solidFill>
                  <a:srgbClr val="FFFFFF"/>
                </a:solidFill>
                <a:latin typeface="Arial"/>
                <a:ea typeface="Arial"/>
                <a:cs typeface="Arial"/>
              </a:defRPr>
            </a:pPr>
            <a:r>
              <a:rPr sz="2700" b="1">
                <a:solidFill>
                  <a:srgbClr val="FFFFFF"/>
                </a:solidFill>
                <a:latin typeface="Arial"/>
                <a:ea typeface="Arial"/>
                <a:cs typeface="Arial"/>
              </a:rPr>
              <a:t>Human review before meal display</a:t>
            </a:r>
          </a:p>
        </p:txBody>
      </p:sp>
      <p:sp>
        <p:nvSpPr>
          <p:cNvPr id="4" name="">
            <a:extLst xmlns:a="http://schemas.openxmlformats.org/drawingml/2006/main">
              <a:ext uri="{FF2B5EF4-FFF2-40B4-BE49-F238E27FC236}">
                <a16:creationId xmlns:a16="http://schemas.microsoft.com/office/drawing/2014/main" id="{C1BCD505-57F3-446E-80B9-4B502C333D72}"/>
              </a:ext>
            </a:extLst>
          </p:cNvPr>
          <p:cNvSpPr>
            <a:spLocks xmlns:a="http://schemas.openxmlformats.org/drawingml/2006/main" noGrp="1"/>
          </p:cNvSpPr>
          <p:nvPr/>
        </p:nvSpPr>
        <p:spPr>
          <a:xfrm xmlns:a="http://schemas.openxmlformats.org/drawingml/2006/main">
            <a:off x="609600" y="1219200"/>
            <a:ext cx="10982325" cy="38100"/>
          </a:xfrm>
          <a:prstGeom xmlns:a="http://schemas.openxmlformats.org/drawingml/2006/main" prst="rect">
            <a:avLst/>
          </a:prstGeom>
          <a:solidFill xmlns:a="http://schemas.openxmlformats.org/drawingml/2006/main">
            <a:srgbClr val="F2684E"/>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C35B2DE-65FE-4BD5-B5D5-ED297B6A9CC5}"/>
              </a:ext>
            </a:extLst>
          </p:cNvPr>
          <p:cNvSpPr>
            <a:spLocks xmlns:a="http://schemas.openxmlformats.org/drawingml/2006/main" noGrp="1"/>
          </p:cNvSpPr>
          <p:nvPr/>
        </p:nvSpPr>
        <p:spPr>
          <a:xfrm xmlns:a="http://schemas.openxmlformats.org/drawingml/2006/main">
            <a:off x="609600" y="640080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lgn="l">
              <a:defRPr sz="975" b="1">
                <a:solidFill>
                  <a:srgbClr val="173B54"/>
                </a:solidFill>
                <a:latin typeface="Arial"/>
                <a:ea typeface="Arial"/>
                <a:cs typeface="Arial"/>
              </a:defRPr>
            </a:pPr>
            <a:r>
              <a:rPr sz="975" b="1">
                <a:solidFill>
                  <a:srgbClr val="173B54"/>
                </a:solidFill>
                <a:latin typeface="Arial"/>
                <a:ea typeface="Arial"/>
                <a:cs typeface="Arial"/>
              </a:rPr>
              <a:t>SAFETY GATE</a:t>
            </a:r>
          </a:p>
        </p:txBody>
      </p:sp>
      <p:sp>
        <p:nvSpPr>
          <p:cNvPr id="6" name="">
            <a:extLst xmlns:a="http://schemas.openxmlformats.org/drawingml/2006/main">
              <a:ext uri="{FF2B5EF4-FFF2-40B4-BE49-F238E27FC236}">
                <a16:creationId xmlns:a16="http://schemas.microsoft.com/office/drawing/2014/main" id="{2C94F0CD-0385-45CD-B84E-573701EF737C}"/>
              </a:ext>
            </a:extLst>
          </p:cNvPr>
          <p:cNvSpPr>
            <a:spLocks xmlns:a="http://schemas.openxmlformats.org/drawingml/2006/main" noGrp="1"/>
          </p:cNvSpPr>
          <p:nvPr/>
        </p:nvSpPr>
        <p:spPr>
          <a:xfrm xmlns:a="http://schemas.openxmlformats.org/drawingml/2006/main">
            <a:off x="10972800" y="6372225"/>
            <a:ext cx="6000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125" b="1">
                <a:solidFill>
                  <a:srgbClr val="173B54"/>
                </a:solidFill>
                <a:latin typeface="Arial"/>
                <a:ea typeface="Arial"/>
                <a:cs typeface="Arial"/>
              </a:defRPr>
            </a:pPr>
            <a:r>
              <a:rPr sz="1125" b="1">
                <a:solidFill>
                  <a:srgbClr val="173B54"/>
                </a:solidFill>
                <a:latin typeface="Arial"/>
                <a:ea typeface="Arial"/>
                <a:cs typeface="Arial"/>
              </a:rPr>
              <a:t>12</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014e15038d7c4445"/>
          <a:stretch xmlns:a="http://schemas.openxmlformats.org/drawingml/2006/main"/>
        </p:blipFill>
        <p:spPr>
          <a:xfrm xmlns:a="http://schemas.openxmlformats.org/drawingml/2006/main">
            <a:off x="824884" y="1381125"/>
            <a:ext cx="2855558" cy="4810125"/>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A9AFFFE8-91D9-4CE5-AB72-FC54FE3573D4}"/>
              </a:ext>
            </a:extLst>
          </p:cNvPr>
          <p:cNvSpPr>
            <a:spLocks xmlns:a="http://schemas.openxmlformats.org/drawingml/2006/main" noGrp="1"/>
          </p:cNvSpPr>
          <p:nvPr/>
        </p:nvSpPr>
        <p:spPr>
          <a:xfrm xmlns:a="http://schemas.openxmlformats.org/drawingml/2006/main">
            <a:off x="4238625" y="1914525"/>
            <a:ext cx="762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9020"/>
          </a:bodyPr>
          <a:lstStyle xmlns:a="http://schemas.openxmlformats.org/drawingml/2006/main"/>
          <a:p xmlns:a="http://schemas.openxmlformats.org/drawingml/2006/main">
            <a:pPr algn="l">
              <a:defRPr sz="2550" b="1">
                <a:solidFill>
                  <a:srgbClr val="0F936F"/>
                </a:solidFill>
                <a:latin typeface="Arial"/>
                <a:ea typeface="Arial"/>
                <a:cs typeface="Arial"/>
              </a:defRPr>
            </a:pPr>
            <a:r>
              <a:rPr sz="2550" b="1">
                <a:solidFill>
                  <a:srgbClr val="0F936F"/>
                </a:solidFill>
                <a:latin typeface="Arial"/>
                <a:ea typeface="Arial"/>
                <a:cs typeface="Arial"/>
              </a:rPr>
              <a:t>01</a:t>
            </a:r>
          </a:p>
        </p:txBody>
      </p:sp>
      <p:sp>
        <p:nvSpPr>
          <p:cNvPr id="9" name="">
            <a:extLst xmlns:a="http://schemas.openxmlformats.org/drawingml/2006/main">
              <a:ext uri="{FF2B5EF4-FFF2-40B4-BE49-F238E27FC236}">
                <a16:creationId xmlns:a16="http://schemas.microsoft.com/office/drawing/2014/main" id="{59CDF959-27C5-432E-974F-612B922FB5EB}"/>
              </a:ext>
            </a:extLst>
          </p:cNvPr>
          <p:cNvSpPr>
            <a:spLocks xmlns:a="http://schemas.openxmlformats.org/drawingml/2006/main" noGrp="1"/>
          </p:cNvSpPr>
          <p:nvPr/>
        </p:nvSpPr>
        <p:spPr>
          <a:xfrm xmlns:a="http://schemas.openxmlformats.org/drawingml/2006/main">
            <a:off x="4238625" y="2514600"/>
            <a:ext cx="6915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75" b="1">
                <a:solidFill>
                  <a:srgbClr val="17232F"/>
                </a:solidFill>
                <a:latin typeface="Arial"/>
                <a:ea typeface="Arial"/>
                <a:cs typeface="Arial"/>
              </a:defRPr>
            </a:pPr>
            <a:r>
              <a:rPr sz="1875" b="1">
                <a:solidFill>
                  <a:srgbClr val="17232F"/>
                </a:solidFill>
                <a:latin typeface="Arial"/>
                <a:ea typeface="Arial"/>
                <a:cs typeface="Arial"/>
              </a:rPr>
              <a:t>Model proposes</a:t>
            </a:r>
          </a:p>
        </p:txBody>
      </p:sp>
      <p:sp>
        <p:nvSpPr>
          <p:cNvPr id="10" name="">
            <a:extLst xmlns:a="http://schemas.openxmlformats.org/drawingml/2006/main">
              <a:ext uri="{FF2B5EF4-FFF2-40B4-BE49-F238E27FC236}">
                <a16:creationId xmlns:a16="http://schemas.microsoft.com/office/drawing/2014/main" id="{BBCBC8F9-CB29-428F-9367-AE9D04B655B2}"/>
              </a:ext>
            </a:extLst>
          </p:cNvPr>
          <p:cNvSpPr>
            <a:spLocks xmlns:a="http://schemas.openxmlformats.org/drawingml/2006/main" noGrp="1"/>
          </p:cNvSpPr>
          <p:nvPr/>
        </p:nvSpPr>
        <p:spPr>
          <a:xfrm xmlns:a="http://schemas.openxmlformats.org/drawingml/2006/main">
            <a:off x="4238625" y="3019425"/>
            <a:ext cx="69151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0">
                <a:solidFill>
                  <a:srgbClr val="526675"/>
                </a:solidFill>
                <a:latin typeface="Arial"/>
                <a:ea typeface="Arial"/>
                <a:cs typeface="Arial"/>
              </a:defRPr>
            </a:pPr>
            <a:r>
              <a:rPr sz="1500" b="0">
                <a:solidFill>
                  <a:srgbClr val="526675"/>
                </a:solidFill>
                <a:latin typeface="Arial"/>
                <a:ea typeface="Arial"/>
                <a:cs typeface="Arial"/>
              </a:rPr>
              <a:t>NutriCore ranks suitable candidate meals.</a:t>
            </a:r>
          </a:p>
        </p:txBody>
      </p:sp>
      <p:sp>
        <p:nvSpPr>
          <p:cNvPr id="11" name="">
            <a:extLst xmlns:a="http://schemas.openxmlformats.org/drawingml/2006/main">
              <a:ext uri="{FF2B5EF4-FFF2-40B4-BE49-F238E27FC236}">
                <a16:creationId xmlns:a16="http://schemas.microsoft.com/office/drawing/2014/main" id="{FBB8BCFD-E9E3-45B6-8BAF-341EF2B875B7}"/>
              </a:ext>
            </a:extLst>
          </p:cNvPr>
          <p:cNvSpPr>
            <a:spLocks xmlns:a="http://schemas.openxmlformats.org/drawingml/2006/main" noGrp="1"/>
          </p:cNvSpPr>
          <p:nvPr/>
        </p:nvSpPr>
        <p:spPr>
          <a:xfrm xmlns:a="http://schemas.openxmlformats.org/drawingml/2006/main">
            <a:off x="4238625" y="3562350"/>
            <a:ext cx="762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9020"/>
          </a:bodyPr>
          <a:lstStyle xmlns:a="http://schemas.openxmlformats.org/drawingml/2006/main"/>
          <a:p xmlns:a="http://schemas.openxmlformats.org/drawingml/2006/main">
            <a:pPr algn="l">
              <a:defRPr sz="2550" b="1">
                <a:solidFill>
                  <a:srgbClr val="0F936F"/>
                </a:solidFill>
                <a:latin typeface="Arial"/>
                <a:ea typeface="Arial"/>
                <a:cs typeface="Arial"/>
              </a:defRPr>
            </a:pPr>
            <a:r>
              <a:rPr sz="2550" b="1">
                <a:solidFill>
                  <a:srgbClr val="0F936F"/>
                </a:solidFill>
                <a:latin typeface="Arial"/>
                <a:ea typeface="Arial"/>
                <a:cs typeface="Arial"/>
              </a:rPr>
              <a:t>02</a:t>
            </a:r>
          </a:p>
        </p:txBody>
      </p:sp>
      <p:sp>
        <p:nvSpPr>
          <p:cNvPr id="12" name="">
            <a:extLst xmlns:a="http://schemas.openxmlformats.org/drawingml/2006/main">
              <a:ext uri="{FF2B5EF4-FFF2-40B4-BE49-F238E27FC236}">
                <a16:creationId xmlns:a16="http://schemas.microsoft.com/office/drawing/2014/main" id="{CEF4FAAF-2CED-4DAE-B2E5-C19087DB5B70}"/>
              </a:ext>
            </a:extLst>
          </p:cNvPr>
          <p:cNvSpPr>
            <a:spLocks xmlns:a="http://schemas.openxmlformats.org/drawingml/2006/main" noGrp="1"/>
          </p:cNvSpPr>
          <p:nvPr/>
        </p:nvSpPr>
        <p:spPr>
          <a:xfrm xmlns:a="http://schemas.openxmlformats.org/drawingml/2006/main">
            <a:off x="4238625" y="4162425"/>
            <a:ext cx="6915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75" b="1">
                <a:solidFill>
                  <a:srgbClr val="17232F"/>
                </a:solidFill>
                <a:latin typeface="Arial"/>
                <a:ea typeface="Arial"/>
                <a:cs typeface="Arial"/>
              </a:defRPr>
            </a:pPr>
            <a:r>
              <a:rPr sz="1875" b="1">
                <a:solidFill>
                  <a:srgbClr val="17232F"/>
                </a:solidFill>
                <a:latin typeface="Arial"/>
                <a:ea typeface="Arial"/>
                <a:cs typeface="Arial"/>
              </a:rPr>
              <a:t>Expert decides</a:t>
            </a:r>
          </a:p>
        </p:txBody>
      </p:sp>
      <p:sp>
        <p:nvSpPr>
          <p:cNvPr id="13" name="">
            <a:extLst xmlns:a="http://schemas.openxmlformats.org/drawingml/2006/main">
              <a:ext uri="{FF2B5EF4-FFF2-40B4-BE49-F238E27FC236}">
                <a16:creationId xmlns:a16="http://schemas.microsoft.com/office/drawing/2014/main" id="{4EB2509F-0130-44B0-A244-316C44754B18}"/>
              </a:ext>
            </a:extLst>
          </p:cNvPr>
          <p:cNvSpPr>
            <a:spLocks xmlns:a="http://schemas.openxmlformats.org/drawingml/2006/main" noGrp="1"/>
          </p:cNvSpPr>
          <p:nvPr/>
        </p:nvSpPr>
        <p:spPr>
          <a:xfrm xmlns:a="http://schemas.openxmlformats.org/drawingml/2006/main">
            <a:off x="4238625" y="4667250"/>
            <a:ext cx="69151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0">
                <a:solidFill>
                  <a:srgbClr val="526675"/>
                </a:solidFill>
                <a:latin typeface="Arial"/>
                <a:ea typeface="Arial"/>
                <a:cs typeface="Arial"/>
              </a:defRPr>
            </a:pPr>
            <a:r>
              <a:rPr sz="1500" b="0">
                <a:solidFill>
                  <a:srgbClr val="526675"/>
                </a:solidFill>
                <a:latin typeface="Arial"/>
                <a:ea typeface="Arial"/>
                <a:cs typeface="Arial"/>
              </a:rPr>
              <a:t>Reviewer approves or rejects meals.</a:t>
            </a:r>
          </a:p>
        </p:txBody>
      </p:sp>
      <p:sp>
        <p:nvSpPr>
          <p:cNvPr id="14" name="">
            <a:extLst xmlns:a="http://schemas.openxmlformats.org/drawingml/2006/main">
              <a:ext uri="{FF2B5EF4-FFF2-40B4-BE49-F238E27FC236}">
                <a16:creationId xmlns:a16="http://schemas.microsoft.com/office/drawing/2014/main" id="{65384096-86DC-4323-80C5-D544F3F15531}"/>
              </a:ext>
            </a:extLst>
          </p:cNvPr>
          <p:cNvSpPr>
            <a:spLocks xmlns:a="http://schemas.openxmlformats.org/drawingml/2006/main" noGrp="1"/>
          </p:cNvSpPr>
          <p:nvPr/>
        </p:nvSpPr>
        <p:spPr>
          <a:xfrm xmlns:a="http://schemas.openxmlformats.org/drawingml/2006/main">
            <a:off x="4238625" y="5314950"/>
            <a:ext cx="676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025" b="1">
                <a:solidFill>
                  <a:srgbClr val="0F936F"/>
                </a:solidFill>
                <a:latin typeface="Arial"/>
                <a:ea typeface="Arial"/>
                <a:cs typeface="Arial"/>
              </a:defRPr>
            </a:pPr>
            <a:r>
              <a:rPr sz="2025" b="1">
                <a:solidFill>
                  <a:srgbClr val="0F936F"/>
                </a:solidFill>
                <a:latin typeface="Arial"/>
                <a:ea typeface="Arial"/>
                <a:cs typeface="Arial"/>
              </a:rPr>
              <a:t>Only approved meals reach the user plan.</a:t>
            </a:r>
          </a:p>
        </p:txBody>
      </p:sp>
    </p:spTree>
    <p:extLst>
      <p:ext uri="{BB962C8B-B14F-4D97-AF65-F5344CB8AC3E}">
        <p14:creationId xmlns:p14="http://schemas.microsoft.com/office/powerpoint/2010/main" val="159250717"/>
      </p:ext>
    </p:extLst>
  </p:cSld>
</p:sld>
</file>

<file path=ppt/slides/slide13.xml><?xml version="1.0" encoding="utf-8"?>
<p:sld xmlns:p="http://schemas.openxmlformats.org/presentationml/2006/main">
  <p:cSld>
    <p:bg>
      <p:bgPr>
        <a:solidFill xmlns:a="http://schemas.openxmlformats.org/drawingml/2006/main">
          <a:srgbClr val="F8F2EB"/>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DF8696C5-45FF-4A96-88FF-EEE51376631A}"/>
              </a:ext>
            </a:extLst>
          </p:cNvPr>
          <p:cNvSpPr>
            <a:spLocks xmlns:a="http://schemas.openxmlformats.org/drawingml/2006/main" noGrp="1"/>
          </p:cNvSpPr>
          <p:nvPr/>
        </p:nvSpPr>
        <p:spPr>
          <a:xfrm xmlns:a="http://schemas.openxmlformats.org/drawingml/2006/main">
            <a:off x="0" y="0"/>
            <a:ext cx="12192000" cy="1257300"/>
          </a:xfrm>
          <a:prstGeom xmlns:a="http://schemas.openxmlformats.org/drawingml/2006/main" prst="rect">
            <a:avLst/>
          </a:prstGeom>
          <a:solidFill xmlns:a="http://schemas.openxmlformats.org/drawingml/2006/main">
            <a:srgbClr val="6A453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900048D-5988-406A-8CE1-E2C03E0FC2C1}"/>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F2684E"/>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1A250B3-D7BD-45F8-83C0-96CB21EE04AD}"/>
              </a:ext>
            </a:extLst>
          </p:cNvPr>
          <p:cNvSpPr>
            <a:spLocks xmlns:a="http://schemas.openxmlformats.org/drawingml/2006/main" noGrp="1"/>
          </p:cNvSpPr>
          <p:nvPr/>
        </p:nvSpPr>
        <p:spPr>
          <a:xfrm xmlns:a="http://schemas.openxmlformats.org/drawingml/2006/main">
            <a:off x="609600" y="333375"/>
            <a:ext cx="108394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700" b="1">
                <a:solidFill>
                  <a:srgbClr val="FFFFFF"/>
                </a:solidFill>
                <a:latin typeface="Arial"/>
                <a:ea typeface="Arial"/>
                <a:cs typeface="Arial"/>
              </a:defRPr>
            </a:pPr>
            <a:r>
              <a:rPr sz="2700" b="1">
                <a:solidFill>
                  <a:srgbClr val="FFFFFF"/>
                </a:solidFill>
                <a:latin typeface="Arial"/>
                <a:ea typeface="Arial"/>
                <a:cs typeface="Arial"/>
              </a:rPr>
              <a:t>PoseForm: video to form feedback</a:t>
            </a:r>
          </a:p>
        </p:txBody>
      </p:sp>
      <p:sp>
        <p:nvSpPr>
          <p:cNvPr id="4" name="">
            <a:extLst xmlns:a="http://schemas.openxmlformats.org/drawingml/2006/main">
              <a:ext uri="{FF2B5EF4-FFF2-40B4-BE49-F238E27FC236}">
                <a16:creationId xmlns:a16="http://schemas.microsoft.com/office/drawing/2014/main" id="{78820668-80EA-4D05-9147-CE3314D08CDF}"/>
              </a:ext>
            </a:extLst>
          </p:cNvPr>
          <p:cNvSpPr>
            <a:spLocks xmlns:a="http://schemas.openxmlformats.org/drawingml/2006/main" noGrp="1"/>
          </p:cNvSpPr>
          <p:nvPr/>
        </p:nvSpPr>
        <p:spPr>
          <a:xfrm xmlns:a="http://schemas.openxmlformats.org/drawingml/2006/main">
            <a:off x="609600" y="1219200"/>
            <a:ext cx="10982325" cy="38100"/>
          </a:xfrm>
          <a:prstGeom xmlns:a="http://schemas.openxmlformats.org/drawingml/2006/main" prst="rect">
            <a:avLst/>
          </a:prstGeom>
          <a:solidFill xmlns:a="http://schemas.openxmlformats.org/drawingml/2006/main">
            <a:srgbClr val="F2684E"/>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C6345EC-4D4C-4120-8392-496662B81462}"/>
              </a:ext>
            </a:extLst>
          </p:cNvPr>
          <p:cNvSpPr>
            <a:spLocks xmlns:a="http://schemas.openxmlformats.org/drawingml/2006/main" noGrp="1"/>
          </p:cNvSpPr>
          <p:nvPr/>
        </p:nvSpPr>
        <p:spPr>
          <a:xfrm xmlns:a="http://schemas.openxmlformats.org/drawingml/2006/main">
            <a:off x="609600" y="640080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lgn="l">
              <a:defRPr sz="975" b="1">
                <a:solidFill>
                  <a:srgbClr val="6A453C"/>
                </a:solidFill>
                <a:latin typeface="Arial"/>
                <a:ea typeface="Arial"/>
                <a:cs typeface="Arial"/>
              </a:defRPr>
            </a:pPr>
            <a:r>
              <a:rPr sz="975" b="1">
                <a:solidFill>
                  <a:srgbClr val="6A453C"/>
                </a:solidFill>
                <a:latin typeface="Arial"/>
                <a:ea typeface="Arial"/>
                <a:cs typeface="Arial"/>
              </a:rPr>
              <a:t>LOCAL AI MODULE</a:t>
            </a:r>
          </a:p>
        </p:txBody>
      </p:sp>
      <p:sp>
        <p:nvSpPr>
          <p:cNvPr id="6" name="">
            <a:extLst xmlns:a="http://schemas.openxmlformats.org/drawingml/2006/main">
              <a:ext uri="{FF2B5EF4-FFF2-40B4-BE49-F238E27FC236}">
                <a16:creationId xmlns:a16="http://schemas.microsoft.com/office/drawing/2014/main" id="{94FC4335-5F8A-4441-BEB8-4DBF4235C4F9}"/>
              </a:ext>
            </a:extLst>
          </p:cNvPr>
          <p:cNvSpPr>
            <a:spLocks xmlns:a="http://schemas.openxmlformats.org/drawingml/2006/main" noGrp="1"/>
          </p:cNvSpPr>
          <p:nvPr/>
        </p:nvSpPr>
        <p:spPr>
          <a:xfrm xmlns:a="http://schemas.openxmlformats.org/drawingml/2006/main">
            <a:off x="10972800" y="6372225"/>
            <a:ext cx="6000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125" b="1">
                <a:solidFill>
                  <a:srgbClr val="6A453C"/>
                </a:solidFill>
                <a:latin typeface="Arial"/>
                <a:ea typeface="Arial"/>
                <a:cs typeface="Arial"/>
              </a:defRPr>
            </a:pPr>
            <a:r>
              <a:rPr sz="1125" b="1">
                <a:solidFill>
                  <a:srgbClr val="6A453C"/>
                </a:solidFill>
                <a:latin typeface="Arial"/>
                <a:ea typeface="Arial"/>
                <a:cs typeface="Arial"/>
              </a:rPr>
              <a:t>13</a:t>
            </a:r>
          </a:p>
        </p:txBody>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dd8addeb16bd430c"/>
          <a:stretch xmlns:a="http://schemas.openxmlformats.org/drawingml/2006/main"/>
        </p:blipFill>
        <p:spPr>
          <a:xfrm xmlns:a="http://schemas.openxmlformats.org/drawingml/2006/main">
            <a:off x="886609" y="1409700"/>
            <a:ext cx="2474932" cy="46863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EFBD8103-3865-4E63-954D-94879723CC61}"/>
              </a:ext>
            </a:extLst>
          </p:cNvPr>
          <p:cNvSpPr>
            <a:spLocks xmlns:a="http://schemas.openxmlformats.org/drawingml/2006/main" noGrp="1"/>
          </p:cNvSpPr>
          <p:nvPr/>
        </p:nvSpPr>
        <p:spPr>
          <a:xfrm xmlns:a="http://schemas.openxmlformats.org/drawingml/2006/main">
            <a:off x="4152900" y="1514475"/>
            <a:ext cx="6000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1">
                <a:solidFill>
                  <a:srgbClr val="0F936F"/>
                </a:solidFill>
                <a:latin typeface="Arial"/>
                <a:ea typeface="Arial"/>
                <a:cs typeface="Arial"/>
              </a:defRPr>
            </a:pPr>
            <a:r>
              <a:rPr sz="1725" b="1">
                <a:solidFill>
                  <a:srgbClr val="0F936F"/>
                </a:solidFill>
                <a:latin typeface="Arial"/>
                <a:ea typeface="Arial"/>
                <a:cs typeface="Arial"/>
              </a:rPr>
              <a:t>01</a:t>
            </a:r>
          </a:p>
        </p:txBody>
      </p:sp>
      <p:sp>
        <p:nvSpPr>
          <p:cNvPr id="9" name="">
            <a:extLst xmlns:a="http://schemas.openxmlformats.org/drawingml/2006/main">
              <a:ext uri="{FF2B5EF4-FFF2-40B4-BE49-F238E27FC236}">
                <a16:creationId xmlns:a16="http://schemas.microsoft.com/office/drawing/2014/main" id="{291A49C1-0418-43B9-BCD3-2100A5E04044}"/>
              </a:ext>
            </a:extLst>
          </p:cNvPr>
          <p:cNvSpPr>
            <a:spLocks xmlns:a="http://schemas.openxmlformats.org/drawingml/2006/main" noGrp="1"/>
          </p:cNvSpPr>
          <p:nvPr/>
        </p:nvSpPr>
        <p:spPr>
          <a:xfrm xmlns:a="http://schemas.openxmlformats.org/drawingml/2006/main">
            <a:off x="4876800" y="1476375"/>
            <a:ext cx="64198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0">
                <a:solidFill>
                  <a:srgbClr val="17232F"/>
                </a:solidFill>
                <a:latin typeface="Arial"/>
                <a:ea typeface="Arial"/>
                <a:cs typeface="Arial"/>
              </a:defRPr>
            </a:pPr>
            <a:r>
              <a:rPr sz="1650" b="0">
                <a:solidFill>
                  <a:srgbClr val="17232F"/>
                </a:solidFill>
                <a:latin typeface="Arial"/>
                <a:ea typeface="Arial"/>
                <a:cs typeface="Arial"/>
              </a:rPr>
              <a:t>Record or upload</a:t>
            </a:r>
          </a:p>
        </p:txBody>
      </p:sp>
      <p:sp>
        <p:nvSpPr>
          <p:cNvPr id="10" name="">
            <a:extLst xmlns:a="http://schemas.openxmlformats.org/drawingml/2006/main">
              <a:ext uri="{FF2B5EF4-FFF2-40B4-BE49-F238E27FC236}">
                <a16:creationId xmlns:a16="http://schemas.microsoft.com/office/drawing/2014/main" id="{CAACD42E-5A03-4850-80C0-349E5368236B}"/>
              </a:ext>
            </a:extLst>
          </p:cNvPr>
          <p:cNvSpPr>
            <a:spLocks xmlns:a="http://schemas.openxmlformats.org/drawingml/2006/main" noGrp="1"/>
          </p:cNvSpPr>
          <p:nvPr/>
        </p:nvSpPr>
        <p:spPr>
          <a:xfrm xmlns:a="http://schemas.openxmlformats.org/drawingml/2006/main">
            <a:off x="4171950" y="1943100"/>
            <a:ext cx="19050" cy="276225"/>
          </a:xfrm>
          <a:prstGeom xmlns:a="http://schemas.openxmlformats.org/drawingml/2006/main" prst="rect">
            <a:avLst/>
          </a:prstGeom>
          <a:solidFill xmlns:a="http://schemas.openxmlformats.org/drawingml/2006/main">
            <a:srgbClr val="BBCED1"/>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047E675B-BB8A-4309-B7A8-442EA6BDE8AE}"/>
              </a:ext>
            </a:extLst>
          </p:cNvPr>
          <p:cNvSpPr>
            <a:spLocks xmlns:a="http://schemas.openxmlformats.org/drawingml/2006/main" noGrp="1"/>
          </p:cNvSpPr>
          <p:nvPr/>
        </p:nvSpPr>
        <p:spPr>
          <a:xfrm xmlns:a="http://schemas.openxmlformats.org/drawingml/2006/main">
            <a:off x="4152900" y="2247900"/>
            <a:ext cx="6000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1">
                <a:solidFill>
                  <a:srgbClr val="0F936F"/>
                </a:solidFill>
                <a:latin typeface="Arial"/>
                <a:ea typeface="Arial"/>
                <a:cs typeface="Arial"/>
              </a:defRPr>
            </a:pPr>
            <a:r>
              <a:rPr sz="1725" b="1">
                <a:solidFill>
                  <a:srgbClr val="0F936F"/>
                </a:solidFill>
                <a:latin typeface="Arial"/>
                <a:ea typeface="Arial"/>
                <a:cs typeface="Arial"/>
              </a:rPr>
              <a:t>02</a:t>
            </a:r>
          </a:p>
        </p:txBody>
      </p:sp>
      <p:sp>
        <p:nvSpPr>
          <p:cNvPr id="12" name="">
            <a:extLst xmlns:a="http://schemas.openxmlformats.org/drawingml/2006/main">
              <a:ext uri="{FF2B5EF4-FFF2-40B4-BE49-F238E27FC236}">
                <a16:creationId xmlns:a16="http://schemas.microsoft.com/office/drawing/2014/main" id="{D5DC9562-E925-4156-9E49-04D35098AF70}"/>
              </a:ext>
            </a:extLst>
          </p:cNvPr>
          <p:cNvSpPr>
            <a:spLocks xmlns:a="http://schemas.openxmlformats.org/drawingml/2006/main" noGrp="1"/>
          </p:cNvSpPr>
          <p:nvPr/>
        </p:nvSpPr>
        <p:spPr>
          <a:xfrm xmlns:a="http://schemas.openxmlformats.org/drawingml/2006/main">
            <a:off x="4876800" y="2209800"/>
            <a:ext cx="64198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0">
                <a:solidFill>
                  <a:srgbClr val="17232F"/>
                </a:solidFill>
                <a:latin typeface="Arial"/>
                <a:ea typeface="Arial"/>
                <a:cs typeface="Arial"/>
              </a:defRPr>
            </a:pPr>
            <a:r>
              <a:rPr sz="1650" b="0">
                <a:solidFill>
                  <a:srgbClr val="17232F"/>
                </a:solidFill>
                <a:latin typeface="Arial"/>
                <a:ea typeface="Arial"/>
                <a:cs typeface="Arial"/>
              </a:rPr>
              <a:t>Backend stores video briefly</a:t>
            </a:r>
          </a:p>
        </p:txBody>
      </p:sp>
      <p:sp>
        <p:nvSpPr>
          <p:cNvPr id="13" name="">
            <a:extLst xmlns:a="http://schemas.openxmlformats.org/drawingml/2006/main">
              <a:ext uri="{FF2B5EF4-FFF2-40B4-BE49-F238E27FC236}">
                <a16:creationId xmlns:a16="http://schemas.microsoft.com/office/drawing/2014/main" id="{019B6829-5232-4A32-AF78-B233A29AD16D}"/>
              </a:ext>
            </a:extLst>
          </p:cNvPr>
          <p:cNvSpPr>
            <a:spLocks xmlns:a="http://schemas.openxmlformats.org/drawingml/2006/main" noGrp="1"/>
          </p:cNvSpPr>
          <p:nvPr/>
        </p:nvSpPr>
        <p:spPr>
          <a:xfrm xmlns:a="http://schemas.openxmlformats.org/drawingml/2006/main">
            <a:off x="4171950" y="2676525"/>
            <a:ext cx="19050" cy="276225"/>
          </a:xfrm>
          <a:prstGeom xmlns:a="http://schemas.openxmlformats.org/drawingml/2006/main" prst="rect">
            <a:avLst/>
          </a:prstGeom>
          <a:solidFill xmlns:a="http://schemas.openxmlformats.org/drawingml/2006/main">
            <a:srgbClr val="BBCED1"/>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CFB22DD1-42FC-4DE2-86E6-7E87FB91C3FA}"/>
              </a:ext>
            </a:extLst>
          </p:cNvPr>
          <p:cNvSpPr>
            <a:spLocks xmlns:a="http://schemas.openxmlformats.org/drawingml/2006/main" noGrp="1"/>
          </p:cNvSpPr>
          <p:nvPr/>
        </p:nvSpPr>
        <p:spPr>
          <a:xfrm xmlns:a="http://schemas.openxmlformats.org/drawingml/2006/main">
            <a:off x="4152900" y="2981325"/>
            <a:ext cx="6000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1">
                <a:solidFill>
                  <a:srgbClr val="0F936F"/>
                </a:solidFill>
                <a:latin typeface="Arial"/>
                <a:ea typeface="Arial"/>
                <a:cs typeface="Arial"/>
              </a:defRPr>
            </a:pPr>
            <a:r>
              <a:rPr sz="1725" b="1">
                <a:solidFill>
                  <a:srgbClr val="0F936F"/>
                </a:solidFill>
                <a:latin typeface="Arial"/>
                <a:ea typeface="Arial"/>
                <a:cs typeface="Arial"/>
              </a:rPr>
              <a:t>03</a:t>
            </a:r>
          </a:p>
        </p:txBody>
      </p:sp>
      <p:sp>
        <p:nvSpPr>
          <p:cNvPr id="15" name="">
            <a:extLst xmlns:a="http://schemas.openxmlformats.org/drawingml/2006/main">
              <a:ext uri="{FF2B5EF4-FFF2-40B4-BE49-F238E27FC236}">
                <a16:creationId xmlns:a16="http://schemas.microsoft.com/office/drawing/2014/main" id="{82114F37-7C91-4AE7-9E81-BD01791F240D}"/>
              </a:ext>
            </a:extLst>
          </p:cNvPr>
          <p:cNvSpPr>
            <a:spLocks xmlns:a="http://schemas.openxmlformats.org/drawingml/2006/main" noGrp="1"/>
          </p:cNvSpPr>
          <p:nvPr/>
        </p:nvSpPr>
        <p:spPr>
          <a:xfrm xmlns:a="http://schemas.openxmlformats.org/drawingml/2006/main">
            <a:off x="4876800" y="2943225"/>
            <a:ext cx="64198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0">
                <a:solidFill>
                  <a:srgbClr val="17232F"/>
                </a:solidFill>
                <a:latin typeface="Arial"/>
                <a:ea typeface="Arial"/>
                <a:cs typeface="Arial"/>
              </a:defRPr>
            </a:pPr>
            <a:r>
              <a:rPr sz="1650" b="0">
                <a:solidFill>
                  <a:srgbClr val="17232F"/>
                </a:solidFill>
                <a:latin typeface="Arial"/>
                <a:ea typeface="Arial"/>
                <a:cs typeface="Arial"/>
              </a:rPr>
              <a:t>Python reads video frames</a:t>
            </a:r>
          </a:p>
        </p:txBody>
      </p:sp>
      <p:sp>
        <p:nvSpPr>
          <p:cNvPr id="16" name="">
            <a:extLst xmlns:a="http://schemas.openxmlformats.org/drawingml/2006/main">
              <a:ext uri="{FF2B5EF4-FFF2-40B4-BE49-F238E27FC236}">
                <a16:creationId xmlns:a16="http://schemas.microsoft.com/office/drawing/2014/main" id="{78A337F0-9C59-4F64-B536-B01455E5E1E1}"/>
              </a:ext>
            </a:extLst>
          </p:cNvPr>
          <p:cNvSpPr>
            <a:spLocks xmlns:a="http://schemas.openxmlformats.org/drawingml/2006/main" noGrp="1"/>
          </p:cNvSpPr>
          <p:nvPr/>
        </p:nvSpPr>
        <p:spPr>
          <a:xfrm xmlns:a="http://schemas.openxmlformats.org/drawingml/2006/main">
            <a:off x="4171950" y="3409950"/>
            <a:ext cx="19050" cy="276225"/>
          </a:xfrm>
          <a:prstGeom xmlns:a="http://schemas.openxmlformats.org/drawingml/2006/main" prst="rect">
            <a:avLst/>
          </a:prstGeom>
          <a:solidFill xmlns:a="http://schemas.openxmlformats.org/drawingml/2006/main">
            <a:srgbClr val="BBCED1"/>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55847DDF-1F3C-4B8E-87A0-7EAE7035CEEE}"/>
              </a:ext>
            </a:extLst>
          </p:cNvPr>
          <p:cNvSpPr>
            <a:spLocks xmlns:a="http://schemas.openxmlformats.org/drawingml/2006/main" noGrp="1"/>
          </p:cNvSpPr>
          <p:nvPr/>
        </p:nvSpPr>
        <p:spPr>
          <a:xfrm xmlns:a="http://schemas.openxmlformats.org/drawingml/2006/main">
            <a:off x="4152900" y="3714750"/>
            <a:ext cx="6000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1">
                <a:solidFill>
                  <a:srgbClr val="0F936F"/>
                </a:solidFill>
                <a:latin typeface="Arial"/>
                <a:ea typeface="Arial"/>
                <a:cs typeface="Arial"/>
              </a:defRPr>
            </a:pPr>
            <a:r>
              <a:rPr sz="1725" b="1">
                <a:solidFill>
                  <a:srgbClr val="0F936F"/>
                </a:solidFill>
                <a:latin typeface="Arial"/>
                <a:ea typeface="Arial"/>
                <a:cs typeface="Arial"/>
              </a:rPr>
              <a:t>04</a:t>
            </a:r>
          </a:p>
        </p:txBody>
      </p:sp>
      <p:sp>
        <p:nvSpPr>
          <p:cNvPr id="18" name="">
            <a:extLst xmlns:a="http://schemas.openxmlformats.org/drawingml/2006/main">
              <a:ext uri="{FF2B5EF4-FFF2-40B4-BE49-F238E27FC236}">
                <a16:creationId xmlns:a16="http://schemas.microsoft.com/office/drawing/2014/main" id="{598DA5D7-191E-4B26-9E5D-0BEE80742B5D}"/>
              </a:ext>
            </a:extLst>
          </p:cNvPr>
          <p:cNvSpPr>
            <a:spLocks xmlns:a="http://schemas.openxmlformats.org/drawingml/2006/main" noGrp="1"/>
          </p:cNvSpPr>
          <p:nvPr/>
        </p:nvSpPr>
        <p:spPr>
          <a:xfrm xmlns:a="http://schemas.openxmlformats.org/drawingml/2006/main">
            <a:off x="4876800" y="3676650"/>
            <a:ext cx="64198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0">
                <a:solidFill>
                  <a:srgbClr val="17232F"/>
                </a:solidFill>
                <a:latin typeface="Arial"/>
                <a:ea typeface="Arial"/>
                <a:cs typeface="Arial"/>
              </a:defRPr>
            </a:pPr>
            <a:r>
              <a:rPr sz="1650" b="0">
                <a:solidFill>
                  <a:srgbClr val="17232F"/>
                </a:solidFill>
                <a:latin typeface="Arial"/>
                <a:ea typeface="Arial"/>
                <a:cs typeface="Arial"/>
              </a:rPr>
              <a:t>MediaPipe detects joints</a:t>
            </a:r>
          </a:p>
        </p:txBody>
      </p:sp>
      <p:sp>
        <p:nvSpPr>
          <p:cNvPr id="19" name="">
            <a:extLst xmlns:a="http://schemas.openxmlformats.org/drawingml/2006/main">
              <a:ext uri="{FF2B5EF4-FFF2-40B4-BE49-F238E27FC236}">
                <a16:creationId xmlns:a16="http://schemas.microsoft.com/office/drawing/2014/main" id="{93F5E6D6-28E0-41CB-90CE-28F558DDD476}"/>
              </a:ext>
            </a:extLst>
          </p:cNvPr>
          <p:cNvSpPr>
            <a:spLocks xmlns:a="http://schemas.openxmlformats.org/drawingml/2006/main" noGrp="1"/>
          </p:cNvSpPr>
          <p:nvPr/>
        </p:nvSpPr>
        <p:spPr>
          <a:xfrm xmlns:a="http://schemas.openxmlformats.org/drawingml/2006/main">
            <a:off x="4171950" y="4143375"/>
            <a:ext cx="19050" cy="276225"/>
          </a:xfrm>
          <a:prstGeom xmlns:a="http://schemas.openxmlformats.org/drawingml/2006/main" prst="rect">
            <a:avLst/>
          </a:prstGeom>
          <a:solidFill xmlns:a="http://schemas.openxmlformats.org/drawingml/2006/main">
            <a:srgbClr val="BBCED1"/>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542B2B4B-2996-4C48-80D6-E80390626CFB}"/>
              </a:ext>
            </a:extLst>
          </p:cNvPr>
          <p:cNvSpPr>
            <a:spLocks xmlns:a="http://schemas.openxmlformats.org/drawingml/2006/main" noGrp="1"/>
          </p:cNvSpPr>
          <p:nvPr/>
        </p:nvSpPr>
        <p:spPr>
          <a:xfrm xmlns:a="http://schemas.openxmlformats.org/drawingml/2006/main">
            <a:off x="4152900" y="4448175"/>
            <a:ext cx="6000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1">
                <a:solidFill>
                  <a:srgbClr val="0F936F"/>
                </a:solidFill>
                <a:latin typeface="Arial"/>
                <a:ea typeface="Arial"/>
                <a:cs typeface="Arial"/>
              </a:defRPr>
            </a:pPr>
            <a:r>
              <a:rPr sz="1725" b="1">
                <a:solidFill>
                  <a:srgbClr val="0F936F"/>
                </a:solidFill>
                <a:latin typeface="Arial"/>
                <a:ea typeface="Arial"/>
                <a:cs typeface="Arial"/>
              </a:rPr>
              <a:t>05</a:t>
            </a:r>
          </a:p>
        </p:txBody>
      </p:sp>
      <p:sp>
        <p:nvSpPr>
          <p:cNvPr id="21" name="">
            <a:extLst xmlns:a="http://schemas.openxmlformats.org/drawingml/2006/main">
              <a:ext uri="{FF2B5EF4-FFF2-40B4-BE49-F238E27FC236}">
                <a16:creationId xmlns:a16="http://schemas.microsoft.com/office/drawing/2014/main" id="{4FE93D5E-8575-46E5-BF7B-6D37355915F0}"/>
              </a:ext>
            </a:extLst>
          </p:cNvPr>
          <p:cNvSpPr>
            <a:spLocks xmlns:a="http://schemas.openxmlformats.org/drawingml/2006/main" noGrp="1"/>
          </p:cNvSpPr>
          <p:nvPr/>
        </p:nvSpPr>
        <p:spPr>
          <a:xfrm xmlns:a="http://schemas.openxmlformats.org/drawingml/2006/main">
            <a:off x="4876800" y="4410075"/>
            <a:ext cx="64198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0">
                <a:solidFill>
                  <a:srgbClr val="17232F"/>
                </a:solidFill>
                <a:latin typeface="Arial"/>
                <a:ea typeface="Arial"/>
                <a:cs typeface="Arial"/>
              </a:defRPr>
            </a:pPr>
            <a:r>
              <a:rPr sz="1650" b="0">
                <a:solidFill>
                  <a:srgbClr val="17232F"/>
                </a:solidFill>
                <a:latin typeface="Arial"/>
                <a:ea typeface="Arial"/>
                <a:cs typeface="Arial"/>
              </a:rPr>
              <a:t>Rules count reps and check form</a:t>
            </a:r>
          </a:p>
        </p:txBody>
      </p:sp>
      <p:sp>
        <p:nvSpPr>
          <p:cNvPr id="22" name="">
            <a:extLst xmlns:a="http://schemas.openxmlformats.org/drawingml/2006/main">
              <a:ext uri="{FF2B5EF4-FFF2-40B4-BE49-F238E27FC236}">
                <a16:creationId xmlns:a16="http://schemas.microsoft.com/office/drawing/2014/main" id="{179E26EF-DFB0-4F4D-BF04-433D0EEB53BA}"/>
              </a:ext>
            </a:extLst>
          </p:cNvPr>
          <p:cNvSpPr>
            <a:spLocks xmlns:a="http://schemas.openxmlformats.org/drawingml/2006/main" noGrp="1"/>
          </p:cNvSpPr>
          <p:nvPr/>
        </p:nvSpPr>
        <p:spPr>
          <a:xfrm xmlns:a="http://schemas.openxmlformats.org/drawingml/2006/main">
            <a:off x="4171950" y="4876800"/>
            <a:ext cx="19050" cy="276225"/>
          </a:xfrm>
          <a:prstGeom xmlns:a="http://schemas.openxmlformats.org/drawingml/2006/main" prst="rect">
            <a:avLst/>
          </a:prstGeom>
          <a:solidFill xmlns:a="http://schemas.openxmlformats.org/drawingml/2006/main">
            <a:srgbClr val="BBCED1"/>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3128432A-13C2-41BC-8393-E797304D1F87}"/>
              </a:ext>
            </a:extLst>
          </p:cNvPr>
          <p:cNvSpPr>
            <a:spLocks xmlns:a="http://schemas.openxmlformats.org/drawingml/2006/main" noGrp="1"/>
          </p:cNvSpPr>
          <p:nvPr/>
        </p:nvSpPr>
        <p:spPr>
          <a:xfrm xmlns:a="http://schemas.openxmlformats.org/drawingml/2006/main">
            <a:off x="4152900" y="5181600"/>
            <a:ext cx="6000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1">
                <a:solidFill>
                  <a:srgbClr val="0F936F"/>
                </a:solidFill>
                <a:latin typeface="Arial"/>
                <a:ea typeface="Arial"/>
                <a:cs typeface="Arial"/>
              </a:defRPr>
            </a:pPr>
            <a:r>
              <a:rPr sz="1725" b="1">
                <a:solidFill>
                  <a:srgbClr val="0F936F"/>
                </a:solidFill>
                <a:latin typeface="Arial"/>
                <a:ea typeface="Arial"/>
                <a:cs typeface="Arial"/>
              </a:rPr>
              <a:t>06</a:t>
            </a:r>
          </a:p>
        </p:txBody>
      </p:sp>
      <p:sp>
        <p:nvSpPr>
          <p:cNvPr id="24" name="">
            <a:extLst xmlns:a="http://schemas.openxmlformats.org/drawingml/2006/main">
              <a:ext uri="{FF2B5EF4-FFF2-40B4-BE49-F238E27FC236}">
                <a16:creationId xmlns:a16="http://schemas.microsoft.com/office/drawing/2014/main" id="{82DB3531-FF3E-4C68-BBAE-D9E7B4D0FCAC}"/>
              </a:ext>
            </a:extLst>
          </p:cNvPr>
          <p:cNvSpPr>
            <a:spLocks xmlns:a="http://schemas.openxmlformats.org/drawingml/2006/main" noGrp="1"/>
          </p:cNvSpPr>
          <p:nvPr/>
        </p:nvSpPr>
        <p:spPr>
          <a:xfrm xmlns:a="http://schemas.openxmlformats.org/drawingml/2006/main">
            <a:off x="4876800" y="5143500"/>
            <a:ext cx="64198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17232F"/>
                </a:solidFill>
                <a:latin typeface="Arial"/>
                <a:ea typeface="Arial"/>
                <a:cs typeface="Arial"/>
              </a:defRPr>
            </a:pPr>
            <a:r>
              <a:rPr sz="1650" b="1">
                <a:solidFill>
                  <a:srgbClr val="17232F"/>
                </a:solidFill>
                <a:latin typeface="Arial"/>
                <a:ea typeface="Arial"/>
                <a:cs typeface="Arial"/>
              </a:rPr>
              <a:t>JSON feedback returns to phone</a:t>
            </a:r>
          </a:p>
        </p:txBody>
      </p:sp>
    </p:spTree>
    <p:extLst>
      <p:ext uri="{BB962C8B-B14F-4D97-AF65-F5344CB8AC3E}">
        <p14:creationId xmlns:p14="http://schemas.microsoft.com/office/powerpoint/2010/main" val="1685785246"/>
      </p:ext>
    </p:extLst>
  </p:cSld>
</p:sld>
</file>

<file path=ppt/slides/slide14.xml><?xml version="1.0" encoding="utf-8"?>
<p:sld xmlns:p="http://schemas.openxmlformats.org/presentationml/2006/main">
  <p:cSld>
    <p:bg>
      <p:bgPr>
        <a:solidFill xmlns:a="http://schemas.openxmlformats.org/drawingml/2006/main">
          <a:srgbClr val="E9F6F1"/>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C537D6FC-D8E6-48D1-ACA0-F0044DB1AA5B}"/>
              </a:ext>
            </a:extLst>
          </p:cNvPr>
          <p:cNvSpPr>
            <a:spLocks xmlns:a="http://schemas.openxmlformats.org/drawingml/2006/main" noGrp="1"/>
          </p:cNvSpPr>
          <p:nvPr/>
        </p:nvSpPr>
        <p:spPr>
          <a:xfrm xmlns:a="http://schemas.openxmlformats.org/drawingml/2006/main">
            <a:off x="0" y="0"/>
            <a:ext cx="12192000" cy="1257300"/>
          </a:xfrm>
          <a:prstGeom xmlns:a="http://schemas.openxmlformats.org/drawingml/2006/main" prst="rect">
            <a:avLst/>
          </a:prstGeom>
          <a:solidFill xmlns:a="http://schemas.openxmlformats.org/drawingml/2006/main">
            <a:srgbClr val="124C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D1EE9F9-C9A4-441B-BA55-FB96D567B980}"/>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F2684E"/>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5524E78-9EAF-4574-A99F-0B21AB39C1F7}"/>
              </a:ext>
            </a:extLst>
          </p:cNvPr>
          <p:cNvSpPr>
            <a:spLocks xmlns:a="http://schemas.openxmlformats.org/drawingml/2006/main" noGrp="1"/>
          </p:cNvSpPr>
          <p:nvPr/>
        </p:nvSpPr>
        <p:spPr>
          <a:xfrm xmlns:a="http://schemas.openxmlformats.org/drawingml/2006/main">
            <a:off x="609600" y="333375"/>
            <a:ext cx="108394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700" b="1">
                <a:solidFill>
                  <a:srgbClr val="FFFFFF"/>
                </a:solidFill>
                <a:latin typeface="Arial"/>
                <a:ea typeface="Arial"/>
                <a:cs typeface="Arial"/>
              </a:defRPr>
            </a:pPr>
            <a:r>
              <a:rPr sz="2700" b="1">
                <a:solidFill>
                  <a:srgbClr val="FFFFFF"/>
                </a:solidFill>
                <a:latin typeface="Arial"/>
                <a:ea typeface="Arial"/>
                <a:cs typeface="Arial"/>
              </a:rPr>
              <a:t>Community, challenges and rewards</a:t>
            </a:r>
          </a:p>
        </p:txBody>
      </p:sp>
      <p:sp>
        <p:nvSpPr>
          <p:cNvPr id="4" name="">
            <a:extLst xmlns:a="http://schemas.openxmlformats.org/drawingml/2006/main">
              <a:ext uri="{FF2B5EF4-FFF2-40B4-BE49-F238E27FC236}">
                <a16:creationId xmlns:a16="http://schemas.microsoft.com/office/drawing/2014/main" id="{63FD5725-7FC4-4DEE-8C06-F6F4FDC7F870}"/>
              </a:ext>
            </a:extLst>
          </p:cNvPr>
          <p:cNvSpPr>
            <a:spLocks xmlns:a="http://schemas.openxmlformats.org/drawingml/2006/main" noGrp="1"/>
          </p:cNvSpPr>
          <p:nvPr/>
        </p:nvSpPr>
        <p:spPr>
          <a:xfrm xmlns:a="http://schemas.openxmlformats.org/drawingml/2006/main">
            <a:off x="609600" y="1219200"/>
            <a:ext cx="10982325" cy="38100"/>
          </a:xfrm>
          <a:prstGeom xmlns:a="http://schemas.openxmlformats.org/drawingml/2006/main" prst="rect">
            <a:avLst/>
          </a:prstGeom>
          <a:solidFill xmlns:a="http://schemas.openxmlformats.org/drawingml/2006/main">
            <a:srgbClr val="F2684E"/>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2A1A9D6-1425-4743-9364-3AD486A44804}"/>
              </a:ext>
            </a:extLst>
          </p:cNvPr>
          <p:cNvSpPr>
            <a:spLocks xmlns:a="http://schemas.openxmlformats.org/drawingml/2006/main" noGrp="1"/>
          </p:cNvSpPr>
          <p:nvPr/>
        </p:nvSpPr>
        <p:spPr>
          <a:xfrm xmlns:a="http://schemas.openxmlformats.org/drawingml/2006/main">
            <a:off x="609600" y="640080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lgn="l">
              <a:defRPr sz="975" b="1">
                <a:solidFill>
                  <a:srgbClr val="124C44"/>
                </a:solidFill>
                <a:latin typeface="Arial"/>
                <a:ea typeface="Arial"/>
                <a:cs typeface="Arial"/>
              </a:defRPr>
            </a:pPr>
            <a:r>
              <a:rPr sz="975" b="1">
                <a:solidFill>
                  <a:srgbClr val="124C44"/>
                </a:solidFill>
                <a:latin typeface="Arial"/>
                <a:ea typeface="Arial"/>
                <a:cs typeface="Arial"/>
              </a:rPr>
              <a:t>DAILY USE</a:t>
            </a:r>
          </a:p>
        </p:txBody>
      </p:sp>
      <p:sp>
        <p:nvSpPr>
          <p:cNvPr id="6" name="">
            <a:extLst xmlns:a="http://schemas.openxmlformats.org/drawingml/2006/main">
              <a:ext uri="{FF2B5EF4-FFF2-40B4-BE49-F238E27FC236}">
                <a16:creationId xmlns:a16="http://schemas.microsoft.com/office/drawing/2014/main" id="{F47D05C8-773A-4BF5-8219-BA5329E330C9}"/>
              </a:ext>
            </a:extLst>
          </p:cNvPr>
          <p:cNvSpPr>
            <a:spLocks xmlns:a="http://schemas.openxmlformats.org/drawingml/2006/main" noGrp="1"/>
          </p:cNvSpPr>
          <p:nvPr/>
        </p:nvSpPr>
        <p:spPr>
          <a:xfrm xmlns:a="http://schemas.openxmlformats.org/drawingml/2006/main">
            <a:off x="10972800" y="6372225"/>
            <a:ext cx="6000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125" b="1">
                <a:solidFill>
                  <a:srgbClr val="124C44"/>
                </a:solidFill>
                <a:latin typeface="Arial"/>
                <a:ea typeface="Arial"/>
                <a:cs typeface="Arial"/>
              </a:defRPr>
            </a:pPr>
            <a:r>
              <a:rPr sz="1125" b="1">
                <a:solidFill>
                  <a:srgbClr val="124C44"/>
                </a:solidFill>
                <a:latin typeface="Arial"/>
                <a:ea typeface="Arial"/>
                <a:cs typeface="Arial"/>
              </a:rPr>
              <a:t>14</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d6ca56f88c644ec1"/>
          <a:stretch xmlns:a="http://schemas.openxmlformats.org/drawingml/2006/main"/>
        </p:blipFill>
        <p:spPr>
          <a:xfrm xmlns:a="http://schemas.openxmlformats.org/drawingml/2006/main">
            <a:off x="882529" y="1409700"/>
            <a:ext cx="2225917" cy="4572000"/>
          </a:xfrm>
          <a:prstGeom xmlns:a="http://schemas.openxmlformats.org/drawingml/2006/main" prst="rect">
            <a:avLst/>
          </a:prstGeom>
        </p:spPr>
      </p:pic>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26e8d4bf43cd4847"/>
          <a:stretch xmlns:a="http://schemas.openxmlformats.org/drawingml/2006/main"/>
        </p:blipFill>
        <p:spPr>
          <a:xfrm xmlns:a="http://schemas.openxmlformats.org/drawingml/2006/main">
            <a:off x="3419475" y="1421850"/>
            <a:ext cx="2657475" cy="4547700"/>
          </a:xfrm>
          <a:prstGeom xmlns:a="http://schemas.openxmlformats.org/drawingml/2006/main" prst="rect">
            <a:avLst/>
          </a:prstGeom>
        </p:spPr>
      </p:pic>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f818cf651fe348c3"/>
          <a:stretch xmlns:a="http://schemas.openxmlformats.org/drawingml/2006/main"/>
        </p:blipFill>
        <p:spPr>
          <a:xfrm xmlns:a="http://schemas.openxmlformats.org/drawingml/2006/main">
            <a:off x="6374503" y="1409700"/>
            <a:ext cx="2252870" cy="457200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56BDC9ED-A0DB-4FF2-9564-15DE1D565A35}"/>
              </a:ext>
            </a:extLst>
          </p:cNvPr>
          <p:cNvSpPr>
            <a:spLocks xmlns:a="http://schemas.openxmlformats.org/drawingml/2006/main" noGrp="1"/>
          </p:cNvSpPr>
          <p:nvPr/>
        </p:nvSpPr>
        <p:spPr>
          <a:xfrm xmlns:a="http://schemas.openxmlformats.org/drawingml/2006/main">
            <a:off x="666750" y="5962650"/>
            <a:ext cx="26574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425" b="1">
                <a:solidFill>
                  <a:srgbClr val="17232F"/>
                </a:solidFill>
                <a:latin typeface="Arial"/>
                <a:ea typeface="Arial"/>
                <a:cs typeface="Arial"/>
              </a:defRPr>
            </a:pPr>
            <a:r>
              <a:rPr sz="1425" b="1">
                <a:solidFill>
                  <a:srgbClr val="17232F"/>
                </a:solidFill>
                <a:latin typeface="Arial"/>
                <a:ea typeface="Arial"/>
                <a:cs typeface="Arial"/>
              </a:rPr>
              <a:t>Redeem rewards</a:t>
            </a:r>
          </a:p>
        </p:txBody>
      </p:sp>
      <p:sp>
        <p:nvSpPr>
          <p:cNvPr id="11" name="">
            <a:extLst xmlns:a="http://schemas.openxmlformats.org/drawingml/2006/main">
              <a:ext uri="{FF2B5EF4-FFF2-40B4-BE49-F238E27FC236}">
                <a16:creationId xmlns:a16="http://schemas.microsoft.com/office/drawing/2014/main" id="{9813FF1E-1127-4F15-879D-0316F45AA3CA}"/>
              </a:ext>
            </a:extLst>
          </p:cNvPr>
          <p:cNvSpPr>
            <a:spLocks xmlns:a="http://schemas.openxmlformats.org/drawingml/2006/main" noGrp="1"/>
          </p:cNvSpPr>
          <p:nvPr/>
        </p:nvSpPr>
        <p:spPr>
          <a:xfrm xmlns:a="http://schemas.openxmlformats.org/drawingml/2006/main">
            <a:off x="3419475" y="5962650"/>
            <a:ext cx="26574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425" b="1">
                <a:solidFill>
                  <a:srgbClr val="17232F"/>
                </a:solidFill>
                <a:latin typeface="Arial"/>
                <a:ea typeface="Arial"/>
                <a:cs typeface="Arial"/>
              </a:defRPr>
            </a:pPr>
            <a:r>
              <a:rPr sz="1425" b="1">
                <a:solidFill>
                  <a:srgbClr val="17232F"/>
                </a:solidFill>
                <a:latin typeface="Arial"/>
                <a:ea typeface="Arial"/>
                <a:cs typeface="Arial"/>
              </a:rPr>
              <a:t>Connect</a:t>
            </a:r>
          </a:p>
        </p:txBody>
      </p:sp>
      <p:sp>
        <p:nvSpPr>
          <p:cNvPr id="12" name="">
            <a:extLst xmlns:a="http://schemas.openxmlformats.org/drawingml/2006/main">
              <a:ext uri="{FF2B5EF4-FFF2-40B4-BE49-F238E27FC236}">
                <a16:creationId xmlns:a16="http://schemas.microsoft.com/office/drawing/2014/main" id="{F85C25EB-0B38-4EAC-818B-D4F4DDC2778E}"/>
              </a:ext>
            </a:extLst>
          </p:cNvPr>
          <p:cNvSpPr>
            <a:spLocks xmlns:a="http://schemas.openxmlformats.org/drawingml/2006/main" noGrp="1"/>
          </p:cNvSpPr>
          <p:nvPr/>
        </p:nvSpPr>
        <p:spPr>
          <a:xfrm xmlns:a="http://schemas.openxmlformats.org/drawingml/2006/main">
            <a:off x="6172200" y="5962650"/>
            <a:ext cx="26574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425" b="1">
                <a:solidFill>
                  <a:srgbClr val="17232F"/>
                </a:solidFill>
                <a:latin typeface="Arial"/>
                <a:ea typeface="Arial"/>
                <a:cs typeface="Arial"/>
              </a:defRPr>
            </a:pPr>
            <a:r>
              <a:rPr sz="1425" b="1">
                <a:solidFill>
                  <a:srgbClr val="17232F"/>
                </a:solidFill>
                <a:latin typeface="Arial"/>
                <a:ea typeface="Arial"/>
                <a:cs typeface="Arial"/>
              </a:rPr>
              <a:t>Stay motivated</a:t>
            </a:r>
          </a:p>
        </p:txBody>
      </p:sp>
    </p:spTree>
    <p:extLst>
      <p:ext uri="{BB962C8B-B14F-4D97-AF65-F5344CB8AC3E}">
        <p14:creationId xmlns:p14="http://schemas.microsoft.com/office/powerpoint/2010/main" val="1138986077"/>
      </p:ext>
    </p:extLst>
  </p:cSld>
</p:sld>
</file>

<file path=ppt/slides/slide15.xml><?xml version="1.0" encoding="utf-8"?>
<p:sld xmlns:p="http://schemas.openxmlformats.org/presentationml/2006/main">
  <p:cSld>
    <p:bg>
      <p:bgPr>
        <a:solidFill xmlns:a="http://schemas.openxmlformats.org/drawingml/2006/main">
          <a:srgbClr val="E8F5E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3DCD123-81DD-4475-A3AF-FAD262CB8D09}"/>
              </a:ext>
            </a:extLst>
          </p:cNvPr>
          <p:cNvSpPr>
            <a:spLocks xmlns:a="http://schemas.openxmlformats.org/drawingml/2006/main" noGrp="1"/>
          </p:cNvSpPr>
          <p:nvPr/>
        </p:nvSpPr>
        <p:spPr>
          <a:xfrm xmlns:a="http://schemas.openxmlformats.org/drawingml/2006/main">
            <a:off x="0" y="0"/>
            <a:ext cx="12192000" cy="1257300"/>
          </a:xfrm>
          <a:prstGeom xmlns:a="http://schemas.openxmlformats.org/drawingml/2006/main" prst="rect">
            <a:avLst/>
          </a:prstGeom>
          <a:solidFill xmlns:a="http://schemas.openxmlformats.org/drawingml/2006/main">
            <a:srgbClr val="123E3D"/>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1ACC96A-2417-4F11-8503-791DEA7C8A66}"/>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F2684E"/>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47A8C14-4B9B-4FC5-AB47-EA06F85D50DA}"/>
              </a:ext>
            </a:extLst>
          </p:cNvPr>
          <p:cNvSpPr>
            <a:spLocks xmlns:a="http://schemas.openxmlformats.org/drawingml/2006/main" noGrp="1"/>
          </p:cNvSpPr>
          <p:nvPr/>
        </p:nvSpPr>
        <p:spPr>
          <a:xfrm xmlns:a="http://schemas.openxmlformats.org/drawingml/2006/main">
            <a:off x="609600" y="333375"/>
            <a:ext cx="108394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700" b="1">
                <a:solidFill>
                  <a:srgbClr val="FFFFFF"/>
                </a:solidFill>
                <a:latin typeface="Arial"/>
                <a:ea typeface="Arial"/>
                <a:cs typeface="Arial"/>
              </a:defRPr>
            </a:pPr>
            <a:r>
              <a:rPr sz="2700" b="1">
                <a:solidFill>
                  <a:srgbClr val="FFFFFF"/>
                </a:solidFill>
                <a:latin typeface="Arial"/>
                <a:ea typeface="Arial"/>
                <a:cs typeface="Arial"/>
              </a:rPr>
              <a:t>What is local AI here?</a:t>
            </a:r>
          </a:p>
        </p:txBody>
      </p:sp>
      <p:sp>
        <p:nvSpPr>
          <p:cNvPr id="4" name="">
            <a:extLst xmlns:a="http://schemas.openxmlformats.org/drawingml/2006/main">
              <a:ext uri="{FF2B5EF4-FFF2-40B4-BE49-F238E27FC236}">
                <a16:creationId xmlns:a16="http://schemas.microsoft.com/office/drawing/2014/main" id="{36190E46-6E3A-4EC3-8428-C01DE4425403}"/>
              </a:ext>
            </a:extLst>
          </p:cNvPr>
          <p:cNvSpPr>
            <a:spLocks xmlns:a="http://schemas.openxmlformats.org/drawingml/2006/main" noGrp="1"/>
          </p:cNvSpPr>
          <p:nvPr/>
        </p:nvSpPr>
        <p:spPr>
          <a:xfrm xmlns:a="http://schemas.openxmlformats.org/drawingml/2006/main">
            <a:off x="609600" y="1219200"/>
            <a:ext cx="10982325" cy="38100"/>
          </a:xfrm>
          <a:prstGeom xmlns:a="http://schemas.openxmlformats.org/drawingml/2006/main" prst="rect">
            <a:avLst/>
          </a:prstGeom>
          <a:solidFill xmlns:a="http://schemas.openxmlformats.org/drawingml/2006/main">
            <a:srgbClr val="F2684E"/>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C9E4613-070C-4F73-A7B8-65F702769516}"/>
              </a:ext>
            </a:extLst>
          </p:cNvPr>
          <p:cNvSpPr>
            <a:spLocks xmlns:a="http://schemas.openxmlformats.org/drawingml/2006/main" noGrp="1"/>
          </p:cNvSpPr>
          <p:nvPr/>
        </p:nvSpPr>
        <p:spPr>
          <a:xfrm xmlns:a="http://schemas.openxmlformats.org/drawingml/2006/main">
            <a:off x="609600" y="640080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lgn="l">
              <a:defRPr sz="975" b="1">
                <a:solidFill>
                  <a:srgbClr val="123E3D"/>
                </a:solidFill>
                <a:latin typeface="Arial"/>
                <a:ea typeface="Arial"/>
                <a:cs typeface="Arial"/>
              </a:defRPr>
            </a:pPr>
            <a:r>
              <a:rPr sz="975" b="1">
                <a:solidFill>
                  <a:srgbClr val="123E3D"/>
                </a:solidFill>
                <a:latin typeface="Arial"/>
                <a:ea typeface="Arial"/>
                <a:cs typeface="Arial"/>
              </a:rPr>
              <a:t>TECHNICAL DISTINCTION</a:t>
            </a:r>
          </a:p>
        </p:txBody>
      </p:sp>
      <p:sp>
        <p:nvSpPr>
          <p:cNvPr id="6" name="">
            <a:extLst xmlns:a="http://schemas.openxmlformats.org/drawingml/2006/main">
              <a:ext uri="{FF2B5EF4-FFF2-40B4-BE49-F238E27FC236}">
                <a16:creationId xmlns:a16="http://schemas.microsoft.com/office/drawing/2014/main" id="{EC698C31-8AF3-4DF3-BEAA-64C6D7DD36DA}"/>
              </a:ext>
            </a:extLst>
          </p:cNvPr>
          <p:cNvSpPr>
            <a:spLocks xmlns:a="http://schemas.openxmlformats.org/drawingml/2006/main" noGrp="1"/>
          </p:cNvSpPr>
          <p:nvPr/>
        </p:nvSpPr>
        <p:spPr>
          <a:xfrm xmlns:a="http://schemas.openxmlformats.org/drawingml/2006/main">
            <a:off x="10972800" y="6372225"/>
            <a:ext cx="6000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125" b="1">
                <a:solidFill>
                  <a:srgbClr val="123E3D"/>
                </a:solidFill>
                <a:latin typeface="Arial"/>
                <a:ea typeface="Arial"/>
                <a:cs typeface="Arial"/>
              </a:defRPr>
            </a:pPr>
            <a:r>
              <a:rPr sz="1125" b="1">
                <a:solidFill>
                  <a:srgbClr val="123E3D"/>
                </a:solidFill>
                <a:latin typeface="Arial"/>
                <a:ea typeface="Arial"/>
                <a:cs typeface="Arial"/>
              </a:rPr>
              <a:t>15</a:t>
            </a:r>
          </a:p>
        </p:txBody>
      </p:sp>
      <p:graphicFrame>
        <p:nvGraphicFramePr>
          <p:cNvPr id="15" name=""/>
          <p:cNvGraphicFramePr/>
          <p:nvPr/>
        </p:nvGraphicFramePr>
        <p:xfrm>
          <a:off xmlns:a="http://schemas.openxmlformats.org/drawingml/2006/main" x="590550" y="1581150"/>
          <a:ext xmlns:a="http://schemas.openxmlformats.org/drawingml/2006/main" cx="10982325" cy="3476625"/>
        </p:xfrm>
        <a:graphic xmlns:a="http://schemas.openxmlformats.org/drawingml/2006/main">
          <a:graphicData uri="http://schemas.openxmlformats.org/drawingml/2006/table">
            <a:tbl>
              <a:tblPr/>
              <a:tblGrid>
                <a:gridCol w="2152650"/>
                <a:gridCol w="5619750"/>
                <a:gridCol w="3209925"/>
              </a:tblGrid>
              <a:tr h="695325">
                <a:tc>
                  <a:txBody>
                    <a:bodyPr/>
                    <a:lstStyle/>
                    <a:p>
                      <a:r>
                        <a:rPr sz="1500" b="1">
                          <a:solidFill>
                            <a:srgbClr val="FFFFFF"/>
                          </a:solidFill>
                          <a:latin typeface="Arial"/>
                          <a:ea typeface="Arial"/>
                          <a:cs typeface="Arial"/>
                        </a:rPr>
                        <a:t>Module</a:t>
                      </a:r>
                    </a:p>
                  </a:txBody>
                  <a:tcPr marL="91440" marR="91440" marT="45720" marB="45720">
                    <a:solidFill>
                      <a:srgbClr val="17232F"/>
                    </a:solidFill>
                  </a:tcPr>
                </a:tc>
                <a:tc>
                  <a:txBody>
                    <a:bodyPr/>
                    <a:lstStyle/>
                    <a:p>
                      <a:r>
                        <a:rPr sz="1500" b="1">
                          <a:solidFill>
                            <a:srgbClr val="FFFFFF"/>
                          </a:solidFill>
                          <a:latin typeface="Arial"/>
                          <a:ea typeface="Arial"/>
                          <a:cs typeface="Arial"/>
                        </a:rPr>
                        <a:t>Method</a:t>
                      </a:r>
                    </a:p>
                  </a:txBody>
                  <a:tcPr marL="91440" marR="91440" marT="45720" marB="45720">
                    <a:solidFill>
                      <a:srgbClr val="17232F"/>
                    </a:solidFill>
                  </a:tcPr>
                </a:tc>
                <a:tc>
                  <a:txBody>
                    <a:bodyPr/>
                    <a:lstStyle/>
                    <a:p>
                      <a:r>
                        <a:rPr sz="1500" b="1">
                          <a:solidFill>
                            <a:srgbClr val="FFFFFF"/>
                          </a:solidFill>
                          <a:latin typeface="Arial"/>
                          <a:ea typeface="Arial"/>
                          <a:cs typeface="Arial"/>
                        </a:rPr>
                        <a:t>User output</a:t>
                      </a:r>
                    </a:p>
                  </a:txBody>
                  <a:tcPr marL="91440" marR="91440" marT="45720" marB="45720">
                    <a:solidFill>
                      <a:srgbClr val="17232F"/>
                    </a:solidFill>
                  </a:tcPr>
                </a:tc>
              </a:tr>
              <a:tr h="695325">
                <a:tc>
                  <a:txBody>
                    <a:bodyPr/>
                    <a:lstStyle/>
                    <a:p>
                      <a:r>
                        <a:rPr sz="1500" b="1">
                          <a:solidFill>
                            <a:srgbClr val="17232F"/>
                          </a:solidFill>
                          <a:latin typeface="Arial"/>
                          <a:ea typeface="Arial"/>
                          <a:cs typeface="Arial"/>
                        </a:rPr>
                        <a:t>TrainCore</a:t>
                      </a:r>
                    </a:p>
                  </a:txBody>
                  <a:tcPr marL="91440" marR="91440" marT="45720" marB="45720">
                    <a:solidFill>
                      <a:srgbClr val="FFFFFF"/>
                    </a:solidFill>
                  </a:tcPr>
                </a:tc>
                <a:tc>
                  <a:txBody>
                    <a:bodyPr/>
                    <a:lstStyle/>
                    <a:p>
                      <a:r>
                        <a:rPr sz="1500" b="0">
                          <a:solidFill>
                            <a:srgbClr val="17232F"/>
                          </a:solidFill>
                          <a:latin typeface="Arial"/>
                          <a:ea typeface="Arial"/>
                          <a:cs typeface="Arial"/>
                        </a:rPr>
                        <a:t>Locally trained exercise suitability model</a:t>
                      </a:r>
                    </a:p>
                  </a:txBody>
                  <a:tcPr marL="91440" marR="91440" marT="45720" marB="45720">
                    <a:solidFill>
                      <a:srgbClr val="FFFFFF"/>
                    </a:solidFill>
                  </a:tcPr>
                </a:tc>
                <a:tc>
                  <a:txBody>
                    <a:bodyPr/>
                    <a:lstStyle/>
                    <a:p>
                      <a:r>
                        <a:rPr sz="1500" b="0">
                          <a:solidFill>
                            <a:srgbClr val="17232F"/>
                          </a:solidFill>
                          <a:latin typeface="Arial"/>
                          <a:ea typeface="Arial"/>
                          <a:cs typeface="Arial"/>
                        </a:rPr>
                        <a:t>Workout ranking</a:t>
                      </a:r>
                    </a:p>
                  </a:txBody>
                  <a:tcPr marL="91440" marR="91440" marT="45720" marB="45720">
                    <a:solidFill>
                      <a:srgbClr val="FFFFFF"/>
                    </a:solidFill>
                  </a:tcPr>
                </a:tc>
              </a:tr>
              <a:tr h="695325">
                <a:tc>
                  <a:txBody>
                    <a:bodyPr/>
                    <a:lstStyle/>
                    <a:p>
                      <a:r>
                        <a:rPr sz="1500" b="1">
                          <a:solidFill>
                            <a:srgbClr val="17232F"/>
                          </a:solidFill>
                          <a:latin typeface="Arial"/>
                          <a:ea typeface="Arial"/>
                          <a:cs typeface="Arial"/>
                        </a:rPr>
                        <a:t>NutriCore</a:t>
                      </a:r>
                    </a:p>
                  </a:txBody>
                  <a:tcPr marL="91440" marR="91440" marT="45720" marB="45720">
                    <a:solidFill>
                      <a:srgbClr val="FFFFFF"/>
                    </a:solidFill>
                  </a:tcPr>
                </a:tc>
                <a:tc>
                  <a:txBody>
                    <a:bodyPr/>
                    <a:lstStyle/>
                    <a:p>
                      <a:r>
                        <a:rPr sz="1500" b="0">
                          <a:solidFill>
                            <a:srgbClr val="17232F"/>
                          </a:solidFill>
                          <a:latin typeface="Arial"/>
                          <a:ea typeface="Arial"/>
                          <a:cs typeface="Arial"/>
                        </a:rPr>
                        <a:t>Locally trained meal suitability model</a:t>
                      </a:r>
                    </a:p>
                  </a:txBody>
                  <a:tcPr marL="91440" marR="91440" marT="45720" marB="45720">
                    <a:solidFill>
                      <a:srgbClr val="FFFFFF"/>
                    </a:solidFill>
                  </a:tcPr>
                </a:tc>
                <a:tc>
                  <a:txBody>
                    <a:bodyPr/>
                    <a:lstStyle/>
                    <a:p>
                      <a:r>
                        <a:rPr sz="1500" b="0">
                          <a:solidFill>
                            <a:srgbClr val="17232F"/>
                          </a:solidFill>
                          <a:latin typeface="Arial"/>
                          <a:ea typeface="Arial"/>
                          <a:cs typeface="Arial"/>
                        </a:rPr>
                        <a:t>Meal ranking + safety filters</a:t>
                      </a:r>
                    </a:p>
                  </a:txBody>
                  <a:tcPr marL="91440" marR="91440" marT="45720" marB="45720">
                    <a:solidFill>
                      <a:srgbClr val="FFFFFF"/>
                    </a:solidFill>
                  </a:tcPr>
                </a:tc>
              </a:tr>
              <a:tr h="695325">
                <a:tc>
                  <a:txBody>
                    <a:bodyPr/>
                    <a:lstStyle/>
                    <a:p>
                      <a:r>
                        <a:rPr sz="1500" b="1">
                          <a:solidFill>
                            <a:srgbClr val="17232F"/>
                          </a:solidFill>
                          <a:latin typeface="Arial"/>
                          <a:ea typeface="Arial"/>
                          <a:cs typeface="Arial"/>
                        </a:rPr>
                        <a:t>PoseForm</a:t>
                      </a:r>
                    </a:p>
                  </a:txBody>
                  <a:tcPr marL="91440" marR="91440" marT="45720" marB="45720">
                    <a:solidFill>
                      <a:srgbClr val="FFFFFF"/>
                    </a:solidFill>
                  </a:tcPr>
                </a:tc>
                <a:tc>
                  <a:txBody>
                    <a:bodyPr/>
                    <a:lstStyle/>
                    <a:p>
                      <a:r>
                        <a:rPr sz="1500" b="0">
                          <a:solidFill>
                            <a:srgbClr val="17232F"/>
                          </a:solidFill>
                          <a:latin typeface="Arial"/>
                          <a:ea typeface="Arial"/>
                          <a:cs typeface="Arial"/>
                        </a:rPr>
                        <a:t>MediaPipe landmarks + local analysis rules</a:t>
                      </a:r>
                    </a:p>
                  </a:txBody>
                  <a:tcPr marL="91440" marR="91440" marT="45720" marB="45720">
                    <a:solidFill>
                      <a:srgbClr val="FFFFFF"/>
                    </a:solidFill>
                  </a:tcPr>
                </a:tc>
                <a:tc>
                  <a:txBody>
                    <a:bodyPr/>
                    <a:lstStyle/>
                    <a:p>
                      <a:r>
                        <a:rPr sz="1500" b="0">
                          <a:solidFill>
                            <a:srgbClr val="17232F"/>
                          </a:solidFill>
                          <a:latin typeface="Arial"/>
                          <a:ea typeface="Arial"/>
                          <a:cs typeface="Arial"/>
                        </a:rPr>
                        <a:t>Reps and form feedback</a:t>
                      </a:r>
                    </a:p>
                  </a:txBody>
                  <a:tcPr marL="91440" marR="91440" marT="45720" marB="45720">
                    <a:solidFill>
                      <a:srgbClr val="FFFFFF"/>
                    </a:solidFill>
                  </a:tcPr>
                </a:tc>
              </a:tr>
              <a:tr h="695325">
                <a:tc>
                  <a:txBody>
                    <a:bodyPr/>
                    <a:lstStyle/>
                    <a:p>
                      <a:r>
                        <a:rPr sz="1500" b="1">
                          <a:solidFill>
                            <a:srgbClr val="17232F"/>
                          </a:solidFill>
                          <a:latin typeface="Arial"/>
                          <a:ea typeface="Arial"/>
                          <a:cs typeface="Arial"/>
                        </a:rPr>
                        <a:t>AI Coach chat</a:t>
                      </a:r>
                    </a:p>
                  </a:txBody>
                  <a:tcPr marL="91440" marR="91440" marT="45720" marB="45720">
                    <a:solidFill>
                      <a:srgbClr val="EAF1F8"/>
                    </a:solidFill>
                  </a:tcPr>
                </a:tc>
                <a:tc>
                  <a:txBody>
                    <a:bodyPr/>
                    <a:lstStyle/>
                    <a:p>
                      <a:r>
                        <a:rPr sz="1500" b="0">
                          <a:solidFill>
                            <a:srgbClr val="17232F"/>
                          </a:solidFill>
                          <a:latin typeface="Arial"/>
                          <a:ea typeface="Arial"/>
                          <a:cs typeface="Arial"/>
                        </a:rPr>
                        <a:t>Gemini service, separate from local modules</a:t>
                      </a:r>
                    </a:p>
                  </a:txBody>
                  <a:tcPr marL="91440" marR="91440" marT="45720" marB="45720">
                    <a:solidFill>
                      <a:srgbClr val="EAF1F8"/>
                    </a:solidFill>
                  </a:tcPr>
                </a:tc>
                <a:tc>
                  <a:txBody>
                    <a:bodyPr/>
                    <a:lstStyle/>
                    <a:p>
                      <a:r>
                        <a:rPr sz="1500" b="0">
                          <a:solidFill>
                            <a:srgbClr val="17232F"/>
                          </a:solidFill>
                          <a:latin typeface="Arial"/>
                          <a:ea typeface="Arial"/>
                          <a:cs typeface="Arial"/>
                        </a:rPr>
                        <a:t>Conversation</a:t>
                      </a:r>
                    </a:p>
                  </a:txBody>
                  <a:tcPr marL="91440" marR="91440" marT="45720" marB="45720">
                    <a:solidFill>
                      <a:srgbClr val="EAF1F8"/>
                    </a:solidFill>
                  </a:tcPr>
                </a:tc>
              </a:tr>
            </a:tbl>
          </a:graphicData>
        </a:graphic>
      </p:graphicFrame>
      <p:sp>
        <p:nvSpPr>
          <p:cNvPr id="8" name="">
            <a:extLst xmlns:a="http://schemas.openxmlformats.org/drawingml/2006/main">
              <a:ext uri="{FF2B5EF4-FFF2-40B4-BE49-F238E27FC236}">
                <a16:creationId xmlns:a16="http://schemas.microsoft.com/office/drawing/2014/main" id="{F6A85CFC-D207-4F48-8696-1916889246D8}"/>
              </a:ext>
            </a:extLst>
          </p:cNvPr>
          <p:cNvSpPr>
            <a:spLocks xmlns:a="http://schemas.openxmlformats.org/drawingml/2006/main" noGrp="1"/>
          </p:cNvSpPr>
          <p:nvPr/>
        </p:nvSpPr>
        <p:spPr>
          <a:xfrm xmlns:a="http://schemas.openxmlformats.org/drawingml/2006/main">
            <a:off x="600075" y="5362575"/>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0">
                <a:solidFill>
                  <a:srgbClr val="526675"/>
                </a:solidFill>
                <a:latin typeface="Arial"/>
                <a:ea typeface="Arial"/>
                <a:cs typeface="Arial"/>
              </a:defRPr>
            </a:pPr>
            <a:r>
              <a:rPr sz="1575" b="0">
                <a:solidFill>
                  <a:srgbClr val="526675"/>
                </a:solidFill>
                <a:latin typeface="Arial"/>
                <a:ea typeface="Arial"/>
                <a:cs typeface="Arial"/>
              </a:rPr>
              <a:t>Local does not mean the phone works offline: it calls a backend on the same/local network.</a:t>
            </a:r>
          </a:p>
        </p:txBody>
      </p:sp>
    </p:spTree>
    <p:extLst>
      <p:ext uri="{BB962C8B-B14F-4D97-AF65-F5344CB8AC3E}">
        <p14:creationId xmlns:p14="http://schemas.microsoft.com/office/powerpoint/2010/main" val="62195016"/>
      </p:ext>
    </p:extLst>
  </p:cSld>
</p:sld>
</file>

<file path=ppt/slides/slide16.xml><?xml version="1.0" encoding="utf-8"?>
<p:sld xmlns:p="http://schemas.openxmlformats.org/presentationml/2006/main">
  <p:cSld>
    <p:bg>
      <p:bgPr>
        <a:solidFill xmlns:a="http://schemas.openxmlformats.org/drawingml/2006/main">
          <a:srgbClr val="EAF2F8"/>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E958F61-9D4C-47BB-93D2-524645E417C3}"/>
              </a:ext>
            </a:extLst>
          </p:cNvPr>
          <p:cNvSpPr>
            <a:spLocks xmlns:a="http://schemas.openxmlformats.org/drawingml/2006/main" noGrp="1"/>
          </p:cNvSpPr>
          <p:nvPr/>
        </p:nvSpPr>
        <p:spPr>
          <a:xfrm xmlns:a="http://schemas.openxmlformats.org/drawingml/2006/main">
            <a:off x="0" y="0"/>
            <a:ext cx="12192000" cy="1257300"/>
          </a:xfrm>
          <a:prstGeom xmlns:a="http://schemas.openxmlformats.org/drawingml/2006/main" prst="rect">
            <a:avLst/>
          </a:prstGeom>
          <a:solidFill xmlns:a="http://schemas.openxmlformats.org/drawingml/2006/main">
            <a:srgbClr val="12344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CD8E06B-709A-4D9A-B2C6-269EF1AE3626}"/>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F2684E"/>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3E4CBAB7-D48B-4D5C-9E6D-D586BA8DFF29}"/>
              </a:ext>
            </a:extLst>
          </p:cNvPr>
          <p:cNvSpPr>
            <a:spLocks xmlns:a="http://schemas.openxmlformats.org/drawingml/2006/main" noGrp="1"/>
          </p:cNvSpPr>
          <p:nvPr/>
        </p:nvSpPr>
        <p:spPr>
          <a:xfrm xmlns:a="http://schemas.openxmlformats.org/drawingml/2006/main">
            <a:off x="609600" y="333375"/>
            <a:ext cx="108394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700" b="1">
                <a:solidFill>
                  <a:srgbClr val="FFFFFF"/>
                </a:solidFill>
                <a:latin typeface="Arial"/>
                <a:ea typeface="Arial"/>
                <a:cs typeface="Arial"/>
              </a:defRPr>
            </a:pPr>
            <a:r>
              <a:rPr sz="2700" b="1">
                <a:solidFill>
                  <a:srgbClr val="FFFFFF"/>
                </a:solidFill>
                <a:latin typeface="Arial"/>
                <a:ea typeface="Arial"/>
                <a:cs typeface="Arial"/>
              </a:rPr>
              <a:t>What we tested</a:t>
            </a:r>
          </a:p>
        </p:txBody>
      </p:sp>
      <p:sp>
        <p:nvSpPr>
          <p:cNvPr id="4" name="">
            <a:extLst xmlns:a="http://schemas.openxmlformats.org/drawingml/2006/main">
              <a:ext uri="{FF2B5EF4-FFF2-40B4-BE49-F238E27FC236}">
                <a16:creationId xmlns:a16="http://schemas.microsoft.com/office/drawing/2014/main" id="{CC8680E9-B876-42AA-AB2A-22517186A438}"/>
              </a:ext>
            </a:extLst>
          </p:cNvPr>
          <p:cNvSpPr>
            <a:spLocks xmlns:a="http://schemas.openxmlformats.org/drawingml/2006/main" noGrp="1"/>
          </p:cNvSpPr>
          <p:nvPr/>
        </p:nvSpPr>
        <p:spPr>
          <a:xfrm xmlns:a="http://schemas.openxmlformats.org/drawingml/2006/main">
            <a:off x="609600" y="1219200"/>
            <a:ext cx="10982325" cy="38100"/>
          </a:xfrm>
          <a:prstGeom xmlns:a="http://schemas.openxmlformats.org/drawingml/2006/main" prst="rect">
            <a:avLst/>
          </a:prstGeom>
          <a:solidFill xmlns:a="http://schemas.openxmlformats.org/drawingml/2006/main">
            <a:srgbClr val="F2684E"/>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1E86B14-8915-4CEB-80E6-DCB0C8808DCA}"/>
              </a:ext>
            </a:extLst>
          </p:cNvPr>
          <p:cNvSpPr>
            <a:spLocks xmlns:a="http://schemas.openxmlformats.org/drawingml/2006/main" noGrp="1"/>
          </p:cNvSpPr>
          <p:nvPr/>
        </p:nvSpPr>
        <p:spPr>
          <a:xfrm xmlns:a="http://schemas.openxmlformats.org/drawingml/2006/main">
            <a:off x="609600" y="640080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lgn="l">
              <a:defRPr sz="975" b="1">
                <a:solidFill>
                  <a:srgbClr val="12344E"/>
                </a:solidFill>
                <a:latin typeface="Arial"/>
                <a:ea typeface="Arial"/>
                <a:cs typeface="Arial"/>
              </a:defRPr>
            </a:pPr>
            <a:r>
              <a:rPr sz="975" b="1">
                <a:solidFill>
                  <a:srgbClr val="12344E"/>
                </a:solidFill>
                <a:latin typeface="Arial"/>
                <a:ea typeface="Arial"/>
                <a:cs typeface="Arial"/>
              </a:rPr>
              <a:t>RESULTS</a:t>
            </a:r>
          </a:p>
        </p:txBody>
      </p:sp>
      <p:sp>
        <p:nvSpPr>
          <p:cNvPr id="6" name="">
            <a:extLst xmlns:a="http://schemas.openxmlformats.org/drawingml/2006/main">
              <a:ext uri="{FF2B5EF4-FFF2-40B4-BE49-F238E27FC236}">
                <a16:creationId xmlns:a16="http://schemas.microsoft.com/office/drawing/2014/main" id="{FDBE5513-CBD2-49E4-9C45-1669CC7BC9D6}"/>
              </a:ext>
            </a:extLst>
          </p:cNvPr>
          <p:cNvSpPr>
            <a:spLocks xmlns:a="http://schemas.openxmlformats.org/drawingml/2006/main" noGrp="1"/>
          </p:cNvSpPr>
          <p:nvPr/>
        </p:nvSpPr>
        <p:spPr>
          <a:xfrm xmlns:a="http://schemas.openxmlformats.org/drawingml/2006/main">
            <a:off x="10972800" y="6372225"/>
            <a:ext cx="6000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125" b="1">
                <a:solidFill>
                  <a:srgbClr val="12344E"/>
                </a:solidFill>
                <a:latin typeface="Arial"/>
                <a:ea typeface="Arial"/>
                <a:cs typeface="Arial"/>
              </a:defRPr>
            </a:pPr>
            <a:r>
              <a:rPr sz="1125" b="1">
                <a:solidFill>
                  <a:srgbClr val="12344E"/>
                </a:solidFill>
                <a:latin typeface="Arial"/>
                <a:ea typeface="Arial"/>
                <a:cs typeface="Arial"/>
              </a:rPr>
              <a:t>16</a:t>
            </a:r>
          </a:p>
        </p:txBody>
      </p:sp>
      <p:graphicFrame>
        <p:nvGraphicFramePr>
          <p:cNvPr id="15" name=""/>
          <p:cNvGraphicFramePr/>
          <p:nvPr/>
        </p:nvGraphicFramePr>
        <p:xfrm>
          <a:off xmlns:a="http://schemas.openxmlformats.org/drawingml/2006/main" x="590550" y="1533525"/>
          <a:ext xmlns:a="http://schemas.openxmlformats.org/drawingml/2006/main" cx="10982325" cy="3714750"/>
        </p:xfrm>
        <a:graphic xmlns:a="http://schemas.openxmlformats.org/drawingml/2006/main">
          <a:graphicData uri="http://schemas.openxmlformats.org/drawingml/2006/table">
            <a:tbl>
              <a:tblPr/>
              <a:tblGrid>
                <a:gridCol w="2524125"/>
                <a:gridCol w="8458200"/>
              </a:tblGrid>
              <a:tr h="742950">
                <a:tc>
                  <a:txBody>
                    <a:bodyPr/>
                    <a:lstStyle/>
                    <a:p>
                      <a:r>
                        <a:rPr sz="1575" b="1">
                          <a:solidFill>
                            <a:srgbClr val="FFFFFF"/>
                          </a:solidFill>
                          <a:latin typeface="Arial"/>
                          <a:ea typeface="Arial"/>
                          <a:cs typeface="Arial"/>
                        </a:rPr>
                        <a:t>Area</a:t>
                      </a:r>
                    </a:p>
                  </a:txBody>
                  <a:tcPr marL="91440" marR="91440" marT="45720" marB="45720">
                    <a:solidFill>
                      <a:srgbClr val="17232F"/>
                    </a:solidFill>
                  </a:tcPr>
                </a:tc>
                <a:tc>
                  <a:txBody>
                    <a:bodyPr/>
                    <a:lstStyle/>
                    <a:p>
                      <a:r>
                        <a:rPr sz="1575" b="1">
                          <a:solidFill>
                            <a:srgbClr val="FFFFFF"/>
                          </a:solidFill>
                          <a:latin typeface="Arial"/>
                          <a:ea typeface="Arial"/>
                          <a:cs typeface="Arial"/>
                        </a:rPr>
                        <a:t>Evidence from project tests</a:t>
                      </a:r>
                    </a:p>
                  </a:txBody>
                  <a:tcPr marL="91440" marR="91440" marT="45720" marB="45720">
                    <a:solidFill>
                      <a:srgbClr val="17232F"/>
                    </a:solidFill>
                  </a:tcPr>
                </a:tc>
              </a:tr>
              <a:tr h="742950">
                <a:tc>
                  <a:txBody>
                    <a:bodyPr/>
                    <a:lstStyle/>
                    <a:p>
                      <a:r>
                        <a:rPr sz="1500" b="1">
                          <a:solidFill>
                            <a:srgbClr val="17232F"/>
                          </a:solidFill>
                          <a:latin typeface="Arial"/>
                          <a:ea typeface="Arial"/>
                          <a:cs typeface="Arial"/>
                        </a:rPr>
                        <a:t>Authentication</a:t>
                      </a:r>
                    </a:p>
                  </a:txBody>
                  <a:tcPr marL="91440" marR="91440" marT="45720" marB="45720">
                    <a:solidFill>
                      <a:srgbClr val="FFFFFF"/>
                    </a:solidFill>
                  </a:tcPr>
                </a:tc>
                <a:tc>
                  <a:txBody>
                    <a:bodyPr/>
                    <a:lstStyle/>
                    <a:p>
                      <a:r>
                        <a:rPr sz="1500" b="0">
                          <a:solidFill>
                            <a:srgbClr val="17232F"/>
                          </a:solidFill>
                          <a:latin typeface="Arial"/>
                          <a:ea typeface="Arial"/>
                          <a:cs typeface="Arial"/>
                        </a:rPr>
                        <a:t>Register, login, token and profile retrieval passed</a:t>
                      </a:r>
                    </a:p>
                  </a:txBody>
                  <a:tcPr marL="91440" marR="91440" marT="45720" marB="45720">
                    <a:solidFill>
                      <a:srgbClr val="FFFFFF"/>
                    </a:solidFill>
                  </a:tcPr>
                </a:tc>
              </a:tr>
              <a:tr h="742950">
                <a:tc>
                  <a:txBody>
                    <a:bodyPr/>
                    <a:lstStyle/>
                    <a:p>
                      <a:r>
                        <a:rPr sz="1500" b="1">
                          <a:solidFill>
                            <a:srgbClr val="17232F"/>
                          </a:solidFill>
                          <a:latin typeface="Arial"/>
                          <a:ea typeface="Arial"/>
                          <a:cs typeface="Arial"/>
                        </a:rPr>
                        <a:t>TrainCore</a:t>
                      </a:r>
                    </a:p>
                  </a:txBody>
                  <a:tcPr marL="91440" marR="91440" marT="45720" marB="45720">
                    <a:solidFill>
                      <a:srgbClr val="FFFFFF"/>
                    </a:solidFill>
                  </a:tcPr>
                </a:tc>
                <a:tc>
                  <a:txBody>
                    <a:bodyPr/>
                    <a:lstStyle/>
                    <a:p>
                      <a:r>
                        <a:rPr sz="1500" b="0">
                          <a:solidFill>
                            <a:srgbClr val="17232F"/>
                          </a:solidFill>
                          <a:latin typeface="Arial"/>
                          <a:ea typeface="Arial"/>
                          <a:cs typeface="Arial"/>
                        </a:rPr>
                        <a:t>MAE 0.0329; 191 distinct exercises recommended</a:t>
                      </a:r>
                    </a:p>
                  </a:txBody>
                  <a:tcPr marL="91440" marR="91440" marT="45720" marB="45720">
                    <a:solidFill>
                      <a:srgbClr val="FFFFFF"/>
                    </a:solidFill>
                  </a:tcPr>
                </a:tc>
              </a:tr>
              <a:tr h="742950">
                <a:tc>
                  <a:txBody>
                    <a:bodyPr/>
                    <a:lstStyle/>
                    <a:p>
                      <a:r>
                        <a:rPr sz="1500" b="1">
                          <a:solidFill>
                            <a:srgbClr val="17232F"/>
                          </a:solidFill>
                          <a:latin typeface="Arial"/>
                          <a:ea typeface="Arial"/>
                          <a:cs typeface="Arial"/>
                        </a:rPr>
                        <a:t>NutriCore</a:t>
                      </a:r>
                    </a:p>
                  </a:txBody>
                  <a:tcPr marL="91440" marR="91440" marT="45720" marB="45720">
                    <a:solidFill>
                      <a:srgbClr val="FFFFFF"/>
                    </a:solidFill>
                  </a:tcPr>
                </a:tc>
                <a:tc>
                  <a:txBody>
                    <a:bodyPr/>
                    <a:lstStyle/>
                    <a:p>
                      <a:r>
                        <a:rPr sz="1500" b="0">
                          <a:solidFill>
                            <a:srgbClr val="17232F"/>
                          </a:solidFill>
                          <a:latin typeface="Arial"/>
                          <a:ea typeface="Arial"/>
                          <a:cs typeface="Arial"/>
                        </a:rPr>
                        <a:t>100% validation accuracy on prepared set; 100% allergy filtering</a:t>
                      </a:r>
                    </a:p>
                  </a:txBody>
                  <a:tcPr marL="91440" marR="91440" marT="45720" marB="45720">
                    <a:solidFill>
                      <a:srgbClr val="FFFFFF"/>
                    </a:solidFill>
                  </a:tcPr>
                </a:tc>
              </a:tr>
              <a:tr h="742950">
                <a:tc>
                  <a:txBody>
                    <a:bodyPr/>
                    <a:lstStyle/>
                    <a:p>
                      <a:r>
                        <a:rPr sz="1500" b="1">
                          <a:solidFill>
                            <a:srgbClr val="17232F"/>
                          </a:solidFill>
                          <a:latin typeface="Arial"/>
                          <a:ea typeface="Arial"/>
                          <a:cs typeface="Arial"/>
                        </a:rPr>
                        <a:t>PoseForm</a:t>
                      </a:r>
                    </a:p>
                  </a:txBody>
                  <a:tcPr marL="91440" marR="91440" marT="45720" marB="45720">
                    <a:solidFill>
                      <a:srgbClr val="FFFFFF"/>
                    </a:solidFill>
                  </a:tcPr>
                </a:tc>
                <a:tc>
                  <a:txBody>
                    <a:bodyPr/>
                    <a:lstStyle/>
                    <a:p>
                      <a:r>
                        <a:rPr sz="1500" b="0">
                          <a:solidFill>
                            <a:srgbClr val="17232F"/>
                          </a:solidFill>
                          <a:latin typeface="Arial"/>
                          <a:ea typeface="Arial"/>
                          <a:cs typeface="Arial"/>
                        </a:rPr>
                        <a:t>17/17 template, 3/3 analyzer and 24/24 smoke checks passed</a:t>
                      </a:r>
                    </a:p>
                  </a:txBody>
                  <a:tcPr marL="91440" marR="91440" marT="45720" marB="45720">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42B48067-AB53-4DBE-809D-6CF7A81234DF}"/>
              </a:ext>
            </a:extLst>
          </p:cNvPr>
          <p:cNvSpPr>
            <a:spLocks xmlns:a="http://schemas.openxmlformats.org/drawingml/2006/main" noGrp="1"/>
          </p:cNvSpPr>
          <p:nvPr/>
        </p:nvSpPr>
        <p:spPr>
          <a:xfrm xmlns:a="http://schemas.openxmlformats.org/drawingml/2006/main">
            <a:off x="600075" y="5514975"/>
            <a:ext cx="106108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526675"/>
                </a:solidFill>
                <a:latin typeface="Arial"/>
                <a:ea typeface="Arial"/>
                <a:cs typeface="Arial"/>
              </a:defRPr>
            </a:pPr>
            <a:r>
              <a:rPr sz="1425" b="0">
                <a:solidFill>
                  <a:srgbClr val="526675"/>
                </a:solidFill>
                <a:latin typeface="Arial"/>
                <a:ea typeface="Arial"/>
                <a:cs typeface="Arial"/>
              </a:rPr>
              <a:t>These are project validation results, not evidence of clinical effectiveness or performance for every real user.</a:t>
            </a:r>
          </a:p>
        </p:txBody>
      </p:sp>
    </p:spTree>
    <p:extLst>
      <p:ext uri="{BB962C8B-B14F-4D97-AF65-F5344CB8AC3E}">
        <p14:creationId xmlns:p14="http://schemas.microsoft.com/office/powerpoint/2010/main" val="1396872861"/>
      </p:ext>
    </p:extLst>
  </p:cSld>
</p:sld>
</file>

<file path=ppt/slides/slide17.xml><?xml version="1.0" encoding="utf-8"?>
<p:sld xmlns:p="http://schemas.openxmlformats.org/presentationml/2006/main">
  <p:cSld>
    <p:bg>
      <p:bgPr>
        <a:solidFill xmlns:a="http://schemas.openxmlformats.org/drawingml/2006/main">
          <a:srgbClr val="F1F8F4"/>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7D35DBDF-76A5-4DA0-834F-902FCF8F6E9E}"/>
              </a:ext>
            </a:extLst>
          </p:cNvPr>
          <p:cNvSpPr>
            <a:spLocks xmlns:a="http://schemas.openxmlformats.org/drawingml/2006/main" noGrp="1"/>
          </p:cNvSpPr>
          <p:nvPr/>
        </p:nvSpPr>
        <p:spPr>
          <a:xfrm xmlns:a="http://schemas.openxmlformats.org/drawingml/2006/main">
            <a:off x="0" y="0"/>
            <a:ext cx="12192000" cy="1257300"/>
          </a:xfrm>
          <a:prstGeom xmlns:a="http://schemas.openxmlformats.org/drawingml/2006/main" prst="rect">
            <a:avLst/>
          </a:prstGeom>
          <a:solidFill xmlns:a="http://schemas.openxmlformats.org/drawingml/2006/main">
            <a:srgbClr val="17594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5CAC31D-A3D6-418B-B8A8-96D054D333EA}"/>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F2684E"/>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1F8913F-3CEE-4D58-A727-254428AC7972}"/>
              </a:ext>
            </a:extLst>
          </p:cNvPr>
          <p:cNvSpPr>
            <a:spLocks xmlns:a="http://schemas.openxmlformats.org/drawingml/2006/main" noGrp="1"/>
          </p:cNvSpPr>
          <p:nvPr/>
        </p:nvSpPr>
        <p:spPr>
          <a:xfrm xmlns:a="http://schemas.openxmlformats.org/drawingml/2006/main">
            <a:off x="609600" y="333375"/>
            <a:ext cx="108394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700" b="1">
                <a:solidFill>
                  <a:srgbClr val="FFFFFF"/>
                </a:solidFill>
                <a:latin typeface="Arial"/>
                <a:ea typeface="Arial"/>
                <a:cs typeface="Arial"/>
              </a:defRPr>
            </a:pPr>
            <a:r>
              <a:rPr sz="2700" b="1">
                <a:solidFill>
                  <a:srgbClr val="FFFFFF"/>
                </a:solidFill>
                <a:latin typeface="Arial"/>
                <a:ea typeface="Arial"/>
                <a:cs typeface="Arial"/>
              </a:rPr>
              <a:t>Live demonstration</a:t>
            </a:r>
          </a:p>
        </p:txBody>
      </p:sp>
      <p:sp>
        <p:nvSpPr>
          <p:cNvPr id="4" name="">
            <a:extLst xmlns:a="http://schemas.openxmlformats.org/drawingml/2006/main">
              <a:ext uri="{FF2B5EF4-FFF2-40B4-BE49-F238E27FC236}">
                <a16:creationId xmlns:a16="http://schemas.microsoft.com/office/drawing/2014/main" id="{4D8727F1-910A-4415-981E-A39CC5359361}"/>
              </a:ext>
            </a:extLst>
          </p:cNvPr>
          <p:cNvSpPr>
            <a:spLocks xmlns:a="http://schemas.openxmlformats.org/drawingml/2006/main" noGrp="1"/>
          </p:cNvSpPr>
          <p:nvPr/>
        </p:nvSpPr>
        <p:spPr>
          <a:xfrm xmlns:a="http://schemas.openxmlformats.org/drawingml/2006/main">
            <a:off x="609600" y="1219200"/>
            <a:ext cx="10982325" cy="38100"/>
          </a:xfrm>
          <a:prstGeom xmlns:a="http://schemas.openxmlformats.org/drawingml/2006/main" prst="rect">
            <a:avLst/>
          </a:prstGeom>
          <a:solidFill xmlns:a="http://schemas.openxmlformats.org/drawingml/2006/main">
            <a:srgbClr val="F2684E"/>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40211F9-49C1-4678-B9F2-7046EB778FF7}"/>
              </a:ext>
            </a:extLst>
          </p:cNvPr>
          <p:cNvSpPr>
            <a:spLocks xmlns:a="http://schemas.openxmlformats.org/drawingml/2006/main" noGrp="1"/>
          </p:cNvSpPr>
          <p:nvPr/>
        </p:nvSpPr>
        <p:spPr>
          <a:xfrm xmlns:a="http://schemas.openxmlformats.org/drawingml/2006/main">
            <a:off x="609600" y="640080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lgn="l">
              <a:defRPr sz="975" b="1">
                <a:solidFill>
                  <a:srgbClr val="175947"/>
                </a:solidFill>
                <a:latin typeface="Arial"/>
                <a:ea typeface="Arial"/>
                <a:cs typeface="Arial"/>
              </a:defRPr>
            </a:pPr>
            <a:r>
              <a:rPr sz="975" b="1">
                <a:solidFill>
                  <a:srgbClr val="175947"/>
                </a:solidFill>
                <a:latin typeface="Arial"/>
                <a:ea typeface="Arial"/>
                <a:cs typeface="Arial"/>
              </a:rPr>
              <a:t>PROTOTYPE</a:t>
            </a:r>
          </a:p>
        </p:txBody>
      </p:sp>
      <p:sp>
        <p:nvSpPr>
          <p:cNvPr id="6" name="">
            <a:extLst xmlns:a="http://schemas.openxmlformats.org/drawingml/2006/main">
              <a:ext uri="{FF2B5EF4-FFF2-40B4-BE49-F238E27FC236}">
                <a16:creationId xmlns:a16="http://schemas.microsoft.com/office/drawing/2014/main" id="{0651D38C-EB1B-4DEF-A793-B97E81AF4E29}"/>
              </a:ext>
            </a:extLst>
          </p:cNvPr>
          <p:cNvSpPr>
            <a:spLocks xmlns:a="http://schemas.openxmlformats.org/drawingml/2006/main" noGrp="1"/>
          </p:cNvSpPr>
          <p:nvPr/>
        </p:nvSpPr>
        <p:spPr>
          <a:xfrm xmlns:a="http://schemas.openxmlformats.org/drawingml/2006/main">
            <a:off x="10972800" y="6372225"/>
            <a:ext cx="6000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125" b="1">
                <a:solidFill>
                  <a:srgbClr val="175947"/>
                </a:solidFill>
                <a:latin typeface="Arial"/>
                <a:ea typeface="Arial"/>
                <a:cs typeface="Arial"/>
              </a:defRPr>
            </a:pPr>
            <a:r>
              <a:rPr sz="1125" b="1">
                <a:solidFill>
                  <a:srgbClr val="175947"/>
                </a:solidFill>
                <a:latin typeface="Arial"/>
                <a:ea typeface="Arial"/>
                <a:cs typeface="Arial"/>
              </a:rPr>
              <a:t>17</a:t>
            </a:r>
          </a:p>
        </p:txBody>
      </p:sp>
      <p:sp>
        <p:nvSpPr>
          <p:cNvPr id="7" name="">
            <a:extLst xmlns:a="http://schemas.openxmlformats.org/drawingml/2006/main">
              <a:ext uri="{FF2B5EF4-FFF2-40B4-BE49-F238E27FC236}">
                <a16:creationId xmlns:a16="http://schemas.microsoft.com/office/drawing/2014/main" id="{593C91AF-246A-442D-985A-34F3E10EBCE1}"/>
              </a:ext>
            </a:extLst>
          </p:cNvPr>
          <p:cNvSpPr>
            <a:spLocks xmlns:a="http://schemas.openxmlformats.org/drawingml/2006/main" noGrp="1"/>
          </p:cNvSpPr>
          <p:nvPr/>
        </p:nvSpPr>
        <p:spPr>
          <a:xfrm xmlns:a="http://schemas.openxmlformats.org/drawingml/2006/main">
            <a:off x="704850" y="1590675"/>
            <a:ext cx="7143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9020"/>
          </a:bodyPr>
          <a:lstStyle xmlns:a="http://schemas.openxmlformats.org/drawingml/2006/main"/>
          <a:p xmlns:a="http://schemas.openxmlformats.org/drawingml/2006/main">
            <a:pPr algn="l">
              <a:defRPr sz="2550" b="1">
                <a:solidFill>
                  <a:srgbClr val="F2684E"/>
                </a:solidFill>
                <a:latin typeface="Arial"/>
                <a:ea typeface="Arial"/>
                <a:cs typeface="Arial"/>
              </a:defRPr>
            </a:pPr>
            <a:r>
              <a:rPr sz="2550" b="1">
                <a:solidFill>
                  <a:srgbClr val="F2684E"/>
                </a:solidFill>
                <a:latin typeface="Arial"/>
                <a:ea typeface="Arial"/>
                <a:cs typeface="Arial"/>
              </a:rPr>
              <a:t>1</a:t>
            </a:r>
          </a:p>
        </p:txBody>
      </p:sp>
      <p:sp>
        <p:nvSpPr>
          <p:cNvPr id="8" name="">
            <a:extLst xmlns:a="http://schemas.openxmlformats.org/drawingml/2006/main">
              <a:ext uri="{FF2B5EF4-FFF2-40B4-BE49-F238E27FC236}">
                <a16:creationId xmlns:a16="http://schemas.microsoft.com/office/drawing/2014/main" id="{6316BB58-2EF4-4A9A-89A2-3EB371D488A4}"/>
              </a:ext>
            </a:extLst>
          </p:cNvPr>
          <p:cNvSpPr>
            <a:spLocks xmlns:a="http://schemas.openxmlformats.org/drawingml/2006/main" noGrp="1"/>
          </p:cNvSpPr>
          <p:nvPr/>
        </p:nvSpPr>
        <p:spPr>
          <a:xfrm xmlns:a="http://schemas.openxmlformats.org/drawingml/2006/main">
            <a:off x="1600200" y="1590675"/>
            <a:ext cx="26860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75" b="1">
                <a:solidFill>
                  <a:srgbClr val="17232F"/>
                </a:solidFill>
                <a:latin typeface="Arial"/>
                <a:ea typeface="Arial"/>
                <a:cs typeface="Arial"/>
              </a:defRPr>
            </a:pPr>
            <a:r>
              <a:rPr sz="1875" b="1">
                <a:solidFill>
                  <a:srgbClr val="17232F"/>
                </a:solidFill>
                <a:latin typeface="Arial"/>
                <a:ea typeface="Arial"/>
                <a:cs typeface="Arial"/>
              </a:rPr>
              <a:t>Profile</a:t>
            </a:r>
          </a:p>
        </p:txBody>
      </p:sp>
      <p:sp>
        <p:nvSpPr>
          <p:cNvPr id="9" name="">
            <a:extLst xmlns:a="http://schemas.openxmlformats.org/drawingml/2006/main">
              <a:ext uri="{FF2B5EF4-FFF2-40B4-BE49-F238E27FC236}">
                <a16:creationId xmlns:a16="http://schemas.microsoft.com/office/drawing/2014/main" id="{FC2D5A03-AFD7-4AC1-B517-9AB5659FCDE6}"/>
              </a:ext>
            </a:extLst>
          </p:cNvPr>
          <p:cNvSpPr>
            <a:spLocks xmlns:a="http://schemas.openxmlformats.org/drawingml/2006/main" noGrp="1"/>
          </p:cNvSpPr>
          <p:nvPr/>
        </p:nvSpPr>
        <p:spPr>
          <a:xfrm xmlns:a="http://schemas.openxmlformats.org/drawingml/2006/main">
            <a:off x="4314825" y="1590675"/>
            <a:ext cx="68484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0">
                <a:solidFill>
                  <a:srgbClr val="526675"/>
                </a:solidFill>
                <a:latin typeface="Arial"/>
                <a:ea typeface="Arial"/>
                <a:cs typeface="Arial"/>
              </a:defRPr>
            </a:pPr>
            <a:r>
              <a:rPr sz="1575" b="0">
                <a:solidFill>
                  <a:srgbClr val="526675"/>
                </a:solidFill>
                <a:latin typeface="Arial"/>
                <a:ea typeface="Arial"/>
                <a:cs typeface="Arial"/>
              </a:rPr>
              <a:t>Show goals, allergies and injury inputs.</a:t>
            </a:r>
          </a:p>
        </p:txBody>
      </p:sp>
      <p:sp>
        <p:nvSpPr>
          <p:cNvPr id="10" name="">
            <a:extLst xmlns:a="http://schemas.openxmlformats.org/drawingml/2006/main">
              <a:ext uri="{FF2B5EF4-FFF2-40B4-BE49-F238E27FC236}">
                <a16:creationId xmlns:a16="http://schemas.microsoft.com/office/drawing/2014/main" id="{C9E8C2B9-A2A5-4506-8D9D-D83EF3AF6791}"/>
              </a:ext>
            </a:extLst>
          </p:cNvPr>
          <p:cNvSpPr>
            <a:spLocks xmlns:a="http://schemas.openxmlformats.org/drawingml/2006/main" noGrp="1"/>
          </p:cNvSpPr>
          <p:nvPr/>
        </p:nvSpPr>
        <p:spPr>
          <a:xfrm xmlns:a="http://schemas.openxmlformats.org/drawingml/2006/main">
            <a:off x="704850" y="2619375"/>
            <a:ext cx="7143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9020"/>
          </a:bodyPr>
          <a:lstStyle xmlns:a="http://schemas.openxmlformats.org/drawingml/2006/main"/>
          <a:p xmlns:a="http://schemas.openxmlformats.org/drawingml/2006/main">
            <a:pPr algn="l">
              <a:defRPr sz="2550" b="1">
                <a:solidFill>
                  <a:srgbClr val="F2684E"/>
                </a:solidFill>
                <a:latin typeface="Arial"/>
                <a:ea typeface="Arial"/>
                <a:cs typeface="Arial"/>
              </a:defRPr>
            </a:pPr>
            <a:r>
              <a:rPr sz="2550" b="1">
                <a:solidFill>
                  <a:srgbClr val="F2684E"/>
                </a:solidFill>
                <a:latin typeface="Arial"/>
                <a:ea typeface="Arial"/>
                <a:cs typeface="Arial"/>
              </a:rPr>
              <a:t>2</a:t>
            </a:r>
          </a:p>
        </p:txBody>
      </p:sp>
      <p:sp>
        <p:nvSpPr>
          <p:cNvPr id="11" name="">
            <a:extLst xmlns:a="http://schemas.openxmlformats.org/drawingml/2006/main">
              <a:ext uri="{FF2B5EF4-FFF2-40B4-BE49-F238E27FC236}">
                <a16:creationId xmlns:a16="http://schemas.microsoft.com/office/drawing/2014/main" id="{E8752B01-B72C-4968-B24A-2399B72D3E07}"/>
              </a:ext>
            </a:extLst>
          </p:cNvPr>
          <p:cNvSpPr>
            <a:spLocks xmlns:a="http://schemas.openxmlformats.org/drawingml/2006/main" noGrp="1"/>
          </p:cNvSpPr>
          <p:nvPr/>
        </p:nvSpPr>
        <p:spPr>
          <a:xfrm xmlns:a="http://schemas.openxmlformats.org/drawingml/2006/main">
            <a:off x="1600200" y="2619375"/>
            <a:ext cx="26860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75" b="1">
                <a:solidFill>
                  <a:srgbClr val="17232F"/>
                </a:solidFill>
                <a:latin typeface="Arial"/>
                <a:ea typeface="Arial"/>
                <a:cs typeface="Arial"/>
              </a:defRPr>
            </a:pPr>
            <a:r>
              <a:rPr sz="1875" b="1">
                <a:solidFill>
                  <a:srgbClr val="17232F"/>
                </a:solidFill>
                <a:latin typeface="Arial"/>
                <a:ea typeface="Arial"/>
                <a:cs typeface="Arial"/>
              </a:rPr>
              <a:t>Training</a:t>
            </a:r>
          </a:p>
        </p:txBody>
      </p:sp>
      <p:sp>
        <p:nvSpPr>
          <p:cNvPr id="12" name="">
            <a:extLst xmlns:a="http://schemas.openxmlformats.org/drawingml/2006/main">
              <a:ext uri="{FF2B5EF4-FFF2-40B4-BE49-F238E27FC236}">
                <a16:creationId xmlns:a16="http://schemas.microsoft.com/office/drawing/2014/main" id="{9BE7B8BC-DF33-49C4-9DF8-20CED780EE22}"/>
              </a:ext>
            </a:extLst>
          </p:cNvPr>
          <p:cNvSpPr>
            <a:spLocks xmlns:a="http://schemas.openxmlformats.org/drawingml/2006/main" noGrp="1"/>
          </p:cNvSpPr>
          <p:nvPr/>
        </p:nvSpPr>
        <p:spPr>
          <a:xfrm xmlns:a="http://schemas.openxmlformats.org/drawingml/2006/main">
            <a:off x="4314825" y="2619375"/>
            <a:ext cx="68484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0">
                <a:solidFill>
                  <a:srgbClr val="526675"/>
                </a:solidFill>
                <a:latin typeface="Arial"/>
                <a:ea typeface="Arial"/>
                <a:cs typeface="Arial"/>
              </a:defRPr>
            </a:pPr>
            <a:r>
              <a:rPr sz="1575" b="0">
                <a:solidFill>
                  <a:srgbClr val="526675"/>
                </a:solidFill>
                <a:latin typeface="Arial"/>
                <a:ea typeface="Arial"/>
                <a:cs typeface="Arial"/>
              </a:rPr>
              <a:t>Open a generated workout and its exercise detail.</a:t>
            </a:r>
          </a:p>
        </p:txBody>
      </p:sp>
      <p:sp>
        <p:nvSpPr>
          <p:cNvPr id="13" name="">
            <a:extLst xmlns:a="http://schemas.openxmlformats.org/drawingml/2006/main">
              <a:ext uri="{FF2B5EF4-FFF2-40B4-BE49-F238E27FC236}">
                <a16:creationId xmlns:a16="http://schemas.microsoft.com/office/drawing/2014/main" id="{3A1CC83D-53F4-4DAE-89B6-44760CFBDFE0}"/>
              </a:ext>
            </a:extLst>
          </p:cNvPr>
          <p:cNvSpPr>
            <a:spLocks xmlns:a="http://schemas.openxmlformats.org/drawingml/2006/main" noGrp="1"/>
          </p:cNvSpPr>
          <p:nvPr/>
        </p:nvSpPr>
        <p:spPr>
          <a:xfrm xmlns:a="http://schemas.openxmlformats.org/drawingml/2006/main">
            <a:off x="704850" y="3648075"/>
            <a:ext cx="7143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9020"/>
          </a:bodyPr>
          <a:lstStyle xmlns:a="http://schemas.openxmlformats.org/drawingml/2006/main"/>
          <a:p xmlns:a="http://schemas.openxmlformats.org/drawingml/2006/main">
            <a:pPr algn="l">
              <a:defRPr sz="2550" b="1">
                <a:solidFill>
                  <a:srgbClr val="F2684E"/>
                </a:solidFill>
                <a:latin typeface="Arial"/>
                <a:ea typeface="Arial"/>
                <a:cs typeface="Arial"/>
              </a:defRPr>
            </a:pPr>
            <a:r>
              <a:rPr sz="2550" b="1">
                <a:solidFill>
                  <a:srgbClr val="F2684E"/>
                </a:solidFill>
                <a:latin typeface="Arial"/>
                <a:ea typeface="Arial"/>
                <a:cs typeface="Arial"/>
              </a:rPr>
              <a:t>3</a:t>
            </a:r>
          </a:p>
        </p:txBody>
      </p:sp>
      <p:sp>
        <p:nvSpPr>
          <p:cNvPr id="14" name="">
            <a:extLst xmlns:a="http://schemas.openxmlformats.org/drawingml/2006/main">
              <a:ext uri="{FF2B5EF4-FFF2-40B4-BE49-F238E27FC236}">
                <a16:creationId xmlns:a16="http://schemas.microsoft.com/office/drawing/2014/main" id="{111CF41E-605F-406F-87A9-7802B1EC4C97}"/>
              </a:ext>
            </a:extLst>
          </p:cNvPr>
          <p:cNvSpPr>
            <a:spLocks xmlns:a="http://schemas.openxmlformats.org/drawingml/2006/main" noGrp="1"/>
          </p:cNvSpPr>
          <p:nvPr/>
        </p:nvSpPr>
        <p:spPr>
          <a:xfrm xmlns:a="http://schemas.openxmlformats.org/drawingml/2006/main">
            <a:off x="1600200" y="3648075"/>
            <a:ext cx="26860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75" b="1">
                <a:solidFill>
                  <a:srgbClr val="17232F"/>
                </a:solidFill>
                <a:latin typeface="Arial"/>
                <a:ea typeface="Arial"/>
                <a:cs typeface="Arial"/>
              </a:defRPr>
            </a:pPr>
            <a:r>
              <a:rPr sz="1875" b="1">
                <a:solidFill>
                  <a:srgbClr val="17232F"/>
                </a:solidFill>
                <a:latin typeface="Arial"/>
                <a:ea typeface="Arial"/>
                <a:cs typeface="Arial"/>
              </a:rPr>
              <a:t>Nutrition</a:t>
            </a:r>
          </a:p>
        </p:txBody>
      </p:sp>
      <p:sp>
        <p:nvSpPr>
          <p:cNvPr id="15" name="">
            <a:extLst xmlns:a="http://schemas.openxmlformats.org/drawingml/2006/main">
              <a:ext uri="{FF2B5EF4-FFF2-40B4-BE49-F238E27FC236}">
                <a16:creationId xmlns:a16="http://schemas.microsoft.com/office/drawing/2014/main" id="{CCF8397B-5F6C-4480-A5F8-1CF7BB2A90B2}"/>
              </a:ext>
            </a:extLst>
          </p:cNvPr>
          <p:cNvSpPr>
            <a:spLocks xmlns:a="http://schemas.openxmlformats.org/drawingml/2006/main" noGrp="1"/>
          </p:cNvSpPr>
          <p:nvPr/>
        </p:nvSpPr>
        <p:spPr>
          <a:xfrm xmlns:a="http://schemas.openxmlformats.org/drawingml/2006/main">
            <a:off x="4314825" y="3648075"/>
            <a:ext cx="68484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0">
                <a:solidFill>
                  <a:srgbClr val="526675"/>
                </a:solidFill>
                <a:latin typeface="Arial"/>
                <a:ea typeface="Arial"/>
                <a:cs typeface="Arial"/>
              </a:defRPr>
            </a:pPr>
            <a:r>
              <a:rPr sz="1575" b="0">
                <a:solidFill>
                  <a:srgbClr val="526675"/>
                </a:solidFill>
                <a:latin typeface="Arial"/>
                <a:ea typeface="Arial"/>
                <a:cs typeface="Arial"/>
              </a:rPr>
              <a:t>Show approved meals and a fridge-based swap.</a:t>
            </a:r>
          </a:p>
        </p:txBody>
      </p:sp>
      <p:sp>
        <p:nvSpPr>
          <p:cNvPr id="16" name="">
            <a:extLst xmlns:a="http://schemas.openxmlformats.org/drawingml/2006/main">
              <a:ext uri="{FF2B5EF4-FFF2-40B4-BE49-F238E27FC236}">
                <a16:creationId xmlns:a16="http://schemas.microsoft.com/office/drawing/2014/main" id="{26B8B580-10E4-4942-8D02-0E42C603ADE2}"/>
              </a:ext>
            </a:extLst>
          </p:cNvPr>
          <p:cNvSpPr>
            <a:spLocks xmlns:a="http://schemas.openxmlformats.org/drawingml/2006/main" noGrp="1"/>
          </p:cNvSpPr>
          <p:nvPr/>
        </p:nvSpPr>
        <p:spPr>
          <a:xfrm xmlns:a="http://schemas.openxmlformats.org/drawingml/2006/main">
            <a:off x="704850" y="4676775"/>
            <a:ext cx="7143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9020"/>
          </a:bodyPr>
          <a:lstStyle xmlns:a="http://schemas.openxmlformats.org/drawingml/2006/main"/>
          <a:p xmlns:a="http://schemas.openxmlformats.org/drawingml/2006/main">
            <a:pPr algn="l">
              <a:defRPr sz="2550" b="1">
                <a:solidFill>
                  <a:srgbClr val="F2684E"/>
                </a:solidFill>
                <a:latin typeface="Arial"/>
                <a:ea typeface="Arial"/>
                <a:cs typeface="Arial"/>
              </a:defRPr>
            </a:pPr>
            <a:r>
              <a:rPr sz="2550" b="1">
                <a:solidFill>
                  <a:srgbClr val="F2684E"/>
                </a:solidFill>
                <a:latin typeface="Arial"/>
                <a:ea typeface="Arial"/>
                <a:cs typeface="Arial"/>
              </a:rPr>
              <a:t>4</a:t>
            </a:r>
          </a:p>
        </p:txBody>
      </p:sp>
      <p:sp>
        <p:nvSpPr>
          <p:cNvPr id="17" name="">
            <a:extLst xmlns:a="http://schemas.openxmlformats.org/drawingml/2006/main">
              <a:ext uri="{FF2B5EF4-FFF2-40B4-BE49-F238E27FC236}">
                <a16:creationId xmlns:a16="http://schemas.microsoft.com/office/drawing/2014/main" id="{0E898E2B-DD6F-4FF9-AE84-45D57E2E8DE5}"/>
              </a:ext>
            </a:extLst>
          </p:cNvPr>
          <p:cNvSpPr>
            <a:spLocks xmlns:a="http://schemas.openxmlformats.org/drawingml/2006/main" noGrp="1"/>
          </p:cNvSpPr>
          <p:nvPr/>
        </p:nvSpPr>
        <p:spPr>
          <a:xfrm xmlns:a="http://schemas.openxmlformats.org/drawingml/2006/main">
            <a:off x="1600200" y="4676775"/>
            <a:ext cx="26860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75" b="1">
                <a:solidFill>
                  <a:srgbClr val="17232F"/>
                </a:solidFill>
                <a:latin typeface="Arial"/>
                <a:ea typeface="Arial"/>
                <a:cs typeface="Arial"/>
              </a:defRPr>
            </a:pPr>
            <a:r>
              <a:rPr sz="1875" b="1">
                <a:solidFill>
                  <a:srgbClr val="17232F"/>
                </a:solidFill>
                <a:latin typeface="Arial"/>
                <a:ea typeface="Arial"/>
                <a:cs typeface="Arial"/>
              </a:rPr>
              <a:t>PoseForm</a:t>
            </a:r>
          </a:p>
        </p:txBody>
      </p:sp>
      <p:sp>
        <p:nvSpPr>
          <p:cNvPr id="18" name="">
            <a:extLst xmlns:a="http://schemas.openxmlformats.org/drawingml/2006/main">
              <a:ext uri="{FF2B5EF4-FFF2-40B4-BE49-F238E27FC236}">
                <a16:creationId xmlns:a16="http://schemas.microsoft.com/office/drawing/2014/main" id="{3F36217E-FB2C-4AFF-B42B-AC242CA71BF3}"/>
              </a:ext>
            </a:extLst>
          </p:cNvPr>
          <p:cNvSpPr>
            <a:spLocks xmlns:a="http://schemas.openxmlformats.org/drawingml/2006/main" noGrp="1"/>
          </p:cNvSpPr>
          <p:nvPr/>
        </p:nvSpPr>
        <p:spPr>
          <a:xfrm xmlns:a="http://schemas.openxmlformats.org/drawingml/2006/main">
            <a:off x="4314825" y="4676775"/>
            <a:ext cx="68484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0">
                <a:solidFill>
                  <a:srgbClr val="526675"/>
                </a:solidFill>
                <a:latin typeface="Arial"/>
                <a:ea typeface="Arial"/>
                <a:cs typeface="Arial"/>
              </a:defRPr>
            </a:pPr>
            <a:r>
              <a:rPr sz="1575" b="0">
                <a:solidFill>
                  <a:srgbClr val="526675"/>
                </a:solidFill>
                <a:latin typeface="Arial"/>
                <a:ea typeface="Arial"/>
                <a:cs typeface="Arial"/>
              </a:rPr>
              <a:t>Upload a prepared short clip and show returned feedback.</a:t>
            </a:r>
          </a:p>
        </p:txBody>
      </p:sp>
      <p:sp>
        <p:nvSpPr>
          <p:cNvPr id="19" name="">
            <a:extLst xmlns:a="http://schemas.openxmlformats.org/drawingml/2006/main">
              <a:ext uri="{FF2B5EF4-FFF2-40B4-BE49-F238E27FC236}">
                <a16:creationId xmlns:a16="http://schemas.microsoft.com/office/drawing/2014/main" id="{D5F61F6B-4D8E-45C3-A9D6-23AB1925D42A}"/>
              </a:ext>
            </a:extLst>
          </p:cNvPr>
          <p:cNvSpPr>
            <a:spLocks xmlns:a="http://schemas.openxmlformats.org/drawingml/2006/main" noGrp="1"/>
          </p:cNvSpPr>
          <p:nvPr/>
        </p:nvSpPr>
        <p:spPr>
          <a:xfrm xmlns:a="http://schemas.openxmlformats.org/drawingml/2006/main">
            <a:off x="723900" y="5753100"/>
            <a:ext cx="10191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17232F"/>
                </a:solidFill>
                <a:latin typeface="Arial"/>
                <a:ea typeface="Arial"/>
                <a:cs typeface="Arial"/>
              </a:defRPr>
            </a:pPr>
            <a:r>
              <a:rPr sz="1500" b="1">
                <a:solidFill>
                  <a:srgbClr val="17232F"/>
                </a:solidFill>
                <a:latin typeface="Arial"/>
                <a:ea typeface="Arial"/>
                <a:cs typeface="Arial"/>
              </a:rPr>
              <a:t>One profile connects training, nutrition and exercise feedback.</a:t>
            </a:r>
          </a:p>
        </p:txBody>
      </p:sp>
    </p:spTree>
    <p:extLst>
      <p:ext uri="{BB962C8B-B14F-4D97-AF65-F5344CB8AC3E}">
        <p14:creationId xmlns:p14="http://schemas.microsoft.com/office/powerpoint/2010/main" val="594383086"/>
      </p:ext>
    </p:extLst>
  </p:cSld>
</p:sld>
</file>

<file path=ppt/slides/slide18.xml><?xml version="1.0" encoding="utf-8"?>
<p:sld xmlns:p="http://schemas.openxmlformats.org/presentationml/2006/main">
  <p:cSld>
    <p:bg>
      <p:bgPr>
        <a:solidFill xmlns:a="http://schemas.openxmlformats.org/drawingml/2006/main">
          <a:srgbClr val="E6F1F5"/>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09CB27D5-45FF-4E0A-8056-A545A638F058}"/>
              </a:ext>
            </a:extLst>
          </p:cNvPr>
          <p:cNvSpPr>
            <a:spLocks xmlns:a="http://schemas.openxmlformats.org/drawingml/2006/main" noGrp="1"/>
          </p:cNvSpPr>
          <p:nvPr/>
        </p:nvSpPr>
        <p:spPr>
          <a:xfrm xmlns:a="http://schemas.openxmlformats.org/drawingml/2006/main">
            <a:off x="0" y="0"/>
            <a:ext cx="12192000" cy="1257300"/>
          </a:xfrm>
          <a:prstGeom xmlns:a="http://schemas.openxmlformats.org/drawingml/2006/main" prst="rect">
            <a:avLst/>
          </a:prstGeom>
          <a:solidFill xmlns:a="http://schemas.openxmlformats.org/drawingml/2006/main">
            <a:srgbClr val="133D5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08E1B8C-7F89-4DD0-AA50-2D805BC9DD1D}"/>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F2684E"/>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F3DC52E-BF75-4FA7-968A-9724855E4AFC}"/>
              </a:ext>
            </a:extLst>
          </p:cNvPr>
          <p:cNvSpPr>
            <a:spLocks xmlns:a="http://schemas.openxmlformats.org/drawingml/2006/main" noGrp="1"/>
          </p:cNvSpPr>
          <p:nvPr/>
        </p:nvSpPr>
        <p:spPr>
          <a:xfrm xmlns:a="http://schemas.openxmlformats.org/drawingml/2006/main">
            <a:off x="609600" y="333375"/>
            <a:ext cx="108394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700" b="1">
                <a:solidFill>
                  <a:srgbClr val="FFFFFF"/>
                </a:solidFill>
                <a:latin typeface="Arial"/>
                <a:ea typeface="Arial"/>
                <a:cs typeface="Arial"/>
              </a:defRPr>
            </a:pPr>
            <a:r>
              <a:rPr sz="2700" b="1">
                <a:solidFill>
                  <a:srgbClr val="FFFFFF"/>
                </a:solidFill>
                <a:latin typeface="Arial"/>
                <a:ea typeface="Arial"/>
                <a:cs typeface="Arial"/>
              </a:rPr>
              <a:t>Limitations and next steps</a:t>
            </a:r>
          </a:p>
        </p:txBody>
      </p:sp>
      <p:sp>
        <p:nvSpPr>
          <p:cNvPr id="4" name="">
            <a:extLst xmlns:a="http://schemas.openxmlformats.org/drawingml/2006/main">
              <a:ext uri="{FF2B5EF4-FFF2-40B4-BE49-F238E27FC236}">
                <a16:creationId xmlns:a16="http://schemas.microsoft.com/office/drawing/2014/main" id="{3BEE03ED-299B-4528-88A9-D6996CFFD401}"/>
              </a:ext>
            </a:extLst>
          </p:cNvPr>
          <p:cNvSpPr>
            <a:spLocks xmlns:a="http://schemas.openxmlformats.org/drawingml/2006/main" noGrp="1"/>
          </p:cNvSpPr>
          <p:nvPr/>
        </p:nvSpPr>
        <p:spPr>
          <a:xfrm xmlns:a="http://schemas.openxmlformats.org/drawingml/2006/main">
            <a:off x="609600" y="1219200"/>
            <a:ext cx="10982325" cy="38100"/>
          </a:xfrm>
          <a:prstGeom xmlns:a="http://schemas.openxmlformats.org/drawingml/2006/main" prst="rect">
            <a:avLst/>
          </a:prstGeom>
          <a:solidFill xmlns:a="http://schemas.openxmlformats.org/drawingml/2006/main">
            <a:srgbClr val="F2684E"/>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D5DE841-8A65-494E-9CF4-013BC6E200AE}"/>
              </a:ext>
            </a:extLst>
          </p:cNvPr>
          <p:cNvSpPr>
            <a:spLocks xmlns:a="http://schemas.openxmlformats.org/drawingml/2006/main" noGrp="1"/>
          </p:cNvSpPr>
          <p:nvPr/>
        </p:nvSpPr>
        <p:spPr>
          <a:xfrm xmlns:a="http://schemas.openxmlformats.org/drawingml/2006/main">
            <a:off x="609600" y="640080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lgn="l">
              <a:defRPr sz="975" b="1">
                <a:solidFill>
                  <a:srgbClr val="133D50"/>
                </a:solidFill>
                <a:latin typeface="Arial"/>
                <a:ea typeface="Arial"/>
                <a:cs typeface="Arial"/>
              </a:defRPr>
            </a:pPr>
            <a:r>
              <a:rPr sz="975" b="1">
                <a:solidFill>
                  <a:srgbClr val="133D50"/>
                </a:solidFill>
                <a:latin typeface="Arial"/>
                <a:ea typeface="Arial"/>
                <a:cs typeface="Arial"/>
              </a:rPr>
              <a:t>FUTURE WORK</a:t>
            </a:r>
          </a:p>
        </p:txBody>
      </p:sp>
      <p:sp>
        <p:nvSpPr>
          <p:cNvPr id="6" name="">
            <a:extLst xmlns:a="http://schemas.openxmlformats.org/drawingml/2006/main">
              <a:ext uri="{FF2B5EF4-FFF2-40B4-BE49-F238E27FC236}">
                <a16:creationId xmlns:a16="http://schemas.microsoft.com/office/drawing/2014/main" id="{53B7E82F-A4AA-40B0-BC24-BFC698E7456E}"/>
              </a:ext>
            </a:extLst>
          </p:cNvPr>
          <p:cNvSpPr>
            <a:spLocks xmlns:a="http://schemas.openxmlformats.org/drawingml/2006/main" noGrp="1"/>
          </p:cNvSpPr>
          <p:nvPr/>
        </p:nvSpPr>
        <p:spPr>
          <a:xfrm xmlns:a="http://schemas.openxmlformats.org/drawingml/2006/main">
            <a:off x="10972800" y="6372225"/>
            <a:ext cx="6000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125" b="1">
                <a:solidFill>
                  <a:srgbClr val="133D50"/>
                </a:solidFill>
                <a:latin typeface="Arial"/>
                <a:ea typeface="Arial"/>
                <a:cs typeface="Arial"/>
              </a:defRPr>
            </a:pPr>
            <a:r>
              <a:rPr sz="1125" b="1">
                <a:solidFill>
                  <a:srgbClr val="133D50"/>
                </a:solidFill>
                <a:latin typeface="Arial"/>
                <a:ea typeface="Arial"/>
                <a:cs typeface="Arial"/>
              </a:rPr>
              <a:t>18</a:t>
            </a:r>
          </a:p>
        </p:txBody>
      </p:sp>
      <p:sp>
        <p:nvSpPr>
          <p:cNvPr id="7" name="">
            <a:extLst xmlns:a="http://schemas.openxmlformats.org/drawingml/2006/main">
              <a:ext uri="{FF2B5EF4-FFF2-40B4-BE49-F238E27FC236}">
                <a16:creationId xmlns:a16="http://schemas.microsoft.com/office/drawing/2014/main" id="{5A359889-FCBC-40D0-A310-6E0C4A5FD99C}"/>
              </a:ext>
            </a:extLst>
          </p:cNvPr>
          <p:cNvSpPr>
            <a:spLocks xmlns:a="http://schemas.openxmlformats.org/drawingml/2006/main" noGrp="1"/>
          </p:cNvSpPr>
          <p:nvPr/>
        </p:nvSpPr>
        <p:spPr>
          <a:xfrm xmlns:a="http://schemas.openxmlformats.org/drawingml/2006/main">
            <a:off x="685800" y="1666875"/>
            <a:ext cx="66675" cy="400050"/>
          </a:xfrm>
          <a:prstGeom xmlns:a="http://schemas.openxmlformats.org/drawingml/2006/main" prst="rect">
            <a:avLst/>
          </a:prstGeom>
          <a:solidFill xmlns:a="http://schemas.openxmlformats.org/drawingml/2006/main">
            <a:srgbClr val="0F936F"/>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15C21833-DF36-4BE0-8782-487C78720A15}"/>
              </a:ext>
            </a:extLst>
          </p:cNvPr>
          <p:cNvSpPr>
            <a:spLocks xmlns:a="http://schemas.openxmlformats.org/drawingml/2006/main" noGrp="1"/>
          </p:cNvSpPr>
          <p:nvPr/>
        </p:nvSpPr>
        <p:spPr>
          <a:xfrm xmlns:a="http://schemas.openxmlformats.org/drawingml/2006/main">
            <a:off x="914400" y="1590675"/>
            <a:ext cx="10439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0">
                <a:solidFill>
                  <a:srgbClr val="17232F"/>
                </a:solidFill>
                <a:latin typeface="Arial"/>
                <a:ea typeface="Arial"/>
                <a:cs typeface="Arial"/>
              </a:defRPr>
            </a:pPr>
            <a:r>
              <a:rPr sz="1725" b="0">
                <a:solidFill>
                  <a:srgbClr val="17232F"/>
                </a:solidFill>
                <a:latin typeface="Arial"/>
                <a:ea typeface="Arial"/>
                <a:cs typeface="Arial"/>
              </a:rPr>
              <a:t>Expand exercise and meal datasets, including Lebanese and regional foods.</a:t>
            </a:r>
          </a:p>
        </p:txBody>
      </p:sp>
      <p:sp>
        <p:nvSpPr>
          <p:cNvPr id="9" name="">
            <a:extLst xmlns:a="http://schemas.openxmlformats.org/drawingml/2006/main">
              <a:ext uri="{FF2B5EF4-FFF2-40B4-BE49-F238E27FC236}">
                <a16:creationId xmlns:a16="http://schemas.microsoft.com/office/drawing/2014/main" id="{FE4E957C-B873-41C0-B9F6-74E584643577}"/>
              </a:ext>
            </a:extLst>
          </p:cNvPr>
          <p:cNvSpPr>
            <a:spLocks xmlns:a="http://schemas.openxmlformats.org/drawingml/2006/main" noGrp="1"/>
          </p:cNvSpPr>
          <p:nvPr/>
        </p:nvSpPr>
        <p:spPr>
          <a:xfrm xmlns:a="http://schemas.openxmlformats.org/drawingml/2006/main">
            <a:off x="685800" y="2733675"/>
            <a:ext cx="66675" cy="400050"/>
          </a:xfrm>
          <a:prstGeom xmlns:a="http://schemas.openxmlformats.org/drawingml/2006/main" prst="rect">
            <a:avLst/>
          </a:prstGeom>
          <a:solidFill xmlns:a="http://schemas.openxmlformats.org/drawingml/2006/main">
            <a:srgbClr val="0F936F"/>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1D178271-C2F8-4ACF-8D8C-BCC995A8EB5F}"/>
              </a:ext>
            </a:extLst>
          </p:cNvPr>
          <p:cNvSpPr>
            <a:spLocks xmlns:a="http://schemas.openxmlformats.org/drawingml/2006/main" noGrp="1"/>
          </p:cNvSpPr>
          <p:nvPr/>
        </p:nvSpPr>
        <p:spPr>
          <a:xfrm xmlns:a="http://schemas.openxmlformats.org/drawingml/2006/main">
            <a:off x="914400" y="2657475"/>
            <a:ext cx="10439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0">
                <a:solidFill>
                  <a:srgbClr val="17232F"/>
                </a:solidFill>
                <a:latin typeface="Arial"/>
                <a:ea typeface="Arial"/>
                <a:cs typeface="Arial"/>
              </a:defRPr>
            </a:pPr>
            <a:r>
              <a:rPr sz="1725" b="0">
                <a:solidFill>
                  <a:srgbClr val="17232F"/>
                </a:solidFill>
                <a:latin typeface="Arial"/>
                <a:ea typeface="Arial"/>
                <a:cs typeface="Arial"/>
              </a:rPr>
              <a:t>Test with more real users and qualified fitness/nutrition reviewers.</a:t>
            </a:r>
          </a:p>
        </p:txBody>
      </p:sp>
      <p:sp>
        <p:nvSpPr>
          <p:cNvPr id="11" name="">
            <a:extLst xmlns:a="http://schemas.openxmlformats.org/drawingml/2006/main">
              <a:ext uri="{FF2B5EF4-FFF2-40B4-BE49-F238E27FC236}">
                <a16:creationId xmlns:a16="http://schemas.microsoft.com/office/drawing/2014/main" id="{58C6881B-EC4F-4954-9A97-51F451259F10}"/>
              </a:ext>
            </a:extLst>
          </p:cNvPr>
          <p:cNvSpPr>
            <a:spLocks xmlns:a="http://schemas.openxmlformats.org/drawingml/2006/main" noGrp="1"/>
          </p:cNvSpPr>
          <p:nvPr/>
        </p:nvSpPr>
        <p:spPr>
          <a:xfrm xmlns:a="http://schemas.openxmlformats.org/drawingml/2006/main">
            <a:off x="685800" y="3800475"/>
            <a:ext cx="66675" cy="400050"/>
          </a:xfrm>
          <a:prstGeom xmlns:a="http://schemas.openxmlformats.org/drawingml/2006/main" prst="rect">
            <a:avLst/>
          </a:prstGeom>
          <a:solidFill xmlns:a="http://schemas.openxmlformats.org/drawingml/2006/main">
            <a:srgbClr val="0F936F"/>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8602B196-28E4-4858-846E-12869663ECEA}"/>
              </a:ext>
            </a:extLst>
          </p:cNvPr>
          <p:cNvSpPr>
            <a:spLocks xmlns:a="http://schemas.openxmlformats.org/drawingml/2006/main" noGrp="1"/>
          </p:cNvSpPr>
          <p:nvPr/>
        </p:nvSpPr>
        <p:spPr>
          <a:xfrm xmlns:a="http://schemas.openxmlformats.org/drawingml/2006/main">
            <a:off x="914400" y="3724275"/>
            <a:ext cx="10439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0">
                <a:solidFill>
                  <a:srgbClr val="17232F"/>
                </a:solidFill>
                <a:latin typeface="Arial"/>
                <a:ea typeface="Arial"/>
                <a:cs typeface="Arial"/>
              </a:defRPr>
            </a:pPr>
            <a:r>
              <a:rPr sz="1725" b="0">
                <a:solidFill>
                  <a:srgbClr val="17232F"/>
                </a:solidFill>
                <a:latin typeface="Arial"/>
                <a:ea typeface="Arial"/>
                <a:cs typeface="Arial"/>
              </a:rPr>
              <a:t>Improve PoseForm across camera angles, lighting and exercise types.</a:t>
            </a:r>
          </a:p>
        </p:txBody>
      </p:sp>
      <p:sp>
        <p:nvSpPr>
          <p:cNvPr id="13" name="">
            <a:extLst xmlns:a="http://schemas.openxmlformats.org/drawingml/2006/main">
              <a:ext uri="{FF2B5EF4-FFF2-40B4-BE49-F238E27FC236}">
                <a16:creationId xmlns:a16="http://schemas.microsoft.com/office/drawing/2014/main" id="{B3E44841-C434-49FD-95AA-333A338E90A5}"/>
              </a:ext>
            </a:extLst>
          </p:cNvPr>
          <p:cNvSpPr>
            <a:spLocks xmlns:a="http://schemas.openxmlformats.org/drawingml/2006/main" noGrp="1"/>
          </p:cNvSpPr>
          <p:nvPr/>
        </p:nvSpPr>
        <p:spPr>
          <a:xfrm xmlns:a="http://schemas.openxmlformats.org/drawingml/2006/main">
            <a:off x="685800" y="4867275"/>
            <a:ext cx="66675" cy="400050"/>
          </a:xfrm>
          <a:prstGeom xmlns:a="http://schemas.openxmlformats.org/drawingml/2006/main" prst="rect">
            <a:avLst/>
          </a:prstGeom>
          <a:solidFill xmlns:a="http://schemas.openxmlformats.org/drawingml/2006/main">
            <a:srgbClr val="0F936F"/>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530F52C4-A6A9-4CF6-8B15-81F693703453}"/>
              </a:ext>
            </a:extLst>
          </p:cNvPr>
          <p:cNvSpPr>
            <a:spLocks xmlns:a="http://schemas.openxmlformats.org/drawingml/2006/main" noGrp="1"/>
          </p:cNvSpPr>
          <p:nvPr/>
        </p:nvSpPr>
        <p:spPr>
          <a:xfrm xmlns:a="http://schemas.openxmlformats.org/drawingml/2006/main">
            <a:off x="914400" y="4791075"/>
            <a:ext cx="10439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0">
                <a:solidFill>
                  <a:srgbClr val="17232F"/>
                </a:solidFill>
                <a:latin typeface="Arial"/>
                <a:ea typeface="Arial"/>
                <a:cs typeface="Arial"/>
              </a:defRPr>
            </a:pPr>
            <a:r>
              <a:rPr sz="1725" b="0">
                <a:solidFill>
                  <a:srgbClr val="17232F"/>
                </a:solidFill>
                <a:latin typeface="Arial"/>
                <a:ea typeface="Arial"/>
                <a:cs typeface="Arial"/>
              </a:rPr>
              <a:t>Strengthen deployment security before public release.</a:t>
            </a:r>
          </a:p>
        </p:txBody>
      </p:sp>
    </p:spTree>
    <p:extLst>
      <p:ext uri="{BB962C8B-B14F-4D97-AF65-F5344CB8AC3E}">
        <p14:creationId xmlns:p14="http://schemas.microsoft.com/office/powerpoint/2010/main" val="1965371145"/>
      </p:ext>
    </p:extLst>
  </p:cSld>
</p:sld>
</file>

<file path=ppt/slides/slide19.xml><?xml version="1.0" encoding="utf-8"?>
<p:sld xmlns:p="http://schemas.openxmlformats.org/presentationml/2006/main">
  <p:cSld>
    <p:bg>
      <p:bgPr>
        <a:solidFill xmlns:a="http://schemas.openxmlformats.org/drawingml/2006/main">
          <a:srgbClr val="17232F"/>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4c65fc2dae0e4fd4"/>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A484F2B-66B5-43D2-B270-305B74E09697}"/>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F2684E"/>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784F2EF-8AD8-4C37-8AE6-9EB5EE3F66B5}"/>
              </a:ext>
            </a:extLst>
          </p:cNvPr>
          <p:cNvSpPr>
            <a:spLocks xmlns:a="http://schemas.openxmlformats.org/drawingml/2006/main" noGrp="1"/>
          </p:cNvSpPr>
          <p:nvPr/>
        </p:nvSpPr>
        <p:spPr>
          <a:xfrm xmlns:a="http://schemas.openxmlformats.org/drawingml/2006/main">
            <a:off x="742950" y="1285875"/>
            <a:ext cx="676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4500" b="1">
                <a:solidFill>
                  <a:srgbClr val="FFFFFF"/>
                </a:solidFill>
                <a:latin typeface="Arial"/>
                <a:ea typeface="Arial"/>
                <a:cs typeface="Arial"/>
              </a:defRPr>
            </a:pPr>
            <a:r>
              <a:rPr sz="4500" b="1">
                <a:solidFill>
                  <a:srgbClr val="FFFFFF"/>
                </a:solidFill>
                <a:latin typeface="Arial"/>
                <a:ea typeface="Arial"/>
                <a:cs typeface="Arial"/>
              </a:rPr>
              <a:t>Elite Fitness</a:t>
            </a:r>
          </a:p>
        </p:txBody>
      </p:sp>
      <p:sp>
        <p:nvSpPr>
          <p:cNvPr id="4" name="">
            <a:extLst xmlns:a="http://schemas.openxmlformats.org/drawingml/2006/main">
              <a:ext uri="{FF2B5EF4-FFF2-40B4-BE49-F238E27FC236}">
                <a16:creationId xmlns:a16="http://schemas.microsoft.com/office/drawing/2014/main" id="{95613590-4C19-4B71-88E0-51F810A9A0A4}"/>
              </a:ext>
            </a:extLst>
          </p:cNvPr>
          <p:cNvSpPr>
            <a:spLocks xmlns:a="http://schemas.openxmlformats.org/drawingml/2006/main" noGrp="1"/>
          </p:cNvSpPr>
          <p:nvPr/>
        </p:nvSpPr>
        <p:spPr>
          <a:xfrm xmlns:a="http://schemas.openxmlformats.org/drawingml/2006/main">
            <a:off x="762000" y="2400300"/>
            <a:ext cx="6381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175" b="0">
                <a:solidFill>
                  <a:srgbClr val="AEE585"/>
                </a:solidFill>
                <a:latin typeface="Arial"/>
                <a:ea typeface="Arial"/>
                <a:cs typeface="Arial"/>
              </a:defRPr>
            </a:pPr>
            <a:r>
              <a:rPr sz="2175" b="0">
                <a:solidFill>
                  <a:srgbClr val="AEE585"/>
                </a:solidFill>
                <a:latin typeface="Arial"/>
                <a:ea typeface="Arial"/>
                <a:cs typeface="Arial"/>
              </a:rPr>
              <a:t>Personalized decisions. Visible feedback.</a:t>
            </a:r>
          </a:p>
        </p:txBody>
      </p:sp>
      <p:sp>
        <p:nvSpPr>
          <p:cNvPr id="5" name="">
            <a:extLst xmlns:a="http://schemas.openxmlformats.org/drawingml/2006/main">
              <a:ext uri="{FF2B5EF4-FFF2-40B4-BE49-F238E27FC236}">
                <a16:creationId xmlns:a16="http://schemas.microsoft.com/office/drawing/2014/main" id="{F7E20954-D07E-47A3-B781-1A4A5E3781DA}"/>
              </a:ext>
            </a:extLst>
          </p:cNvPr>
          <p:cNvSpPr>
            <a:spLocks xmlns:a="http://schemas.openxmlformats.org/drawingml/2006/main" noGrp="1"/>
          </p:cNvSpPr>
          <p:nvPr/>
        </p:nvSpPr>
        <p:spPr>
          <a:xfrm xmlns:a="http://schemas.openxmlformats.org/drawingml/2006/main">
            <a:off x="762000" y="3571875"/>
            <a:ext cx="4953000" cy="47625"/>
          </a:xfrm>
          <a:prstGeom xmlns:a="http://schemas.openxmlformats.org/drawingml/2006/main" prst="rect">
            <a:avLst/>
          </a:prstGeom>
          <a:solidFill xmlns:a="http://schemas.openxmlformats.org/drawingml/2006/main">
            <a:srgbClr val="F2684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56F1DC4C-1662-4CFA-858B-28186DE63C00}"/>
              </a:ext>
            </a:extLst>
          </p:cNvPr>
          <p:cNvSpPr>
            <a:spLocks xmlns:a="http://schemas.openxmlformats.org/drawingml/2006/main" noGrp="1"/>
          </p:cNvSpPr>
          <p:nvPr/>
        </p:nvSpPr>
        <p:spPr>
          <a:xfrm xmlns:a="http://schemas.openxmlformats.org/drawingml/2006/main">
            <a:off x="762000" y="3981450"/>
            <a:ext cx="6381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100" b="1">
                <a:solidFill>
                  <a:srgbClr val="FFFFFF"/>
                </a:solidFill>
                <a:latin typeface="Arial"/>
                <a:ea typeface="Arial"/>
                <a:cs typeface="Arial"/>
              </a:defRPr>
            </a:pPr>
            <a:r>
              <a:rPr sz="2100" b="1">
                <a:solidFill>
                  <a:srgbClr val="FFFFFF"/>
                </a:solidFill>
                <a:latin typeface="Arial"/>
                <a:ea typeface="Arial"/>
                <a:cs typeface="Arial"/>
              </a:rPr>
              <a:t>Our contribution</a:t>
            </a:r>
          </a:p>
        </p:txBody>
      </p:sp>
      <p:sp>
        <p:nvSpPr>
          <p:cNvPr id="7" name="">
            <a:extLst xmlns:a="http://schemas.openxmlformats.org/drawingml/2006/main">
              <a:ext uri="{FF2B5EF4-FFF2-40B4-BE49-F238E27FC236}">
                <a16:creationId xmlns:a16="http://schemas.microsoft.com/office/drawing/2014/main" id="{81E44861-9271-4ADD-BF27-32AB4239C804}"/>
              </a:ext>
            </a:extLst>
          </p:cNvPr>
          <p:cNvSpPr>
            <a:spLocks xmlns:a="http://schemas.openxmlformats.org/drawingml/2006/main" noGrp="1"/>
          </p:cNvSpPr>
          <p:nvPr/>
        </p:nvSpPr>
        <p:spPr>
          <a:xfrm xmlns:a="http://schemas.openxmlformats.org/drawingml/2006/main">
            <a:off x="762000" y="4600575"/>
            <a:ext cx="6191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0">
                <a:solidFill>
                  <a:srgbClr val="FFFFFF"/>
                </a:solidFill>
                <a:latin typeface="Arial"/>
                <a:ea typeface="Arial"/>
                <a:cs typeface="Arial"/>
              </a:defRPr>
            </a:pPr>
            <a:r>
              <a:rPr sz="1800" b="0">
                <a:solidFill>
                  <a:srgbClr val="FFFFFF"/>
                </a:solidFill>
                <a:latin typeface="Arial"/>
                <a:ea typeface="Arial"/>
                <a:cs typeface="Arial"/>
              </a:rPr>
              <a:t>One connected mobile journey, supported by local models and human review.</a:t>
            </a:r>
          </a:p>
        </p:txBody>
      </p:sp>
      <p:sp>
        <p:nvSpPr>
          <p:cNvPr id="8" name="">
            <a:extLst xmlns:a="http://schemas.openxmlformats.org/drawingml/2006/main">
              <a:ext uri="{FF2B5EF4-FFF2-40B4-BE49-F238E27FC236}">
                <a16:creationId xmlns:a16="http://schemas.microsoft.com/office/drawing/2014/main" id="{B9BF3485-0D3E-4534-9E72-C66B2D7F0B85}"/>
              </a:ext>
            </a:extLst>
          </p:cNvPr>
          <p:cNvSpPr>
            <a:spLocks xmlns:a="http://schemas.openxmlformats.org/drawingml/2006/main" noGrp="1"/>
          </p:cNvSpPr>
          <p:nvPr/>
        </p:nvSpPr>
        <p:spPr>
          <a:xfrm xmlns:a="http://schemas.openxmlformats.org/drawingml/2006/main">
            <a:off x="762000" y="5667375"/>
            <a:ext cx="5905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175" b="1">
                <a:solidFill>
                  <a:srgbClr val="FFFFFF"/>
                </a:solidFill>
                <a:latin typeface="Arial"/>
                <a:ea typeface="Arial"/>
                <a:cs typeface="Arial"/>
              </a:defRPr>
            </a:pPr>
            <a:r>
              <a:rPr sz="2175" b="1">
                <a:solidFill>
                  <a:srgbClr val="FFFFFF"/>
                </a:solidFill>
                <a:latin typeface="Arial"/>
                <a:ea typeface="Arial"/>
                <a:cs typeface="Arial"/>
              </a:rPr>
              <a:t>Thank you  ·  Questions?</a:t>
            </a:r>
          </a:p>
        </p:txBody>
      </p:sp>
    </p:spTree>
    <p:extLst>
      <p:ext uri="{BB962C8B-B14F-4D97-AF65-F5344CB8AC3E}">
        <p14:creationId xmlns:p14="http://schemas.microsoft.com/office/powerpoint/2010/main" val="126709586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2026-10-04T20:45:35.0540000Z</dcterms:created>
  <dcterms:modified xsi:type="dcterms:W3CDTF">2026-10-04T20:45:35.0550000Z</dcterms:modified>
</coreProperties>
</file>