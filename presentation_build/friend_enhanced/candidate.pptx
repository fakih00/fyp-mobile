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a6d11ae8c0495b" /><Relationship Type="http://schemas.openxmlformats.org/officeDocument/2006/relationships/extended-properties" Target="/docProps/app.xml" Id="R5fdffcbf0dca440a" /><Relationship Type="http://schemas.openxmlformats.org/officeDocument/2006/relationships/officeDocument" Target="/ppt/presentation.xml" Id="R092957d104694f17" /></Relationships>
</file>

<file path=ppt/presentation.xml><?xml version="1.0" encoding="utf-8"?>
<p:presentation xmlns:p="http://schemas.openxmlformats.org/presentationml/2006/main">
  <p:sldMasterIdLst>
    <p:sldMasterId xmlns:r="http://schemas.openxmlformats.org/officeDocument/2006/relationships" id="2147483648" r:id="Rf1527302ea394d2d"/>
  </p:sldMasterIdLst>
  <p:notesMasterIdLst>
    <p:notesMasterId xmlns:r="http://schemas.openxmlformats.org/officeDocument/2006/relationships" r:id="R155de86a4acd4c02"/>
  </p:notesMasterIdLst>
  <p:sldIdLst>
    <p:sldId xmlns:r="http://schemas.openxmlformats.org/officeDocument/2006/relationships" id="256" r:id="R4680a8f8effa467a"/>
    <p:sldId xmlns:r="http://schemas.openxmlformats.org/officeDocument/2006/relationships" id="257" r:id="R63bdfe562b7143b8"/>
    <p:sldId xmlns:r="http://schemas.openxmlformats.org/officeDocument/2006/relationships" id="258" r:id="Rb65e9888c5244275"/>
    <p:sldId xmlns:r="http://schemas.openxmlformats.org/officeDocument/2006/relationships" id="259" r:id="R058170044e4a41fd"/>
    <p:sldId xmlns:r="http://schemas.openxmlformats.org/officeDocument/2006/relationships" id="260" r:id="Rcb98763e21e84ce4"/>
    <p:sldId xmlns:r="http://schemas.openxmlformats.org/officeDocument/2006/relationships" id="261" r:id="Re5e6106f014a481a"/>
    <p:sldId xmlns:r="http://schemas.openxmlformats.org/officeDocument/2006/relationships" id="262" r:id="Rb409897bcc334c52"/>
    <p:sldId xmlns:r="http://schemas.openxmlformats.org/officeDocument/2006/relationships" id="263" r:id="R30bd20db9dd247d3"/>
    <p:sldId xmlns:r="http://schemas.openxmlformats.org/officeDocument/2006/relationships" id="264" r:id="Rce57bbdc6d624aa1"/>
    <p:sldId xmlns:r="http://schemas.openxmlformats.org/officeDocument/2006/relationships" id="265" r:id="Ra1cf848af7704c95"/>
    <p:sldId xmlns:r="http://schemas.openxmlformats.org/officeDocument/2006/relationships" id="266" r:id="R68bbf92b05f04d44"/>
    <p:sldId xmlns:r="http://schemas.openxmlformats.org/officeDocument/2006/relationships" id="267" r:id="Ref44336737464975"/>
    <p:sldId xmlns:r="http://schemas.openxmlformats.org/officeDocument/2006/relationships" id="268" r:id="Rf4835fdf2d3a42e1"/>
    <p:sldId xmlns:r="http://schemas.openxmlformats.org/officeDocument/2006/relationships" id="269" r:id="R8c1e39dfa7a545d7"/>
    <p:sldId xmlns:r="http://schemas.openxmlformats.org/officeDocument/2006/relationships" id="270" r:id="R7ff798d29267432c"/>
    <p:sldId xmlns:r="http://schemas.openxmlformats.org/officeDocument/2006/relationships" id="271" r:id="R14ed73518c4d46a8"/>
    <p:sldId xmlns:r="http://schemas.openxmlformats.org/officeDocument/2006/relationships" id="272" r:id="R9eca1d65aa584de1"/>
    <p:sldId xmlns:r="http://schemas.openxmlformats.org/officeDocument/2006/relationships" id="273" r:id="R447a8efd9c724925"/>
    <p:sldId xmlns:r="http://schemas.openxmlformats.org/officeDocument/2006/relationships" id="274" r:id="Rc3b63dd5c5ee4ae9"/>
    <p:sldId xmlns:r="http://schemas.openxmlformats.org/officeDocument/2006/relationships" id="275" r:id="R2d47d9e8293a4843"/>
    <p:sldId xmlns:r="http://schemas.openxmlformats.org/officeDocument/2006/relationships" id="276" r:id="R18a776ccb04a4bd4"/>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2ecaad1fc364f95" /><Relationship Type="http://schemas.openxmlformats.org/officeDocument/2006/relationships/slideMaster" Target="/ppt/slideMasters/slideMaster1.xml" Id="Rf1527302ea394d2d" /><Relationship Type="http://schemas.openxmlformats.org/officeDocument/2006/relationships/notesMaster" Target="/ppt/notesMasters/notesMaster1.xml" Id="R155de86a4acd4c02" /><Relationship Type="http://schemas.openxmlformats.org/officeDocument/2006/relationships/presProps" Target="/ppt/presProps.xml" Id="Red7851fcd8d345e9" /><Relationship Type="http://schemas.openxmlformats.org/officeDocument/2006/relationships/viewProps" Target="/ppt/viewProps.xml" Id="R32292b0dc0684ff0" /><Relationship Type="http://schemas.openxmlformats.org/officeDocument/2006/relationships/tableStyles" Target="/ppt/tableStyles.xml" Id="R89ffe76b2870433d" /><Relationship Type="http://schemas.openxmlformats.org/officeDocument/2006/relationships/slide" Target="/ppt/slides/slide1.xml" Id="R4680a8f8effa467a" /><Relationship Type="http://schemas.openxmlformats.org/officeDocument/2006/relationships/slide" Target="/ppt/slides/slide2.xml" Id="R63bdfe562b7143b8" /><Relationship Type="http://schemas.openxmlformats.org/officeDocument/2006/relationships/slide" Target="/ppt/slides/slide3.xml" Id="Rb65e9888c5244275" /><Relationship Type="http://schemas.openxmlformats.org/officeDocument/2006/relationships/slide" Target="/ppt/slides/slide4.xml" Id="R058170044e4a41fd" /><Relationship Type="http://schemas.openxmlformats.org/officeDocument/2006/relationships/slide" Target="/ppt/slides/slide5.xml" Id="Rcb98763e21e84ce4" /><Relationship Type="http://schemas.openxmlformats.org/officeDocument/2006/relationships/slide" Target="/ppt/slides/slide6.xml" Id="Re5e6106f014a481a" /><Relationship Type="http://schemas.openxmlformats.org/officeDocument/2006/relationships/slide" Target="/ppt/slides/slide7.xml" Id="Rb409897bcc334c52" /><Relationship Type="http://schemas.openxmlformats.org/officeDocument/2006/relationships/slide" Target="/ppt/slides/slide8.xml" Id="R30bd20db9dd247d3" /><Relationship Type="http://schemas.openxmlformats.org/officeDocument/2006/relationships/slide" Target="/ppt/slides/slide9.xml" Id="Rce57bbdc6d624aa1" /><Relationship Type="http://schemas.openxmlformats.org/officeDocument/2006/relationships/slide" Target="/ppt/slides/slide10.xml" Id="Ra1cf848af7704c95" /><Relationship Type="http://schemas.openxmlformats.org/officeDocument/2006/relationships/slide" Target="/ppt/slides/slide11.xml" Id="R68bbf92b05f04d44" /><Relationship Type="http://schemas.openxmlformats.org/officeDocument/2006/relationships/slide" Target="/ppt/slides/slide12.xml" Id="Ref44336737464975" /><Relationship Type="http://schemas.openxmlformats.org/officeDocument/2006/relationships/slide" Target="/ppt/slides/slide13.xml" Id="Rf4835fdf2d3a42e1" /><Relationship Type="http://schemas.openxmlformats.org/officeDocument/2006/relationships/slide" Target="/ppt/slides/slide14.xml" Id="R8c1e39dfa7a545d7" /><Relationship Type="http://schemas.openxmlformats.org/officeDocument/2006/relationships/slide" Target="/ppt/slides/slide15.xml" Id="R7ff798d29267432c" /><Relationship Type="http://schemas.openxmlformats.org/officeDocument/2006/relationships/slide" Target="/ppt/slides/slide16.xml" Id="R14ed73518c4d46a8" /><Relationship Type="http://schemas.openxmlformats.org/officeDocument/2006/relationships/slide" Target="/ppt/slides/slide17.xml" Id="R9eca1d65aa584de1" /><Relationship Type="http://schemas.openxmlformats.org/officeDocument/2006/relationships/slide" Target="/ppt/slides/slide18.xml" Id="R447a8efd9c724925" /><Relationship Type="http://schemas.openxmlformats.org/officeDocument/2006/relationships/slide" Target="/ppt/slides/slide19.xml" Id="Rc3b63dd5c5ee4ae9" /><Relationship Type="http://schemas.openxmlformats.org/officeDocument/2006/relationships/slide" Target="/ppt/slides/slide20.xml" Id="R2d47d9e8293a4843" /><Relationship Type="http://schemas.openxmlformats.org/officeDocument/2006/relationships/slide" Target="/ppt/slides/slide21.xml" Id="R18a776ccb04a4b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c29b853ab849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a17be0cfca4ea4" /><Relationship Type="http://schemas.openxmlformats.org/officeDocument/2006/relationships/notesMaster" Target="/ppt/notesMasters/notesMaster1.xml" Id="R3d154add32e041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f02a5e2b494f9d" /><Relationship Type="http://schemas.openxmlformats.org/officeDocument/2006/relationships/notesMaster" Target="/ppt/notesMasters/notesMaster1.xml" Id="Rb5629b33c2e74c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06ff0d42564659" /><Relationship Type="http://schemas.openxmlformats.org/officeDocument/2006/relationships/notesMaster" Target="/ppt/notesMasters/notesMaster1.xml" Id="R286ad2c6d09842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3b0b5077974994" /><Relationship Type="http://schemas.openxmlformats.org/officeDocument/2006/relationships/notesMaster" Target="/ppt/notesMasters/notesMaster1.xml" Id="R6343f80f8ed24d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488102ae1f453c" /><Relationship Type="http://schemas.openxmlformats.org/officeDocument/2006/relationships/notesMaster" Target="/ppt/notesMasters/notesMaster1.xml" Id="R9ae2b085ad6243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a7efb842914c7c" /><Relationship Type="http://schemas.openxmlformats.org/officeDocument/2006/relationships/notesMaster" Target="/ppt/notesMasters/notesMaster1.xml" Id="R70b74684760949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3a6330774147b5" /><Relationship Type="http://schemas.openxmlformats.org/officeDocument/2006/relationships/notesMaster" Target="/ppt/notesMasters/notesMaster1.xml" Id="Rc7cb996b233a44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a3e1dfcaf54220" /><Relationship Type="http://schemas.openxmlformats.org/officeDocument/2006/relationships/notesMaster" Target="/ppt/notesMasters/notesMaster1.xml" Id="R86cc3653ac074e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4704b2686944cc" /><Relationship Type="http://schemas.openxmlformats.org/officeDocument/2006/relationships/notesMaster" Target="/ppt/notesMasters/notesMaster1.xml" Id="Rad16baeac3374a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43ebe66c124cf4" /><Relationship Type="http://schemas.openxmlformats.org/officeDocument/2006/relationships/notesMaster" Target="/ppt/notesMasters/notesMaster1.xml" Id="Rf5090e175ce543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6ff92b4d73436b" /><Relationship Type="http://schemas.openxmlformats.org/officeDocument/2006/relationships/notesMaster" Target="/ppt/notesMasters/notesMaster1.xml" Id="R8c5c4976060544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640fc3ce4544be" /><Relationship Type="http://schemas.openxmlformats.org/officeDocument/2006/relationships/notesMaster" Target="/ppt/notesMasters/notesMaster1.xml" Id="Rfbe8c0c514e24f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c975172eef4db0" /><Relationship Type="http://schemas.openxmlformats.org/officeDocument/2006/relationships/notesMaster" Target="/ppt/notesMasters/notesMaster1.xml" Id="Rb497dd64196648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36803c6bbb4c0f" /><Relationship Type="http://schemas.openxmlformats.org/officeDocument/2006/relationships/notesMaster" Target="/ppt/notesMasters/notesMaster1.xml" Id="Re38d1459975546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595b27d22b45a7" /><Relationship Type="http://schemas.openxmlformats.org/officeDocument/2006/relationships/notesMaster" Target="/ppt/notesMasters/notesMaster1.xml" Id="R507715a6f69048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897becf0904727" /><Relationship Type="http://schemas.openxmlformats.org/officeDocument/2006/relationships/notesMaster" Target="/ppt/notesMasters/notesMaster1.xml" Id="R2297f9a653334f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e2ef0c5c254464" /><Relationship Type="http://schemas.openxmlformats.org/officeDocument/2006/relationships/notesMaster" Target="/ppt/notesMasters/notesMaster1.xml" Id="Rfd61469578664b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167adcb626449e" /><Relationship Type="http://schemas.openxmlformats.org/officeDocument/2006/relationships/notesMaster" Target="/ppt/notesMasters/notesMaster1.xml" Id="Rb6a5a50f55ad45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67d0f3753dc4fdc" /><Relationship Type="http://schemas.openxmlformats.org/officeDocument/2006/relationships/notesMaster" Target="/ppt/notesMasters/notesMaster1.xml" Id="Re252ce7f8c5c41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e2b794206f841b8" /><Relationship Type="http://schemas.openxmlformats.org/officeDocument/2006/relationships/notesMaster" Target="/ppt/notesMasters/notesMaster1.xml" Id="R253b4e9e4d544ee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971295ef3574f77" /><Relationship Type="http://schemas.openxmlformats.org/officeDocument/2006/relationships/notesMaster" Target="/ppt/notesMasters/notesMaster1.xml" Id="R0b6ce75f10b44d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0:35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0:20</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a55a2a981246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456f79182c4d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5ec462768d45a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8BAD39D-1988-4354-B4DE-15C0CB8B1DC2}"/>
              </a:ext>
            </a:extLst>
          </p:cNvPr>
          <p:cNvSpPr>
            <a:spLocks xmlns:a="http://schemas.openxmlformats.org/drawingml/2006/main" noGrp="1"/>
          </p:cNvSpPr>
          <p:nvPr/>
        </p:nvSpPr>
        <p:spPr>
          <a:xfrm xmlns:a="http://schemas.openxmlformats.org/drawingml/2006/main">
            <a:off x="0" y="0"/>
            <a:ext cx="12191695" cy="73152"/>
          </a:xfrm>
          <a:prstGeom xmlns:a="http://schemas.openxmlformats.org/drawingml/2006/main" prst="rect">
            <a:avLst/>
          </a:prstGeom>
          <a:solidFill xmlns:a="http://schemas.openxmlformats.org/drawingml/2006/main">
            <a:srgbClr val="10B981"/>
          </a:solidFill>
          <a:ln xmlns:a="http://schemas.openxmlformats.org/drawingml/2006/main" w="12700">
            <a:solidFill>
              <a:srgbClr val="10B981"/>
            </a:solidFill>
            <a:prstDash val="solid"/>
          </a:ln>
        </p:spPr>
      </p:sp>
      <p:sp>
        <p:nvSpPr>
          <p:cNvPr id="3" name="Text 1">
            <a:extLst xmlns:a="http://schemas.openxmlformats.org/drawingml/2006/main">
              <a:ext uri="{FF2B5EF4-FFF2-40B4-BE49-F238E27FC236}">
                <a16:creationId xmlns:a16="http://schemas.microsoft.com/office/drawing/2014/main" id="{E63279C1-9312-4E2F-B920-E85DB5D80667}"/>
              </a:ext>
            </a:extLst>
          </p:cNvPr>
          <p:cNvSpPr>
            <a:spLocks xmlns:a="http://schemas.openxmlformats.org/drawingml/2006/main" noGrp="1"/>
          </p:cNvSpPr>
          <p:nvPr/>
        </p:nvSpPr>
        <p:spPr>
          <a:xfrm xmlns:a="http://schemas.openxmlformats.org/drawingml/2006/main">
            <a:off x="502920" y="6492240"/>
            <a:ext cx="1920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64748B"/>
                </a:solidFill>
                <a:latin typeface="Aptos"/>
                <a:ea typeface="Aptos"/>
                <a:cs typeface="Aptos"/>
              </a:rPr>
              <a:t>ELITE FITNESS</a:t>
            </a:r>
            <a:endParaRPr sz="800"/>
          </a:p>
        </p:txBody>
      </p:sp>
      <p:sp>
        <p:nvSpPr>
          <p:cNvPr id="4" name="Text 2">
            <a:extLst xmlns:a="http://schemas.openxmlformats.org/drawingml/2006/main">
              <a:ext uri="{FF2B5EF4-FFF2-40B4-BE49-F238E27FC236}">
                <a16:creationId xmlns:a16="http://schemas.microsoft.com/office/drawing/2014/main" id="{07189B44-775B-4863-9A42-0AB10B45037E}"/>
              </a:ext>
            </a:extLst>
          </p:cNvPr>
          <p:cNvSpPr>
            <a:spLocks xmlns:a="http://schemas.openxmlformats.org/drawingml/2006/main" noGrp="1"/>
          </p:cNvSpPr>
          <p:nvPr/>
        </p:nvSpPr>
        <p:spPr>
          <a:xfrm xmlns:a="http://schemas.openxmlformats.org/drawingml/2006/main">
            <a:off x="9784080" y="6492240"/>
            <a:ext cx="1874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94A3B8"/>
                </a:solidFill>
                <a:latin typeface="Aptos"/>
                <a:ea typeface="Aptos"/>
                <a:cs typeface="Aptos"/>
              </a:rPr>
              <a:t>FINAL YEAR PROJECT</a:t>
            </a:r>
            <a:endParaRPr sz="800"/>
          </a:p>
        </p:txBody>
      </p:sp>
      <p:sp>
        <p:nvSpPr>
          <p:cNvPr id="25" name="Slide Number Placeholder 0">
            <a:extLst xmlns:a="http://schemas.openxmlformats.org/drawingml/2006/main">
              <a:ext uri="{FF2B5EF4-FFF2-40B4-BE49-F238E27FC236}">
                <a16:creationId xmlns:a16="http://schemas.microsoft.com/office/drawing/2014/main" id="{FBECE37C-3D7C-4871-BC68-F76E91763FDE}"/>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a:t>
            </a:fld>
            <a:endParaRPr/>
          </a:p>
        </p:txBody>
      </p:sp>
    </p:spTree>
  </p:cSld>
</p:sldLayout>
</file>

<file path=ppt/slideLayouts/slideLayout3.xml><?xml version="1.0" encoding="utf-8"?>
<p:sldLayout xmlns:p="http://schemas.openxmlformats.org/presentationml/2006/main" type="blank">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2DD2CE5-BDD9-4CF6-89EF-C9116E27EA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10/4/2026</a:t>
            </a:fld>
            <a:endParaRPr/>
          </a:p>
        </p:txBody>
      </p:sp>
      <p:sp>
        <p:nvSpPr>
          <p:cNvPr id="3" name="Footer Placeholder 2">
            <a:extLst xmlns:a="http://schemas.openxmlformats.org/drawingml/2006/main">
              <a:ext uri="{FF2B5EF4-FFF2-40B4-BE49-F238E27FC236}">
                <a16:creationId xmlns:a16="http://schemas.microsoft.com/office/drawing/2014/main" id="{6372FF4A-867F-4591-9A99-DEE5431F27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4D80A62B-6776-47AA-882D-0FFEB1891A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3d94f7da314e02" /><Relationship Type="http://schemas.openxmlformats.org/officeDocument/2006/relationships/slideLayout" Target="/ppt/slideLayouts/slideLayout1.xml" Id="R697d3aa920ad4096" /><Relationship Type="http://schemas.openxmlformats.org/officeDocument/2006/relationships/slideLayout" Target="/ppt/slideLayouts/slideLayout2.xml" Id="R6dbac12626274619" /><Relationship Type="http://schemas.openxmlformats.org/officeDocument/2006/relationships/slideLayout" Target="/ppt/slideLayouts/slideLayout3.xml" Id="R4a74097dd86a455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ED6F8AF7-269D-433C-B807-896593300F54}"/>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7d3aa920ad4096"/>
    <p:sldLayoutId xmlns:r="http://schemas.openxmlformats.org/officeDocument/2006/relationships" id="2147483650" r:id="R6dbac12626274619"/>
    <p:sldLayoutId xmlns:r="http://schemas.openxmlformats.org/officeDocument/2006/relationships" id="2147483651" r:id="R4a74097dd86a455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8198f1f2824b4e" /><Relationship Type="http://schemas.openxmlformats.org/officeDocument/2006/relationships/image" Target="/ppt/media/image.png" Id="Raea1baf4593d4774" /><Relationship Type="http://schemas.openxmlformats.org/officeDocument/2006/relationships/notesSlide" Target="/ppt/notesSlides/notesSlide1.xml" Id="Rce40297f962e49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ef635ce07974a79" /><Relationship Type="http://schemas.openxmlformats.org/officeDocument/2006/relationships/image" Target="/ppt/media/image2.png" Id="R701a669f3d5a4c23" /><Relationship Type="http://schemas.openxmlformats.org/officeDocument/2006/relationships/notesSlide" Target="/ppt/notesSlides/notesSlide2.xml" Id="Rd390aa88ece944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3e0a4b7ad7249c1" /><Relationship Type="http://schemas.openxmlformats.org/officeDocument/2006/relationships/image" Target="/ppt/media/image.jpeg" Id="Rf78030524a9a4777" /><Relationship Type="http://schemas.openxmlformats.org/officeDocument/2006/relationships/image" Target="/ppt/media/image2.jpeg" Id="R40571ce0e5754afb" /><Relationship Type="http://schemas.openxmlformats.org/officeDocument/2006/relationships/image" Target="/ppt/media/image3.jpeg" Id="R76d6da5ce3244450" /><Relationship Type="http://schemas.openxmlformats.org/officeDocument/2006/relationships/image" Target="/ppt/media/image4.jpeg" Id="Rd1cc61ca70be467c" /><Relationship Type="http://schemas.openxmlformats.org/officeDocument/2006/relationships/notesSlide" Target="/ppt/notesSlides/notesSlide3.xml" Id="Re7936650258d4b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de8c8eb4196430e" /><Relationship Type="http://schemas.openxmlformats.org/officeDocument/2006/relationships/notesSlide" Target="/ppt/notesSlides/notesSlide4.xml" Id="R1290fb1bf61448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bebb0b1ecbea4acb" /><Relationship Type="http://schemas.openxmlformats.org/officeDocument/2006/relationships/notesSlide" Target="/ppt/notesSlides/notesSlide5.xml" Id="Rfcdfde1ba91549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08f9db4f86949c3" /><Relationship Type="http://schemas.openxmlformats.org/officeDocument/2006/relationships/notesSlide" Target="/ppt/notesSlides/notesSlide6.xml" Id="R01656694352d4f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889a90ceff044df" /><Relationship Type="http://schemas.openxmlformats.org/officeDocument/2006/relationships/notesSlide" Target="/ppt/notesSlides/notesSlide7.xml" Id="Rb9f79f85a2ab4a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a4451fa659a4216" /><Relationship Type="http://schemas.openxmlformats.org/officeDocument/2006/relationships/notesSlide" Target="/ppt/notesSlides/notesSlide8.xml" Id="R45a5798207984c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0062ddf78fd4b92" /><Relationship Type="http://schemas.openxmlformats.org/officeDocument/2006/relationships/image" Target="/ppt/media/image5.jpeg" Id="Rc853b7c0b56e4327" /><Relationship Type="http://schemas.openxmlformats.org/officeDocument/2006/relationships/image" Target="/ppt/media/image6.jpeg" Id="Ref75eba9b28d43d0" /><Relationship Type="http://schemas.openxmlformats.org/officeDocument/2006/relationships/notesSlide" Target="/ppt/notesSlides/notesSlide9.xml" Id="R82d202af63f747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7c1b8c11e4b4575" /><Relationship Type="http://schemas.openxmlformats.org/officeDocument/2006/relationships/notesSlide" Target="/ppt/notesSlides/notesSlide10.xml" Id="Rff1626bd0ee94d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3f4e8e39cd24836" /><Relationship Type="http://schemas.openxmlformats.org/officeDocument/2006/relationships/image" Target="/ppt/media/image7.jpeg" Id="Rb9c5942ff9d94e0c" /><Relationship Type="http://schemas.openxmlformats.org/officeDocument/2006/relationships/image" Target="/ppt/media/image8.jpeg" Id="R2c616c0eaacf46f5" /><Relationship Type="http://schemas.openxmlformats.org/officeDocument/2006/relationships/notesSlide" Target="/ppt/notesSlides/notesSlide11.xml" Id="R5a07abbabedc48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f3a21da8d03541e0" /><Relationship Type="http://schemas.openxmlformats.org/officeDocument/2006/relationships/notesSlide" Target="/ppt/notesSlides/notesSlide12.xml" Id="R63899c86081043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e1d498ad9d242fd" /><Relationship Type="http://schemas.openxmlformats.org/officeDocument/2006/relationships/image" Target="/ppt/media/image9.jpeg" Id="R8ac50ed5063a4a50" /><Relationship Type="http://schemas.openxmlformats.org/officeDocument/2006/relationships/notesSlide" Target="/ppt/notesSlides/notesSlide13.xml" Id="R48b8dc97819a4a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41683c4a9b243c9" /><Relationship Type="http://schemas.openxmlformats.org/officeDocument/2006/relationships/image" Target="/ppt/media/image10.jpeg" Id="R7d4117fa553349a9" /><Relationship Type="http://schemas.openxmlformats.org/officeDocument/2006/relationships/image" Target="/ppt/media/image11.jpeg" Id="R29ad9c0b1fd241bc" /><Relationship Type="http://schemas.openxmlformats.org/officeDocument/2006/relationships/image" Target="/ppt/media/image12.jpeg" Id="Rd7f656da12bc472f" /><Relationship Type="http://schemas.openxmlformats.org/officeDocument/2006/relationships/notesSlide" Target="/ppt/notesSlides/notesSlide14.xml" Id="Rcad2925b17174b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1b290ce46ab54859" /><Relationship Type="http://schemas.openxmlformats.org/officeDocument/2006/relationships/notesSlide" Target="/ppt/notesSlides/notesSlide15.xml" Id="Rba074fb82a454c9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20ff0e2fc3f46ce" /><Relationship Type="http://schemas.openxmlformats.org/officeDocument/2006/relationships/image" Target="/ppt/media/image13.jpeg" Id="R016c4be0de084bba" /><Relationship Type="http://schemas.openxmlformats.org/officeDocument/2006/relationships/image" Target="/ppt/media/image14.jpeg" Id="R10bd04f059d643ba" /><Relationship Type="http://schemas.openxmlformats.org/officeDocument/2006/relationships/image" Target="/ppt/media/image15.jpeg" Id="R2bff10c3909740bb" /><Relationship Type="http://schemas.openxmlformats.org/officeDocument/2006/relationships/notesSlide" Target="/ppt/notesSlides/notesSlide16.xml" Id="Re2b0226ee0f64a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318349397124796" /><Relationship Type="http://schemas.openxmlformats.org/officeDocument/2006/relationships/notesSlide" Target="/ppt/notesSlides/notesSlide17.xml" Id="Rc059c4b3e83249d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9bb15b8fcef4426b" /><Relationship Type="http://schemas.openxmlformats.org/officeDocument/2006/relationships/notesSlide" Target="/ppt/notesSlides/notesSlide18.xml" Id="R667164edd1d843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f73a32d38a55401d" /><Relationship Type="http://schemas.openxmlformats.org/officeDocument/2006/relationships/notesSlide" Target="/ppt/notesSlides/notesSlide19.xml" Id="Reba9bbc3fa7942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92eb34dede84fa3" /><Relationship Type="http://schemas.openxmlformats.org/officeDocument/2006/relationships/notesSlide" Target="/ppt/notesSlides/notesSlide20.xml" Id="R9dfc31802a40417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1c091ce1aa348a5" /><Relationship Type="http://schemas.openxmlformats.org/officeDocument/2006/relationships/image" Target="/ppt/media/image.png" Id="R916dccb384e34250" /><Relationship Type="http://schemas.openxmlformats.org/officeDocument/2006/relationships/notesSlide" Target="/ppt/notesSlides/notesSlide21.xml" Id="R165368355d83423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aea1baf4593d4774"/>
          <a:srcRect xmlns:a="http://schemas.openxmlformats.org/drawingml/2006/main" l="20311" t="0" r="20311" b="0"/>
          <a:stretch xmlns:a="http://schemas.openxmlformats.org/drawingml/2006/main"/>
        </p:blipFill>
        <p:spPr>
          <a:xfrm xmlns:a="http://schemas.openxmlformats.org/drawingml/2006/main">
            <a:off x="6080760" y="0"/>
            <a:ext cx="6108192"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6FD88C95-D7F1-4610-9282-9EA92C961AFD}"/>
              </a:ext>
            </a:extLst>
          </p:cNvPr>
          <p:cNvSpPr>
            <a:spLocks xmlns:a="http://schemas.openxmlformats.org/drawingml/2006/main" noGrp="1"/>
          </p:cNvSpPr>
          <p:nvPr/>
        </p:nvSpPr>
        <p:spPr>
          <a:xfrm xmlns:a="http://schemas.openxmlformats.org/drawingml/2006/main">
            <a:off x="5760720" y="0"/>
            <a:ext cx="2011680" cy="6858000"/>
          </a:xfrm>
          <a:prstGeom xmlns:a="http://schemas.openxmlformats.org/drawingml/2006/main" prst="rect">
            <a:avLst/>
          </a:prstGeom>
          <a:solidFill xmlns:a="http://schemas.openxmlformats.org/drawingml/2006/main">
            <a:srgbClr val="F7FAFC">
              <a:alpha val="95000"/>
            </a:srgbClr>
          </a:solidFill>
          <a:ln xmlns:a="http://schemas.openxmlformats.org/drawingml/2006/main" w="12700">
            <a:solidFill>
              <a:srgbClr val="F7FAFC">
                <a:alpha val="0"/>
              </a:srgbClr>
            </a:solidFill>
            <a:prstDash val="solid"/>
          </a:ln>
        </p:spPr>
      </p:sp>
      <p:sp>
        <p:nvSpPr>
          <p:cNvPr id="4" name="Shape 1">
            <a:extLst xmlns:a="http://schemas.openxmlformats.org/drawingml/2006/main">
              <a:ext uri="{FF2B5EF4-FFF2-40B4-BE49-F238E27FC236}">
                <a16:creationId xmlns:a16="http://schemas.microsoft.com/office/drawing/2014/main" id="{0AA5A0CA-940B-4350-88D9-0E3F6B0121DC}"/>
              </a:ext>
            </a:extLst>
          </p:cNvPr>
          <p:cNvSpPr>
            <a:spLocks xmlns:a="http://schemas.openxmlformats.org/drawingml/2006/main" noGrp="1"/>
          </p:cNvSpPr>
          <p:nvPr/>
        </p:nvSpPr>
        <p:spPr>
          <a:xfrm xmlns:a="http://schemas.openxmlformats.org/drawingml/2006/main">
            <a:off x="0" y="0"/>
            <a:ext cx="6583680" cy="6858000"/>
          </a:xfrm>
          <a:prstGeom xmlns:a="http://schemas.openxmlformats.org/drawingml/2006/main" prst="rect">
            <a:avLst/>
          </a:prstGeom>
          <a:solidFill xmlns:a="http://schemas.openxmlformats.org/drawingml/2006/main">
            <a:srgbClr val="F7FAFC"/>
          </a:solidFill>
          <a:ln xmlns:a="http://schemas.openxmlformats.org/drawingml/2006/main" w="12700">
            <a:solidFill>
              <a:srgbClr val="F7FAFC"/>
            </a:solidFill>
            <a:prstDash val="solid"/>
          </a:ln>
        </p:spPr>
      </p:sp>
      <p:sp>
        <p:nvSpPr>
          <p:cNvPr id="5" name="Shape 2">
            <a:extLst xmlns:a="http://schemas.openxmlformats.org/drawingml/2006/main">
              <a:ext uri="{FF2B5EF4-FFF2-40B4-BE49-F238E27FC236}">
                <a16:creationId xmlns:a16="http://schemas.microsoft.com/office/drawing/2014/main" id="{2A38255D-7575-4FAF-93BF-4429249F5087}"/>
              </a:ext>
            </a:extLst>
          </p:cNvPr>
          <p:cNvSpPr>
            <a:spLocks xmlns:a="http://schemas.openxmlformats.org/drawingml/2006/main" noGrp="1"/>
          </p:cNvSpPr>
          <p:nvPr/>
        </p:nvSpPr>
        <p:spPr>
          <a:xfrm xmlns:a="http://schemas.openxmlformats.org/drawingml/2006/main">
            <a:off x="5303520" y="-274320"/>
            <a:ext cx="1828800" cy="7406640"/>
          </a:xfrm>
          <a:prstGeom xmlns:a="http://schemas.openxmlformats.org/drawingml/2006/main" prst="arc">
            <a:avLst/>
          </a:prstGeom>
          <a:solidFill xmlns:a="http://schemas.openxmlformats.org/drawingml/2006/main">
            <a:srgbClr val="F7FAFC"/>
          </a:solidFill>
          <a:ln xmlns:a="http://schemas.openxmlformats.org/drawingml/2006/main" w="12700">
            <a:solidFill>
              <a:srgbClr val="F7FAFC"/>
            </a:solidFill>
            <a:prstDash val="solid"/>
          </a:ln>
        </p:spPr>
      </p:sp>
      <p:sp>
        <p:nvSpPr>
          <p:cNvPr id="6" name="Shape 3">
            <a:extLst xmlns:a="http://schemas.openxmlformats.org/drawingml/2006/main">
              <a:ext uri="{FF2B5EF4-FFF2-40B4-BE49-F238E27FC236}">
                <a16:creationId xmlns:a16="http://schemas.microsoft.com/office/drawing/2014/main" id="{4793F2B1-D2B9-46DF-B5DD-249511290C60}"/>
              </a:ext>
            </a:extLst>
          </p:cNvPr>
          <p:cNvSpPr>
            <a:spLocks xmlns:a="http://schemas.openxmlformats.org/drawingml/2006/main" noGrp="1"/>
          </p:cNvSpPr>
          <p:nvPr/>
        </p:nvSpPr>
        <p:spPr>
          <a:xfrm xmlns:a="http://schemas.openxmlformats.org/drawingml/2006/main">
            <a:off x="594360" y="502920"/>
            <a:ext cx="1645920" cy="274320"/>
          </a:xfrm>
          <a:prstGeom xmlns:a="http://schemas.openxmlformats.org/drawingml/2006/main" prst="roundRect">
            <a:avLst>
              <a:gd name="adj" fmla="val 50000"/>
            </a:avLst>
          </a:prstGeom>
          <a:solidFill xmlns:a="http://schemas.openxmlformats.org/drawingml/2006/main">
            <a:srgbClr val="EAF9F4"/>
          </a:solidFill>
          <a:ln xmlns:a="http://schemas.openxmlformats.org/drawingml/2006/main" w="12700">
            <a:solidFill>
              <a:srgbClr val="EAF9F4"/>
            </a:solidFill>
            <a:prstDash val="solid"/>
          </a:ln>
        </p:spPr>
      </p:sp>
      <p:sp>
        <p:nvSpPr>
          <p:cNvPr id="7" name="Text 4">
            <a:extLst xmlns:a="http://schemas.openxmlformats.org/drawingml/2006/main">
              <a:ext uri="{FF2B5EF4-FFF2-40B4-BE49-F238E27FC236}">
                <a16:creationId xmlns:a16="http://schemas.microsoft.com/office/drawing/2014/main" id="{CC29A81D-C7D2-49CB-B833-E56507D9A8A2}"/>
              </a:ext>
            </a:extLst>
          </p:cNvPr>
          <p:cNvSpPr>
            <a:spLocks xmlns:a="http://schemas.openxmlformats.org/drawingml/2006/main" noGrp="1"/>
          </p:cNvSpPr>
          <p:nvPr/>
        </p:nvSpPr>
        <p:spPr>
          <a:xfrm xmlns:a="http://schemas.openxmlformats.org/drawingml/2006/main">
            <a:off x="667512" y="553212"/>
            <a:ext cx="149961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C79A"/>
                </a:solidFill>
              </a:rPr>
              <a:t>FINAL YEAR PROJECT</a:t>
            </a:r>
            <a:endParaRPr sz="950"/>
          </a:p>
        </p:txBody>
      </p:sp>
      <p:sp>
        <p:nvSpPr>
          <p:cNvPr id="8" name="Text 5">
            <a:extLst xmlns:a="http://schemas.openxmlformats.org/drawingml/2006/main">
              <a:ext uri="{FF2B5EF4-FFF2-40B4-BE49-F238E27FC236}">
                <a16:creationId xmlns:a16="http://schemas.microsoft.com/office/drawing/2014/main" id="{793563DC-2315-4018-8521-F40C497AE7DB}"/>
              </a:ext>
            </a:extLst>
          </p:cNvPr>
          <p:cNvSpPr>
            <a:spLocks xmlns:a="http://schemas.openxmlformats.org/drawingml/2006/main" noGrp="1"/>
          </p:cNvSpPr>
          <p:nvPr/>
        </p:nvSpPr>
        <p:spPr>
          <a:xfrm xmlns:a="http://schemas.openxmlformats.org/drawingml/2006/main">
            <a:off x="594360" y="1051560"/>
            <a:ext cx="521208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900" b="1">
                <a:solidFill>
                  <a:srgbClr val="0B1F33"/>
                </a:solidFill>
              </a:rPr>
              <a:t>ELITE</a:t>
            </a:r>
            <a:endParaRPr sz="3900"/>
          </a:p>
          <a:p xmlns:a="http://schemas.openxmlformats.org/drawingml/2006/main">
            <a:pPr marL="0" indent="0">
              <a:buNone/>
            </a:pPr>
            <a:r>
              <a:rPr sz="3900" b="1">
                <a:solidFill>
                  <a:srgbClr val="0B1F33"/>
                </a:solidFill>
              </a:rPr>
              <a:t>FITNESS APP</a:t>
            </a:r>
            <a:endParaRPr sz="3900"/>
          </a:p>
        </p:txBody>
      </p:sp>
      <p:sp>
        <p:nvSpPr>
          <p:cNvPr id="9" name="Text 6">
            <a:extLst xmlns:a="http://schemas.openxmlformats.org/drawingml/2006/main">
              <a:ext uri="{FF2B5EF4-FFF2-40B4-BE49-F238E27FC236}">
                <a16:creationId xmlns:a16="http://schemas.microsoft.com/office/drawing/2014/main" id="{33FAFA9D-C1B4-494D-9F7B-9CE5ED77BBD2}"/>
              </a:ext>
            </a:extLst>
          </p:cNvPr>
          <p:cNvSpPr>
            <a:spLocks xmlns:a="http://schemas.openxmlformats.org/drawingml/2006/main" noGrp="1"/>
          </p:cNvSpPr>
          <p:nvPr/>
        </p:nvSpPr>
        <p:spPr>
          <a:xfrm xmlns:a="http://schemas.openxmlformats.org/drawingml/2006/main">
            <a:off x="612648" y="2450592"/>
            <a:ext cx="48463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1677FF"/>
                </a:solidFill>
              </a:rPr>
              <a:t>AI-Powered Personalized Fitness, Nutrition &amp; Exercise Analysis Platform</a:t>
            </a:r>
            <a:endParaRPr sz="1900"/>
          </a:p>
        </p:txBody>
      </p:sp>
      <p:sp>
        <p:nvSpPr>
          <p:cNvPr id="10" name="Shape 7">
            <a:extLst xmlns:a="http://schemas.openxmlformats.org/drawingml/2006/main">
              <a:ext uri="{FF2B5EF4-FFF2-40B4-BE49-F238E27FC236}">
                <a16:creationId xmlns:a16="http://schemas.microsoft.com/office/drawing/2014/main" id="{3FA7F5F8-96A4-4BDC-A588-B76997A739A2}"/>
              </a:ext>
            </a:extLst>
          </p:cNvPr>
          <p:cNvSpPr>
            <a:spLocks xmlns:a="http://schemas.openxmlformats.org/drawingml/2006/main" noGrp="1"/>
          </p:cNvSpPr>
          <p:nvPr/>
        </p:nvSpPr>
        <p:spPr>
          <a:xfrm xmlns:a="http://schemas.openxmlformats.org/drawingml/2006/main">
            <a:off x="612648" y="3310128"/>
            <a:ext cx="4297680" cy="1"/>
          </a:xfrm>
          <a:prstGeom xmlns:a="http://schemas.openxmlformats.org/drawingml/2006/main" prst="line">
            <a:avLst/>
          </a:prstGeom>
          <a:noFill xmlns:a="http://schemas.openxmlformats.org/drawingml/2006/main"/>
          <a:ln xmlns:a="http://schemas.openxmlformats.org/drawingml/2006/main" w="19050">
            <a:solidFill>
              <a:srgbClr val="DCE6EE"/>
            </a:solidFill>
            <a:prstDash val="solid"/>
          </a:ln>
        </p:spPr>
      </p:sp>
      <p:sp>
        <p:nvSpPr>
          <p:cNvPr id="11" name="Text 8">
            <a:extLst xmlns:a="http://schemas.openxmlformats.org/drawingml/2006/main">
              <a:ext uri="{FF2B5EF4-FFF2-40B4-BE49-F238E27FC236}">
                <a16:creationId xmlns:a16="http://schemas.microsoft.com/office/drawing/2014/main" id="{4307CEDF-14A6-4B1C-BE98-C5D1EA036AC3}"/>
              </a:ext>
            </a:extLst>
          </p:cNvPr>
          <p:cNvSpPr>
            <a:spLocks xmlns:a="http://schemas.openxmlformats.org/drawingml/2006/main" noGrp="1"/>
          </p:cNvSpPr>
          <p:nvPr/>
        </p:nvSpPr>
        <p:spPr>
          <a:xfrm xmlns:a="http://schemas.openxmlformats.org/drawingml/2006/main">
            <a:off x="612648" y="356616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82230"/>
                </a:solidFill>
              </a:rPr>
              <a:t>Nour Fakih  •  Oliver Mattar</a:t>
            </a:r>
            <a:endParaRPr sz="1600"/>
          </a:p>
        </p:txBody>
      </p:sp>
      <p:sp>
        <p:nvSpPr>
          <p:cNvPr id="12" name="Text 9">
            <a:extLst xmlns:a="http://schemas.openxmlformats.org/drawingml/2006/main">
              <a:ext uri="{FF2B5EF4-FFF2-40B4-BE49-F238E27FC236}">
                <a16:creationId xmlns:a16="http://schemas.microsoft.com/office/drawing/2014/main" id="{C5E2EC4C-3144-44B6-BD0A-4327B871DEB6}"/>
              </a:ext>
            </a:extLst>
          </p:cNvPr>
          <p:cNvSpPr>
            <a:spLocks xmlns:a="http://schemas.openxmlformats.org/drawingml/2006/main" noGrp="1"/>
          </p:cNvSpPr>
          <p:nvPr/>
        </p:nvSpPr>
        <p:spPr>
          <a:xfrm xmlns:a="http://schemas.openxmlformats.org/drawingml/2006/main">
            <a:off x="612648" y="4041648"/>
            <a:ext cx="49377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67085"/>
                </a:solidFill>
              </a:rPr>
              <a:t>Supervisor: Dr. Joseph Gmayel</a:t>
            </a:r>
            <a:endParaRPr sz="1250"/>
          </a:p>
          <a:p xmlns:a="http://schemas.openxmlformats.org/drawingml/2006/main">
            <a:pPr marL="0" indent="0">
              <a:buNone/>
            </a:pPr>
            <a:r>
              <a:rPr sz="1250">
                <a:solidFill>
                  <a:srgbClr val="667085"/>
                </a:solidFill>
              </a:rPr>
              <a:t>Antonine University  |  Faculty of Engineering</a:t>
            </a:r>
            <a:endParaRPr sz="1250"/>
          </a:p>
          <a:p xmlns:a="http://schemas.openxmlformats.org/drawingml/2006/main">
            <a:pPr marL="0" indent="0">
              <a:buNone/>
            </a:pPr>
            <a:r>
              <a:rPr sz="1250">
                <a:solidFill>
                  <a:srgbClr val="667085"/>
                </a:solidFill>
              </a:rPr>
              <a:t>Computer Science</a:t>
            </a:r>
            <a:endParaRPr sz="1250"/>
          </a:p>
        </p:txBody>
      </p:sp>
      <p:sp>
        <p:nvSpPr>
          <p:cNvPr id="13" name="Text 10">
            <a:extLst xmlns:a="http://schemas.openxmlformats.org/drawingml/2006/main">
              <a:ext uri="{FF2B5EF4-FFF2-40B4-BE49-F238E27FC236}">
                <a16:creationId xmlns:a16="http://schemas.microsoft.com/office/drawing/2014/main" id="{5520C18E-E07B-4099-94C9-D8B3CAC08897}"/>
              </a:ext>
            </a:extLst>
          </p:cNvPr>
          <p:cNvSpPr>
            <a:spLocks xmlns:a="http://schemas.openxmlformats.org/drawingml/2006/main" noGrp="1"/>
          </p:cNvSpPr>
          <p:nvPr/>
        </p:nvSpPr>
        <p:spPr>
          <a:xfrm xmlns:a="http://schemas.openxmlformats.org/drawingml/2006/main">
            <a:off x="612648" y="5998464"/>
            <a:ext cx="48920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10">
                <a:solidFill>
                  <a:srgbClr val="16C79A"/>
                </a:solidFill>
              </a:rPr>
              <a:t>PERSONALIZE  •  ANALYZE  •  PROGRESS</a:t>
            </a:r>
            <a:endParaRPr sz="1000"/>
          </a:p>
        </p:txBody>
      </p:sp>
    </p:spTree>
    <p:extLst>
      <p:ext uri="{BB962C8B-B14F-4D97-AF65-F5344CB8AC3E}">
        <p14:creationId xmlns:p14="http://schemas.microsoft.com/office/powerpoint/2010/main" val="21192502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EDF214-1D2D-41E9-B026-CCB509C51A89}"/>
              </a:ext>
            </a:extLst>
          </p:cNvPr>
          <p:cNvSpPr>
            <a:spLocks xmlns:a="http://schemas.openxmlformats.org/drawingml/2006/main" noGrp="1"/>
          </p:cNvSpPr>
          <p:nvPr/>
        </p:nvSpPr>
        <p:spPr>
          <a:xfrm xmlns:a="http://schemas.openxmlformats.org/drawingml/2006/main">
            <a:off x="502920" y="301752"/>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50">
                <a:solidFill>
                  <a:srgbClr val="16C79A"/>
                </a:solidFill>
              </a:rPr>
              <a:t>01 — MOTIVATION</a:t>
            </a:r>
            <a:endParaRPr sz="1000"/>
          </a:p>
        </p:txBody>
      </p:sp>
      <p:sp>
        <p:nvSpPr>
          <p:cNvPr id="3" name="Text 1">
            <a:extLst xmlns:a="http://schemas.openxmlformats.org/drawingml/2006/main">
              <a:ext uri="{FF2B5EF4-FFF2-40B4-BE49-F238E27FC236}">
                <a16:creationId xmlns:a16="http://schemas.microsoft.com/office/drawing/2014/main" id="{573ACC3A-A6C1-4572-8428-FE32B602867B}"/>
              </a:ext>
            </a:extLst>
          </p:cNvPr>
          <p:cNvSpPr>
            <a:spLocks xmlns:a="http://schemas.openxmlformats.org/drawingml/2006/main" noGrp="1"/>
          </p:cNvSpPr>
          <p:nvPr/>
        </p:nvSpPr>
        <p:spPr>
          <a:xfrm xmlns:a="http://schemas.openxmlformats.org/drawingml/2006/main">
            <a:off x="502920" y="530352"/>
            <a:ext cx="111099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3"/>
                </a:solidFill>
              </a:rPr>
              <a:t>The Problem</a:t>
            </a:r>
            <a:endParaRPr sz="2700"/>
          </a:p>
        </p:txBody>
      </p:sp>
      <p:sp>
        <p:nvSpPr>
          <p:cNvPr id="4" name="Shape 2">
            <a:extLst xmlns:a="http://schemas.openxmlformats.org/drawingml/2006/main">
              <a:ext uri="{FF2B5EF4-FFF2-40B4-BE49-F238E27FC236}">
                <a16:creationId xmlns:a16="http://schemas.microsoft.com/office/drawing/2014/main" id="{E23DE9CC-0A2D-41BD-B15D-B69E01293EF2}"/>
              </a:ext>
            </a:extLst>
          </p:cNvPr>
          <p:cNvSpPr>
            <a:spLocks xmlns:a="http://schemas.openxmlformats.org/drawingml/2006/main" noGrp="1"/>
          </p:cNvSpPr>
          <p:nvPr/>
        </p:nvSpPr>
        <p:spPr>
          <a:xfrm xmlns:a="http://schemas.openxmlformats.org/drawingml/2006/main">
            <a:off x="502920" y="1042416"/>
            <a:ext cx="822960" cy="1"/>
          </a:xfrm>
          <a:prstGeom xmlns:a="http://schemas.openxmlformats.org/drawingml/2006/main" prst="line">
            <a:avLst/>
          </a:prstGeom>
          <a:noFill xmlns:a="http://schemas.openxmlformats.org/drawingml/2006/main"/>
          <a:ln xmlns:a="http://schemas.openxmlformats.org/drawingml/2006/main" w="38100">
            <a:solidFill>
              <a:srgbClr val="16C79A"/>
            </a:solidFill>
            <a:prstDash val="solid"/>
          </a:ln>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701a669f3d5a4c23"/>
          <a:srcRect xmlns:a="http://schemas.openxmlformats.org/drawingml/2006/main" l="13509" t="0" r="13509" b="0"/>
          <a:stretch xmlns:a="http://schemas.openxmlformats.org/drawingml/2006/main"/>
        </p:blipFill>
        <p:spPr>
          <a:xfrm xmlns:a="http://schemas.openxmlformats.org/drawingml/2006/main">
            <a:off x="6903720" y="1188720"/>
            <a:ext cx="4754880" cy="43434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73B8C617-65DE-4CEC-9BFC-171FF2440402}"/>
              </a:ext>
            </a:extLst>
          </p:cNvPr>
          <p:cNvSpPr>
            <a:spLocks xmlns:a="http://schemas.openxmlformats.org/drawingml/2006/main" noGrp="1"/>
          </p:cNvSpPr>
          <p:nvPr/>
        </p:nvSpPr>
        <p:spPr>
          <a:xfrm xmlns:a="http://schemas.openxmlformats.org/drawingml/2006/main">
            <a:off x="548640" y="1234440"/>
            <a:ext cx="5897880" cy="768096"/>
          </a:xfrm>
          <a:prstGeom xmlns:a="http://schemas.openxmlformats.org/drawingml/2006/main" prst="roundRect">
            <a:avLst>
              <a:gd name="adj" fmla="val 19048"/>
            </a:avLst>
          </a:prstGeom>
          <a:solidFill xmlns:a="http://schemas.openxmlformats.org/drawingml/2006/main">
            <a:srgbClr val="F1FBF7"/>
          </a:solidFill>
          <a:ln xmlns:a="http://schemas.openxmlformats.org/drawingml/2006/main" w="12700">
            <a:solidFill>
              <a:srgbClr val="DCE6EE"/>
            </a:solidFill>
            <a:prstDash val="solid"/>
          </a:ln>
          <a:effectLst xmlns:a="http://schemas.openxmlformats.org/drawingml/2006/main">
            <a:outerShdw blurRad="25400" dist="12700" dir="2700000" algn="bl" rotWithShape="0">
              <a:srgbClr val="000000">
                <a:alpha val="12000"/>
              </a:srgbClr>
            </a:outerShdw>
          </a:effectLst>
        </p:spPr>
      </p:sp>
      <p:sp>
        <p:nvSpPr>
          <p:cNvPr id="7" name="Text 4">
            <a:extLst xmlns:a="http://schemas.openxmlformats.org/drawingml/2006/main">
              <a:ext uri="{FF2B5EF4-FFF2-40B4-BE49-F238E27FC236}">
                <a16:creationId xmlns:a16="http://schemas.microsoft.com/office/drawing/2014/main" id="{863EF400-0CE9-42AA-82A6-E43D1DB26DE8}"/>
              </a:ext>
            </a:extLst>
          </p:cNvPr>
          <p:cNvSpPr>
            <a:spLocks xmlns:a="http://schemas.openxmlformats.org/drawingml/2006/main" noGrp="1"/>
          </p:cNvSpPr>
          <p:nvPr/>
        </p:nvSpPr>
        <p:spPr>
          <a:xfrm xmlns:a="http://schemas.openxmlformats.org/drawingml/2006/main">
            <a:off x="713232" y="1380744"/>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C79A"/>
                </a:solidFill>
              </a:rPr>
              <a:t>01</a:t>
            </a:r>
            <a:endParaRPr sz="1300"/>
          </a:p>
        </p:txBody>
      </p:sp>
      <p:sp>
        <p:nvSpPr>
          <p:cNvPr id="8" name="Text 5">
            <a:extLst xmlns:a="http://schemas.openxmlformats.org/drawingml/2006/main">
              <a:ext uri="{FF2B5EF4-FFF2-40B4-BE49-F238E27FC236}">
                <a16:creationId xmlns:a16="http://schemas.microsoft.com/office/drawing/2014/main" id="{FAE7E073-1615-487C-9ED6-C07687EF7008}"/>
              </a:ext>
            </a:extLst>
          </p:cNvPr>
          <p:cNvSpPr>
            <a:spLocks xmlns:a="http://schemas.openxmlformats.org/drawingml/2006/main" noGrp="1"/>
          </p:cNvSpPr>
          <p:nvPr/>
        </p:nvSpPr>
        <p:spPr>
          <a:xfrm xmlns:a="http://schemas.openxmlformats.org/drawingml/2006/main">
            <a:off x="1188720" y="1344168"/>
            <a:ext cx="21488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1F33"/>
                </a:solidFill>
              </a:rPr>
              <a:t>Generic Fitness Plans</a:t>
            </a:r>
            <a:endParaRPr sz="1300"/>
          </a:p>
        </p:txBody>
      </p:sp>
      <p:sp>
        <p:nvSpPr>
          <p:cNvPr id="9" name="Text 6">
            <a:extLst xmlns:a="http://schemas.openxmlformats.org/drawingml/2006/main">
              <a:ext uri="{FF2B5EF4-FFF2-40B4-BE49-F238E27FC236}">
                <a16:creationId xmlns:a16="http://schemas.microsoft.com/office/drawing/2014/main" id="{6056BCFE-EB10-4F6C-89B5-2D1C935A3343}"/>
              </a:ext>
            </a:extLst>
          </p:cNvPr>
          <p:cNvSpPr>
            <a:spLocks xmlns:a="http://schemas.openxmlformats.org/drawingml/2006/main" noGrp="1"/>
          </p:cNvSpPr>
          <p:nvPr/>
        </p:nvSpPr>
        <p:spPr>
          <a:xfrm xmlns:a="http://schemas.openxmlformats.org/drawingml/2006/main">
            <a:off x="3310128" y="1344168"/>
            <a:ext cx="28529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667085"/>
                </a:solidFill>
              </a:rPr>
              <a:t>Recommendations are rarely deeply personalized.</a:t>
            </a:r>
            <a:endParaRPr sz="1050"/>
          </a:p>
        </p:txBody>
      </p:sp>
      <p:sp>
        <p:nvSpPr>
          <p:cNvPr id="10" name="Shape 7">
            <a:extLst xmlns:a="http://schemas.openxmlformats.org/drawingml/2006/main">
              <a:ext uri="{FF2B5EF4-FFF2-40B4-BE49-F238E27FC236}">
                <a16:creationId xmlns:a16="http://schemas.microsoft.com/office/drawing/2014/main" id="{43FCCFAF-0B19-432A-84CC-9EF2772D5711}"/>
              </a:ext>
            </a:extLst>
          </p:cNvPr>
          <p:cNvSpPr>
            <a:spLocks xmlns:a="http://schemas.openxmlformats.org/drawingml/2006/main" noGrp="1"/>
          </p:cNvSpPr>
          <p:nvPr/>
        </p:nvSpPr>
        <p:spPr>
          <a:xfrm xmlns:a="http://schemas.openxmlformats.org/drawingml/2006/main">
            <a:off x="548640" y="2194560"/>
            <a:ext cx="5897880" cy="768096"/>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2700">
            <a:solidFill>
              <a:srgbClr val="DCE6EE"/>
            </a:solidFill>
            <a:prstDash val="solid"/>
          </a:ln>
        </p:spPr>
      </p:sp>
      <p:sp>
        <p:nvSpPr>
          <p:cNvPr id="11" name="Text 8">
            <a:extLst xmlns:a="http://schemas.openxmlformats.org/drawingml/2006/main">
              <a:ext uri="{FF2B5EF4-FFF2-40B4-BE49-F238E27FC236}">
                <a16:creationId xmlns:a16="http://schemas.microsoft.com/office/drawing/2014/main" id="{68C7F758-54B4-4555-A571-EE4BD422F155}"/>
              </a:ext>
            </a:extLst>
          </p:cNvPr>
          <p:cNvSpPr>
            <a:spLocks xmlns:a="http://schemas.openxmlformats.org/drawingml/2006/main" noGrp="1"/>
          </p:cNvSpPr>
          <p:nvPr/>
        </p:nvSpPr>
        <p:spPr>
          <a:xfrm xmlns:a="http://schemas.openxmlformats.org/drawingml/2006/main">
            <a:off x="713232" y="2340864"/>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C79A"/>
                </a:solidFill>
              </a:rPr>
              <a:t>02</a:t>
            </a:r>
            <a:endParaRPr sz="1300"/>
          </a:p>
        </p:txBody>
      </p:sp>
      <p:sp>
        <p:nvSpPr>
          <p:cNvPr id="12" name="Text 9">
            <a:extLst xmlns:a="http://schemas.openxmlformats.org/drawingml/2006/main">
              <a:ext uri="{FF2B5EF4-FFF2-40B4-BE49-F238E27FC236}">
                <a16:creationId xmlns:a16="http://schemas.microsoft.com/office/drawing/2014/main" id="{E3730805-B54F-4C65-99ED-E1C7A02611BC}"/>
              </a:ext>
            </a:extLst>
          </p:cNvPr>
          <p:cNvSpPr>
            <a:spLocks xmlns:a="http://schemas.openxmlformats.org/drawingml/2006/main" noGrp="1"/>
          </p:cNvSpPr>
          <p:nvPr/>
        </p:nvSpPr>
        <p:spPr>
          <a:xfrm xmlns:a="http://schemas.openxmlformats.org/drawingml/2006/main">
            <a:off x="1188720" y="2304288"/>
            <a:ext cx="21488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1F33"/>
                </a:solidFill>
              </a:rPr>
              <a:t>Fragmented Experience</a:t>
            </a:r>
            <a:endParaRPr sz="1300"/>
          </a:p>
        </p:txBody>
      </p:sp>
      <p:sp>
        <p:nvSpPr>
          <p:cNvPr id="13" name="Text 10">
            <a:extLst xmlns:a="http://schemas.openxmlformats.org/drawingml/2006/main">
              <a:ext uri="{FF2B5EF4-FFF2-40B4-BE49-F238E27FC236}">
                <a16:creationId xmlns:a16="http://schemas.microsoft.com/office/drawing/2014/main" id="{CA0B6870-2D80-4EDF-9C97-BC1020018038}"/>
              </a:ext>
            </a:extLst>
          </p:cNvPr>
          <p:cNvSpPr>
            <a:spLocks xmlns:a="http://schemas.openxmlformats.org/drawingml/2006/main" noGrp="1"/>
          </p:cNvSpPr>
          <p:nvPr/>
        </p:nvSpPr>
        <p:spPr>
          <a:xfrm xmlns:a="http://schemas.openxmlformats.org/drawingml/2006/main">
            <a:off x="3310128" y="2304288"/>
            <a:ext cx="28529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667085"/>
                </a:solidFill>
              </a:rPr>
              <a:t>Workout, nutrition, tracking and motivation stay separated.</a:t>
            </a:r>
            <a:endParaRPr sz="1050"/>
          </a:p>
        </p:txBody>
      </p:sp>
      <p:sp>
        <p:nvSpPr>
          <p:cNvPr id="14" name="Shape 11">
            <a:extLst xmlns:a="http://schemas.openxmlformats.org/drawingml/2006/main">
              <a:ext uri="{FF2B5EF4-FFF2-40B4-BE49-F238E27FC236}">
                <a16:creationId xmlns:a16="http://schemas.microsoft.com/office/drawing/2014/main" id="{7B35B15E-330F-4975-A5DC-D202799533C0}"/>
              </a:ext>
            </a:extLst>
          </p:cNvPr>
          <p:cNvSpPr>
            <a:spLocks xmlns:a="http://schemas.openxmlformats.org/drawingml/2006/main" noGrp="1"/>
          </p:cNvSpPr>
          <p:nvPr/>
        </p:nvSpPr>
        <p:spPr>
          <a:xfrm xmlns:a="http://schemas.openxmlformats.org/drawingml/2006/main">
            <a:off x="548640" y="3154680"/>
            <a:ext cx="5897880" cy="768096"/>
          </a:xfrm>
          <a:prstGeom xmlns:a="http://schemas.openxmlformats.org/drawingml/2006/main" prst="roundRect">
            <a:avLst>
              <a:gd name="adj" fmla="val 19048"/>
            </a:avLst>
          </a:prstGeom>
          <a:solidFill xmlns:a="http://schemas.openxmlformats.org/drawingml/2006/main">
            <a:srgbClr val="F1FBF7"/>
          </a:solidFill>
          <a:ln xmlns:a="http://schemas.openxmlformats.org/drawingml/2006/main" w="12700">
            <a:solidFill>
              <a:srgbClr val="DCE6EE"/>
            </a:solidFill>
            <a:prstDash val="solid"/>
          </a:ln>
        </p:spPr>
      </p:sp>
      <p:sp>
        <p:nvSpPr>
          <p:cNvPr id="15" name="Text 12">
            <a:extLst xmlns:a="http://schemas.openxmlformats.org/drawingml/2006/main">
              <a:ext uri="{FF2B5EF4-FFF2-40B4-BE49-F238E27FC236}">
                <a16:creationId xmlns:a16="http://schemas.microsoft.com/office/drawing/2014/main" id="{A95EB66D-E2F2-4ED7-B7EC-579869868D0D}"/>
              </a:ext>
            </a:extLst>
          </p:cNvPr>
          <p:cNvSpPr>
            <a:spLocks xmlns:a="http://schemas.openxmlformats.org/drawingml/2006/main" noGrp="1"/>
          </p:cNvSpPr>
          <p:nvPr/>
        </p:nvSpPr>
        <p:spPr>
          <a:xfrm xmlns:a="http://schemas.openxmlformats.org/drawingml/2006/main">
            <a:off x="713232" y="3300984"/>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C79A"/>
                </a:solidFill>
              </a:rPr>
              <a:t>03</a:t>
            </a:r>
            <a:endParaRPr sz="1300"/>
          </a:p>
        </p:txBody>
      </p:sp>
      <p:sp>
        <p:nvSpPr>
          <p:cNvPr id="16" name="Text 13">
            <a:extLst xmlns:a="http://schemas.openxmlformats.org/drawingml/2006/main">
              <a:ext uri="{FF2B5EF4-FFF2-40B4-BE49-F238E27FC236}">
                <a16:creationId xmlns:a16="http://schemas.microsoft.com/office/drawing/2014/main" id="{71C0A961-C894-445A-9CD9-F7CF51573372}"/>
              </a:ext>
            </a:extLst>
          </p:cNvPr>
          <p:cNvSpPr>
            <a:spLocks xmlns:a="http://schemas.openxmlformats.org/drawingml/2006/main" noGrp="1"/>
          </p:cNvSpPr>
          <p:nvPr/>
        </p:nvSpPr>
        <p:spPr>
          <a:xfrm xmlns:a="http://schemas.openxmlformats.org/drawingml/2006/main">
            <a:off x="1188720" y="3264408"/>
            <a:ext cx="21488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1F33"/>
                </a:solidFill>
              </a:rPr>
              <a:t>Safety &amp; Restrictions</a:t>
            </a:r>
            <a:endParaRPr sz="1300"/>
          </a:p>
        </p:txBody>
      </p:sp>
      <p:sp>
        <p:nvSpPr>
          <p:cNvPr id="17" name="Text 14">
            <a:extLst xmlns:a="http://schemas.openxmlformats.org/drawingml/2006/main">
              <a:ext uri="{FF2B5EF4-FFF2-40B4-BE49-F238E27FC236}">
                <a16:creationId xmlns:a16="http://schemas.microsoft.com/office/drawing/2014/main" id="{E52E18A7-D792-45AA-BFF2-E79965B4567C}"/>
              </a:ext>
            </a:extLst>
          </p:cNvPr>
          <p:cNvSpPr>
            <a:spLocks xmlns:a="http://schemas.openxmlformats.org/drawingml/2006/main" noGrp="1"/>
          </p:cNvSpPr>
          <p:nvPr/>
        </p:nvSpPr>
        <p:spPr>
          <a:xfrm xmlns:a="http://schemas.openxmlformats.org/drawingml/2006/main">
            <a:off x="3310128" y="3264408"/>
            <a:ext cx="28529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667085"/>
                </a:solidFill>
              </a:rPr>
              <a:t>Injuries, allergies and dietary restrictions require care.</a:t>
            </a:r>
            <a:endParaRPr sz="1050"/>
          </a:p>
        </p:txBody>
      </p:sp>
      <p:sp>
        <p:nvSpPr>
          <p:cNvPr id="18" name="Shape 15">
            <a:extLst xmlns:a="http://schemas.openxmlformats.org/drawingml/2006/main">
              <a:ext uri="{FF2B5EF4-FFF2-40B4-BE49-F238E27FC236}">
                <a16:creationId xmlns:a16="http://schemas.microsoft.com/office/drawing/2014/main" id="{C311404A-4A27-4242-8CD0-CD458A72A31B}"/>
              </a:ext>
            </a:extLst>
          </p:cNvPr>
          <p:cNvSpPr>
            <a:spLocks xmlns:a="http://schemas.openxmlformats.org/drawingml/2006/main" noGrp="1"/>
          </p:cNvSpPr>
          <p:nvPr/>
        </p:nvSpPr>
        <p:spPr>
          <a:xfrm xmlns:a="http://schemas.openxmlformats.org/drawingml/2006/main">
            <a:off x="548640" y="4114800"/>
            <a:ext cx="5897880" cy="768096"/>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2700">
            <a:solidFill>
              <a:srgbClr val="DCE6EE"/>
            </a:solidFill>
            <a:prstDash val="solid"/>
          </a:ln>
        </p:spPr>
      </p:sp>
      <p:sp>
        <p:nvSpPr>
          <p:cNvPr id="19" name="Text 16">
            <a:extLst xmlns:a="http://schemas.openxmlformats.org/drawingml/2006/main">
              <a:ext uri="{FF2B5EF4-FFF2-40B4-BE49-F238E27FC236}">
                <a16:creationId xmlns:a16="http://schemas.microsoft.com/office/drawing/2014/main" id="{7F8FE217-8837-4B85-A6FE-A8369B919DE2}"/>
              </a:ext>
            </a:extLst>
          </p:cNvPr>
          <p:cNvSpPr>
            <a:spLocks xmlns:a="http://schemas.openxmlformats.org/drawingml/2006/main" noGrp="1"/>
          </p:cNvSpPr>
          <p:nvPr/>
        </p:nvSpPr>
        <p:spPr>
          <a:xfrm xmlns:a="http://schemas.openxmlformats.org/drawingml/2006/main">
            <a:off x="713232" y="4261104"/>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C79A"/>
                </a:solidFill>
              </a:rPr>
              <a:t>04</a:t>
            </a:r>
            <a:endParaRPr sz="1300"/>
          </a:p>
        </p:txBody>
      </p:sp>
      <p:sp>
        <p:nvSpPr>
          <p:cNvPr id="20" name="Text 17">
            <a:extLst xmlns:a="http://schemas.openxmlformats.org/drawingml/2006/main">
              <a:ext uri="{FF2B5EF4-FFF2-40B4-BE49-F238E27FC236}">
                <a16:creationId xmlns:a16="http://schemas.microsoft.com/office/drawing/2014/main" id="{D3F75349-EEAD-4769-BFFC-512003B14E8E}"/>
              </a:ext>
            </a:extLst>
          </p:cNvPr>
          <p:cNvSpPr>
            <a:spLocks xmlns:a="http://schemas.openxmlformats.org/drawingml/2006/main" noGrp="1"/>
          </p:cNvSpPr>
          <p:nvPr/>
        </p:nvSpPr>
        <p:spPr>
          <a:xfrm xmlns:a="http://schemas.openxmlformats.org/drawingml/2006/main">
            <a:off x="1188720" y="4224528"/>
            <a:ext cx="21488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1F33"/>
                </a:solidFill>
              </a:rPr>
              <a:t>Lack of Exercise Feedback</a:t>
            </a:r>
            <a:endParaRPr sz="1300"/>
          </a:p>
        </p:txBody>
      </p:sp>
      <p:sp>
        <p:nvSpPr>
          <p:cNvPr id="21" name="Text 18">
            <a:extLst xmlns:a="http://schemas.openxmlformats.org/drawingml/2006/main">
              <a:ext uri="{FF2B5EF4-FFF2-40B4-BE49-F238E27FC236}">
                <a16:creationId xmlns:a16="http://schemas.microsoft.com/office/drawing/2014/main" id="{9B43940C-FBDD-461C-ACA7-BAE019E4E039}"/>
              </a:ext>
            </a:extLst>
          </p:cNvPr>
          <p:cNvSpPr>
            <a:spLocks xmlns:a="http://schemas.openxmlformats.org/drawingml/2006/main" noGrp="1"/>
          </p:cNvSpPr>
          <p:nvPr/>
        </p:nvSpPr>
        <p:spPr>
          <a:xfrm xmlns:a="http://schemas.openxmlformats.org/drawingml/2006/main">
            <a:off x="3310128" y="4224528"/>
            <a:ext cx="28529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667085"/>
                </a:solidFill>
              </a:rPr>
              <a:t>A plan does not guarantee correct execution.</a:t>
            </a:r>
            <a:endParaRPr sz="1050"/>
          </a:p>
        </p:txBody>
      </p:sp>
      <p:sp>
        <p:nvSpPr>
          <p:cNvPr id="22" name="Shape 19">
            <a:extLst xmlns:a="http://schemas.openxmlformats.org/drawingml/2006/main">
              <a:ext uri="{FF2B5EF4-FFF2-40B4-BE49-F238E27FC236}">
                <a16:creationId xmlns:a16="http://schemas.microsoft.com/office/drawing/2014/main" id="{CAAFF2EF-C10E-4468-B8A1-06D07CBE8C6F}"/>
              </a:ext>
            </a:extLst>
          </p:cNvPr>
          <p:cNvSpPr>
            <a:spLocks xmlns:a="http://schemas.openxmlformats.org/drawingml/2006/main" noGrp="1"/>
          </p:cNvSpPr>
          <p:nvPr/>
        </p:nvSpPr>
        <p:spPr>
          <a:xfrm xmlns:a="http://schemas.openxmlformats.org/drawingml/2006/main">
            <a:off x="548640" y="5321808"/>
            <a:ext cx="11109960" cy="713232"/>
          </a:xfrm>
          <a:prstGeom xmlns:a="http://schemas.openxmlformats.org/drawingml/2006/main" prst="roundRect">
            <a:avLst>
              <a:gd name="adj" fmla="val 23077"/>
            </a:avLst>
          </a:prstGeom>
          <a:solidFill xmlns:a="http://schemas.openxmlformats.org/drawingml/2006/main">
            <a:srgbClr val="0B1F33"/>
          </a:solidFill>
          <a:ln xmlns:a="http://schemas.openxmlformats.org/drawingml/2006/main" w="12700">
            <a:solidFill>
              <a:srgbClr val="0B1F33"/>
            </a:solidFill>
            <a:prstDash val="solid"/>
          </a:ln>
        </p:spPr>
      </p:sp>
      <p:sp>
        <p:nvSpPr>
          <p:cNvPr id="23" name="Text 20">
            <a:extLst xmlns:a="http://schemas.openxmlformats.org/drawingml/2006/main">
              <a:ext uri="{FF2B5EF4-FFF2-40B4-BE49-F238E27FC236}">
                <a16:creationId xmlns:a16="http://schemas.microsoft.com/office/drawing/2014/main" id="{A2E92134-37EB-4CCF-931D-EAB2F74CFB7A}"/>
              </a:ext>
            </a:extLst>
          </p:cNvPr>
          <p:cNvSpPr>
            <a:spLocks xmlns:a="http://schemas.openxmlformats.org/drawingml/2006/main" noGrp="1"/>
          </p:cNvSpPr>
          <p:nvPr/>
        </p:nvSpPr>
        <p:spPr>
          <a:xfrm xmlns:a="http://schemas.openxmlformats.org/drawingml/2006/main">
            <a:off x="868680" y="5541264"/>
            <a:ext cx="104698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FFFFFF"/>
                </a:solidFill>
              </a:rPr>
              <a:t>Users need one system that understands their profile, adapts recommendations and continuously tracks progress.</a:t>
            </a:r>
            <a:endParaRPr sz="1500"/>
          </a:p>
        </p:txBody>
      </p:sp>
      <p:sp>
        <p:nvSpPr>
          <p:cNvPr id="25" name="Slide Number Placeholder 0">
            <a:extLst xmlns:a="http://schemas.openxmlformats.org/drawingml/2006/main">
              <a:ext uri="{FF2B5EF4-FFF2-40B4-BE49-F238E27FC236}">
                <a16:creationId xmlns:a16="http://schemas.microsoft.com/office/drawing/2014/main" id="{5C2FAD27-9B73-433D-A581-3BDB01EC1368}"/>
              </a:ext>
            </a:extLst>
          </p:cNvPr>
          <p:cNvSpPr>
            <a:spLocks xmlns:a="http://schemas.openxmlformats.org/drawingml/2006/main" noGrp="1"/>
          </p:cNvSpPr>
          <p:nvPr>
            <p:ph type="sldNum" idx="4294967295"/>
          </p:nvPr>
        </p:nvSpPr>
        <p:spPr>
          <a:xfrm xmlns:a="http://schemas.openxmlformats.org/drawingml/2006/main">
            <a:off x="11777472" y="6510528"/>
            <a:ext cx="201168" cy="164592"/>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8A2B3"/>
                </a:solidFill>
                <a:latin typeface="Aptos"/>
                <a:ea typeface="Aptos"/>
                <a:cs typeface="Aptos"/>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384542956"/>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956E972-A9CC-4AE2-8278-00A7F96A3A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948151-70D2-402A-8A0E-C71C2C4A5B63}"/>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PRODUCT VISION</a:t>
            </a:r>
          </a:p>
        </p:txBody>
      </p:sp>
      <p:sp>
        <p:nvSpPr>
          <p:cNvPr id="3" name="">
            <a:extLst xmlns:a="http://schemas.openxmlformats.org/drawingml/2006/main">
              <a:ext uri="{FF2B5EF4-FFF2-40B4-BE49-F238E27FC236}">
                <a16:creationId xmlns:a16="http://schemas.microsoft.com/office/drawing/2014/main" id="{BDB510DC-E18A-4CE6-A5ED-A04550A4E139}"/>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The product: four connected experiences</a:t>
            </a:r>
          </a:p>
        </p:txBody>
      </p:sp>
      <p:sp>
        <p:nvSpPr>
          <p:cNvPr id="4" name="">
            <a:extLst xmlns:a="http://schemas.openxmlformats.org/drawingml/2006/main">
              <a:ext uri="{FF2B5EF4-FFF2-40B4-BE49-F238E27FC236}">
                <a16:creationId xmlns:a16="http://schemas.microsoft.com/office/drawing/2014/main" id="{A4F062DC-4DE5-4687-94E8-F2291897D44F}"/>
              </a:ext>
            </a:extLst>
          </p:cNvPr>
          <p:cNvSpPr>
            <a:spLocks xmlns:a="http://schemas.openxmlformats.org/drawingml/2006/main" noGrp="1"/>
          </p:cNvSpPr>
          <p:nvPr/>
        </p:nvSpPr>
        <p:spPr>
          <a:xfrm xmlns:a="http://schemas.openxmlformats.org/drawingml/2006/main">
            <a:off x="514350" y="64389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587087"/>
                </a:solidFill>
                <a:latin typeface="Aptos"/>
                <a:ea typeface="Aptos"/>
                <a:cs typeface="Aptos"/>
              </a:defRPr>
            </a:pPr>
            <a:r>
              <a:rPr sz="900" b="1">
                <a:solidFill>
                  <a:srgbClr val="587087"/>
                </a:solidFill>
                <a:latin typeface="Aptos"/>
                <a:ea typeface="Aptos"/>
                <a:cs typeface="Aptos"/>
              </a:rPr>
              <a:t>ELITE FITNESS</a:t>
            </a:r>
          </a:p>
        </p:txBody>
      </p:sp>
      <p:sp>
        <p:nvSpPr>
          <p:cNvPr id="5" name="">
            <a:extLst xmlns:a="http://schemas.openxmlformats.org/drawingml/2006/main">
              <a:ext uri="{FF2B5EF4-FFF2-40B4-BE49-F238E27FC236}">
                <a16:creationId xmlns:a16="http://schemas.microsoft.com/office/drawing/2014/main" id="{8EB30443-FE58-420D-8D8B-A41266092427}"/>
              </a:ext>
            </a:extLst>
          </p:cNvPr>
          <p:cNvSpPr>
            <a:spLocks xmlns:a="http://schemas.openxmlformats.org/drawingml/2006/main" noGrp="1"/>
          </p:cNvSpPr>
          <p:nvPr/>
        </p:nvSpPr>
        <p:spPr>
          <a:xfrm xmlns:a="http://schemas.openxmlformats.org/drawingml/2006/main">
            <a:off x="9667875" y="64389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825" b="0">
                <a:solidFill>
                  <a:srgbClr val="587087"/>
                </a:solidFill>
                <a:latin typeface="Aptos"/>
                <a:ea typeface="Aptos"/>
                <a:cs typeface="Aptos"/>
              </a:defRPr>
            </a:pPr>
            <a:r>
              <a:rPr sz="825" b="0">
                <a:solidFill>
                  <a:srgbClr val="587087"/>
                </a:solidFill>
                <a:latin typeface="Aptos"/>
                <a:ea typeface="Aptos"/>
                <a:cs typeface="Aptos"/>
              </a:rPr>
              <a:t>FINAL YEAR PROJECT   3</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78030524a9a4777"/>
          <a:stretch xmlns:a="http://schemas.openxmlformats.org/drawingml/2006/main"/>
        </p:blipFill>
        <p:spPr>
          <a:xfrm xmlns:a="http://schemas.openxmlformats.org/drawingml/2006/main">
            <a:off x="648002" y="1419225"/>
            <a:ext cx="2171095"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0631607-E271-409F-A21C-66DBE2D33F73}"/>
              </a:ext>
            </a:extLst>
          </p:cNvPr>
          <p:cNvSpPr>
            <a:spLocks xmlns:a="http://schemas.openxmlformats.org/drawingml/2006/main" noGrp="1"/>
          </p:cNvSpPr>
          <p:nvPr/>
        </p:nvSpPr>
        <p:spPr>
          <a:xfrm xmlns:a="http://schemas.openxmlformats.org/drawingml/2006/main">
            <a:off x="571500" y="56769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TRAIN</a:t>
            </a:r>
          </a:p>
        </p:txBody>
      </p:sp>
      <p:sp>
        <p:nvSpPr>
          <p:cNvPr id="8" name="">
            <a:extLst xmlns:a="http://schemas.openxmlformats.org/drawingml/2006/main">
              <a:ext uri="{FF2B5EF4-FFF2-40B4-BE49-F238E27FC236}">
                <a16:creationId xmlns:a16="http://schemas.microsoft.com/office/drawing/2014/main" id="{0CD225EA-F770-499F-92A3-8AF4A8765684}"/>
              </a:ext>
            </a:extLst>
          </p:cNvPr>
          <p:cNvSpPr>
            <a:spLocks xmlns:a="http://schemas.openxmlformats.org/drawingml/2006/main" noGrp="1"/>
          </p:cNvSpPr>
          <p:nvPr/>
        </p:nvSpPr>
        <p:spPr>
          <a:xfrm xmlns:a="http://schemas.openxmlformats.org/drawingml/2006/main">
            <a:off x="571500" y="5953125"/>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1B2D"/>
                </a:solidFill>
                <a:latin typeface="Aptos"/>
                <a:ea typeface="Aptos"/>
                <a:cs typeface="Aptos"/>
              </a:defRPr>
            </a:pPr>
            <a:r>
              <a:rPr sz="1350" b="1">
                <a:solidFill>
                  <a:srgbClr val="111B2D"/>
                </a:solidFill>
                <a:latin typeface="Aptos"/>
                <a:ea typeface="Aptos"/>
                <a:cs typeface="Aptos"/>
              </a:rPr>
              <a:t>Personalized workout</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0571ce0e5754afb"/>
          <a:stretch xmlns:a="http://schemas.openxmlformats.org/drawingml/2006/main"/>
        </p:blipFill>
        <p:spPr>
          <a:xfrm xmlns:a="http://schemas.openxmlformats.org/drawingml/2006/main">
            <a:off x="3409950" y="1429402"/>
            <a:ext cx="2324100" cy="417064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18AA9DF-BC4B-42C2-9B5F-2B28595E0997}"/>
              </a:ext>
            </a:extLst>
          </p:cNvPr>
          <p:cNvSpPr>
            <a:spLocks xmlns:a="http://schemas.openxmlformats.org/drawingml/2006/main" noGrp="1"/>
          </p:cNvSpPr>
          <p:nvPr/>
        </p:nvSpPr>
        <p:spPr>
          <a:xfrm xmlns:a="http://schemas.openxmlformats.org/drawingml/2006/main">
            <a:off x="3409950" y="56769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EAT</a:t>
            </a:r>
          </a:p>
        </p:txBody>
      </p:sp>
      <p:sp>
        <p:nvSpPr>
          <p:cNvPr id="11" name="">
            <a:extLst xmlns:a="http://schemas.openxmlformats.org/drawingml/2006/main">
              <a:ext uri="{FF2B5EF4-FFF2-40B4-BE49-F238E27FC236}">
                <a16:creationId xmlns:a16="http://schemas.microsoft.com/office/drawing/2014/main" id="{68C2C0A0-1A7A-4F2A-B3E7-B022137097FB}"/>
              </a:ext>
            </a:extLst>
          </p:cNvPr>
          <p:cNvSpPr>
            <a:spLocks xmlns:a="http://schemas.openxmlformats.org/drawingml/2006/main" noGrp="1"/>
          </p:cNvSpPr>
          <p:nvPr/>
        </p:nvSpPr>
        <p:spPr>
          <a:xfrm xmlns:a="http://schemas.openxmlformats.org/drawingml/2006/main">
            <a:off x="3409950" y="5953125"/>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1B2D"/>
                </a:solidFill>
                <a:latin typeface="Aptos"/>
                <a:ea typeface="Aptos"/>
                <a:cs typeface="Aptos"/>
              </a:defRPr>
            </a:pPr>
            <a:r>
              <a:rPr sz="1350" b="1">
                <a:solidFill>
                  <a:srgbClr val="111B2D"/>
                </a:solidFill>
                <a:latin typeface="Aptos"/>
                <a:ea typeface="Aptos"/>
                <a:cs typeface="Aptos"/>
              </a:rPr>
              <a:t>Daily nutrition plan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6d6da5ce3244450"/>
          <a:stretch xmlns:a="http://schemas.openxmlformats.org/drawingml/2006/main"/>
        </p:blipFill>
        <p:spPr>
          <a:xfrm xmlns:a="http://schemas.openxmlformats.org/drawingml/2006/main">
            <a:off x="6303773" y="1419225"/>
            <a:ext cx="2213354" cy="4191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5D904D0-15C7-4580-BDF6-93D37EDF5CB1}"/>
              </a:ext>
            </a:extLst>
          </p:cNvPr>
          <p:cNvSpPr>
            <a:spLocks xmlns:a="http://schemas.openxmlformats.org/drawingml/2006/main" noGrp="1"/>
          </p:cNvSpPr>
          <p:nvPr/>
        </p:nvSpPr>
        <p:spPr>
          <a:xfrm xmlns:a="http://schemas.openxmlformats.org/drawingml/2006/main">
            <a:off x="6248400" y="56769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ANALYZE</a:t>
            </a:r>
          </a:p>
        </p:txBody>
      </p:sp>
      <p:sp>
        <p:nvSpPr>
          <p:cNvPr id="14" name="">
            <a:extLst xmlns:a="http://schemas.openxmlformats.org/drawingml/2006/main">
              <a:ext uri="{FF2B5EF4-FFF2-40B4-BE49-F238E27FC236}">
                <a16:creationId xmlns:a16="http://schemas.microsoft.com/office/drawing/2014/main" id="{6DC62BE6-CC2B-438B-A052-C5377524F9E7}"/>
              </a:ext>
            </a:extLst>
          </p:cNvPr>
          <p:cNvSpPr>
            <a:spLocks xmlns:a="http://schemas.openxmlformats.org/drawingml/2006/main" noGrp="1"/>
          </p:cNvSpPr>
          <p:nvPr/>
        </p:nvSpPr>
        <p:spPr>
          <a:xfrm xmlns:a="http://schemas.openxmlformats.org/drawingml/2006/main">
            <a:off x="6248400" y="5953125"/>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1B2D"/>
                </a:solidFill>
                <a:latin typeface="Aptos"/>
                <a:ea typeface="Aptos"/>
                <a:cs typeface="Aptos"/>
              </a:defRPr>
            </a:pPr>
            <a:r>
              <a:rPr sz="1350" b="1">
                <a:solidFill>
                  <a:srgbClr val="111B2D"/>
                </a:solidFill>
                <a:latin typeface="Aptos"/>
                <a:ea typeface="Aptos"/>
                <a:cs typeface="Aptos"/>
              </a:rPr>
              <a:t>Recorded-video form</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1cc61ca70be467c"/>
          <a:stretch xmlns:a="http://schemas.openxmlformats.org/drawingml/2006/main"/>
        </p:blipFill>
        <p:spPr>
          <a:xfrm xmlns:a="http://schemas.openxmlformats.org/drawingml/2006/main">
            <a:off x="9086850" y="1526125"/>
            <a:ext cx="2324100" cy="39772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7DF544E-A9A1-46DA-85FC-95CBE1403BCB}"/>
              </a:ext>
            </a:extLst>
          </p:cNvPr>
          <p:cNvSpPr>
            <a:spLocks xmlns:a="http://schemas.openxmlformats.org/drawingml/2006/main" noGrp="1"/>
          </p:cNvSpPr>
          <p:nvPr/>
        </p:nvSpPr>
        <p:spPr>
          <a:xfrm xmlns:a="http://schemas.openxmlformats.org/drawingml/2006/main">
            <a:off x="9086850" y="56769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CONNECT</a:t>
            </a:r>
          </a:p>
        </p:txBody>
      </p:sp>
      <p:sp>
        <p:nvSpPr>
          <p:cNvPr id="17" name="">
            <a:extLst xmlns:a="http://schemas.openxmlformats.org/drawingml/2006/main">
              <a:ext uri="{FF2B5EF4-FFF2-40B4-BE49-F238E27FC236}">
                <a16:creationId xmlns:a16="http://schemas.microsoft.com/office/drawing/2014/main" id="{675606B5-2FB2-4B5A-9DA9-1DD79038B329}"/>
              </a:ext>
            </a:extLst>
          </p:cNvPr>
          <p:cNvSpPr>
            <a:spLocks xmlns:a="http://schemas.openxmlformats.org/drawingml/2006/main" noGrp="1"/>
          </p:cNvSpPr>
          <p:nvPr/>
        </p:nvSpPr>
        <p:spPr>
          <a:xfrm xmlns:a="http://schemas.openxmlformats.org/drawingml/2006/main">
            <a:off x="9086850" y="5953125"/>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1B2D"/>
                </a:solidFill>
                <a:latin typeface="Aptos"/>
                <a:ea typeface="Aptos"/>
                <a:cs typeface="Aptos"/>
              </a:defRPr>
            </a:pPr>
            <a:r>
              <a:rPr sz="1350" b="1">
                <a:solidFill>
                  <a:srgbClr val="111B2D"/>
                </a:solidFill>
                <a:latin typeface="Aptos"/>
                <a:ea typeface="Aptos"/>
                <a:cs typeface="Aptos"/>
              </a:rPr>
              <a:t>Community</a:t>
            </a:r>
          </a:p>
        </p:txBody>
      </p:sp>
    </p:spTree>
    <p:extLst>
      <p:ext uri="{BB962C8B-B14F-4D97-AF65-F5344CB8AC3E}">
        <p14:creationId xmlns:p14="http://schemas.microsoft.com/office/powerpoint/2010/main" val="79751438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2C8A5A5-755F-42F5-9975-5B36924F27AD}"/>
              </a:ext>
            </a:extLst>
          </p:cNvPr>
          <p:cNvSpPr>
            <a:spLocks xmlns:a="http://schemas.openxmlformats.org/drawingml/2006/main" noGrp="1"/>
          </p:cNvSpPr>
          <p:nvPr/>
        </p:nvSpPr>
        <p:spPr>
          <a:xfrm xmlns:a="http://schemas.openxmlformats.org/drawingml/2006/main">
            <a:off x="502920" y="301752"/>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50">
                <a:solidFill>
                  <a:srgbClr val="16C79A"/>
                </a:solidFill>
              </a:rPr>
              <a:t>03 — OBJECTIVES</a:t>
            </a:r>
            <a:endParaRPr sz="1000"/>
          </a:p>
        </p:txBody>
      </p:sp>
      <p:sp>
        <p:nvSpPr>
          <p:cNvPr id="3" name="Text 1">
            <a:extLst xmlns:a="http://schemas.openxmlformats.org/drawingml/2006/main">
              <a:ext uri="{FF2B5EF4-FFF2-40B4-BE49-F238E27FC236}">
                <a16:creationId xmlns:a16="http://schemas.microsoft.com/office/drawing/2014/main" id="{97132AFC-64CC-4141-A727-4898DFCB7131}"/>
              </a:ext>
            </a:extLst>
          </p:cNvPr>
          <p:cNvSpPr>
            <a:spLocks xmlns:a="http://schemas.openxmlformats.org/drawingml/2006/main" noGrp="1"/>
          </p:cNvSpPr>
          <p:nvPr/>
        </p:nvSpPr>
        <p:spPr>
          <a:xfrm xmlns:a="http://schemas.openxmlformats.org/drawingml/2006/main">
            <a:off x="502920" y="530352"/>
            <a:ext cx="111099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3"/>
                </a:solidFill>
              </a:rPr>
              <a:t>Project Objectives</a:t>
            </a:r>
            <a:endParaRPr sz="2700"/>
          </a:p>
        </p:txBody>
      </p:sp>
      <p:sp>
        <p:nvSpPr>
          <p:cNvPr id="4" name="Shape 2">
            <a:extLst xmlns:a="http://schemas.openxmlformats.org/drawingml/2006/main">
              <a:ext uri="{FF2B5EF4-FFF2-40B4-BE49-F238E27FC236}">
                <a16:creationId xmlns:a16="http://schemas.microsoft.com/office/drawing/2014/main" id="{CE7E9EAE-BD8F-4FE9-B9EF-7759843AD22B}"/>
              </a:ext>
            </a:extLst>
          </p:cNvPr>
          <p:cNvSpPr>
            <a:spLocks xmlns:a="http://schemas.openxmlformats.org/drawingml/2006/main" noGrp="1"/>
          </p:cNvSpPr>
          <p:nvPr/>
        </p:nvSpPr>
        <p:spPr>
          <a:xfrm xmlns:a="http://schemas.openxmlformats.org/drawingml/2006/main">
            <a:off x="502920" y="1042416"/>
            <a:ext cx="822960" cy="1"/>
          </a:xfrm>
          <a:prstGeom xmlns:a="http://schemas.openxmlformats.org/drawingml/2006/main" prst="line">
            <a:avLst/>
          </a:prstGeom>
          <a:noFill xmlns:a="http://schemas.openxmlformats.org/drawingml/2006/main"/>
          <a:ln xmlns:a="http://schemas.openxmlformats.org/drawingml/2006/main" w="38100">
            <a:solidFill>
              <a:srgbClr val="16C79A"/>
            </a:solidFill>
            <a:prstDash val="solid"/>
          </a:ln>
        </p:spPr>
      </p:sp>
      <p:sp>
        <p:nvSpPr>
          <p:cNvPr id="5" name="Shape 3">
            <a:extLst xmlns:a="http://schemas.openxmlformats.org/drawingml/2006/main">
              <a:ext uri="{FF2B5EF4-FFF2-40B4-BE49-F238E27FC236}">
                <a16:creationId xmlns:a16="http://schemas.microsoft.com/office/drawing/2014/main" id="{B39AF193-B896-4667-9631-7E683B4DDD0D}"/>
              </a:ext>
            </a:extLst>
          </p:cNvPr>
          <p:cNvSpPr>
            <a:spLocks xmlns:a="http://schemas.openxmlformats.org/drawingml/2006/main" noGrp="1"/>
          </p:cNvSpPr>
          <p:nvPr/>
        </p:nvSpPr>
        <p:spPr>
          <a:xfrm xmlns:a="http://schemas.openxmlformats.org/drawingml/2006/main">
            <a:off x="566928" y="132588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6" name="Text 4">
            <a:extLst xmlns:a="http://schemas.openxmlformats.org/drawingml/2006/main">
              <a:ext uri="{FF2B5EF4-FFF2-40B4-BE49-F238E27FC236}">
                <a16:creationId xmlns:a16="http://schemas.microsoft.com/office/drawing/2014/main" id="{18E50C9A-6718-409B-BAA9-0C3DC862A105}"/>
              </a:ext>
            </a:extLst>
          </p:cNvPr>
          <p:cNvSpPr>
            <a:spLocks xmlns:a="http://schemas.openxmlformats.org/drawingml/2006/main" noGrp="1"/>
          </p:cNvSpPr>
          <p:nvPr/>
        </p:nvSpPr>
        <p:spPr>
          <a:xfrm xmlns:a="http://schemas.openxmlformats.org/drawingml/2006/main">
            <a:off x="768096" y="150876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C79A"/>
                </a:solidFill>
              </a:rPr>
              <a:t>01</a:t>
            </a:r>
            <a:endParaRPr sz="1300"/>
          </a:p>
        </p:txBody>
      </p:sp>
      <p:sp>
        <p:nvSpPr>
          <p:cNvPr id="7" name="Shape 5">
            <a:extLst xmlns:a="http://schemas.openxmlformats.org/drawingml/2006/main">
              <a:ext uri="{FF2B5EF4-FFF2-40B4-BE49-F238E27FC236}">
                <a16:creationId xmlns:a16="http://schemas.microsoft.com/office/drawing/2014/main" id="{0425C6D4-342F-41CD-B578-C08391C4B623}"/>
              </a:ext>
            </a:extLst>
          </p:cNvPr>
          <p:cNvSpPr>
            <a:spLocks xmlns:a="http://schemas.openxmlformats.org/drawingml/2006/main" noGrp="1"/>
          </p:cNvSpPr>
          <p:nvPr/>
        </p:nvSpPr>
        <p:spPr>
          <a:xfrm xmlns:a="http://schemas.openxmlformats.org/drawingml/2006/main">
            <a:off x="3447288" y="1490472"/>
            <a:ext cx="347472" cy="347472"/>
          </a:xfrm>
          <a:prstGeom xmlns:a="http://schemas.openxmlformats.org/drawingml/2006/main" prst="ellipse">
            <a:avLst/>
          </a:prstGeom>
          <a:solidFill xmlns:a="http://schemas.openxmlformats.org/drawingml/2006/main">
            <a:srgbClr val="16C79A">
              <a:alpha val="90000"/>
            </a:srgbClr>
          </a:solidFill>
          <a:ln xmlns:a="http://schemas.openxmlformats.org/drawingml/2006/main" w="12700">
            <a:solidFill>
              <a:srgbClr val="16C79A"/>
            </a:solidFill>
            <a:prstDash val="solid"/>
          </a:ln>
        </p:spPr>
      </p:sp>
      <p:sp>
        <p:nvSpPr>
          <p:cNvPr id="8" name="Text 6">
            <a:extLst xmlns:a="http://schemas.openxmlformats.org/drawingml/2006/main">
              <a:ext uri="{FF2B5EF4-FFF2-40B4-BE49-F238E27FC236}">
                <a16:creationId xmlns:a16="http://schemas.microsoft.com/office/drawing/2014/main" id="{A2D2FBBE-6BB8-4419-8E09-A2A4DBB85EA6}"/>
              </a:ext>
            </a:extLst>
          </p:cNvPr>
          <p:cNvSpPr>
            <a:spLocks xmlns:a="http://schemas.openxmlformats.org/drawingml/2006/main" noGrp="1"/>
          </p:cNvSpPr>
          <p:nvPr/>
        </p:nvSpPr>
        <p:spPr>
          <a:xfrm xmlns:a="http://schemas.openxmlformats.org/drawingml/2006/main">
            <a:off x="768096" y="201168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Personalization</a:t>
            </a:r>
            <a:endParaRPr sz="1600"/>
          </a:p>
        </p:txBody>
      </p:sp>
      <p:sp>
        <p:nvSpPr>
          <p:cNvPr id="9" name="Text 7">
            <a:extLst xmlns:a="http://schemas.openxmlformats.org/drawingml/2006/main">
              <a:ext uri="{FF2B5EF4-FFF2-40B4-BE49-F238E27FC236}">
                <a16:creationId xmlns:a16="http://schemas.microsoft.com/office/drawing/2014/main" id="{6CDAB4D6-145A-42EC-A825-538DFB3231D8}"/>
              </a:ext>
            </a:extLst>
          </p:cNvPr>
          <p:cNvSpPr>
            <a:spLocks xmlns:a="http://schemas.openxmlformats.org/drawingml/2006/main" noGrp="1"/>
          </p:cNvSpPr>
          <p:nvPr/>
        </p:nvSpPr>
        <p:spPr>
          <a:xfrm xmlns:a="http://schemas.openxmlformats.org/drawingml/2006/main">
            <a:off x="768096" y="239572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Workouts and nutrition for each profile.</a:t>
            </a:r>
            <a:endParaRPr sz="1100"/>
          </a:p>
        </p:txBody>
      </p:sp>
      <p:sp>
        <p:nvSpPr>
          <p:cNvPr id="10" name="Shape 8">
            <a:extLst xmlns:a="http://schemas.openxmlformats.org/drawingml/2006/main">
              <a:ext uri="{FF2B5EF4-FFF2-40B4-BE49-F238E27FC236}">
                <a16:creationId xmlns:a16="http://schemas.microsoft.com/office/drawing/2014/main" id="{3563126C-09F3-4684-8F24-259FEF8C24E0}"/>
              </a:ext>
            </a:extLst>
          </p:cNvPr>
          <p:cNvSpPr>
            <a:spLocks xmlns:a="http://schemas.openxmlformats.org/drawingml/2006/main" noGrp="1"/>
          </p:cNvSpPr>
          <p:nvPr/>
        </p:nvSpPr>
        <p:spPr>
          <a:xfrm xmlns:a="http://schemas.openxmlformats.org/drawingml/2006/main">
            <a:off x="4379976" y="132588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11" name="Text 9">
            <a:extLst xmlns:a="http://schemas.openxmlformats.org/drawingml/2006/main">
              <a:ext uri="{FF2B5EF4-FFF2-40B4-BE49-F238E27FC236}">
                <a16:creationId xmlns:a16="http://schemas.microsoft.com/office/drawing/2014/main" id="{C91730A4-A6CD-4C21-818F-92ACA5D50770}"/>
              </a:ext>
            </a:extLst>
          </p:cNvPr>
          <p:cNvSpPr>
            <a:spLocks xmlns:a="http://schemas.openxmlformats.org/drawingml/2006/main" noGrp="1"/>
          </p:cNvSpPr>
          <p:nvPr/>
        </p:nvSpPr>
        <p:spPr>
          <a:xfrm xmlns:a="http://schemas.openxmlformats.org/drawingml/2006/main">
            <a:off x="4581144" y="150876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77FF"/>
                </a:solidFill>
              </a:rPr>
              <a:t>02</a:t>
            </a:r>
            <a:endParaRPr sz="1300"/>
          </a:p>
        </p:txBody>
      </p:sp>
      <p:sp>
        <p:nvSpPr>
          <p:cNvPr id="12" name="Shape 10">
            <a:extLst xmlns:a="http://schemas.openxmlformats.org/drawingml/2006/main">
              <a:ext uri="{FF2B5EF4-FFF2-40B4-BE49-F238E27FC236}">
                <a16:creationId xmlns:a16="http://schemas.microsoft.com/office/drawing/2014/main" id="{DF59954E-9020-4251-8DAF-27A116DBF298}"/>
              </a:ext>
            </a:extLst>
          </p:cNvPr>
          <p:cNvSpPr>
            <a:spLocks xmlns:a="http://schemas.openxmlformats.org/drawingml/2006/main" noGrp="1"/>
          </p:cNvSpPr>
          <p:nvPr/>
        </p:nvSpPr>
        <p:spPr>
          <a:xfrm xmlns:a="http://schemas.openxmlformats.org/drawingml/2006/main">
            <a:off x="7260336" y="1490472"/>
            <a:ext cx="347472" cy="347472"/>
          </a:xfrm>
          <a:prstGeom xmlns:a="http://schemas.openxmlformats.org/drawingml/2006/main" prst="ellipse">
            <a:avLst/>
          </a:prstGeom>
          <a:solidFill xmlns:a="http://schemas.openxmlformats.org/drawingml/2006/main">
            <a:srgbClr val="1677FF">
              <a:alpha val="90000"/>
            </a:srgbClr>
          </a:solidFill>
          <a:ln xmlns:a="http://schemas.openxmlformats.org/drawingml/2006/main" w="12700">
            <a:solidFill>
              <a:srgbClr val="1677FF"/>
            </a:solidFill>
            <a:prstDash val="solid"/>
          </a:ln>
        </p:spPr>
      </p:sp>
      <p:sp>
        <p:nvSpPr>
          <p:cNvPr id="13" name="Text 11">
            <a:extLst xmlns:a="http://schemas.openxmlformats.org/drawingml/2006/main">
              <a:ext uri="{FF2B5EF4-FFF2-40B4-BE49-F238E27FC236}">
                <a16:creationId xmlns:a16="http://schemas.microsoft.com/office/drawing/2014/main" id="{1641F398-1BCB-4AC1-A94C-5C6079FDB7FC}"/>
              </a:ext>
            </a:extLst>
          </p:cNvPr>
          <p:cNvSpPr>
            <a:spLocks xmlns:a="http://schemas.openxmlformats.org/drawingml/2006/main" noGrp="1"/>
          </p:cNvSpPr>
          <p:nvPr/>
        </p:nvSpPr>
        <p:spPr>
          <a:xfrm xmlns:a="http://schemas.openxmlformats.org/drawingml/2006/main">
            <a:off x="4581144" y="201168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Artificial Intelligence</a:t>
            </a:r>
            <a:endParaRPr sz="1600"/>
          </a:p>
        </p:txBody>
      </p:sp>
      <p:sp>
        <p:nvSpPr>
          <p:cNvPr id="14" name="Text 12">
            <a:extLst xmlns:a="http://schemas.openxmlformats.org/drawingml/2006/main">
              <a:ext uri="{FF2B5EF4-FFF2-40B4-BE49-F238E27FC236}">
                <a16:creationId xmlns:a16="http://schemas.microsoft.com/office/drawing/2014/main" id="{64DDAEE4-A850-426F-BB31-71BBC7E9FE51}"/>
              </a:ext>
            </a:extLst>
          </p:cNvPr>
          <p:cNvSpPr>
            <a:spLocks xmlns:a="http://schemas.openxmlformats.org/drawingml/2006/main" noGrp="1"/>
          </p:cNvSpPr>
          <p:nvPr/>
        </p:nvSpPr>
        <p:spPr>
          <a:xfrm xmlns:a="http://schemas.openxmlformats.org/drawingml/2006/main">
            <a:off x="4581144" y="239572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Multiple AI modules for recommendations.</a:t>
            </a:r>
            <a:endParaRPr sz="1100"/>
          </a:p>
        </p:txBody>
      </p:sp>
      <p:sp>
        <p:nvSpPr>
          <p:cNvPr id="15" name="Shape 13">
            <a:extLst xmlns:a="http://schemas.openxmlformats.org/drawingml/2006/main">
              <a:ext uri="{FF2B5EF4-FFF2-40B4-BE49-F238E27FC236}">
                <a16:creationId xmlns:a16="http://schemas.microsoft.com/office/drawing/2014/main" id="{6828CD25-312F-4307-BCEF-26FC86B36B74}"/>
              </a:ext>
            </a:extLst>
          </p:cNvPr>
          <p:cNvSpPr>
            <a:spLocks xmlns:a="http://schemas.openxmlformats.org/drawingml/2006/main" noGrp="1"/>
          </p:cNvSpPr>
          <p:nvPr/>
        </p:nvSpPr>
        <p:spPr>
          <a:xfrm xmlns:a="http://schemas.openxmlformats.org/drawingml/2006/main">
            <a:off x="8193024" y="132588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16" name="Text 14">
            <a:extLst xmlns:a="http://schemas.openxmlformats.org/drawingml/2006/main">
              <a:ext uri="{FF2B5EF4-FFF2-40B4-BE49-F238E27FC236}">
                <a16:creationId xmlns:a16="http://schemas.microsoft.com/office/drawing/2014/main" id="{DDB38FE4-3C8D-4532-B834-90E51694A023}"/>
              </a:ext>
            </a:extLst>
          </p:cNvPr>
          <p:cNvSpPr>
            <a:spLocks xmlns:a="http://schemas.openxmlformats.org/drawingml/2006/main" noGrp="1"/>
          </p:cNvSpPr>
          <p:nvPr/>
        </p:nvSpPr>
        <p:spPr>
          <a:xfrm xmlns:a="http://schemas.openxmlformats.org/drawingml/2006/main">
            <a:off x="8394192" y="150876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B547"/>
                </a:solidFill>
              </a:rPr>
              <a:t>03</a:t>
            </a:r>
            <a:endParaRPr sz="1300"/>
          </a:p>
        </p:txBody>
      </p:sp>
      <p:sp>
        <p:nvSpPr>
          <p:cNvPr id="17" name="Shape 15">
            <a:extLst xmlns:a="http://schemas.openxmlformats.org/drawingml/2006/main">
              <a:ext uri="{FF2B5EF4-FFF2-40B4-BE49-F238E27FC236}">
                <a16:creationId xmlns:a16="http://schemas.microsoft.com/office/drawing/2014/main" id="{2A98F530-748B-4BA0-9814-7CBD34226128}"/>
              </a:ext>
            </a:extLst>
          </p:cNvPr>
          <p:cNvSpPr>
            <a:spLocks xmlns:a="http://schemas.openxmlformats.org/drawingml/2006/main" noGrp="1"/>
          </p:cNvSpPr>
          <p:nvPr/>
        </p:nvSpPr>
        <p:spPr>
          <a:xfrm xmlns:a="http://schemas.openxmlformats.org/drawingml/2006/main">
            <a:off x="11073384" y="1490472"/>
            <a:ext cx="347472" cy="347472"/>
          </a:xfrm>
          <a:prstGeom xmlns:a="http://schemas.openxmlformats.org/drawingml/2006/main" prst="ellipse">
            <a:avLst/>
          </a:prstGeom>
          <a:solidFill xmlns:a="http://schemas.openxmlformats.org/drawingml/2006/main">
            <a:srgbClr val="FFB547">
              <a:alpha val="90000"/>
            </a:srgbClr>
          </a:solidFill>
          <a:ln xmlns:a="http://schemas.openxmlformats.org/drawingml/2006/main" w="12700">
            <a:solidFill>
              <a:srgbClr val="FFB547"/>
            </a:solidFill>
            <a:prstDash val="solid"/>
          </a:ln>
        </p:spPr>
      </p:sp>
      <p:sp>
        <p:nvSpPr>
          <p:cNvPr id="18" name="Text 16">
            <a:extLst xmlns:a="http://schemas.openxmlformats.org/drawingml/2006/main">
              <a:ext uri="{FF2B5EF4-FFF2-40B4-BE49-F238E27FC236}">
                <a16:creationId xmlns:a16="http://schemas.microsoft.com/office/drawing/2014/main" id="{A7564EE5-177A-453A-B8D8-CF18C805ED27}"/>
              </a:ext>
            </a:extLst>
          </p:cNvPr>
          <p:cNvSpPr>
            <a:spLocks xmlns:a="http://schemas.openxmlformats.org/drawingml/2006/main" noGrp="1"/>
          </p:cNvSpPr>
          <p:nvPr/>
        </p:nvSpPr>
        <p:spPr>
          <a:xfrm xmlns:a="http://schemas.openxmlformats.org/drawingml/2006/main">
            <a:off x="8394192" y="201168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Nutrition</a:t>
            </a:r>
            <a:endParaRPr sz="1600"/>
          </a:p>
        </p:txBody>
      </p:sp>
      <p:sp>
        <p:nvSpPr>
          <p:cNvPr id="19" name="Text 17">
            <a:extLst xmlns:a="http://schemas.openxmlformats.org/drawingml/2006/main">
              <a:ext uri="{FF2B5EF4-FFF2-40B4-BE49-F238E27FC236}">
                <a16:creationId xmlns:a16="http://schemas.microsoft.com/office/drawing/2014/main" id="{1D0DE99A-8983-4124-B8B1-73E319BB10B4}"/>
              </a:ext>
            </a:extLst>
          </p:cNvPr>
          <p:cNvSpPr>
            <a:spLocks xmlns:a="http://schemas.openxmlformats.org/drawingml/2006/main" noGrp="1"/>
          </p:cNvSpPr>
          <p:nvPr/>
        </p:nvSpPr>
        <p:spPr>
          <a:xfrm xmlns:a="http://schemas.openxmlformats.org/drawingml/2006/main">
            <a:off x="8394192" y="239572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Meals respecting allergies and preferences.</a:t>
            </a:r>
            <a:endParaRPr sz="1100"/>
          </a:p>
        </p:txBody>
      </p:sp>
      <p:sp>
        <p:nvSpPr>
          <p:cNvPr id="20" name="Shape 18">
            <a:extLst xmlns:a="http://schemas.openxmlformats.org/drawingml/2006/main">
              <a:ext uri="{FF2B5EF4-FFF2-40B4-BE49-F238E27FC236}">
                <a16:creationId xmlns:a16="http://schemas.microsoft.com/office/drawing/2014/main" id="{FAB7509A-E49B-4C5A-BF14-3264807323FB}"/>
              </a:ext>
            </a:extLst>
          </p:cNvPr>
          <p:cNvSpPr>
            <a:spLocks xmlns:a="http://schemas.openxmlformats.org/drawingml/2006/main" noGrp="1"/>
          </p:cNvSpPr>
          <p:nvPr/>
        </p:nvSpPr>
        <p:spPr>
          <a:xfrm xmlns:a="http://schemas.openxmlformats.org/drawingml/2006/main">
            <a:off x="566928" y="347472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21" name="Text 19">
            <a:extLst xmlns:a="http://schemas.openxmlformats.org/drawingml/2006/main">
              <a:ext uri="{FF2B5EF4-FFF2-40B4-BE49-F238E27FC236}">
                <a16:creationId xmlns:a16="http://schemas.microsoft.com/office/drawing/2014/main" id="{5A22909D-A984-4990-B79F-3E125F4D312F}"/>
              </a:ext>
            </a:extLst>
          </p:cNvPr>
          <p:cNvSpPr>
            <a:spLocks xmlns:a="http://schemas.openxmlformats.org/drawingml/2006/main" noGrp="1"/>
          </p:cNvSpPr>
          <p:nvPr/>
        </p:nvSpPr>
        <p:spPr>
          <a:xfrm xmlns:a="http://schemas.openxmlformats.org/drawingml/2006/main">
            <a:off x="768096" y="365760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0B8CD"/>
                </a:solidFill>
              </a:rPr>
              <a:t>04</a:t>
            </a:r>
            <a:endParaRPr sz="1300"/>
          </a:p>
        </p:txBody>
      </p:sp>
      <p:sp>
        <p:nvSpPr>
          <p:cNvPr id="22" name="Shape 20">
            <a:extLst xmlns:a="http://schemas.openxmlformats.org/drawingml/2006/main">
              <a:ext uri="{FF2B5EF4-FFF2-40B4-BE49-F238E27FC236}">
                <a16:creationId xmlns:a16="http://schemas.microsoft.com/office/drawing/2014/main" id="{8D73B55C-6CA6-4CCA-B8FB-E0A51B1554FF}"/>
              </a:ext>
            </a:extLst>
          </p:cNvPr>
          <p:cNvSpPr>
            <a:spLocks xmlns:a="http://schemas.openxmlformats.org/drawingml/2006/main" noGrp="1"/>
          </p:cNvSpPr>
          <p:nvPr/>
        </p:nvSpPr>
        <p:spPr>
          <a:xfrm xmlns:a="http://schemas.openxmlformats.org/drawingml/2006/main">
            <a:off x="3447288" y="3639312"/>
            <a:ext cx="347472" cy="347472"/>
          </a:xfrm>
          <a:prstGeom xmlns:a="http://schemas.openxmlformats.org/drawingml/2006/main" prst="ellipse">
            <a:avLst/>
          </a:prstGeom>
          <a:solidFill xmlns:a="http://schemas.openxmlformats.org/drawingml/2006/main">
            <a:srgbClr val="20B8CD">
              <a:alpha val="90000"/>
            </a:srgbClr>
          </a:solidFill>
          <a:ln xmlns:a="http://schemas.openxmlformats.org/drawingml/2006/main" w="12700">
            <a:solidFill>
              <a:srgbClr val="20B8CD"/>
            </a:solidFill>
            <a:prstDash val="solid"/>
          </a:ln>
        </p:spPr>
      </p:sp>
      <p:sp>
        <p:nvSpPr>
          <p:cNvPr id="23" name="Text 21">
            <a:extLst xmlns:a="http://schemas.openxmlformats.org/drawingml/2006/main">
              <a:ext uri="{FF2B5EF4-FFF2-40B4-BE49-F238E27FC236}">
                <a16:creationId xmlns:a16="http://schemas.microsoft.com/office/drawing/2014/main" id="{7D25356A-5E8B-4EB7-A28C-9DB79BCA74A1}"/>
              </a:ext>
            </a:extLst>
          </p:cNvPr>
          <p:cNvSpPr>
            <a:spLocks xmlns:a="http://schemas.openxmlformats.org/drawingml/2006/main" noGrp="1"/>
          </p:cNvSpPr>
          <p:nvPr/>
        </p:nvSpPr>
        <p:spPr>
          <a:xfrm xmlns:a="http://schemas.openxmlformats.org/drawingml/2006/main">
            <a:off x="768096" y="416052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Exercise Analysis</a:t>
            </a:r>
            <a:endParaRPr sz="1600"/>
          </a:p>
        </p:txBody>
      </p:sp>
      <p:sp>
        <p:nvSpPr>
          <p:cNvPr id="24" name="Text 22">
            <a:extLst xmlns:a="http://schemas.openxmlformats.org/drawingml/2006/main">
              <a:ext uri="{FF2B5EF4-FFF2-40B4-BE49-F238E27FC236}">
                <a16:creationId xmlns:a16="http://schemas.microsoft.com/office/drawing/2014/main" id="{BE0F4735-621C-4E10-ABBF-7F1C4E0F2953}"/>
              </a:ext>
            </a:extLst>
          </p:cNvPr>
          <p:cNvSpPr>
            <a:spLocks xmlns:a="http://schemas.openxmlformats.org/drawingml/2006/main" noGrp="1"/>
          </p:cNvSpPr>
          <p:nvPr/>
        </p:nvSpPr>
        <p:spPr>
          <a:xfrm xmlns:a="http://schemas.openxmlformats.org/drawingml/2006/main">
            <a:off x="768096" y="454456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Video-based form feedback.</a:t>
            </a:r>
            <a:endParaRPr sz="1100"/>
          </a:p>
        </p:txBody>
      </p:sp>
      <p:sp>
        <p:nvSpPr>
          <p:cNvPr id="25" name="Shape 23">
            <a:extLst xmlns:a="http://schemas.openxmlformats.org/drawingml/2006/main">
              <a:ext uri="{FF2B5EF4-FFF2-40B4-BE49-F238E27FC236}">
                <a16:creationId xmlns:a16="http://schemas.microsoft.com/office/drawing/2014/main" id="{96953C08-7658-4693-A9C5-31724C74C273}"/>
              </a:ext>
            </a:extLst>
          </p:cNvPr>
          <p:cNvSpPr>
            <a:spLocks xmlns:a="http://schemas.openxmlformats.org/drawingml/2006/main" noGrp="1"/>
          </p:cNvSpPr>
          <p:nvPr/>
        </p:nvSpPr>
        <p:spPr>
          <a:xfrm xmlns:a="http://schemas.openxmlformats.org/drawingml/2006/main">
            <a:off x="4379976" y="347472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26" name="Text 24">
            <a:extLst xmlns:a="http://schemas.openxmlformats.org/drawingml/2006/main">
              <a:ext uri="{FF2B5EF4-FFF2-40B4-BE49-F238E27FC236}">
                <a16:creationId xmlns:a16="http://schemas.microsoft.com/office/drawing/2014/main" id="{D864261C-8095-495E-BD82-F7F2A00A7CEC}"/>
              </a:ext>
            </a:extLst>
          </p:cNvPr>
          <p:cNvSpPr>
            <a:spLocks xmlns:a="http://schemas.openxmlformats.org/drawingml/2006/main" noGrp="1"/>
          </p:cNvSpPr>
          <p:nvPr/>
        </p:nvSpPr>
        <p:spPr>
          <a:xfrm xmlns:a="http://schemas.openxmlformats.org/drawingml/2006/main">
            <a:off x="4581144" y="365760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05</a:t>
            </a:r>
            <a:endParaRPr sz="1300"/>
          </a:p>
        </p:txBody>
      </p:sp>
      <p:sp>
        <p:nvSpPr>
          <p:cNvPr id="27" name="Shape 25">
            <a:extLst xmlns:a="http://schemas.openxmlformats.org/drawingml/2006/main">
              <a:ext uri="{FF2B5EF4-FFF2-40B4-BE49-F238E27FC236}">
                <a16:creationId xmlns:a16="http://schemas.microsoft.com/office/drawing/2014/main" id="{55EFC958-EA8B-4D71-9E78-D8F48D13B3B2}"/>
              </a:ext>
            </a:extLst>
          </p:cNvPr>
          <p:cNvSpPr>
            <a:spLocks xmlns:a="http://schemas.openxmlformats.org/drawingml/2006/main" noGrp="1"/>
          </p:cNvSpPr>
          <p:nvPr/>
        </p:nvSpPr>
        <p:spPr>
          <a:xfrm xmlns:a="http://schemas.openxmlformats.org/drawingml/2006/main">
            <a:off x="7260336" y="3639312"/>
            <a:ext cx="347472" cy="347472"/>
          </a:xfrm>
          <a:prstGeom xmlns:a="http://schemas.openxmlformats.org/drawingml/2006/main" prst="ellipse">
            <a:avLst/>
          </a:prstGeom>
          <a:solidFill xmlns:a="http://schemas.openxmlformats.org/drawingml/2006/main">
            <a:srgbClr val="12B76A">
              <a:alpha val="90000"/>
            </a:srgbClr>
          </a:solidFill>
          <a:ln xmlns:a="http://schemas.openxmlformats.org/drawingml/2006/main" w="12700">
            <a:solidFill>
              <a:srgbClr val="12B76A"/>
            </a:solidFill>
            <a:prstDash val="solid"/>
          </a:ln>
        </p:spPr>
      </p:sp>
      <p:sp>
        <p:nvSpPr>
          <p:cNvPr id="28" name="Text 26">
            <a:extLst xmlns:a="http://schemas.openxmlformats.org/drawingml/2006/main">
              <a:ext uri="{FF2B5EF4-FFF2-40B4-BE49-F238E27FC236}">
                <a16:creationId xmlns:a16="http://schemas.microsoft.com/office/drawing/2014/main" id="{2317E394-A99D-4C59-ACD1-9D3AADBB9EBB}"/>
              </a:ext>
            </a:extLst>
          </p:cNvPr>
          <p:cNvSpPr>
            <a:spLocks xmlns:a="http://schemas.openxmlformats.org/drawingml/2006/main" noGrp="1"/>
          </p:cNvSpPr>
          <p:nvPr/>
        </p:nvSpPr>
        <p:spPr>
          <a:xfrm xmlns:a="http://schemas.openxmlformats.org/drawingml/2006/main">
            <a:off x="4581144" y="416052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Progress Tracking</a:t>
            </a:r>
            <a:endParaRPr sz="1600"/>
          </a:p>
        </p:txBody>
      </p:sp>
      <p:sp>
        <p:nvSpPr>
          <p:cNvPr id="29" name="Text 27">
            <a:extLst xmlns:a="http://schemas.openxmlformats.org/drawingml/2006/main">
              <a:ext uri="{FF2B5EF4-FFF2-40B4-BE49-F238E27FC236}">
                <a16:creationId xmlns:a16="http://schemas.microsoft.com/office/drawing/2014/main" id="{E9CB7FA7-6F64-4BF5-8D48-A72C950F4CA6}"/>
              </a:ext>
            </a:extLst>
          </p:cNvPr>
          <p:cNvSpPr>
            <a:spLocks xmlns:a="http://schemas.openxmlformats.org/drawingml/2006/main" noGrp="1"/>
          </p:cNvSpPr>
          <p:nvPr/>
        </p:nvSpPr>
        <p:spPr>
          <a:xfrm xmlns:a="http://schemas.openxmlformats.org/drawingml/2006/main">
            <a:off x="4581144" y="454456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Weight, measurements and activity.</a:t>
            </a:r>
            <a:endParaRPr sz="1100"/>
          </a:p>
        </p:txBody>
      </p:sp>
      <p:sp>
        <p:nvSpPr>
          <p:cNvPr id="30" name="Shape 28">
            <a:extLst xmlns:a="http://schemas.openxmlformats.org/drawingml/2006/main">
              <a:ext uri="{FF2B5EF4-FFF2-40B4-BE49-F238E27FC236}">
                <a16:creationId xmlns:a16="http://schemas.microsoft.com/office/drawing/2014/main" id="{0FA70F48-9D5D-430D-A650-E970C8700C90}"/>
              </a:ext>
            </a:extLst>
          </p:cNvPr>
          <p:cNvSpPr>
            <a:spLocks xmlns:a="http://schemas.openxmlformats.org/drawingml/2006/main" noGrp="1"/>
          </p:cNvSpPr>
          <p:nvPr/>
        </p:nvSpPr>
        <p:spPr>
          <a:xfrm xmlns:a="http://schemas.openxmlformats.org/drawingml/2006/main">
            <a:off x="8193024" y="347472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31" name="Text 29">
            <a:extLst xmlns:a="http://schemas.openxmlformats.org/drawingml/2006/main">
              <a:ext uri="{FF2B5EF4-FFF2-40B4-BE49-F238E27FC236}">
                <a16:creationId xmlns:a16="http://schemas.microsoft.com/office/drawing/2014/main" id="{4596DA48-2BB3-4C45-8FDB-759E7CD008E0}"/>
              </a:ext>
            </a:extLst>
          </p:cNvPr>
          <p:cNvSpPr>
            <a:spLocks xmlns:a="http://schemas.openxmlformats.org/drawingml/2006/main" noGrp="1"/>
          </p:cNvSpPr>
          <p:nvPr/>
        </p:nvSpPr>
        <p:spPr>
          <a:xfrm xmlns:a="http://schemas.openxmlformats.org/drawingml/2006/main">
            <a:off x="8394192" y="365760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97066"/>
                </a:solidFill>
              </a:rPr>
              <a:t>06</a:t>
            </a:r>
            <a:endParaRPr sz="1300"/>
          </a:p>
        </p:txBody>
      </p:sp>
      <p:sp>
        <p:nvSpPr>
          <p:cNvPr id="32" name="Shape 30">
            <a:extLst xmlns:a="http://schemas.openxmlformats.org/drawingml/2006/main">
              <a:ext uri="{FF2B5EF4-FFF2-40B4-BE49-F238E27FC236}">
                <a16:creationId xmlns:a16="http://schemas.microsoft.com/office/drawing/2014/main" id="{0E9CBCB3-3804-449A-B4FD-3B3940DA9E51}"/>
              </a:ext>
            </a:extLst>
          </p:cNvPr>
          <p:cNvSpPr>
            <a:spLocks xmlns:a="http://schemas.openxmlformats.org/drawingml/2006/main" noGrp="1"/>
          </p:cNvSpPr>
          <p:nvPr/>
        </p:nvSpPr>
        <p:spPr>
          <a:xfrm xmlns:a="http://schemas.openxmlformats.org/drawingml/2006/main">
            <a:off x="11073384" y="3639312"/>
            <a:ext cx="347472" cy="347472"/>
          </a:xfrm>
          <a:prstGeom xmlns:a="http://schemas.openxmlformats.org/drawingml/2006/main" prst="ellipse">
            <a:avLst/>
          </a:prstGeom>
          <a:solidFill xmlns:a="http://schemas.openxmlformats.org/drawingml/2006/main">
            <a:srgbClr val="F97066">
              <a:alpha val="90000"/>
            </a:srgbClr>
          </a:solidFill>
          <a:ln xmlns:a="http://schemas.openxmlformats.org/drawingml/2006/main" w="12700">
            <a:solidFill>
              <a:srgbClr val="F97066"/>
            </a:solidFill>
            <a:prstDash val="solid"/>
          </a:ln>
        </p:spPr>
      </p:sp>
      <p:sp>
        <p:nvSpPr>
          <p:cNvPr id="33" name="Text 31">
            <a:extLst xmlns:a="http://schemas.openxmlformats.org/drawingml/2006/main">
              <a:ext uri="{FF2B5EF4-FFF2-40B4-BE49-F238E27FC236}">
                <a16:creationId xmlns:a16="http://schemas.microsoft.com/office/drawing/2014/main" id="{029C67A4-45E4-455D-8791-C831F7DF713D}"/>
              </a:ext>
            </a:extLst>
          </p:cNvPr>
          <p:cNvSpPr>
            <a:spLocks xmlns:a="http://schemas.openxmlformats.org/drawingml/2006/main" noGrp="1"/>
          </p:cNvSpPr>
          <p:nvPr/>
        </p:nvSpPr>
        <p:spPr>
          <a:xfrm xmlns:a="http://schemas.openxmlformats.org/drawingml/2006/main">
            <a:off x="8394192" y="416052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Engagement</a:t>
            </a:r>
            <a:endParaRPr sz="1600"/>
          </a:p>
        </p:txBody>
      </p:sp>
      <p:sp>
        <p:nvSpPr>
          <p:cNvPr id="34" name="Text 32">
            <a:extLst xmlns:a="http://schemas.openxmlformats.org/drawingml/2006/main">
              <a:ext uri="{FF2B5EF4-FFF2-40B4-BE49-F238E27FC236}">
                <a16:creationId xmlns:a16="http://schemas.microsoft.com/office/drawing/2014/main" id="{DB4CB66B-7C8A-4493-90CB-01B375C6790D}"/>
              </a:ext>
            </a:extLst>
          </p:cNvPr>
          <p:cNvSpPr>
            <a:spLocks xmlns:a="http://schemas.openxmlformats.org/drawingml/2006/main" noGrp="1"/>
          </p:cNvSpPr>
          <p:nvPr/>
        </p:nvSpPr>
        <p:spPr>
          <a:xfrm xmlns:a="http://schemas.openxmlformats.org/drawingml/2006/main">
            <a:off x="8394192" y="454456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Challenges, rewards and community.</a:t>
            </a:r>
            <a:endParaRPr sz="1100"/>
          </a:p>
        </p:txBody>
      </p:sp>
      <p:sp>
        <p:nvSpPr>
          <p:cNvPr id="35" name="Slide Number Placeholder 0">
            <a:extLst xmlns:a="http://schemas.openxmlformats.org/drawingml/2006/main">
              <a:ext uri="{FF2B5EF4-FFF2-40B4-BE49-F238E27FC236}">
                <a16:creationId xmlns:a16="http://schemas.microsoft.com/office/drawing/2014/main" id="{31580A8A-441B-4841-A449-32A8E67BFE3A}"/>
              </a:ext>
            </a:extLst>
          </p:cNvPr>
          <p:cNvSpPr>
            <a:spLocks xmlns:a="http://schemas.openxmlformats.org/drawingml/2006/main" noGrp="1"/>
          </p:cNvSpPr>
          <p:nvPr>
            <p:ph type="sldNum" idx="4294967295"/>
          </p:nvPr>
        </p:nvSpPr>
        <p:spPr>
          <a:xfrm xmlns:a="http://schemas.openxmlformats.org/drawingml/2006/main">
            <a:off x="11777472" y="6510528"/>
            <a:ext cx="201168" cy="164592"/>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8A2B3"/>
                </a:solidFill>
                <a:latin typeface="Aptos"/>
                <a:ea typeface="Aptos"/>
                <a:cs typeface="Aptos"/>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85264898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686BB84-0FAC-4463-91DE-280FDA7AC2F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A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7C26A51C-93EF-48E1-81CA-2EC963A434CE}"/>
              </a:ext>
            </a:extLst>
          </p:cNvPr>
          <p:cNvSpPr>
            <a:spLocks xmlns:a="http://schemas.openxmlformats.org/drawingml/2006/main" noGrp="1"/>
          </p:cNvSpPr>
          <p:nvPr/>
        </p:nvSpPr>
        <p:spPr>
          <a:xfrm xmlns:a="http://schemas.openxmlformats.org/drawingml/2006/main">
            <a:off x="594360" y="320040"/>
            <a:ext cx="5029200" cy="256032"/>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buNone/>
            </a:pPr>
            <a:r>
              <a:rPr sz="1000" b="1">
                <a:solidFill>
                  <a:srgbClr val="109669"/>
                </a:solidFill>
                <a:latin typeface="Aptos"/>
                <a:ea typeface="Aptos"/>
                <a:cs typeface="Aptos"/>
              </a:rPr>
              <a:t>03 — COMPETITIVE EDGE</a:t>
            </a:r>
          </a:p>
        </p:txBody>
      </p:sp>
      <p:sp>
        <p:nvSpPr>
          <p:cNvPr id="4" name="TextBox 3">
            <a:extLst xmlns:a="http://schemas.openxmlformats.org/drawingml/2006/main">
              <a:ext uri="{FF2B5EF4-FFF2-40B4-BE49-F238E27FC236}">
                <a16:creationId xmlns:a16="http://schemas.microsoft.com/office/drawing/2014/main" id="{E1D6BCD4-2E0E-4C84-A882-43C74A2D9B08}"/>
              </a:ext>
            </a:extLst>
          </p:cNvPr>
          <p:cNvSpPr>
            <a:spLocks xmlns:a="http://schemas.openxmlformats.org/drawingml/2006/main" noGrp="1"/>
          </p:cNvSpPr>
          <p:nvPr/>
        </p:nvSpPr>
        <p:spPr>
          <a:xfrm xmlns:a="http://schemas.openxmlformats.org/drawingml/2006/main">
            <a:off x="594360" y="621792"/>
            <a:ext cx="10972800" cy="56692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buNone/>
            </a:pPr>
            <a:r>
              <a:rPr sz="2700" b="1">
                <a:solidFill>
                  <a:srgbClr val="141F27"/>
                </a:solidFill>
                <a:latin typeface="Aptos"/>
                <a:ea typeface="Aptos"/>
                <a:cs typeface="Aptos"/>
              </a:rPr>
              <a:t>What makes Elite Fitness different?</a:t>
            </a:r>
          </a:p>
        </p:txBody>
      </p:sp>
      <p:sp>
        <p:nvSpPr>
          <p:cNvPr id="5" name="Rectangle 4">
            <a:extLst xmlns:a="http://schemas.openxmlformats.org/drawingml/2006/main">
              <a:ext uri="{FF2B5EF4-FFF2-40B4-BE49-F238E27FC236}">
                <a16:creationId xmlns:a16="http://schemas.microsoft.com/office/drawing/2014/main" id="{440540ED-D63F-43FD-BC3C-9F9C74013FD2}"/>
              </a:ext>
            </a:extLst>
          </p:cNvPr>
          <p:cNvSpPr>
            <a:spLocks xmlns:a="http://schemas.openxmlformats.org/drawingml/2006/main" noGrp="1"/>
          </p:cNvSpPr>
          <p:nvPr/>
        </p:nvSpPr>
        <p:spPr>
          <a:xfrm xmlns:a="http://schemas.openxmlformats.org/drawingml/2006/main">
            <a:off x="502920" y="1325880"/>
            <a:ext cx="2377440" cy="566928"/>
          </a:xfrm>
          <a:prstGeom xmlns:a="http://schemas.openxmlformats.org/drawingml/2006/main" prst="rect">
            <a:avLst/>
          </a:prstGeom>
          <a:solidFill xmlns:a="http://schemas.openxmlformats.org/drawingml/2006/main">
            <a:srgbClr val="141F27"/>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A0B4810-D9A8-49D2-9951-5F36F4B51551}"/>
              </a:ext>
            </a:extLst>
          </p:cNvPr>
          <p:cNvSpPr>
            <a:spLocks xmlns:a="http://schemas.openxmlformats.org/drawingml/2006/main" noGrp="1"/>
          </p:cNvSpPr>
          <p:nvPr/>
        </p:nvSpPr>
        <p:spPr>
          <a:xfrm xmlns:a="http://schemas.openxmlformats.org/drawingml/2006/main">
            <a:off x="548640" y="1435607"/>
            <a:ext cx="22860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Capability</a:t>
            </a:r>
          </a:p>
        </p:txBody>
      </p:sp>
      <p:sp>
        <p:nvSpPr>
          <p:cNvPr id="7" name="Rectangle 6">
            <a:extLst xmlns:a="http://schemas.openxmlformats.org/drawingml/2006/main">
              <a:ext uri="{FF2B5EF4-FFF2-40B4-BE49-F238E27FC236}">
                <a16:creationId xmlns:a16="http://schemas.microsoft.com/office/drawing/2014/main" id="{2F4838B2-A83A-4C90-8AFA-C900475E35BD}"/>
              </a:ext>
            </a:extLst>
          </p:cNvPr>
          <p:cNvSpPr>
            <a:spLocks xmlns:a="http://schemas.openxmlformats.org/drawingml/2006/main" noGrp="1"/>
          </p:cNvSpPr>
          <p:nvPr/>
        </p:nvSpPr>
        <p:spPr>
          <a:xfrm xmlns:a="http://schemas.openxmlformats.org/drawingml/2006/main">
            <a:off x="2880360" y="1325880"/>
            <a:ext cx="1783080" cy="566928"/>
          </a:xfrm>
          <a:prstGeom xmlns:a="http://schemas.openxmlformats.org/drawingml/2006/main" prst="rect">
            <a:avLst/>
          </a:prstGeom>
          <a:solidFill xmlns:a="http://schemas.openxmlformats.org/drawingml/2006/main">
            <a:srgbClr val="141F27"/>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88FA780C-1CFA-4D01-9F73-D381C7C9267F}"/>
              </a:ext>
            </a:extLst>
          </p:cNvPr>
          <p:cNvSpPr>
            <a:spLocks xmlns:a="http://schemas.openxmlformats.org/drawingml/2006/main" noGrp="1"/>
          </p:cNvSpPr>
          <p:nvPr/>
        </p:nvSpPr>
        <p:spPr>
          <a:xfrm xmlns:a="http://schemas.openxmlformats.org/drawingml/2006/main">
            <a:off x="2926080" y="1435607"/>
            <a:ext cx="1691639"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Nike Training Club</a:t>
            </a:r>
          </a:p>
        </p:txBody>
      </p:sp>
      <p:sp>
        <p:nvSpPr>
          <p:cNvPr id="9" name="Rectangle 8">
            <a:extLst xmlns:a="http://schemas.openxmlformats.org/drawingml/2006/main">
              <a:ext uri="{FF2B5EF4-FFF2-40B4-BE49-F238E27FC236}">
                <a16:creationId xmlns:a16="http://schemas.microsoft.com/office/drawing/2014/main" id="{A5F5EBD3-9232-403C-8EB7-789DC701466A}"/>
              </a:ext>
            </a:extLst>
          </p:cNvPr>
          <p:cNvSpPr>
            <a:spLocks xmlns:a="http://schemas.openxmlformats.org/drawingml/2006/main" noGrp="1"/>
          </p:cNvSpPr>
          <p:nvPr/>
        </p:nvSpPr>
        <p:spPr>
          <a:xfrm xmlns:a="http://schemas.openxmlformats.org/drawingml/2006/main">
            <a:off x="4663440" y="1325880"/>
            <a:ext cx="1417320" cy="566928"/>
          </a:xfrm>
          <a:prstGeom xmlns:a="http://schemas.openxmlformats.org/drawingml/2006/main" prst="rect">
            <a:avLst/>
          </a:prstGeom>
          <a:solidFill xmlns:a="http://schemas.openxmlformats.org/drawingml/2006/main">
            <a:srgbClr val="141F27"/>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B9051477-D644-4461-A705-8243A6008669}"/>
              </a:ext>
            </a:extLst>
          </p:cNvPr>
          <p:cNvSpPr>
            <a:spLocks xmlns:a="http://schemas.openxmlformats.org/drawingml/2006/main" noGrp="1"/>
          </p:cNvSpPr>
          <p:nvPr/>
        </p:nvSpPr>
        <p:spPr>
          <a:xfrm xmlns:a="http://schemas.openxmlformats.org/drawingml/2006/main">
            <a:off x="4709160" y="1435607"/>
            <a:ext cx="132588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Fitbod</a:t>
            </a:r>
          </a:p>
        </p:txBody>
      </p:sp>
      <p:sp>
        <p:nvSpPr>
          <p:cNvPr id="11" name="Rectangle 10">
            <a:extLst xmlns:a="http://schemas.openxmlformats.org/drawingml/2006/main">
              <a:ext uri="{FF2B5EF4-FFF2-40B4-BE49-F238E27FC236}">
                <a16:creationId xmlns:a16="http://schemas.microsoft.com/office/drawing/2014/main" id="{95D0CD89-25E2-4806-96FE-EFBB52E33333}"/>
              </a:ext>
            </a:extLst>
          </p:cNvPr>
          <p:cNvSpPr>
            <a:spLocks xmlns:a="http://schemas.openxmlformats.org/drawingml/2006/main" noGrp="1"/>
          </p:cNvSpPr>
          <p:nvPr/>
        </p:nvSpPr>
        <p:spPr>
          <a:xfrm xmlns:a="http://schemas.openxmlformats.org/drawingml/2006/main">
            <a:off x="6080760" y="1325880"/>
            <a:ext cx="1600200" cy="566928"/>
          </a:xfrm>
          <a:prstGeom xmlns:a="http://schemas.openxmlformats.org/drawingml/2006/main" prst="rect">
            <a:avLst/>
          </a:prstGeom>
          <a:solidFill xmlns:a="http://schemas.openxmlformats.org/drawingml/2006/main">
            <a:srgbClr val="141F27"/>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E42C57A-BFCA-4E8A-81AD-0124D9953868}"/>
              </a:ext>
            </a:extLst>
          </p:cNvPr>
          <p:cNvSpPr>
            <a:spLocks xmlns:a="http://schemas.openxmlformats.org/drawingml/2006/main" noGrp="1"/>
          </p:cNvSpPr>
          <p:nvPr/>
        </p:nvSpPr>
        <p:spPr>
          <a:xfrm xmlns:a="http://schemas.openxmlformats.org/drawingml/2006/main">
            <a:off x="6126480" y="1435607"/>
            <a:ext cx="150876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MyFitnessPal</a:t>
            </a:r>
          </a:p>
        </p:txBody>
      </p:sp>
      <p:sp>
        <p:nvSpPr>
          <p:cNvPr id="13" name="Rectangle 12">
            <a:extLst xmlns:a="http://schemas.openxmlformats.org/drawingml/2006/main">
              <a:ext uri="{FF2B5EF4-FFF2-40B4-BE49-F238E27FC236}">
                <a16:creationId xmlns:a16="http://schemas.microsoft.com/office/drawing/2014/main" id="{43C46FA1-003B-4A26-B430-854D90117167}"/>
              </a:ext>
            </a:extLst>
          </p:cNvPr>
          <p:cNvSpPr>
            <a:spLocks xmlns:a="http://schemas.openxmlformats.org/drawingml/2006/main" noGrp="1"/>
          </p:cNvSpPr>
          <p:nvPr/>
        </p:nvSpPr>
        <p:spPr>
          <a:xfrm xmlns:a="http://schemas.openxmlformats.org/drawingml/2006/main">
            <a:off x="7680960" y="1325880"/>
            <a:ext cx="1417320" cy="566928"/>
          </a:xfrm>
          <a:prstGeom xmlns:a="http://schemas.openxmlformats.org/drawingml/2006/main" prst="rect">
            <a:avLst/>
          </a:prstGeom>
          <a:solidFill xmlns:a="http://schemas.openxmlformats.org/drawingml/2006/main">
            <a:srgbClr val="141F27"/>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BB38F259-B7FE-4871-89F6-CF711E36DD75}"/>
              </a:ext>
            </a:extLst>
          </p:cNvPr>
          <p:cNvSpPr>
            <a:spLocks xmlns:a="http://schemas.openxmlformats.org/drawingml/2006/main" noGrp="1"/>
          </p:cNvSpPr>
          <p:nvPr/>
        </p:nvSpPr>
        <p:spPr>
          <a:xfrm xmlns:a="http://schemas.openxmlformats.org/drawingml/2006/main">
            <a:off x="7726680" y="1435607"/>
            <a:ext cx="132588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Strava</a:t>
            </a:r>
          </a:p>
        </p:txBody>
      </p:sp>
      <p:sp>
        <p:nvSpPr>
          <p:cNvPr id="15" name="Rectangle 14">
            <a:extLst xmlns:a="http://schemas.openxmlformats.org/drawingml/2006/main">
              <a:ext uri="{FF2B5EF4-FFF2-40B4-BE49-F238E27FC236}">
                <a16:creationId xmlns:a16="http://schemas.microsoft.com/office/drawing/2014/main" id="{5F179065-ACA6-4961-8951-570C80CA5487}"/>
              </a:ext>
            </a:extLst>
          </p:cNvPr>
          <p:cNvSpPr>
            <a:spLocks xmlns:a="http://schemas.openxmlformats.org/drawingml/2006/main" noGrp="1"/>
          </p:cNvSpPr>
          <p:nvPr/>
        </p:nvSpPr>
        <p:spPr>
          <a:xfrm xmlns:a="http://schemas.openxmlformats.org/drawingml/2006/main">
            <a:off x="9098280" y="1325880"/>
            <a:ext cx="2057400" cy="566928"/>
          </a:xfrm>
          <a:prstGeom xmlns:a="http://schemas.openxmlformats.org/drawingml/2006/main" prst="rect">
            <a:avLst/>
          </a:prstGeom>
          <a:solidFill xmlns:a="http://schemas.openxmlformats.org/drawingml/2006/main">
            <a:srgbClr val="109669"/>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EAE4B8D6-D536-411C-8203-74AA9FFC5AEC}"/>
              </a:ext>
            </a:extLst>
          </p:cNvPr>
          <p:cNvSpPr>
            <a:spLocks xmlns:a="http://schemas.openxmlformats.org/drawingml/2006/main" noGrp="1"/>
          </p:cNvSpPr>
          <p:nvPr/>
        </p:nvSpPr>
        <p:spPr>
          <a:xfrm xmlns:a="http://schemas.openxmlformats.org/drawingml/2006/main">
            <a:off x="9144000" y="1435607"/>
            <a:ext cx="196596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Elite Fitness</a:t>
            </a:r>
          </a:p>
        </p:txBody>
      </p:sp>
      <p:sp>
        <p:nvSpPr>
          <p:cNvPr id="17" name="Rectangle 16">
            <a:extLst xmlns:a="http://schemas.openxmlformats.org/drawingml/2006/main">
              <a:ext uri="{FF2B5EF4-FFF2-40B4-BE49-F238E27FC236}">
                <a16:creationId xmlns:a16="http://schemas.microsoft.com/office/drawing/2014/main" id="{151D978F-BF0D-46E0-AE1F-6A42CDCFCC9A}"/>
              </a:ext>
            </a:extLst>
          </p:cNvPr>
          <p:cNvSpPr>
            <a:spLocks xmlns:a="http://schemas.openxmlformats.org/drawingml/2006/main" noGrp="1"/>
          </p:cNvSpPr>
          <p:nvPr/>
        </p:nvSpPr>
        <p:spPr>
          <a:xfrm xmlns:a="http://schemas.openxmlformats.org/drawingml/2006/main">
            <a:off x="502920" y="1892807"/>
            <a:ext cx="237744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F0005DB-7DBB-44BC-9C26-73EDD5E4218A}"/>
              </a:ext>
            </a:extLst>
          </p:cNvPr>
          <p:cNvSpPr>
            <a:spLocks xmlns:a="http://schemas.openxmlformats.org/drawingml/2006/main" noGrp="1"/>
          </p:cNvSpPr>
          <p:nvPr/>
        </p:nvSpPr>
        <p:spPr>
          <a:xfrm xmlns:a="http://schemas.openxmlformats.org/drawingml/2006/main">
            <a:off x="548640" y="2011679"/>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Personalized workout</a:t>
            </a:r>
          </a:p>
        </p:txBody>
      </p:sp>
      <p:sp>
        <p:nvSpPr>
          <p:cNvPr id="19" name="Rectangle 18">
            <a:extLst xmlns:a="http://schemas.openxmlformats.org/drawingml/2006/main">
              <a:ext uri="{FF2B5EF4-FFF2-40B4-BE49-F238E27FC236}">
                <a16:creationId xmlns:a16="http://schemas.microsoft.com/office/drawing/2014/main" id="{ABF3CC46-D36A-4E6F-8891-D22E7108EA0E}"/>
              </a:ext>
            </a:extLst>
          </p:cNvPr>
          <p:cNvSpPr>
            <a:spLocks xmlns:a="http://schemas.openxmlformats.org/drawingml/2006/main" noGrp="1"/>
          </p:cNvSpPr>
          <p:nvPr/>
        </p:nvSpPr>
        <p:spPr>
          <a:xfrm xmlns:a="http://schemas.openxmlformats.org/drawingml/2006/main">
            <a:off x="2880360" y="1892807"/>
            <a:ext cx="178308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A72B96E9-2E68-45E6-9934-F468A1BBF62F}"/>
              </a:ext>
            </a:extLst>
          </p:cNvPr>
          <p:cNvSpPr>
            <a:spLocks xmlns:a="http://schemas.openxmlformats.org/drawingml/2006/main" noGrp="1"/>
          </p:cNvSpPr>
          <p:nvPr/>
        </p:nvSpPr>
        <p:spPr>
          <a:xfrm xmlns:a="http://schemas.openxmlformats.org/drawingml/2006/main">
            <a:off x="2926080" y="2011679"/>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a:t>
            </a:r>
          </a:p>
        </p:txBody>
      </p:sp>
      <p:sp>
        <p:nvSpPr>
          <p:cNvPr id="21" name="Rectangle 20">
            <a:extLst xmlns:a="http://schemas.openxmlformats.org/drawingml/2006/main">
              <a:ext uri="{FF2B5EF4-FFF2-40B4-BE49-F238E27FC236}">
                <a16:creationId xmlns:a16="http://schemas.microsoft.com/office/drawing/2014/main" id="{FAD3D935-0FD9-42E4-B8FD-2344F17CDD4B}"/>
              </a:ext>
            </a:extLst>
          </p:cNvPr>
          <p:cNvSpPr>
            <a:spLocks xmlns:a="http://schemas.openxmlformats.org/drawingml/2006/main" noGrp="1"/>
          </p:cNvSpPr>
          <p:nvPr/>
        </p:nvSpPr>
        <p:spPr>
          <a:xfrm xmlns:a="http://schemas.openxmlformats.org/drawingml/2006/main">
            <a:off x="4663440" y="1892807"/>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08706A6E-F50D-403D-BB32-F220D4EF8312}"/>
              </a:ext>
            </a:extLst>
          </p:cNvPr>
          <p:cNvSpPr>
            <a:spLocks xmlns:a="http://schemas.openxmlformats.org/drawingml/2006/main" noGrp="1"/>
          </p:cNvSpPr>
          <p:nvPr/>
        </p:nvSpPr>
        <p:spPr>
          <a:xfrm xmlns:a="http://schemas.openxmlformats.org/drawingml/2006/main">
            <a:off x="4709160" y="2011679"/>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a:t>
            </a:r>
          </a:p>
        </p:txBody>
      </p:sp>
      <p:sp>
        <p:nvSpPr>
          <p:cNvPr id="23" name="Rectangle 22">
            <a:extLst xmlns:a="http://schemas.openxmlformats.org/drawingml/2006/main">
              <a:ext uri="{FF2B5EF4-FFF2-40B4-BE49-F238E27FC236}">
                <a16:creationId xmlns:a16="http://schemas.microsoft.com/office/drawing/2014/main" id="{FDD7F559-07F8-44F2-B8F5-B49C95471CEC}"/>
              </a:ext>
            </a:extLst>
          </p:cNvPr>
          <p:cNvSpPr>
            <a:spLocks xmlns:a="http://schemas.openxmlformats.org/drawingml/2006/main" noGrp="1"/>
          </p:cNvSpPr>
          <p:nvPr/>
        </p:nvSpPr>
        <p:spPr>
          <a:xfrm xmlns:a="http://schemas.openxmlformats.org/drawingml/2006/main">
            <a:off x="6080760" y="1892807"/>
            <a:ext cx="16002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6555CE94-76B9-40FD-8AF2-A0A3D8B8BD97}"/>
              </a:ext>
            </a:extLst>
          </p:cNvPr>
          <p:cNvSpPr>
            <a:spLocks xmlns:a="http://schemas.openxmlformats.org/drawingml/2006/main" noGrp="1"/>
          </p:cNvSpPr>
          <p:nvPr/>
        </p:nvSpPr>
        <p:spPr>
          <a:xfrm xmlns:a="http://schemas.openxmlformats.org/drawingml/2006/main">
            <a:off x="6126480" y="2011679"/>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25" name="Rectangle 24">
            <a:extLst xmlns:a="http://schemas.openxmlformats.org/drawingml/2006/main">
              <a:ext uri="{FF2B5EF4-FFF2-40B4-BE49-F238E27FC236}">
                <a16:creationId xmlns:a16="http://schemas.microsoft.com/office/drawing/2014/main" id="{EE155C10-A2A9-4CF4-9788-EEE9B9A74ED1}"/>
              </a:ext>
            </a:extLst>
          </p:cNvPr>
          <p:cNvSpPr>
            <a:spLocks xmlns:a="http://schemas.openxmlformats.org/drawingml/2006/main" noGrp="1"/>
          </p:cNvSpPr>
          <p:nvPr/>
        </p:nvSpPr>
        <p:spPr>
          <a:xfrm xmlns:a="http://schemas.openxmlformats.org/drawingml/2006/main">
            <a:off x="7680960" y="1892807"/>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AA49EF5B-F82A-400B-ABE4-99F5C2FE8D39}"/>
              </a:ext>
            </a:extLst>
          </p:cNvPr>
          <p:cNvSpPr>
            <a:spLocks xmlns:a="http://schemas.openxmlformats.org/drawingml/2006/main" noGrp="1"/>
          </p:cNvSpPr>
          <p:nvPr/>
        </p:nvSpPr>
        <p:spPr>
          <a:xfrm xmlns:a="http://schemas.openxmlformats.org/drawingml/2006/main">
            <a:off x="7726680" y="2011679"/>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27" name="Rectangle 26">
            <a:extLst xmlns:a="http://schemas.openxmlformats.org/drawingml/2006/main">
              <a:ext uri="{FF2B5EF4-FFF2-40B4-BE49-F238E27FC236}">
                <a16:creationId xmlns:a16="http://schemas.microsoft.com/office/drawing/2014/main" id="{72E4F444-4CC4-4639-9AE9-64C63D24E483}"/>
              </a:ext>
            </a:extLst>
          </p:cNvPr>
          <p:cNvSpPr>
            <a:spLocks xmlns:a="http://schemas.openxmlformats.org/drawingml/2006/main" noGrp="1"/>
          </p:cNvSpPr>
          <p:nvPr/>
        </p:nvSpPr>
        <p:spPr>
          <a:xfrm xmlns:a="http://schemas.openxmlformats.org/drawingml/2006/main">
            <a:off x="9098280" y="1892807"/>
            <a:ext cx="20574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53F56FBA-5213-4457-A7C8-9F8BEBC3AD9D}"/>
              </a:ext>
            </a:extLst>
          </p:cNvPr>
          <p:cNvSpPr>
            <a:spLocks xmlns:a="http://schemas.openxmlformats.org/drawingml/2006/main" noGrp="1"/>
          </p:cNvSpPr>
          <p:nvPr/>
        </p:nvSpPr>
        <p:spPr>
          <a:xfrm xmlns:a="http://schemas.openxmlformats.org/drawingml/2006/main">
            <a:off x="9144000" y="2011679"/>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29" name="Rectangle 28">
            <a:extLst xmlns:a="http://schemas.openxmlformats.org/drawingml/2006/main">
              <a:ext uri="{FF2B5EF4-FFF2-40B4-BE49-F238E27FC236}">
                <a16:creationId xmlns:a16="http://schemas.microsoft.com/office/drawing/2014/main" id="{B46D9250-6814-4FE3-AF14-C09650C6F426}"/>
              </a:ext>
            </a:extLst>
          </p:cNvPr>
          <p:cNvSpPr>
            <a:spLocks xmlns:a="http://schemas.openxmlformats.org/drawingml/2006/main" noGrp="1"/>
          </p:cNvSpPr>
          <p:nvPr/>
        </p:nvSpPr>
        <p:spPr>
          <a:xfrm xmlns:a="http://schemas.openxmlformats.org/drawingml/2006/main">
            <a:off x="502920" y="2459736"/>
            <a:ext cx="237744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27713F6-C941-427B-8882-942FCBB413F4}"/>
              </a:ext>
            </a:extLst>
          </p:cNvPr>
          <p:cNvSpPr>
            <a:spLocks xmlns:a="http://schemas.openxmlformats.org/drawingml/2006/main" noGrp="1"/>
          </p:cNvSpPr>
          <p:nvPr/>
        </p:nvSpPr>
        <p:spPr>
          <a:xfrm xmlns:a="http://schemas.openxmlformats.org/drawingml/2006/main">
            <a:off x="548640" y="2578608"/>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Nutrition generation</a:t>
            </a:r>
          </a:p>
        </p:txBody>
      </p:sp>
      <p:sp>
        <p:nvSpPr>
          <p:cNvPr id="31" name="Rectangle 30">
            <a:extLst xmlns:a="http://schemas.openxmlformats.org/drawingml/2006/main">
              <a:ext uri="{FF2B5EF4-FFF2-40B4-BE49-F238E27FC236}">
                <a16:creationId xmlns:a16="http://schemas.microsoft.com/office/drawing/2014/main" id="{3F87107A-54F3-4BA6-8F55-A79B9224E507}"/>
              </a:ext>
            </a:extLst>
          </p:cNvPr>
          <p:cNvSpPr>
            <a:spLocks xmlns:a="http://schemas.openxmlformats.org/drawingml/2006/main" noGrp="1"/>
          </p:cNvSpPr>
          <p:nvPr/>
        </p:nvSpPr>
        <p:spPr>
          <a:xfrm xmlns:a="http://schemas.openxmlformats.org/drawingml/2006/main">
            <a:off x="2880360" y="2459736"/>
            <a:ext cx="178308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EF504D-0E4C-466E-A62C-56330606FBBC}"/>
              </a:ext>
            </a:extLst>
          </p:cNvPr>
          <p:cNvSpPr>
            <a:spLocks xmlns:a="http://schemas.openxmlformats.org/drawingml/2006/main" noGrp="1"/>
          </p:cNvSpPr>
          <p:nvPr/>
        </p:nvSpPr>
        <p:spPr>
          <a:xfrm xmlns:a="http://schemas.openxmlformats.org/drawingml/2006/main">
            <a:off x="2926080" y="2578608"/>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33" name="Rectangle 32">
            <a:extLst xmlns:a="http://schemas.openxmlformats.org/drawingml/2006/main">
              <a:ext uri="{FF2B5EF4-FFF2-40B4-BE49-F238E27FC236}">
                <a16:creationId xmlns:a16="http://schemas.microsoft.com/office/drawing/2014/main" id="{77DF8DBD-08AD-4D73-A5E1-439AD03D7170}"/>
              </a:ext>
            </a:extLst>
          </p:cNvPr>
          <p:cNvSpPr>
            <a:spLocks xmlns:a="http://schemas.openxmlformats.org/drawingml/2006/main" noGrp="1"/>
          </p:cNvSpPr>
          <p:nvPr/>
        </p:nvSpPr>
        <p:spPr>
          <a:xfrm xmlns:a="http://schemas.openxmlformats.org/drawingml/2006/main">
            <a:off x="4663440" y="2459736"/>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A497EB47-7045-4E26-B559-2740F6C400A7}"/>
              </a:ext>
            </a:extLst>
          </p:cNvPr>
          <p:cNvSpPr>
            <a:spLocks xmlns:a="http://schemas.openxmlformats.org/drawingml/2006/main" noGrp="1"/>
          </p:cNvSpPr>
          <p:nvPr/>
        </p:nvSpPr>
        <p:spPr>
          <a:xfrm xmlns:a="http://schemas.openxmlformats.org/drawingml/2006/main">
            <a:off x="4709160" y="2578608"/>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35" name="Rectangle 34">
            <a:extLst xmlns:a="http://schemas.openxmlformats.org/drawingml/2006/main">
              <a:ext uri="{FF2B5EF4-FFF2-40B4-BE49-F238E27FC236}">
                <a16:creationId xmlns:a16="http://schemas.microsoft.com/office/drawing/2014/main" id="{17D6E96D-6651-47C4-A9CC-44BE5A2A2E19}"/>
              </a:ext>
            </a:extLst>
          </p:cNvPr>
          <p:cNvSpPr>
            <a:spLocks xmlns:a="http://schemas.openxmlformats.org/drawingml/2006/main" noGrp="1"/>
          </p:cNvSpPr>
          <p:nvPr/>
        </p:nvSpPr>
        <p:spPr>
          <a:xfrm xmlns:a="http://schemas.openxmlformats.org/drawingml/2006/main">
            <a:off x="6080760" y="2459736"/>
            <a:ext cx="16002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6245CC7C-3B13-4264-B72D-202470EA6E20}"/>
              </a:ext>
            </a:extLst>
          </p:cNvPr>
          <p:cNvSpPr>
            <a:spLocks xmlns:a="http://schemas.openxmlformats.org/drawingml/2006/main" noGrp="1"/>
          </p:cNvSpPr>
          <p:nvPr/>
        </p:nvSpPr>
        <p:spPr>
          <a:xfrm xmlns:a="http://schemas.openxmlformats.org/drawingml/2006/main">
            <a:off x="6126480" y="2578608"/>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37" name="Rectangle 36">
            <a:extLst xmlns:a="http://schemas.openxmlformats.org/drawingml/2006/main">
              <a:ext uri="{FF2B5EF4-FFF2-40B4-BE49-F238E27FC236}">
                <a16:creationId xmlns:a16="http://schemas.microsoft.com/office/drawing/2014/main" id="{CB156C4F-F74C-418B-8B51-3170F6E32626}"/>
              </a:ext>
            </a:extLst>
          </p:cNvPr>
          <p:cNvSpPr>
            <a:spLocks xmlns:a="http://schemas.openxmlformats.org/drawingml/2006/main" noGrp="1"/>
          </p:cNvSpPr>
          <p:nvPr/>
        </p:nvSpPr>
        <p:spPr>
          <a:xfrm xmlns:a="http://schemas.openxmlformats.org/drawingml/2006/main">
            <a:off x="7680960" y="2459736"/>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E31165EE-06C4-451E-B899-5DEAFDCF53CF}"/>
              </a:ext>
            </a:extLst>
          </p:cNvPr>
          <p:cNvSpPr>
            <a:spLocks xmlns:a="http://schemas.openxmlformats.org/drawingml/2006/main" noGrp="1"/>
          </p:cNvSpPr>
          <p:nvPr/>
        </p:nvSpPr>
        <p:spPr>
          <a:xfrm xmlns:a="http://schemas.openxmlformats.org/drawingml/2006/main">
            <a:off x="7726680" y="2578608"/>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39" name="Rectangle 38">
            <a:extLst xmlns:a="http://schemas.openxmlformats.org/drawingml/2006/main">
              <a:ext uri="{FF2B5EF4-FFF2-40B4-BE49-F238E27FC236}">
                <a16:creationId xmlns:a16="http://schemas.microsoft.com/office/drawing/2014/main" id="{5D202DA0-4036-4F41-942E-AB7EE5471D69}"/>
              </a:ext>
            </a:extLst>
          </p:cNvPr>
          <p:cNvSpPr>
            <a:spLocks xmlns:a="http://schemas.openxmlformats.org/drawingml/2006/main" noGrp="1"/>
          </p:cNvSpPr>
          <p:nvPr/>
        </p:nvSpPr>
        <p:spPr>
          <a:xfrm xmlns:a="http://schemas.openxmlformats.org/drawingml/2006/main">
            <a:off x="9098280" y="2459736"/>
            <a:ext cx="20574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DDDCED3E-7F65-4364-8BF4-DD7AA78E26B1}"/>
              </a:ext>
            </a:extLst>
          </p:cNvPr>
          <p:cNvSpPr>
            <a:spLocks xmlns:a="http://schemas.openxmlformats.org/drawingml/2006/main" noGrp="1"/>
          </p:cNvSpPr>
          <p:nvPr/>
        </p:nvSpPr>
        <p:spPr>
          <a:xfrm xmlns:a="http://schemas.openxmlformats.org/drawingml/2006/main">
            <a:off x="9144000" y="2578608"/>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41" name="Rectangle 40">
            <a:extLst xmlns:a="http://schemas.openxmlformats.org/drawingml/2006/main">
              <a:ext uri="{FF2B5EF4-FFF2-40B4-BE49-F238E27FC236}">
                <a16:creationId xmlns:a16="http://schemas.microsoft.com/office/drawing/2014/main" id="{D4537FDD-8057-4C64-9685-FABAE51057A2}"/>
              </a:ext>
            </a:extLst>
          </p:cNvPr>
          <p:cNvSpPr>
            <a:spLocks xmlns:a="http://schemas.openxmlformats.org/drawingml/2006/main" noGrp="1"/>
          </p:cNvSpPr>
          <p:nvPr/>
        </p:nvSpPr>
        <p:spPr>
          <a:xfrm xmlns:a="http://schemas.openxmlformats.org/drawingml/2006/main">
            <a:off x="502920" y="3026663"/>
            <a:ext cx="237744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TextBox 41">
            <a:extLst xmlns:a="http://schemas.openxmlformats.org/drawingml/2006/main">
              <a:ext uri="{FF2B5EF4-FFF2-40B4-BE49-F238E27FC236}">
                <a16:creationId xmlns:a16="http://schemas.microsoft.com/office/drawing/2014/main" id="{FA9E5BAD-983D-4F18-9ADC-EB3F7E3E7B7F}"/>
              </a:ext>
            </a:extLst>
          </p:cNvPr>
          <p:cNvSpPr>
            <a:spLocks xmlns:a="http://schemas.openxmlformats.org/drawingml/2006/main" noGrp="1"/>
          </p:cNvSpPr>
          <p:nvPr/>
        </p:nvSpPr>
        <p:spPr>
          <a:xfrm xmlns:a="http://schemas.openxmlformats.org/drawingml/2006/main">
            <a:off x="548640" y="3145535"/>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Fridge-based swaps</a:t>
            </a:r>
          </a:p>
        </p:txBody>
      </p:sp>
      <p:sp>
        <p:nvSpPr>
          <p:cNvPr id="43" name="Rectangle 42">
            <a:extLst xmlns:a="http://schemas.openxmlformats.org/drawingml/2006/main">
              <a:ext uri="{FF2B5EF4-FFF2-40B4-BE49-F238E27FC236}">
                <a16:creationId xmlns:a16="http://schemas.microsoft.com/office/drawing/2014/main" id="{3756BF3B-C3B2-4912-8886-5C3D35B61B86}"/>
              </a:ext>
            </a:extLst>
          </p:cNvPr>
          <p:cNvSpPr>
            <a:spLocks xmlns:a="http://schemas.openxmlformats.org/drawingml/2006/main" noGrp="1"/>
          </p:cNvSpPr>
          <p:nvPr/>
        </p:nvSpPr>
        <p:spPr>
          <a:xfrm xmlns:a="http://schemas.openxmlformats.org/drawingml/2006/main">
            <a:off x="2880360" y="3026663"/>
            <a:ext cx="178308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56EB8381-6640-4E67-9710-08DA8EE1E8DA}"/>
              </a:ext>
            </a:extLst>
          </p:cNvPr>
          <p:cNvSpPr>
            <a:spLocks xmlns:a="http://schemas.openxmlformats.org/drawingml/2006/main" noGrp="1"/>
          </p:cNvSpPr>
          <p:nvPr/>
        </p:nvSpPr>
        <p:spPr>
          <a:xfrm xmlns:a="http://schemas.openxmlformats.org/drawingml/2006/main">
            <a:off x="2926080" y="3145535"/>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45" name="Rectangle 44">
            <a:extLst xmlns:a="http://schemas.openxmlformats.org/drawingml/2006/main">
              <a:ext uri="{FF2B5EF4-FFF2-40B4-BE49-F238E27FC236}">
                <a16:creationId xmlns:a16="http://schemas.microsoft.com/office/drawing/2014/main" id="{2C9D5521-F5D2-400B-8C23-FC8A36C8AD88}"/>
              </a:ext>
            </a:extLst>
          </p:cNvPr>
          <p:cNvSpPr>
            <a:spLocks xmlns:a="http://schemas.openxmlformats.org/drawingml/2006/main" noGrp="1"/>
          </p:cNvSpPr>
          <p:nvPr/>
        </p:nvSpPr>
        <p:spPr>
          <a:xfrm xmlns:a="http://schemas.openxmlformats.org/drawingml/2006/main">
            <a:off x="4663440" y="3026663"/>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TextBox 45">
            <a:extLst xmlns:a="http://schemas.openxmlformats.org/drawingml/2006/main">
              <a:ext uri="{FF2B5EF4-FFF2-40B4-BE49-F238E27FC236}">
                <a16:creationId xmlns:a16="http://schemas.microsoft.com/office/drawing/2014/main" id="{E2A38887-5F33-426F-86E9-44BB56E7906A}"/>
              </a:ext>
            </a:extLst>
          </p:cNvPr>
          <p:cNvSpPr>
            <a:spLocks xmlns:a="http://schemas.openxmlformats.org/drawingml/2006/main" noGrp="1"/>
          </p:cNvSpPr>
          <p:nvPr/>
        </p:nvSpPr>
        <p:spPr>
          <a:xfrm xmlns:a="http://schemas.openxmlformats.org/drawingml/2006/main">
            <a:off x="4709160" y="3145535"/>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47" name="Rectangle 46">
            <a:extLst xmlns:a="http://schemas.openxmlformats.org/drawingml/2006/main">
              <a:ext uri="{FF2B5EF4-FFF2-40B4-BE49-F238E27FC236}">
                <a16:creationId xmlns:a16="http://schemas.microsoft.com/office/drawing/2014/main" id="{435A8B68-48C7-4EB3-A02B-BF57C9A6A7C3}"/>
              </a:ext>
            </a:extLst>
          </p:cNvPr>
          <p:cNvSpPr>
            <a:spLocks xmlns:a="http://schemas.openxmlformats.org/drawingml/2006/main" noGrp="1"/>
          </p:cNvSpPr>
          <p:nvPr/>
        </p:nvSpPr>
        <p:spPr>
          <a:xfrm xmlns:a="http://schemas.openxmlformats.org/drawingml/2006/main">
            <a:off x="6080760" y="3026663"/>
            <a:ext cx="16002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TextBox 47">
            <a:extLst xmlns:a="http://schemas.openxmlformats.org/drawingml/2006/main">
              <a:ext uri="{FF2B5EF4-FFF2-40B4-BE49-F238E27FC236}">
                <a16:creationId xmlns:a16="http://schemas.microsoft.com/office/drawing/2014/main" id="{6E805BEF-8B4B-4C5C-84B0-79719122B681}"/>
              </a:ext>
            </a:extLst>
          </p:cNvPr>
          <p:cNvSpPr>
            <a:spLocks xmlns:a="http://schemas.openxmlformats.org/drawingml/2006/main" noGrp="1"/>
          </p:cNvSpPr>
          <p:nvPr/>
        </p:nvSpPr>
        <p:spPr>
          <a:xfrm xmlns:a="http://schemas.openxmlformats.org/drawingml/2006/main">
            <a:off x="6126480" y="3145535"/>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49" name="Rectangle 48">
            <a:extLst xmlns:a="http://schemas.openxmlformats.org/drawingml/2006/main">
              <a:ext uri="{FF2B5EF4-FFF2-40B4-BE49-F238E27FC236}">
                <a16:creationId xmlns:a16="http://schemas.microsoft.com/office/drawing/2014/main" id="{677BB113-DE0D-4B48-AEED-45E4F8D66399}"/>
              </a:ext>
            </a:extLst>
          </p:cNvPr>
          <p:cNvSpPr>
            <a:spLocks xmlns:a="http://schemas.openxmlformats.org/drawingml/2006/main" noGrp="1"/>
          </p:cNvSpPr>
          <p:nvPr/>
        </p:nvSpPr>
        <p:spPr>
          <a:xfrm xmlns:a="http://schemas.openxmlformats.org/drawingml/2006/main">
            <a:off x="7680960" y="3026663"/>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TextBox 49">
            <a:extLst xmlns:a="http://schemas.openxmlformats.org/drawingml/2006/main">
              <a:ext uri="{FF2B5EF4-FFF2-40B4-BE49-F238E27FC236}">
                <a16:creationId xmlns:a16="http://schemas.microsoft.com/office/drawing/2014/main" id="{58D6F9F6-0E42-480E-A28D-104B5CB7171A}"/>
              </a:ext>
            </a:extLst>
          </p:cNvPr>
          <p:cNvSpPr>
            <a:spLocks xmlns:a="http://schemas.openxmlformats.org/drawingml/2006/main" noGrp="1"/>
          </p:cNvSpPr>
          <p:nvPr/>
        </p:nvSpPr>
        <p:spPr>
          <a:xfrm xmlns:a="http://schemas.openxmlformats.org/drawingml/2006/main">
            <a:off x="7726680" y="3145535"/>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51" name="Rectangle 50">
            <a:extLst xmlns:a="http://schemas.openxmlformats.org/drawingml/2006/main">
              <a:ext uri="{FF2B5EF4-FFF2-40B4-BE49-F238E27FC236}">
                <a16:creationId xmlns:a16="http://schemas.microsoft.com/office/drawing/2014/main" id="{EB4C645A-2EEE-47FF-8B78-F744402E64A0}"/>
              </a:ext>
            </a:extLst>
          </p:cNvPr>
          <p:cNvSpPr>
            <a:spLocks xmlns:a="http://schemas.openxmlformats.org/drawingml/2006/main" noGrp="1"/>
          </p:cNvSpPr>
          <p:nvPr/>
        </p:nvSpPr>
        <p:spPr>
          <a:xfrm xmlns:a="http://schemas.openxmlformats.org/drawingml/2006/main">
            <a:off x="9098280" y="3026663"/>
            <a:ext cx="20574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TextBox 51">
            <a:extLst xmlns:a="http://schemas.openxmlformats.org/drawingml/2006/main">
              <a:ext uri="{FF2B5EF4-FFF2-40B4-BE49-F238E27FC236}">
                <a16:creationId xmlns:a16="http://schemas.microsoft.com/office/drawing/2014/main" id="{4DF6A6C3-02F1-472E-A609-4D50FBF99855}"/>
              </a:ext>
            </a:extLst>
          </p:cNvPr>
          <p:cNvSpPr>
            <a:spLocks xmlns:a="http://schemas.openxmlformats.org/drawingml/2006/main" noGrp="1"/>
          </p:cNvSpPr>
          <p:nvPr/>
        </p:nvSpPr>
        <p:spPr>
          <a:xfrm xmlns:a="http://schemas.openxmlformats.org/drawingml/2006/main">
            <a:off x="9144000" y="3145535"/>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53" name="Rectangle 52">
            <a:extLst xmlns:a="http://schemas.openxmlformats.org/drawingml/2006/main">
              <a:ext uri="{FF2B5EF4-FFF2-40B4-BE49-F238E27FC236}">
                <a16:creationId xmlns:a16="http://schemas.microsoft.com/office/drawing/2014/main" id="{788781CD-47DA-452C-B666-A0E4ADC9C4B3}"/>
              </a:ext>
            </a:extLst>
          </p:cNvPr>
          <p:cNvSpPr>
            <a:spLocks xmlns:a="http://schemas.openxmlformats.org/drawingml/2006/main" noGrp="1"/>
          </p:cNvSpPr>
          <p:nvPr/>
        </p:nvSpPr>
        <p:spPr>
          <a:xfrm xmlns:a="http://schemas.openxmlformats.org/drawingml/2006/main">
            <a:off x="502920" y="3593591"/>
            <a:ext cx="237744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TextBox 53">
            <a:extLst xmlns:a="http://schemas.openxmlformats.org/drawingml/2006/main">
              <a:ext uri="{FF2B5EF4-FFF2-40B4-BE49-F238E27FC236}">
                <a16:creationId xmlns:a16="http://schemas.microsoft.com/office/drawing/2014/main" id="{C9C0087C-33C4-4D08-9407-BB58ECF879A2}"/>
              </a:ext>
            </a:extLst>
          </p:cNvPr>
          <p:cNvSpPr>
            <a:spLocks xmlns:a="http://schemas.openxmlformats.org/drawingml/2006/main" noGrp="1"/>
          </p:cNvSpPr>
          <p:nvPr/>
        </p:nvSpPr>
        <p:spPr>
          <a:xfrm xmlns:a="http://schemas.openxmlformats.org/drawingml/2006/main">
            <a:off x="548640" y="3712463"/>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Expert meal approval</a:t>
            </a:r>
          </a:p>
        </p:txBody>
      </p:sp>
      <p:sp>
        <p:nvSpPr>
          <p:cNvPr id="55" name="Rectangle 54">
            <a:extLst xmlns:a="http://schemas.openxmlformats.org/drawingml/2006/main">
              <a:ext uri="{FF2B5EF4-FFF2-40B4-BE49-F238E27FC236}">
                <a16:creationId xmlns:a16="http://schemas.microsoft.com/office/drawing/2014/main" id="{C9B7B337-4251-46AA-B92B-EFFE86F0B4CF}"/>
              </a:ext>
            </a:extLst>
          </p:cNvPr>
          <p:cNvSpPr>
            <a:spLocks xmlns:a="http://schemas.openxmlformats.org/drawingml/2006/main" noGrp="1"/>
          </p:cNvSpPr>
          <p:nvPr/>
        </p:nvSpPr>
        <p:spPr>
          <a:xfrm xmlns:a="http://schemas.openxmlformats.org/drawingml/2006/main">
            <a:off x="2880360" y="3593591"/>
            <a:ext cx="178308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TextBox 55">
            <a:extLst xmlns:a="http://schemas.openxmlformats.org/drawingml/2006/main">
              <a:ext uri="{FF2B5EF4-FFF2-40B4-BE49-F238E27FC236}">
                <a16:creationId xmlns:a16="http://schemas.microsoft.com/office/drawing/2014/main" id="{4DA06864-508A-408E-946F-FEF4E9CE09F3}"/>
              </a:ext>
            </a:extLst>
          </p:cNvPr>
          <p:cNvSpPr>
            <a:spLocks xmlns:a="http://schemas.openxmlformats.org/drawingml/2006/main" noGrp="1"/>
          </p:cNvSpPr>
          <p:nvPr/>
        </p:nvSpPr>
        <p:spPr>
          <a:xfrm xmlns:a="http://schemas.openxmlformats.org/drawingml/2006/main">
            <a:off x="2926080" y="3712463"/>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57" name="Rectangle 56">
            <a:extLst xmlns:a="http://schemas.openxmlformats.org/drawingml/2006/main">
              <a:ext uri="{FF2B5EF4-FFF2-40B4-BE49-F238E27FC236}">
                <a16:creationId xmlns:a16="http://schemas.microsoft.com/office/drawing/2014/main" id="{9AA23BE8-EAE2-4197-AB35-D02158FE593D}"/>
              </a:ext>
            </a:extLst>
          </p:cNvPr>
          <p:cNvSpPr>
            <a:spLocks xmlns:a="http://schemas.openxmlformats.org/drawingml/2006/main" noGrp="1"/>
          </p:cNvSpPr>
          <p:nvPr/>
        </p:nvSpPr>
        <p:spPr>
          <a:xfrm xmlns:a="http://schemas.openxmlformats.org/drawingml/2006/main">
            <a:off x="4663440" y="3593591"/>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8" name="TextBox 57">
            <a:extLst xmlns:a="http://schemas.openxmlformats.org/drawingml/2006/main">
              <a:ext uri="{FF2B5EF4-FFF2-40B4-BE49-F238E27FC236}">
                <a16:creationId xmlns:a16="http://schemas.microsoft.com/office/drawing/2014/main" id="{1FF72A4C-F077-4E88-96D6-17590A0BD6B5}"/>
              </a:ext>
            </a:extLst>
          </p:cNvPr>
          <p:cNvSpPr>
            <a:spLocks xmlns:a="http://schemas.openxmlformats.org/drawingml/2006/main" noGrp="1"/>
          </p:cNvSpPr>
          <p:nvPr/>
        </p:nvSpPr>
        <p:spPr>
          <a:xfrm xmlns:a="http://schemas.openxmlformats.org/drawingml/2006/main">
            <a:off x="4709160" y="3712463"/>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59" name="Rectangle 58">
            <a:extLst xmlns:a="http://schemas.openxmlformats.org/drawingml/2006/main">
              <a:ext uri="{FF2B5EF4-FFF2-40B4-BE49-F238E27FC236}">
                <a16:creationId xmlns:a16="http://schemas.microsoft.com/office/drawing/2014/main" id="{61F0D99D-9C48-4B81-B183-74B3727E9CA9}"/>
              </a:ext>
            </a:extLst>
          </p:cNvPr>
          <p:cNvSpPr>
            <a:spLocks xmlns:a="http://schemas.openxmlformats.org/drawingml/2006/main" noGrp="1"/>
          </p:cNvSpPr>
          <p:nvPr/>
        </p:nvSpPr>
        <p:spPr>
          <a:xfrm xmlns:a="http://schemas.openxmlformats.org/drawingml/2006/main">
            <a:off x="6080760" y="3593591"/>
            <a:ext cx="16002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TextBox 59">
            <a:extLst xmlns:a="http://schemas.openxmlformats.org/drawingml/2006/main">
              <a:ext uri="{FF2B5EF4-FFF2-40B4-BE49-F238E27FC236}">
                <a16:creationId xmlns:a16="http://schemas.microsoft.com/office/drawing/2014/main" id="{8CC40978-D6C0-4FCA-A28E-3583C95DBE46}"/>
              </a:ext>
            </a:extLst>
          </p:cNvPr>
          <p:cNvSpPr>
            <a:spLocks xmlns:a="http://schemas.openxmlformats.org/drawingml/2006/main" noGrp="1"/>
          </p:cNvSpPr>
          <p:nvPr/>
        </p:nvSpPr>
        <p:spPr>
          <a:xfrm xmlns:a="http://schemas.openxmlformats.org/drawingml/2006/main">
            <a:off x="6126480" y="3712463"/>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61" name="Rectangle 60">
            <a:extLst xmlns:a="http://schemas.openxmlformats.org/drawingml/2006/main">
              <a:ext uri="{FF2B5EF4-FFF2-40B4-BE49-F238E27FC236}">
                <a16:creationId xmlns:a16="http://schemas.microsoft.com/office/drawing/2014/main" id="{ED19DBD6-C6C6-457C-AB43-1B4494048F06}"/>
              </a:ext>
            </a:extLst>
          </p:cNvPr>
          <p:cNvSpPr>
            <a:spLocks xmlns:a="http://schemas.openxmlformats.org/drawingml/2006/main" noGrp="1"/>
          </p:cNvSpPr>
          <p:nvPr/>
        </p:nvSpPr>
        <p:spPr>
          <a:xfrm xmlns:a="http://schemas.openxmlformats.org/drawingml/2006/main">
            <a:off x="7680960" y="3593591"/>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2" name="TextBox 61">
            <a:extLst xmlns:a="http://schemas.openxmlformats.org/drawingml/2006/main">
              <a:ext uri="{FF2B5EF4-FFF2-40B4-BE49-F238E27FC236}">
                <a16:creationId xmlns:a16="http://schemas.microsoft.com/office/drawing/2014/main" id="{897A85C3-3031-4641-99E7-F6B793105E32}"/>
              </a:ext>
            </a:extLst>
          </p:cNvPr>
          <p:cNvSpPr>
            <a:spLocks xmlns:a="http://schemas.openxmlformats.org/drawingml/2006/main" noGrp="1"/>
          </p:cNvSpPr>
          <p:nvPr/>
        </p:nvSpPr>
        <p:spPr>
          <a:xfrm xmlns:a="http://schemas.openxmlformats.org/drawingml/2006/main">
            <a:off x="7726680" y="3712463"/>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63" name="Rectangle 62">
            <a:extLst xmlns:a="http://schemas.openxmlformats.org/drawingml/2006/main">
              <a:ext uri="{FF2B5EF4-FFF2-40B4-BE49-F238E27FC236}">
                <a16:creationId xmlns:a16="http://schemas.microsoft.com/office/drawing/2014/main" id="{53DF4B12-A3CC-4A2E-890E-C6380D37CEDB}"/>
              </a:ext>
            </a:extLst>
          </p:cNvPr>
          <p:cNvSpPr>
            <a:spLocks xmlns:a="http://schemas.openxmlformats.org/drawingml/2006/main" noGrp="1"/>
          </p:cNvSpPr>
          <p:nvPr/>
        </p:nvSpPr>
        <p:spPr>
          <a:xfrm xmlns:a="http://schemas.openxmlformats.org/drawingml/2006/main">
            <a:off x="9098280" y="3593591"/>
            <a:ext cx="20574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4" name="TextBox 63">
            <a:extLst xmlns:a="http://schemas.openxmlformats.org/drawingml/2006/main">
              <a:ext uri="{FF2B5EF4-FFF2-40B4-BE49-F238E27FC236}">
                <a16:creationId xmlns:a16="http://schemas.microsoft.com/office/drawing/2014/main" id="{370DD298-4E44-44DD-92E7-054EAE66F798}"/>
              </a:ext>
            </a:extLst>
          </p:cNvPr>
          <p:cNvSpPr>
            <a:spLocks xmlns:a="http://schemas.openxmlformats.org/drawingml/2006/main" noGrp="1"/>
          </p:cNvSpPr>
          <p:nvPr/>
        </p:nvSpPr>
        <p:spPr>
          <a:xfrm xmlns:a="http://schemas.openxmlformats.org/drawingml/2006/main">
            <a:off x="9144000" y="3712463"/>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65" name="Rectangle 64">
            <a:extLst xmlns:a="http://schemas.openxmlformats.org/drawingml/2006/main">
              <a:ext uri="{FF2B5EF4-FFF2-40B4-BE49-F238E27FC236}">
                <a16:creationId xmlns:a16="http://schemas.microsoft.com/office/drawing/2014/main" id="{2B8F68DE-DDFC-4DEF-9B17-EE1E510B0B87}"/>
              </a:ext>
            </a:extLst>
          </p:cNvPr>
          <p:cNvSpPr>
            <a:spLocks xmlns:a="http://schemas.openxmlformats.org/drawingml/2006/main" noGrp="1"/>
          </p:cNvSpPr>
          <p:nvPr/>
        </p:nvSpPr>
        <p:spPr>
          <a:xfrm xmlns:a="http://schemas.openxmlformats.org/drawingml/2006/main">
            <a:off x="502920" y="4160520"/>
            <a:ext cx="237744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6" name="TextBox 65">
            <a:extLst xmlns:a="http://schemas.openxmlformats.org/drawingml/2006/main">
              <a:ext uri="{FF2B5EF4-FFF2-40B4-BE49-F238E27FC236}">
                <a16:creationId xmlns:a16="http://schemas.microsoft.com/office/drawing/2014/main" id="{1A83BCB6-4AC1-472A-A559-D0D75BF3110E}"/>
              </a:ext>
            </a:extLst>
          </p:cNvPr>
          <p:cNvSpPr>
            <a:spLocks xmlns:a="http://schemas.openxmlformats.org/drawingml/2006/main" noGrp="1"/>
          </p:cNvSpPr>
          <p:nvPr/>
        </p:nvSpPr>
        <p:spPr>
          <a:xfrm xmlns:a="http://schemas.openxmlformats.org/drawingml/2006/main">
            <a:off x="548640" y="4279392"/>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Exercise form analysis</a:t>
            </a:r>
          </a:p>
        </p:txBody>
      </p:sp>
      <p:sp>
        <p:nvSpPr>
          <p:cNvPr id="67" name="Rectangle 66">
            <a:extLst xmlns:a="http://schemas.openxmlformats.org/drawingml/2006/main">
              <a:ext uri="{FF2B5EF4-FFF2-40B4-BE49-F238E27FC236}">
                <a16:creationId xmlns:a16="http://schemas.microsoft.com/office/drawing/2014/main" id="{42913890-934D-4BEA-B379-61D15CE7297B}"/>
              </a:ext>
            </a:extLst>
          </p:cNvPr>
          <p:cNvSpPr>
            <a:spLocks xmlns:a="http://schemas.openxmlformats.org/drawingml/2006/main" noGrp="1"/>
          </p:cNvSpPr>
          <p:nvPr/>
        </p:nvSpPr>
        <p:spPr>
          <a:xfrm xmlns:a="http://schemas.openxmlformats.org/drawingml/2006/main">
            <a:off x="2880360" y="4160520"/>
            <a:ext cx="178308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8" name="TextBox 67">
            <a:extLst xmlns:a="http://schemas.openxmlformats.org/drawingml/2006/main">
              <a:ext uri="{FF2B5EF4-FFF2-40B4-BE49-F238E27FC236}">
                <a16:creationId xmlns:a16="http://schemas.microsoft.com/office/drawing/2014/main" id="{1713BDFE-864B-4376-87A3-73BD6F4FD771}"/>
              </a:ext>
            </a:extLst>
          </p:cNvPr>
          <p:cNvSpPr>
            <a:spLocks xmlns:a="http://schemas.openxmlformats.org/drawingml/2006/main" noGrp="1"/>
          </p:cNvSpPr>
          <p:nvPr/>
        </p:nvSpPr>
        <p:spPr>
          <a:xfrm xmlns:a="http://schemas.openxmlformats.org/drawingml/2006/main">
            <a:off x="2926080" y="4279392"/>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69" name="Rectangle 68">
            <a:extLst xmlns:a="http://schemas.openxmlformats.org/drawingml/2006/main">
              <a:ext uri="{FF2B5EF4-FFF2-40B4-BE49-F238E27FC236}">
                <a16:creationId xmlns:a16="http://schemas.microsoft.com/office/drawing/2014/main" id="{45FDA1D1-7897-47A4-8A5B-03F1A0B1384D}"/>
              </a:ext>
            </a:extLst>
          </p:cNvPr>
          <p:cNvSpPr>
            <a:spLocks xmlns:a="http://schemas.openxmlformats.org/drawingml/2006/main" noGrp="1"/>
          </p:cNvSpPr>
          <p:nvPr/>
        </p:nvSpPr>
        <p:spPr>
          <a:xfrm xmlns:a="http://schemas.openxmlformats.org/drawingml/2006/main">
            <a:off x="4663440" y="4160520"/>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0" name="TextBox 69">
            <a:extLst xmlns:a="http://schemas.openxmlformats.org/drawingml/2006/main">
              <a:ext uri="{FF2B5EF4-FFF2-40B4-BE49-F238E27FC236}">
                <a16:creationId xmlns:a16="http://schemas.microsoft.com/office/drawing/2014/main" id="{5B5B6457-F9E2-403D-8EF7-6EE6C7C9C320}"/>
              </a:ext>
            </a:extLst>
          </p:cNvPr>
          <p:cNvSpPr>
            <a:spLocks xmlns:a="http://schemas.openxmlformats.org/drawingml/2006/main" noGrp="1"/>
          </p:cNvSpPr>
          <p:nvPr/>
        </p:nvSpPr>
        <p:spPr>
          <a:xfrm xmlns:a="http://schemas.openxmlformats.org/drawingml/2006/main">
            <a:off x="4709160" y="4279392"/>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71" name="Rectangle 70">
            <a:extLst xmlns:a="http://schemas.openxmlformats.org/drawingml/2006/main">
              <a:ext uri="{FF2B5EF4-FFF2-40B4-BE49-F238E27FC236}">
                <a16:creationId xmlns:a16="http://schemas.microsoft.com/office/drawing/2014/main" id="{DE1121AB-04FB-4F33-9067-CD4B6DE8EF61}"/>
              </a:ext>
            </a:extLst>
          </p:cNvPr>
          <p:cNvSpPr>
            <a:spLocks xmlns:a="http://schemas.openxmlformats.org/drawingml/2006/main" noGrp="1"/>
          </p:cNvSpPr>
          <p:nvPr/>
        </p:nvSpPr>
        <p:spPr>
          <a:xfrm xmlns:a="http://schemas.openxmlformats.org/drawingml/2006/main">
            <a:off x="6080760" y="4160520"/>
            <a:ext cx="16002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2" name="TextBox 71">
            <a:extLst xmlns:a="http://schemas.openxmlformats.org/drawingml/2006/main">
              <a:ext uri="{FF2B5EF4-FFF2-40B4-BE49-F238E27FC236}">
                <a16:creationId xmlns:a16="http://schemas.microsoft.com/office/drawing/2014/main" id="{1151382E-79C2-4BEE-B3F6-3CDAC69999D9}"/>
              </a:ext>
            </a:extLst>
          </p:cNvPr>
          <p:cNvSpPr>
            <a:spLocks xmlns:a="http://schemas.openxmlformats.org/drawingml/2006/main" noGrp="1"/>
          </p:cNvSpPr>
          <p:nvPr/>
        </p:nvSpPr>
        <p:spPr>
          <a:xfrm xmlns:a="http://schemas.openxmlformats.org/drawingml/2006/main">
            <a:off x="6126480" y="4279392"/>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73" name="Rectangle 72">
            <a:extLst xmlns:a="http://schemas.openxmlformats.org/drawingml/2006/main">
              <a:ext uri="{FF2B5EF4-FFF2-40B4-BE49-F238E27FC236}">
                <a16:creationId xmlns:a16="http://schemas.microsoft.com/office/drawing/2014/main" id="{39DDBB29-C2D7-4113-B824-9B611CE54BF8}"/>
              </a:ext>
            </a:extLst>
          </p:cNvPr>
          <p:cNvSpPr>
            <a:spLocks xmlns:a="http://schemas.openxmlformats.org/drawingml/2006/main" noGrp="1"/>
          </p:cNvSpPr>
          <p:nvPr/>
        </p:nvSpPr>
        <p:spPr>
          <a:xfrm xmlns:a="http://schemas.openxmlformats.org/drawingml/2006/main">
            <a:off x="7680960" y="4160520"/>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TextBox 73">
            <a:extLst xmlns:a="http://schemas.openxmlformats.org/drawingml/2006/main">
              <a:ext uri="{FF2B5EF4-FFF2-40B4-BE49-F238E27FC236}">
                <a16:creationId xmlns:a16="http://schemas.microsoft.com/office/drawing/2014/main" id="{192CB844-97E4-4015-BAA1-C1BE15164790}"/>
              </a:ext>
            </a:extLst>
          </p:cNvPr>
          <p:cNvSpPr>
            <a:spLocks xmlns:a="http://schemas.openxmlformats.org/drawingml/2006/main" noGrp="1"/>
          </p:cNvSpPr>
          <p:nvPr/>
        </p:nvSpPr>
        <p:spPr>
          <a:xfrm xmlns:a="http://schemas.openxmlformats.org/drawingml/2006/main">
            <a:off x="7726680" y="4279392"/>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75" name="Rectangle 74">
            <a:extLst xmlns:a="http://schemas.openxmlformats.org/drawingml/2006/main">
              <a:ext uri="{FF2B5EF4-FFF2-40B4-BE49-F238E27FC236}">
                <a16:creationId xmlns:a16="http://schemas.microsoft.com/office/drawing/2014/main" id="{2C7A6A46-2AC2-4C3D-8864-32345DB9BB6C}"/>
              </a:ext>
            </a:extLst>
          </p:cNvPr>
          <p:cNvSpPr>
            <a:spLocks xmlns:a="http://schemas.openxmlformats.org/drawingml/2006/main" noGrp="1"/>
          </p:cNvSpPr>
          <p:nvPr/>
        </p:nvSpPr>
        <p:spPr>
          <a:xfrm xmlns:a="http://schemas.openxmlformats.org/drawingml/2006/main">
            <a:off x="9098280" y="4160520"/>
            <a:ext cx="20574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TextBox 75">
            <a:extLst xmlns:a="http://schemas.openxmlformats.org/drawingml/2006/main">
              <a:ext uri="{FF2B5EF4-FFF2-40B4-BE49-F238E27FC236}">
                <a16:creationId xmlns:a16="http://schemas.microsoft.com/office/drawing/2014/main" id="{92AE95DE-27FD-4A1D-9AD5-C4FB7B632E2F}"/>
              </a:ext>
            </a:extLst>
          </p:cNvPr>
          <p:cNvSpPr>
            <a:spLocks xmlns:a="http://schemas.openxmlformats.org/drawingml/2006/main" noGrp="1"/>
          </p:cNvSpPr>
          <p:nvPr/>
        </p:nvSpPr>
        <p:spPr>
          <a:xfrm xmlns:a="http://schemas.openxmlformats.org/drawingml/2006/main">
            <a:off x="9144000" y="4279392"/>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77" name="Rectangle 76">
            <a:extLst xmlns:a="http://schemas.openxmlformats.org/drawingml/2006/main">
              <a:ext uri="{FF2B5EF4-FFF2-40B4-BE49-F238E27FC236}">
                <a16:creationId xmlns:a16="http://schemas.microsoft.com/office/drawing/2014/main" id="{72C743D6-ED4A-484B-A9BB-1FB0543DEED1}"/>
              </a:ext>
            </a:extLst>
          </p:cNvPr>
          <p:cNvSpPr>
            <a:spLocks xmlns:a="http://schemas.openxmlformats.org/drawingml/2006/main" noGrp="1"/>
          </p:cNvSpPr>
          <p:nvPr/>
        </p:nvSpPr>
        <p:spPr>
          <a:xfrm xmlns:a="http://schemas.openxmlformats.org/drawingml/2006/main">
            <a:off x="502920" y="4727448"/>
            <a:ext cx="237744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8" name="TextBox 77">
            <a:extLst xmlns:a="http://schemas.openxmlformats.org/drawingml/2006/main">
              <a:ext uri="{FF2B5EF4-FFF2-40B4-BE49-F238E27FC236}">
                <a16:creationId xmlns:a16="http://schemas.microsoft.com/office/drawing/2014/main" id="{60B97B39-95BE-4FAC-8B8E-6A3A42E6807F}"/>
              </a:ext>
            </a:extLst>
          </p:cNvPr>
          <p:cNvSpPr>
            <a:spLocks xmlns:a="http://schemas.openxmlformats.org/drawingml/2006/main" noGrp="1"/>
          </p:cNvSpPr>
          <p:nvPr/>
        </p:nvSpPr>
        <p:spPr>
          <a:xfrm xmlns:a="http://schemas.openxmlformats.org/drawingml/2006/main">
            <a:off x="548640" y="4846320"/>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Injury-aware planning</a:t>
            </a:r>
          </a:p>
        </p:txBody>
      </p:sp>
      <p:sp>
        <p:nvSpPr>
          <p:cNvPr id="79" name="Rectangle 78">
            <a:extLst xmlns:a="http://schemas.openxmlformats.org/drawingml/2006/main">
              <a:ext uri="{FF2B5EF4-FFF2-40B4-BE49-F238E27FC236}">
                <a16:creationId xmlns:a16="http://schemas.microsoft.com/office/drawing/2014/main" id="{B8B2B8C7-8433-43E8-B745-8D0145BEE11A}"/>
              </a:ext>
            </a:extLst>
          </p:cNvPr>
          <p:cNvSpPr>
            <a:spLocks xmlns:a="http://schemas.openxmlformats.org/drawingml/2006/main" noGrp="1"/>
          </p:cNvSpPr>
          <p:nvPr/>
        </p:nvSpPr>
        <p:spPr>
          <a:xfrm xmlns:a="http://schemas.openxmlformats.org/drawingml/2006/main">
            <a:off x="2880360" y="4727448"/>
            <a:ext cx="178308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TextBox 79">
            <a:extLst xmlns:a="http://schemas.openxmlformats.org/drawingml/2006/main">
              <a:ext uri="{FF2B5EF4-FFF2-40B4-BE49-F238E27FC236}">
                <a16:creationId xmlns:a16="http://schemas.microsoft.com/office/drawing/2014/main" id="{51B2642C-0F1B-4FB2-A9B5-9D54CB10524D}"/>
              </a:ext>
            </a:extLst>
          </p:cNvPr>
          <p:cNvSpPr>
            <a:spLocks xmlns:a="http://schemas.openxmlformats.org/drawingml/2006/main" noGrp="1"/>
          </p:cNvSpPr>
          <p:nvPr/>
        </p:nvSpPr>
        <p:spPr>
          <a:xfrm xmlns:a="http://schemas.openxmlformats.org/drawingml/2006/main">
            <a:off x="2926080" y="4846320"/>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81" name="Rectangle 80">
            <a:extLst xmlns:a="http://schemas.openxmlformats.org/drawingml/2006/main">
              <a:ext uri="{FF2B5EF4-FFF2-40B4-BE49-F238E27FC236}">
                <a16:creationId xmlns:a16="http://schemas.microsoft.com/office/drawing/2014/main" id="{864E390D-F74A-4FA4-AFFE-865EDE2101B8}"/>
              </a:ext>
            </a:extLst>
          </p:cNvPr>
          <p:cNvSpPr>
            <a:spLocks xmlns:a="http://schemas.openxmlformats.org/drawingml/2006/main" noGrp="1"/>
          </p:cNvSpPr>
          <p:nvPr/>
        </p:nvSpPr>
        <p:spPr>
          <a:xfrm xmlns:a="http://schemas.openxmlformats.org/drawingml/2006/main">
            <a:off x="4663440" y="4727448"/>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TextBox 81">
            <a:extLst xmlns:a="http://schemas.openxmlformats.org/drawingml/2006/main">
              <a:ext uri="{FF2B5EF4-FFF2-40B4-BE49-F238E27FC236}">
                <a16:creationId xmlns:a16="http://schemas.microsoft.com/office/drawing/2014/main" id="{B1E5F200-379F-4E81-9AE0-3D013517FB05}"/>
              </a:ext>
            </a:extLst>
          </p:cNvPr>
          <p:cNvSpPr>
            <a:spLocks xmlns:a="http://schemas.openxmlformats.org/drawingml/2006/main" noGrp="1"/>
          </p:cNvSpPr>
          <p:nvPr/>
        </p:nvSpPr>
        <p:spPr>
          <a:xfrm xmlns:a="http://schemas.openxmlformats.org/drawingml/2006/main">
            <a:off x="4709160" y="4846320"/>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83" name="Rectangle 82">
            <a:extLst xmlns:a="http://schemas.openxmlformats.org/drawingml/2006/main">
              <a:ext uri="{FF2B5EF4-FFF2-40B4-BE49-F238E27FC236}">
                <a16:creationId xmlns:a16="http://schemas.microsoft.com/office/drawing/2014/main" id="{C258D31F-FC97-43DE-83BC-B2DCF89EC9ED}"/>
              </a:ext>
            </a:extLst>
          </p:cNvPr>
          <p:cNvSpPr>
            <a:spLocks xmlns:a="http://schemas.openxmlformats.org/drawingml/2006/main" noGrp="1"/>
          </p:cNvSpPr>
          <p:nvPr/>
        </p:nvSpPr>
        <p:spPr>
          <a:xfrm xmlns:a="http://schemas.openxmlformats.org/drawingml/2006/main">
            <a:off x="6080760" y="4727448"/>
            <a:ext cx="16002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4" name="TextBox 83">
            <a:extLst xmlns:a="http://schemas.openxmlformats.org/drawingml/2006/main">
              <a:ext uri="{FF2B5EF4-FFF2-40B4-BE49-F238E27FC236}">
                <a16:creationId xmlns:a16="http://schemas.microsoft.com/office/drawing/2014/main" id="{58F0C1E4-E54C-42BB-BA8C-25621AA681E7}"/>
              </a:ext>
            </a:extLst>
          </p:cNvPr>
          <p:cNvSpPr>
            <a:spLocks xmlns:a="http://schemas.openxmlformats.org/drawingml/2006/main" noGrp="1"/>
          </p:cNvSpPr>
          <p:nvPr/>
        </p:nvSpPr>
        <p:spPr>
          <a:xfrm xmlns:a="http://schemas.openxmlformats.org/drawingml/2006/main">
            <a:off x="6126480" y="4846320"/>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85" name="Rectangle 84">
            <a:extLst xmlns:a="http://schemas.openxmlformats.org/drawingml/2006/main">
              <a:ext uri="{FF2B5EF4-FFF2-40B4-BE49-F238E27FC236}">
                <a16:creationId xmlns:a16="http://schemas.microsoft.com/office/drawing/2014/main" id="{D3A94459-5A08-475B-9776-0073236516B4}"/>
              </a:ext>
            </a:extLst>
          </p:cNvPr>
          <p:cNvSpPr>
            <a:spLocks xmlns:a="http://schemas.openxmlformats.org/drawingml/2006/main" noGrp="1"/>
          </p:cNvSpPr>
          <p:nvPr/>
        </p:nvSpPr>
        <p:spPr>
          <a:xfrm xmlns:a="http://schemas.openxmlformats.org/drawingml/2006/main">
            <a:off x="7680960" y="4727448"/>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6" name="TextBox 85">
            <a:extLst xmlns:a="http://schemas.openxmlformats.org/drawingml/2006/main">
              <a:ext uri="{FF2B5EF4-FFF2-40B4-BE49-F238E27FC236}">
                <a16:creationId xmlns:a16="http://schemas.microsoft.com/office/drawing/2014/main" id="{9CEF9861-3A1C-4C5D-BD61-0895431C49C5}"/>
              </a:ext>
            </a:extLst>
          </p:cNvPr>
          <p:cNvSpPr>
            <a:spLocks xmlns:a="http://schemas.openxmlformats.org/drawingml/2006/main" noGrp="1"/>
          </p:cNvSpPr>
          <p:nvPr/>
        </p:nvSpPr>
        <p:spPr>
          <a:xfrm xmlns:a="http://schemas.openxmlformats.org/drawingml/2006/main">
            <a:off x="7726680" y="4846320"/>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87" name="Rectangle 86">
            <a:extLst xmlns:a="http://schemas.openxmlformats.org/drawingml/2006/main">
              <a:ext uri="{FF2B5EF4-FFF2-40B4-BE49-F238E27FC236}">
                <a16:creationId xmlns:a16="http://schemas.microsoft.com/office/drawing/2014/main" id="{B800D3EA-A12D-49A4-A5F5-352C44E34A18}"/>
              </a:ext>
            </a:extLst>
          </p:cNvPr>
          <p:cNvSpPr>
            <a:spLocks xmlns:a="http://schemas.openxmlformats.org/drawingml/2006/main" noGrp="1"/>
          </p:cNvSpPr>
          <p:nvPr/>
        </p:nvSpPr>
        <p:spPr>
          <a:xfrm xmlns:a="http://schemas.openxmlformats.org/drawingml/2006/main">
            <a:off x="9098280" y="4727448"/>
            <a:ext cx="20574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8" name="TextBox 87">
            <a:extLst xmlns:a="http://schemas.openxmlformats.org/drawingml/2006/main">
              <a:ext uri="{FF2B5EF4-FFF2-40B4-BE49-F238E27FC236}">
                <a16:creationId xmlns:a16="http://schemas.microsoft.com/office/drawing/2014/main" id="{D31D9E0C-B39C-4F61-8851-2E1F19059139}"/>
              </a:ext>
            </a:extLst>
          </p:cNvPr>
          <p:cNvSpPr>
            <a:spLocks xmlns:a="http://schemas.openxmlformats.org/drawingml/2006/main" noGrp="1"/>
          </p:cNvSpPr>
          <p:nvPr/>
        </p:nvSpPr>
        <p:spPr>
          <a:xfrm xmlns:a="http://schemas.openxmlformats.org/drawingml/2006/main">
            <a:off x="9144000" y="4846320"/>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89" name="Rectangle 88">
            <a:extLst xmlns:a="http://schemas.openxmlformats.org/drawingml/2006/main">
              <a:ext uri="{FF2B5EF4-FFF2-40B4-BE49-F238E27FC236}">
                <a16:creationId xmlns:a16="http://schemas.microsoft.com/office/drawing/2014/main" id="{3E25B72C-0F35-4953-962E-1791C1F5EBA0}"/>
              </a:ext>
            </a:extLst>
          </p:cNvPr>
          <p:cNvSpPr>
            <a:spLocks xmlns:a="http://schemas.openxmlformats.org/drawingml/2006/main" noGrp="1"/>
          </p:cNvSpPr>
          <p:nvPr/>
        </p:nvSpPr>
        <p:spPr>
          <a:xfrm xmlns:a="http://schemas.openxmlformats.org/drawingml/2006/main">
            <a:off x="502920" y="5294375"/>
            <a:ext cx="237744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0" name="TextBox 89">
            <a:extLst xmlns:a="http://schemas.openxmlformats.org/drawingml/2006/main">
              <a:ext uri="{FF2B5EF4-FFF2-40B4-BE49-F238E27FC236}">
                <a16:creationId xmlns:a16="http://schemas.microsoft.com/office/drawing/2014/main" id="{001179E0-B517-4A92-A02F-AFD2BF80FD62}"/>
              </a:ext>
            </a:extLst>
          </p:cNvPr>
          <p:cNvSpPr>
            <a:spLocks xmlns:a="http://schemas.openxmlformats.org/drawingml/2006/main" noGrp="1"/>
          </p:cNvSpPr>
          <p:nvPr/>
        </p:nvSpPr>
        <p:spPr>
          <a:xfrm xmlns:a="http://schemas.openxmlformats.org/drawingml/2006/main">
            <a:off x="548640" y="5413247"/>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Social + rewards</a:t>
            </a:r>
          </a:p>
        </p:txBody>
      </p:sp>
      <p:sp>
        <p:nvSpPr>
          <p:cNvPr id="91" name="Rectangle 90">
            <a:extLst xmlns:a="http://schemas.openxmlformats.org/drawingml/2006/main">
              <a:ext uri="{FF2B5EF4-FFF2-40B4-BE49-F238E27FC236}">
                <a16:creationId xmlns:a16="http://schemas.microsoft.com/office/drawing/2014/main" id="{88633A0A-0D1B-4CF2-B5FB-996BB4E1D6DD}"/>
              </a:ext>
            </a:extLst>
          </p:cNvPr>
          <p:cNvSpPr>
            <a:spLocks xmlns:a="http://schemas.openxmlformats.org/drawingml/2006/main" noGrp="1"/>
          </p:cNvSpPr>
          <p:nvPr/>
        </p:nvSpPr>
        <p:spPr>
          <a:xfrm xmlns:a="http://schemas.openxmlformats.org/drawingml/2006/main">
            <a:off x="2880360" y="5294375"/>
            <a:ext cx="178308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TextBox 91">
            <a:extLst xmlns:a="http://schemas.openxmlformats.org/drawingml/2006/main">
              <a:ext uri="{FF2B5EF4-FFF2-40B4-BE49-F238E27FC236}">
                <a16:creationId xmlns:a16="http://schemas.microsoft.com/office/drawing/2014/main" id="{4FDAFF1F-0FD2-405B-80E6-37C03761E82D}"/>
              </a:ext>
            </a:extLst>
          </p:cNvPr>
          <p:cNvSpPr>
            <a:spLocks xmlns:a="http://schemas.openxmlformats.org/drawingml/2006/main" noGrp="1"/>
          </p:cNvSpPr>
          <p:nvPr/>
        </p:nvSpPr>
        <p:spPr>
          <a:xfrm xmlns:a="http://schemas.openxmlformats.org/drawingml/2006/main">
            <a:off x="2926080" y="5413247"/>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93" name="Rectangle 92">
            <a:extLst xmlns:a="http://schemas.openxmlformats.org/drawingml/2006/main">
              <a:ext uri="{FF2B5EF4-FFF2-40B4-BE49-F238E27FC236}">
                <a16:creationId xmlns:a16="http://schemas.microsoft.com/office/drawing/2014/main" id="{312A6E3D-81B6-4F5B-A184-67C84B93AF7F}"/>
              </a:ext>
            </a:extLst>
          </p:cNvPr>
          <p:cNvSpPr>
            <a:spLocks xmlns:a="http://schemas.openxmlformats.org/drawingml/2006/main" noGrp="1"/>
          </p:cNvSpPr>
          <p:nvPr/>
        </p:nvSpPr>
        <p:spPr>
          <a:xfrm xmlns:a="http://schemas.openxmlformats.org/drawingml/2006/main">
            <a:off x="4663440" y="5294375"/>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4" name="TextBox 93">
            <a:extLst xmlns:a="http://schemas.openxmlformats.org/drawingml/2006/main">
              <a:ext uri="{FF2B5EF4-FFF2-40B4-BE49-F238E27FC236}">
                <a16:creationId xmlns:a16="http://schemas.microsoft.com/office/drawing/2014/main" id="{FEDAC80A-59A2-4884-AC6F-8960965DC00B}"/>
              </a:ext>
            </a:extLst>
          </p:cNvPr>
          <p:cNvSpPr>
            <a:spLocks xmlns:a="http://schemas.openxmlformats.org/drawingml/2006/main" noGrp="1"/>
          </p:cNvSpPr>
          <p:nvPr/>
        </p:nvSpPr>
        <p:spPr>
          <a:xfrm xmlns:a="http://schemas.openxmlformats.org/drawingml/2006/main">
            <a:off x="4709160" y="5413247"/>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95" name="Rectangle 94">
            <a:extLst xmlns:a="http://schemas.openxmlformats.org/drawingml/2006/main">
              <a:ext uri="{FF2B5EF4-FFF2-40B4-BE49-F238E27FC236}">
                <a16:creationId xmlns:a16="http://schemas.microsoft.com/office/drawing/2014/main" id="{11700784-B249-40DD-B144-D5D5D32FFC3A}"/>
              </a:ext>
            </a:extLst>
          </p:cNvPr>
          <p:cNvSpPr>
            <a:spLocks xmlns:a="http://schemas.openxmlformats.org/drawingml/2006/main" noGrp="1"/>
          </p:cNvSpPr>
          <p:nvPr/>
        </p:nvSpPr>
        <p:spPr>
          <a:xfrm xmlns:a="http://schemas.openxmlformats.org/drawingml/2006/main">
            <a:off x="6080760" y="5294375"/>
            <a:ext cx="16002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6" name="TextBox 95">
            <a:extLst xmlns:a="http://schemas.openxmlformats.org/drawingml/2006/main">
              <a:ext uri="{FF2B5EF4-FFF2-40B4-BE49-F238E27FC236}">
                <a16:creationId xmlns:a16="http://schemas.microsoft.com/office/drawing/2014/main" id="{1CA79946-34A9-413D-9C22-A2DFCCA1D7C6}"/>
              </a:ext>
            </a:extLst>
          </p:cNvPr>
          <p:cNvSpPr>
            <a:spLocks xmlns:a="http://schemas.openxmlformats.org/drawingml/2006/main" noGrp="1"/>
          </p:cNvSpPr>
          <p:nvPr/>
        </p:nvSpPr>
        <p:spPr>
          <a:xfrm xmlns:a="http://schemas.openxmlformats.org/drawingml/2006/main">
            <a:off x="6126480" y="5413247"/>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97" name="Rectangle 96">
            <a:extLst xmlns:a="http://schemas.openxmlformats.org/drawingml/2006/main">
              <a:ext uri="{FF2B5EF4-FFF2-40B4-BE49-F238E27FC236}">
                <a16:creationId xmlns:a16="http://schemas.microsoft.com/office/drawing/2014/main" id="{0A6E4EE3-2C15-42CA-A080-923E437350B5}"/>
              </a:ext>
            </a:extLst>
          </p:cNvPr>
          <p:cNvSpPr>
            <a:spLocks xmlns:a="http://schemas.openxmlformats.org/drawingml/2006/main" noGrp="1"/>
          </p:cNvSpPr>
          <p:nvPr/>
        </p:nvSpPr>
        <p:spPr>
          <a:xfrm xmlns:a="http://schemas.openxmlformats.org/drawingml/2006/main">
            <a:off x="7680960" y="5294375"/>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8" name="TextBox 97">
            <a:extLst xmlns:a="http://schemas.openxmlformats.org/drawingml/2006/main">
              <a:ext uri="{FF2B5EF4-FFF2-40B4-BE49-F238E27FC236}">
                <a16:creationId xmlns:a16="http://schemas.microsoft.com/office/drawing/2014/main" id="{F6F430E7-88A7-4C52-9EC6-63B7A9647EE4}"/>
              </a:ext>
            </a:extLst>
          </p:cNvPr>
          <p:cNvSpPr>
            <a:spLocks xmlns:a="http://schemas.openxmlformats.org/drawingml/2006/main" noGrp="1"/>
          </p:cNvSpPr>
          <p:nvPr/>
        </p:nvSpPr>
        <p:spPr>
          <a:xfrm xmlns:a="http://schemas.openxmlformats.org/drawingml/2006/main">
            <a:off x="7726680" y="5413247"/>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a:t>
            </a:r>
          </a:p>
        </p:txBody>
      </p:sp>
      <p:sp>
        <p:nvSpPr>
          <p:cNvPr id="99" name="Rectangle 98">
            <a:extLst xmlns:a="http://schemas.openxmlformats.org/drawingml/2006/main">
              <a:ext uri="{FF2B5EF4-FFF2-40B4-BE49-F238E27FC236}">
                <a16:creationId xmlns:a16="http://schemas.microsoft.com/office/drawing/2014/main" id="{4D78F370-E26F-4876-B6F1-CA6D385E50A2}"/>
              </a:ext>
            </a:extLst>
          </p:cNvPr>
          <p:cNvSpPr>
            <a:spLocks xmlns:a="http://schemas.openxmlformats.org/drawingml/2006/main" noGrp="1"/>
          </p:cNvSpPr>
          <p:nvPr/>
        </p:nvSpPr>
        <p:spPr>
          <a:xfrm xmlns:a="http://schemas.openxmlformats.org/drawingml/2006/main">
            <a:off x="9098280" y="5294375"/>
            <a:ext cx="20574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0" name="TextBox 99">
            <a:extLst xmlns:a="http://schemas.openxmlformats.org/drawingml/2006/main">
              <a:ext uri="{FF2B5EF4-FFF2-40B4-BE49-F238E27FC236}">
                <a16:creationId xmlns:a16="http://schemas.microsoft.com/office/drawing/2014/main" id="{BDDD78D0-7B2C-4F71-8612-45562BCC0E9E}"/>
              </a:ext>
            </a:extLst>
          </p:cNvPr>
          <p:cNvSpPr>
            <a:spLocks xmlns:a="http://schemas.openxmlformats.org/drawingml/2006/main" noGrp="1"/>
          </p:cNvSpPr>
          <p:nvPr/>
        </p:nvSpPr>
        <p:spPr>
          <a:xfrm xmlns:a="http://schemas.openxmlformats.org/drawingml/2006/main">
            <a:off x="9144000" y="5413247"/>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101" name="TextBox 100">
            <a:extLst xmlns:a="http://schemas.openxmlformats.org/drawingml/2006/main">
              <a:ext uri="{FF2B5EF4-FFF2-40B4-BE49-F238E27FC236}">
                <a16:creationId xmlns:a16="http://schemas.microsoft.com/office/drawing/2014/main" id="{19AB9B91-D19E-4F38-9A56-5436EFD04B70}"/>
              </a:ext>
            </a:extLst>
          </p:cNvPr>
          <p:cNvSpPr>
            <a:spLocks xmlns:a="http://schemas.openxmlformats.org/drawingml/2006/main" noGrp="1"/>
          </p:cNvSpPr>
          <p:nvPr/>
        </p:nvSpPr>
        <p:spPr>
          <a:xfrm xmlns:a="http://schemas.openxmlformats.org/drawingml/2006/main">
            <a:off x="731520" y="6035040"/>
            <a:ext cx="1078992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400" b="1">
                <a:solidFill>
                  <a:srgbClr val="109669"/>
                </a:solidFill>
                <a:latin typeface="Aptos"/>
                <a:ea typeface="Aptos"/>
                <a:cs typeface="Aptos"/>
              </a:rPr>
              <a:t>The key value is not one isolated feature — it is the integration of the entire journey in one system.</a:t>
            </a:r>
          </a:p>
        </p:txBody>
      </p:sp>
      <p:sp>
        <p:nvSpPr>
          <p:cNvPr id="102" name="TextBox 101">
            <a:extLst xmlns:a="http://schemas.openxmlformats.org/drawingml/2006/main">
              <a:ext uri="{FF2B5EF4-FFF2-40B4-BE49-F238E27FC236}">
                <a16:creationId xmlns:a16="http://schemas.microsoft.com/office/drawing/2014/main" id="{52BA3F85-43E1-43D4-8242-D2C46FD23142}"/>
              </a:ext>
            </a:extLst>
          </p:cNvPr>
          <p:cNvSpPr>
            <a:spLocks xmlns:a="http://schemas.openxmlformats.org/drawingml/2006/main" noGrp="1"/>
          </p:cNvSpPr>
          <p:nvPr/>
        </p:nvSpPr>
        <p:spPr>
          <a:xfrm xmlns:a="http://schemas.openxmlformats.org/drawingml/2006/main">
            <a:off x="594360" y="6510528"/>
            <a:ext cx="5029200" cy="1828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buNone/>
            </a:pPr>
            <a:r>
              <a:rPr sz="800" b="1">
                <a:solidFill>
                  <a:srgbClr val="5C6970"/>
                </a:solidFill>
                <a:latin typeface="Aptos"/>
                <a:ea typeface="Aptos"/>
                <a:cs typeface="Aptos"/>
              </a:rPr>
              <a:t>ELITE FITNESS APP  •  FYP 2026</a:t>
            </a:r>
          </a:p>
        </p:txBody>
      </p:sp>
      <p:sp>
        <p:nvSpPr>
          <p:cNvPr id="103" name="TextBox 102">
            <a:extLst xmlns:a="http://schemas.openxmlformats.org/drawingml/2006/main">
              <a:ext uri="{FF2B5EF4-FFF2-40B4-BE49-F238E27FC236}">
                <a16:creationId xmlns:a16="http://schemas.microsoft.com/office/drawing/2014/main" id="{7B185FE4-956B-40B0-91DE-4F8AEAF0F856}"/>
              </a:ext>
            </a:extLst>
          </p:cNvPr>
          <p:cNvSpPr>
            <a:spLocks xmlns:a="http://schemas.openxmlformats.org/drawingml/2006/main" noGrp="1"/>
          </p:cNvSpPr>
          <p:nvPr/>
        </p:nvSpPr>
        <p:spPr>
          <a:xfrm xmlns:a="http://schemas.openxmlformats.org/drawingml/2006/main">
            <a:off x="11064240" y="6473952"/>
            <a:ext cx="502920" cy="2286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900" b="1">
                <a:solidFill>
                  <a:srgbClr val="5C6970"/>
                </a:solidFill>
                <a:latin typeface="Aptos"/>
                <a:ea typeface="Aptos"/>
                <a:cs typeface="Aptos"/>
              </a:rPr>
              <a:t>4</a:t>
            </a:r>
          </a:p>
        </p:txBody>
      </p:sp>
    </p:spTree>
    <p:extLst>
      <p:ext uri="{BB962C8B-B14F-4D97-AF65-F5344CB8AC3E}">
        <p14:creationId xmlns:p14="http://schemas.microsoft.com/office/powerpoint/2010/main" val="68605117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E558C7-98BB-4290-B453-2EBDC53339BB}"/>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TECHNICAL FOUNDATION</a:t>
            </a:r>
            <a:endParaRPr sz="1000"/>
          </a:p>
        </p:txBody>
      </p:sp>
      <p:sp>
        <p:nvSpPr>
          <p:cNvPr id="3" name="Text 1">
            <a:extLst xmlns:a="http://schemas.openxmlformats.org/drawingml/2006/main">
              <a:ext uri="{FF2B5EF4-FFF2-40B4-BE49-F238E27FC236}">
                <a16:creationId xmlns:a16="http://schemas.microsoft.com/office/drawing/2014/main" id="{E27BAB7A-17EA-4DCC-98E1-E1A65DD29A1B}"/>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System Architecture</a:t>
            </a:r>
            <a:endParaRPr sz="2800"/>
          </a:p>
        </p:txBody>
      </p:sp>
      <p:sp>
        <p:nvSpPr>
          <p:cNvPr id="4" name="Shape 2">
            <a:extLst xmlns:a="http://schemas.openxmlformats.org/drawingml/2006/main">
              <a:ext uri="{FF2B5EF4-FFF2-40B4-BE49-F238E27FC236}">
                <a16:creationId xmlns:a16="http://schemas.microsoft.com/office/drawing/2014/main" id="{C909EAE2-04F3-42CF-A7CD-1B704F271DF3}"/>
              </a:ext>
            </a:extLst>
          </p:cNvPr>
          <p:cNvSpPr>
            <a:spLocks xmlns:a="http://schemas.openxmlformats.org/drawingml/2006/main" noGrp="1"/>
          </p:cNvSpPr>
          <p:nvPr/>
        </p:nvSpPr>
        <p:spPr>
          <a:xfrm xmlns:a="http://schemas.openxmlformats.org/drawingml/2006/main">
            <a:off x="685800" y="1417320"/>
            <a:ext cx="2331720" cy="192024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2700">
            <a:solidFill>
              <a:srgbClr val="E2E8F0"/>
            </a:solidFill>
            <a:prstDash val="solid"/>
          </a:ln>
        </p:spPr>
      </p:sp>
      <p:sp>
        <p:nvSpPr>
          <p:cNvPr id="5" name="Shape 3">
            <a:extLst xmlns:a="http://schemas.openxmlformats.org/drawingml/2006/main">
              <a:ext uri="{FF2B5EF4-FFF2-40B4-BE49-F238E27FC236}">
                <a16:creationId xmlns:a16="http://schemas.microsoft.com/office/drawing/2014/main" id="{AC625A2D-9119-42B7-BF08-B7B53D005004}"/>
              </a:ext>
            </a:extLst>
          </p:cNvPr>
          <p:cNvSpPr>
            <a:spLocks xmlns:a="http://schemas.openxmlformats.org/drawingml/2006/main" noGrp="1"/>
          </p:cNvSpPr>
          <p:nvPr/>
        </p:nvSpPr>
        <p:spPr>
          <a:xfrm xmlns:a="http://schemas.openxmlformats.org/drawingml/2006/main">
            <a:off x="1554480" y="1691640"/>
            <a:ext cx="502920" cy="502920"/>
          </a:xfrm>
          <a:prstGeom xmlns:a="http://schemas.openxmlformats.org/drawingml/2006/main" prst="ellipse">
            <a:avLst/>
          </a:prstGeom>
          <a:solidFill xmlns:a="http://schemas.openxmlformats.org/drawingml/2006/main">
            <a:srgbClr val="0EA5E9"/>
          </a:solidFill>
          <a:ln xmlns:a="http://schemas.openxmlformats.org/drawingml/2006/main" w="12700">
            <a:solidFill>
              <a:srgbClr val="0EA5E9"/>
            </a:solidFill>
            <a:prstDash val="solid"/>
          </a:ln>
        </p:spPr>
      </p:sp>
      <p:sp>
        <p:nvSpPr>
          <p:cNvPr id="6" name="Text 4">
            <a:extLst xmlns:a="http://schemas.openxmlformats.org/drawingml/2006/main">
              <a:ext uri="{FF2B5EF4-FFF2-40B4-BE49-F238E27FC236}">
                <a16:creationId xmlns:a16="http://schemas.microsoft.com/office/drawing/2014/main" id="{DD6D3EA1-2FAD-469B-A726-D4D8BC471898}"/>
              </a:ext>
            </a:extLst>
          </p:cNvPr>
          <p:cNvSpPr>
            <a:spLocks xmlns:a="http://schemas.openxmlformats.org/drawingml/2006/main" noGrp="1"/>
          </p:cNvSpPr>
          <p:nvPr/>
        </p:nvSpPr>
        <p:spPr>
          <a:xfrm xmlns:a="http://schemas.openxmlformats.org/drawingml/2006/main">
            <a:off x="1600200" y="180136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M</a:t>
            </a:r>
            <a:endParaRPr sz="1300"/>
          </a:p>
        </p:txBody>
      </p:sp>
      <p:sp>
        <p:nvSpPr>
          <p:cNvPr id="7" name="Text 5">
            <a:extLst xmlns:a="http://schemas.openxmlformats.org/drawingml/2006/main">
              <a:ext uri="{FF2B5EF4-FFF2-40B4-BE49-F238E27FC236}">
                <a16:creationId xmlns:a16="http://schemas.microsoft.com/office/drawing/2014/main" id="{8A9C2083-386C-47FD-ABC7-D7936DC3BC75}"/>
              </a:ext>
            </a:extLst>
          </p:cNvPr>
          <p:cNvSpPr>
            <a:spLocks xmlns:a="http://schemas.openxmlformats.org/drawingml/2006/main" noGrp="1"/>
          </p:cNvSpPr>
          <p:nvPr/>
        </p:nvSpPr>
        <p:spPr>
          <a:xfrm xmlns:a="http://schemas.openxmlformats.org/drawingml/2006/main">
            <a:off x="868680" y="242316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a:solidFill>
                  <a:srgbClr val="111827"/>
                </a:solidFill>
              </a:rPr>
              <a:t>MOBILE LAYER</a:t>
            </a:r>
            <a:endParaRPr sz="1200"/>
          </a:p>
        </p:txBody>
      </p:sp>
      <p:sp>
        <p:nvSpPr>
          <p:cNvPr id="8" name="Text 6">
            <a:extLst xmlns:a="http://schemas.openxmlformats.org/drawingml/2006/main">
              <a:ext uri="{FF2B5EF4-FFF2-40B4-BE49-F238E27FC236}">
                <a16:creationId xmlns:a16="http://schemas.microsoft.com/office/drawing/2014/main" id="{CFB63EF0-5051-4A00-B73E-7B114373147B}"/>
              </a:ext>
            </a:extLst>
          </p:cNvPr>
          <p:cNvSpPr>
            <a:spLocks xmlns:a="http://schemas.openxmlformats.org/drawingml/2006/main" noGrp="1"/>
          </p:cNvSpPr>
          <p:nvPr/>
        </p:nvSpPr>
        <p:spPr>
          <a:xfrm xmlns:a="http://schemas.openxmlformats.org/drawingml/2006/main">
            <a:off x="868680" y="2761488"/>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a:solidFill>
                  <a:srgbClr val="64748B"/>
                </a:solidFill>
              </a:rPr>
              <a:t>React Native + Expo</a:t>
            </a:r>
            <a:endParaRPr sz="1100"/>
          </a:p>
        </p:txBody>
      </p:sp>
      <p:sp>
        <p:nvSpPr>
          <p:cNvPr id="9" name="Shape 7">
            <a:extLst xmlns:a="http://schemas.openxmlformats.org/drawingml/2006/main">
              <a:ext uri="{FF2B5EF4-FFF2-40B4-BE49-F238E27FC236}">
                <a16:creationId xmlns:a16="http://schemas.microsoft.com/office/drawing/2014/main" id="{B21A3B85-1B60-43C4-AB89-3D3439E93994}"/>
              </a:ext>
            </a:extLst>
          </p:cNvPr>
          <p:cNvSpPr>
            <a:spLocks xmlns:a="http://schemas.openxmlformats.org/drawingml/2006/main" noGrp="1"/>
          </p:cNvSpPr>
          <p:nvPr/>
        </p:nvSpPr>
        <p:spPr>
          <a:xfrm xmlns:a="http://schemas.openxmlformats.org/drawingml/2006/main">
            <a:off x="3063240" y="2377440"/>
            <a:ext cx="365760" cy="1"/>
          </a:xfrm>
          <a:prstGeom xmlns:a="http://schemas.openxmlformats.org/drawingml/2006/main" prst="line">
            <a:avLst/>
          </a:prstGeom>
          <a:noFill xmlns:a="http://schemas.openxmlformats.org/drawingml/2006/main"/>
          <a:ln xmlns:a="http://schemas.openxmlformats.org/drawingml/2006/main" w="25400">
            <a:solidFill>
              <a:srgbClr val="10B981"/>
            </a:solidFill>
            <a:prstDash val="solid"/>
            <a:headEnd type="none"/>
            <a:tailEnd type="triangle"/>
          </a:ln>
        </p:spPr>
      </p:sp>
      <p:sp>
        <p:nvSpPr>
          <p:cNvPr id="10" name="Shape 8">
            <a:extLst xmlns:a="http://schemas.openxmlformats.org/drawingml/2006/main">
              <a:ext uri="{FF2B5EF4-FFF2-40B4-BE49-F238E27FC236}">
                <a16:creationId xmlns:a16="http://schemas.microsoft.com/office/drawing/2014/main" id="{8A98290F-1A9E-4DD3-B4CD-8D3C8AE7279A}"/>
              </a:ext>
            </a:extLst>
          </p:cNvPr>
          <p:cNvSpPr>
            <a:spLocks xmlns:a="http://schemas.openxmlformats.org/drawingml/2006/main" noGrp="1"/>
          </p:cNvSpPr>
          <p:nvPr/>
        </p:nvSpPr>
        <p:spPr>
          <a:xfrm xmlns:a="http://schemas.openxmlformats.org/drawingml/2006/main">
            <a:off x="3520440" y="1417320"/>
            <a:ext cx="2331720" cy="192024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2700">
            <a:solidFill>
              <a:srgbClr val="E2E8F0"/>
            </a:solidFill>
            <a:prstDash val="solid"/>
          </a:ln>
        </p:spPr>
      </p:sp>
      <p:sp>
        <p:nvSpPr>
          <p:cNvPr id="11" name="Shape 9">
            <a:extLst xmlns:a="http://schemas.openxmlformats.org/drawingml/2006/main">
              <a:ext uri="{FF2B5EF4-FFF2-40B4-BE49-F238E27FC236}">
                <a16:creationId xmlns:a16="http://schemas.microsoft.com/office/drawing/2014/main" id="{BB423301-1657-4E8A-ADF2-FFAF475A4A6F}"/>
              </a:ext>
            </a:extLst>
          </p:cNvPr>
          <p:cNvSpPr>
            <a:spLocks xmlns:a="http://schemas.openxmlformats.org/drawingml/2006/main" noGrp="1"/>
          </p:cNvSpPr>
          <p:nvPr/>
        </p:nvSpPr>
        <p:spPr>
          <a:xfrm xmlns:a="http://schemas.openxmlformats.org/drawingml/2006/main">
            <a:off x="4389120" y="1691640"/>
            <a:ext cx="502920" cy="502920"/>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12" name="Text 10">
            <a:extLst xmlns:a="http://schemas.openxmlformats.org/drawingml/2006/main">
              <a:ext uri="{FF2B5EF4-FFF2-40B4-BE49-F238E27FC236}">
                <a16:creationId xmlns:a16="http://schemas.microsoft.com/office/drawing/2014/main" id="{D846EA6E-ED1B-4490-B528-9FEE5B288FDD}"/>
              </a:ext>
            </a:extLst>
          </p:cNvPr>
          <p:cNvSpPr>
            <a:spLocks xmlns:a="http://schemas.openxmlformats.org/drawingml/2006/main" noGrp="1"/>
          </p:cNvSpPr>
          <p:nvPr/>
        </p:nvSpPr>
        <p:spPr>
          <a:xfrm xmlns:a="http://schemas.openxmlformats.org/drawingml/2006/main">
            <a:off x="4434840" y="180136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B</a:t>
            </a:r>
            <a:endParaRPr sz="1300"/>
          </a:p>
        </p:txBody>
      </p:sp>
      <p:sp>
        <p:nvSpPr>
          <p:cNvPr id="13" name="Text 11">
            <a:extLst xmlns:a="http://schemas.openxmlformats.org/drawingml/2006/main">
              <a:ext uri="{FF2B5EF4-FFF2-40B4-BE49-F238E27FC236}">
                <a16:creationId xmlns:a16="http://schemas.microsoft.com/office/drawing/2014/main" id="{1000D945-6364-4702-9EE8-67339F616036}"/>
              </a:ext>
            </a:extLst>
          </p:cNvPr>
          <p:cNvSpPr>
            <a:spLocks xmlns:a="http://schemas.openxmlformats.org/drawingml/2006/main" noGrp="1"/>
          </p:cNvSpPr>
          <p:nvPr/>
        </p:nvSpPr>
        <p:spPr>
          <a:xfrm xmlns:a="http://schemas.openxmlformats.org/drawingml/2006/main">
            <a:off x="3703320" y="242316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a:solidFill>
                  <a:srgbClr val="111827"/>
                </a:solidFill>
              </a:rPr>
              <a:t>BACKEND &amp; DATA</a:t>
            </a:r>
            <a:endParaRPr sz="1200"/>
          </a:p>
        </p:txBody>
      </p:sp>
      <p:sp>
        <p:nvSpPr>
          <p:cNvPr id="14" name="Text 12">
            <a:extLst xmlns:a="http://schemas.openxmlformats.org/drawingml/2006/main">
              <a:ext uri="{FF2B5EF4-FFF2-40B4-BE49-F238E27FC236}">
                <a16:creationId xmlns:a16="http://schemas.microsoft.com/office/drawing/2014/main" id="{54D5304F-F9C8-4B7D-BF69-165866806449}"/>
              </a:ext>
            </a:extLst>
          </p:cNvPr>
          <p:cNvSpPr>
            <a:spLocks xmlns:a="http://schemas.openxmlformats.org/drawingml/2006/main" noGrp="1"/>
          </p:cNvSpPr>
          <p:nvPr/>
        </p:nvSpPr>
        <p:spPr>
          <a:xfrm xmlns:a="http://schemas.openxmlformats.org/drawingml/2006/main">
            <a:off x="3703320" y="2761488"/>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a:solidFill>
                  <a:srgbClr val="64748B"/>
                </a:solidFill>
              </a:rPr>
              <a:t>PHP API + MySQL</a:t>
            </a:r>
            <a:endParaRPr sz="1100"/>
          </a:p>
        </p:txBody>
      </p:sp>
      <p:sp>
        <p:nvSpPr>
          <p:cNvPr id="15" name="Shape 13">
            <a:extLst xmlns:a="http://schemas.openxmlformats.org/drawingml/2006/main">
              <a:ext uri="{FF2B5EF4-FFF2-40B4-BE49-F238E27FC236}">
                <a16:creationId xmlns:a16="http://schemas.microsoft.com/office/drawing/2014/main" id="{E7574259-60AB-4A9F-9454-80AD53D22A44}"/>
              </a:ext>
            </a:extLst>
          </p:cNvPr>
          <p:cNvSpPr>
            <a:spLocks xmlns:a="http://schemas.openxmlformats.org/drawingml/2006/main" noGrp="1"/>
          </p:cNvSpPr>
          <p:nvPr/>
        </p:nvSpPr>
        <p:spPr>
          <a:xfrm xmlns:a="http://schemas.openxmlformats.org/drawingml/2006/main">
            <a:off x="5897880" y="2377440"/>
            <a:ext cx="365760" cy="1"/>
          </a:xfrm>
          <a:prstGeom xmlns:a="http://schemas.openxmlformats.org/drawingml/2006/main" prst="line">
            <a:avLst/>
          </a:prstGeom>
          <a:noFill xmlns:a="http://schemas.openxmlformats.org/drawingml/2006/main"/>
          <a:ln xmlns:a="http://schemas.openxmlformats.org/drawingml/2006/main" w="25400">
            <a:solidFill>
              <a:srgbClr val="10B981"/>
            </a:solidFill>
            <a:prstDash val="solid"/>
            <a:headEnd type="none"/>
            <a:tailEnd type="triangle"/>
          </a:ln>
        </p:spPr>
      </p:sp>
      <p:sp>
        <p:nvSpPr>
          <p:cNvPr id="16" name="Shape 14">
            <a:extLst xmlns:a="http://schemas.openxmlformats.org/drawingml/2006/main">
              <a:ext uri="{FF2B5EF4-FFF2-40B4-BE49-F238E27FC236}">
                <a16:creationId xmlns:a16="http://schemas.microsoft.com/office/drawing/2014/main" id="{3E48DAA9-670C-44D4-AA02-7BB07DA7D3BC}"/>
              </a:ext>
            </a:extLst>
          </p:cNvPr>
          <p:cNvSpPr>
            <a:spLocks xmlns:a="http://schemas.openxmlformats.org/drawingml/2006/main" noGrp="1"/>
          </p:cNvSpPr>
          <p:nvPr/>
        </p:nvSpPr>
        <p:spPr>
          <a:xfrm xmlns:a="http://schemas.openxmlformats.org/drawingml/2006/main">
            <a:off x="6355080" y="1417320"/>
            <a:ext cx="2331720" cy="192024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2700">
            <a:solidFill>
              <a:srgbClr val="E2E8F0"/>
            </a:solidFill>
            <a:prstDash val="solid"/>
          </a:ln>
        </p:spPr>
      </p:sp>
      <p:sp>
        <p:nvSpPr>
          <p:cNvPr id="17" name="Shape 15">
            <a:extLst xmlns:a="http://schemas.openxmlformats.org/drawingml/2006/main">
              <a:ext uri="{FF2B5EF4-FFF2-40B4-BE49-F238E27FC236}">
                <a16:creationId xmlns:a16="http://schemas.microsoft.com/office/drawing/2014/main" id="{BF4A39BB-FE15-4EE1-8B8D-09E5C4E9AEB5}"/>
              </a:ext>
            </a:extLst>
          </p:cNvPr>
          <p:cNvSpPr>
            <a:spLocks xmlns:a="http://schemas.openxmlformats.org/drawingml/2006/main" noGrp="1"/>
          </p:cNvSpPr>
          <p:nvPr/>
        </p:nvSpPr>
        <p:spPr>
          <a:xfrm xmlns:a="http://schemas.openxmlformats.org/drawingml/2006/main">
            <a:off x="7223760" y="1691640"/>
            <a:ext cx="502920" cy="50292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8" name="Text 16">
            <a:extLst xmlns:a="http://schemas.openxmlformats.org/drawingml/2006/main">
              <a:ext uri="{FF2B5EF4-FFF2-40B4-BE49-F238E27FC236}">
                <a16:creationId xmlns:a16="http://schemas.microsoft.com/office/drawing/2014/main" id="{5FBB5C87-44C6-4008-9F44-0CAEB749A057}"/>
              </a:ext>
            </a:extLst>
          </p:cNvPr>
          <p:cNvSpPr>
            <a:spLocks xmlns:a="http://schemas.openxmlformats.org/drawingml/2006/main" noGrp="1"/>
          </p:cNvSpPr>
          <p:nvPr/>
        </p:nvSpPr>
        <p:spPr>
          <a:xfrm xmlns:a="http://schemas.openxmlformats.org/drawingml/2006/main">
            <a:off x="7269480" y="180136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AI</a:t>
            </a:r>
            <a:endParaRPr sz="1300"/>
          </a:p>
        </p:txBody>
      </p:sp>
      <p:sp>
        <p:nvSpPr>
          <p:cNvPr id="19" name="Text 17">
            <a:extLst xmlns:a="http://schemas.openxmlformats.org/drawingml/2006/main">
              <a:ext uri="{FF2B5EF4-FFF2-40B4-BE49-F238E27FC236}">
                <a16:creationId xmlns:a16="http://schemas.microsoft.com/office/drawing/2014/main" id="{2B912C8C-D0EA-434B-ADDD-0EC358F8EC01}"/>
              </a:ext>
            </a:extLst>
          </p:cNvPr>
          <p:cNvSpPr>
            <a:spLocks xmlns:a="http://schemas.openxmlformats.org/drawingml/2006/main" noGrp="1"/>
          </p:cNvSpPr>
          <p:nvPr/>
        </p:nvSpPr>
        <p:spPr>
          <a:xfrm xmlns:a="http://schemas.openxmlformats.org/drawingml/2006/main">
            <a:off x="6537960" y="242316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a:solidFill>
                  <a:srgbClr val="111827"/>
                </a:solidFill>
              </a:rPr>
              <a:t>INTELLIGENCE</a:t>
            </a:r>
            <a:endParaRPr sz="1200"/>
          </a:p>
        </p:txBody>
      </p:sp>
      <p:sp>
        <p:nvSpPr>
          <p:cNvPr id="20" name="Text 18">
            <a:extLst xmlns:a="http://schemas.openxmlformats.org/drawingml/2006/main">
              <a:ext uri="{FF2B5EF4-FFF2-40B4-BE49-F238E27FC236}">
                <a16:creationId xmlns:a16="http://schemas.microsoft.com/office/drawing/2014/main" id="{5A56501B-8D16-4A57-92CD-8C7BFAEF32D9}"/>
              </a:ext>
            </a:extLst>
          </p:cNvPr>
          <p:cNvSpPr>
            <a:spLocks xmlns:a="http://schemas.openxmlformats.org/drawingml/2006/main" noGrp="1"/>
          </p:cNvSpPr>
          <p:nvPr/>
        </p:nvSpPr>
        <p:spPr>
          <a:xfrm xmlns:a="http://schemas.openxmlformats.org/drawingml/2006/main">
            <a:off x="6537960" y="2761488"/>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a:solidFill>
                  <a:srgbClr val="64748B"/>
                </a:solidFill>
              </a:rPr>
              <a:t>4 Specialized AI Modules</a:t>
            </a:r>
            <a:endParaRPr sz="1100"/>
          </a:p>
        </p:txBody>
      </p:sp>
      <p:sp>
        <p:nvSpPr>
          <p:cNvPr id="21" name="Shape 19">
            <a:extLst xmlns:a="http://schemas.openxmlformats.org/drawingml/2006/main">
              <a:ext uri="{FF2B5EF4-FFF2-40B4-BE49-F238E27FC236}">
                <a16:creationId xmlns:a16="http://schemas.microsoft.com/office/drawing/2014/main" id="{073A0A05-812E-4FE5-96AE-2A1D82B2B453}"/>
              </a:ext>
            </a:extLst>
          </p:cNvPr>
          <p:cNvSpPr>
            <a:spLocks xmlns:a="http://schemas.openxmlformats.org/drawingml/2006/main" noGrp="1"/>
          </p:cNvSpPr>
          <p:nvPr/>
        </p:nvSpPr>
        <p:spPr>
          <a:xfrm xmlns:a="http://schemas.openxmlformats.org/drawingml/2006/main">
            <a:off x="8732520" y="2377440"/>
            <a:ext cx="365760" cy="1"/>
          </a:xfrm>
          <a:prstGeom xmlns:a="http://schemas.openxmlformats.org/drawingml/2006/main" prst="line">
            <a:avLst/>
          </a:prstGeom>
          <a:noFill xmlns:a="http://schemas.openxmlformats.org/drawingml/2006/main"/>
          <a:ln xmlns:a="http://schemas.openxmlformats.org/drawingml/2006/main" w="25400">
            <a:solidFill>
              <a:srgbClr val="10B981"/>
            </a:solidFill>
            <a:prstDash val="solid"/>
            <a:headEnd type="none"/>
            <a:tailEnd type="triangle"/>
          </a:ln>
        </p:spPr>
      </p:sp>
      <p:sp>
        <p:nvSpPr>
          <p:cNvPr id="22" name="Shape 20">
            <a:extLst xmlns:a="http://schemas.openxmlformats.org/drawingml/2006/main">
              <a:ext uri="{FF2B5EF4-FFF2-40B4-BE49-F238E27FC236}">
                <a16:creationId xmlns:a16="http://schemas.microsoft.com/office/drawing/2014/main" id="{5D8D9C78-2B83-4689-9DB5-A748074B2C1D}"/>
              </a:ext>
            </a:extLst>
          </p:cNvPr>
          <p:cNvSpPr>
            <a:spLocks xmlns:a="http://schemas.openxmlformats.org/drawingml/2006/main" noGrp="1"/>
          </p:cNvSpPr>
          <p:nvPr/>
        </p:nvSpPr>
        <p:spPr>
          <a:xfrm xmlns:a="http://schemas.openxmlformats.org/drawingml/2006/main">
            <a:off x="9189720" y="1417320"/>
            <a:ext cx="2331720" cy="192024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2700">
            <a:solidFill>
              <a:srgbClr val="E2E8F0"/>
            </a:solidFill>
            <a:prstDash val="solid"/>
          </a:ln>
        </p:spPr>
      </p:sp>
      <p:sp>
        <p:nvSpPr>
          <p:cNvPr id="23" name="Shape 21">
            <a:extLst xmlns:a="http://schemas.openxmlformats.org/drawingml/2006/main">
              <a:ext uri="{FF2B5EF4-FFF2-40B4-BE49-F238E27FC236}">
                <a16:creationId xmlns:a16="http://schemas.microsoft.com/office/drawing/2014/main" id="{280738B5-82AC-4983-9580-E6FF8EF02453}"/>
              </a:ext>
            </a:extLst>
          </p:cNvPr>
          <p:cNvSpPr>
            <a:spLocks xmlns:a="http://schemas.openxmlformats.org/drawingml/2006/main" noGrp="1"/>
          </p:cNvSpPr>
          <p:nvPr/>
        </p:nvSpPr>
        <p:spPr>
          <a:xfrm xmlns:a="http://schemas.openxmlformats.org/drawingml/2006/main">
            <a:off x="10058400" y="1691640"/>
            <a:ext cx="502920" cy="502920"/>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4" name="Text 22">
            <a:extLst xmlns:a="http://schemas.openxmlformats.org/drawingml/2006/main">
              <a:ext uri="{FF2B5EF4-FFF2-40B4-BE49-F238E27FC236}">
                <a16:creationId xmlns:a16="http://schemas.microsoft.com/office/drawing/2014/main" id="{A0B8E069-7AB2-4FC8-87A6-ED8573850430}"/>
              </a:ext>
            </a:extLst>
          </p:cNvPr>
          <p:cNvSpPr>
            <a:spLocks xmlns:a="http://schemas.openxmlformats.org/drawingml/2006/main" noGrp="1"/>
          </p:cNvSpPr>
          <p:nvPr/>
        </p:nvSpPr>
        <p:spPr>
          <a:xfrm xmlns:a="http://schemas.openxmlformats.org/drawingml/2006/main">
            <a:off x="10104120" y="180136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H</a:t>
            </a:r>
            <a:endParaRPr sz="1300"/>
          </a:p>
        </p:txBody>
      </p:sp>
      <p:sp>
        <p:nvSpPr>
          <p:cNvPr id="25" name="Text 23">
            <a:extLst xmlns:a="http://schemas.openxmlformats.org/drawingml/2006/main">
              <a:ext uri="{FF2B5EF4-FFF2-40B4-BE49-F238E27FC236}">
                <a16:creationId xmlns:a16="http://schemas.microsoft.com/office/drawing/2014/main" id="{42AFC9DC-9889-459D-8E56-E433C2689042}"/>
              </a:ext>
            </a:extLst>
          </p:cNvPr>
          <p:cNvSpPr>
            <a:spLocks xmlns:a="http://schemas.openxmlformats.org/drawingml/2006/main" noGrp="1"/>
          </p:cNvSpPr>
          <p:nvPr/>
        </p:nvSpPr>
        <p:spPr>
          <a:xfrm xmlns:a="http://schemas.openxmlformats.org/drawingml/2006/main">
            <a:off x="9372600" y="242316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a:solidFill>
                  <a:srgbClr val="111827"/>
                </a:solidFill>
              </a:rPr>
              <a:t>EXPERT CONTROL</a:t>
            </a:r>
            <a:endParaRPr sz="1200"/>
          </a:p>
        </p:txBody>
      </p:sp>
      <p:sp>
        <p:nvSpPr>
          <p:cNvPr id="26" name="Text 24">
            <a:extLst xmlns:a="http://schemas.openxmlformats.org/drawingml/2006/main">
              <a:ext uri="{FF2B5EF4-FFF2-40B4-BE49-F238E27FC236}">
                <a16:creationId xmlns:a16="http://schemas.microsoft.com/office/drawing/2014/main" id="{89DD4B49-09D1-4F39-B804-DBBC7DBACC43}"/>
              </a:ext>
            </a:extLst>
          </p:cNvPr>
          <p:cNvSpPr>
            <a:spLocks xmlns:a="http://schemas.openxmlformats.org/drawingml/2006/main" noGrp="1"/>
          </p:cNvSpPr>
          <p:nvPr/>
        </p:nvSpPr>
        <p:spPr>
          <a:xfrm xmlns:a="http://schemas.openxmlformats.org/drawingml/2006/main">
            <a:off x="9372600" y="2761488"/>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a:solidFill>
                  <a:srgbClr val="64748B"/>
                </a:solidFill>
              </a:rPr>
              <a:t>Human-in-the-Loop</a:t>
            </a:r>
            <a:endParaRPr sz="1100"/>
          </a:p>
        </p:txBody>
      </p:sp>
      <p:sp>
        <p:nvSpPr>
          <p:cNvPr id="27" name="Shape 25">
            <a:extLst xmlns:a="http://schemas.openxmlformats.org/drawingml/2006/main">
              <a:ext uri="{FF2B5EF4-FFF2-40B4-BE49-F238E27FC236}">
                <a16:creationId xmlns:a16="http://schemas.microsoft.com/office/drawing/2014/main" id="{C9A56C8B-C2CC-415F-B82F-01B9B7266D78}"/>
              </a:ext>
            </a:extLst>
          </p:cNvPr>
          <p:cNvSpPr>
            <a:spLocks xmlns:a="http://schemas.openxmlformats.org/drawingml/2006/main" noGrp="1"/>
          </p:cNvSpPr>
          <p:nvPr/>
        </p:nvSpPr>
        <p:spPr>
          <a:xfrm xmlns:a="http://schemas.openxmlformats.org/drawingml/2006/main">
            <a:off x="685800" y="3886200"/>
            <a:ext cx="10835640" cy="1481328"/>
          </a:xfrm>
          <a:prstGeom xmlns:a="http://schemas.openxmlformats.org/drawingml/2006/main" prst="roundRect">
            <a:avLst>
              <a:gd name="adj" fmla="val 6173"/>
            </a:avLst>
          </a:prstGeom>
          <a:solidFill xmlns:a="http://schemas.openxmlformats.org/drawingml/2006/main">
            <a:srgbClr val="0F172A"/>
          </a:solidFill>
          <a:ln xmlns:a="http://schemas.openxmlformats.org/drawingml/2006/main" w="12700">
            <a:solidFill>
              <a:srgbClr val="0F172A"/>
            </a:solidFill>
            <a:prstDash val="solid"/>
          </a:ln>
        </p:spPr>
      </p:sp>
      <p:sp>
        <p:nvSpPr>
          <p:cNvPr id="28" name="Text 26">
            <a:extLst xmlns:a="http://schemas.openxmlformats.org/drawingml/2006/main">
              <a:ext uri="{FF2B5EF4-FFF2-40B4-BE49-F238E27FC236}">
                <a16:creationId xmlns:a16="http://schemas.microsoft.com/office/drawing/2014/main" id="{8C73C96E-FCFC-4E11-A290-705E0A619C8F}"/>
              </a:ext>
            </a:extLst>
          </p:cNvPr>
          <p:cNvSpPr>
            <a:spLocks xmlns:a="http://schemas.openxmlformats.org/drawingml/2006/main" noGrp="1"/>
          </p:cNvSpPr>
          <p:nvPr/>
        </p:nvSpPr>
        <p:spPr>
          <a:xfrm xmlns:a="http://schemas.openxmlformats.org/drawingml/2006/main">
            <a:off x="960120" y="4160520"/>
            <a:ext cx="10241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rPr>
              <a:t>The mobile application never communicates directly with the AI models or database.</a:t>
            </a:r>
            <a:endParaRPr sz="1800"/>
          </a:p>
        </p:txBody>
      </p:sp>
      <p:sp>
        <p:nvSpPr>
          <p:cNvPr id="29" name="Text 27">
            <a:extLst xmlns:a="http://schemas.openxmlformats.org/drawingml/2006/main">
              <a:ext uri="{FF2B5EF4-FFF2-40B4-BE49-F238E27FC236}">
                <a16:creationId xmlns:a16="http://schemas.microsoft.com/office/drawing/2014/main" id="{96AB6061-B731-4BE8-B45A-19AB8847CE19}"/>
              </a:ext>
            </a:extLst>
          </p:cNvPr>
          <p:cNvSpPr>
            <a:spLocks xmlns:a="http://schemas.openxmlformats.org/drawingml/2006/main" noGrp="1"/>
          </p:cNvSpPr>
          <p:nvPr/>
        </p:nvSpPr>
        <p:spPr>
          <a:xfrm xmlns:a="http://schemas.openxmlformats.org/drawingml/2006/main">
            <a:off x="1097280" y="4617720"/>
            <a:ext cx="9966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a:solidFill>
                  <a:srgbClr val="CBD5E1"/>
                </a:solidFill>
              </a:rPr>
              <a:t>Requests pass through the PHP backend for authentication, business logic, database operations and routing. Structured AI results are then processed and returned to the mobile interface.</a:t>
            </a:r>
            <a:endParaRPr sz="1300"/>
          </a:p>
        </p:txBody>
      </p:sp>
      <p:sp>
        <p:nvSpPr>
          <p:cNvPr id="30" name="Slide Number Placeholder 0">
            <a:extLst xmlns:a="http://schemas.openxmlformats.org/drawingml/2006/main">
              <a:ext uri="{FF2B5EF4-FFF2-40B4-BE49-F238E27FC236}">
                <a16:creationId xmlns:a16="http://schemas.microsoft.com/office/drawing/2014/main" id="{378D08B3-D89D-455C-9CF9-3CE1DA59111B}"/>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85559739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280CC0-B7A9-4A4C-8795-32784A3E3BE0}"/>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AI ENGINE</a:t>
            </a:r>
            <a:endParaRPr sz="1000"/>
          </a:p>
        </p:txBody>
      </p:sp>
      <p:sp>
        <p:nvSpPr>
          <p:cNvPr id="3" name="Text 1">
            <a:extLst xmlns:a="http://schemas.openxmlformats.org/drawingml/2006/main">
              <a:ext uri="{FF2B5EF4-FFF2-40B4-BE49-F238E27FC236}">
                <a16:creationId xmlns:a16="http://schemas.microsoft.com/office/drawing/2014/main" id="{75B748C5-7F80-48C5-929E-2F4357A3DFF3}"/>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Four AI Components, Four Different Problems</a:t>
            </a:r>
            <a:endParaRPr sz="2800"/>
          </a:p>
        </p:txBody>
      </p:sp>
      <p:sp>
        <p:nvSpPr>
          <p:cNvPr id="4" name="Shape 2">
            <a:extLst xmlns:a="http://schemas.openxmlformats.org/drawingml/2006/main">
              <a:ext uri="{FF2B5EF4-FFF2-40B4-BE49-F238E27FC236}">
                <a16:creationId xmlns:a16="http://schemas.microsoft.com/office/drawing/2014/main" id="{C2C15B7F-C771-4049-8960-A3D4262BF59E}"/>
              </a:ext>
            </a:extLst>
          </p:cNvPr>
          <p:cNvSpPr>
            <a:spLocks xmlns:a="http://schemas.openxmlformats.org/drawingml/2006/main" noGrp="1"/>
          </p:cNvSpPr>
          <p:nvPr/>
        </p:nvSpPr>
        <p:spPr>
          <a:xfrm xmlns:a="http://schemas.openxmlformats.org/drawingml/2006/main">
            <a:off x="640080" y="1325880"/>
            <a:ext cx="5257800" cy="150876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2700">
            <a:solidFill>
              <a:srgbClr val="E2E8F0"/>
            </a:solidFill>
            <a:prstDash val="solid"/>
          </a:ln>
        </p:spPr>
      </p:sp>
      <p:sp>
        <p:nvSpPr>
          <p:cNvPr id="5" name="Shape 3">
            <a:extLst xmlns:a="http://schemas.openxmlformats.org/drawingml/2006/main">
              <a:ext uri="{FF2B5EF4-FFF2-40B4-BE49-F238E27FC236}">
                <a16:creationId xmlns:a16="http://schemas.microsoft.com/office/drawing/2014/main" id="{7CF96F50-9B74-4717-A1B4-5A52946A8277}"/>
              </a:ext>
            </a:extLst>
          </p:cNvPr>
          <p:cNvSpPr>
            <a:spLocks xmlns:a="http://schemas.openxmlformats.org/drawingml/2006/main" noGrp="1"/>
          </p:cNvSpPr>
          <p:nvPr/>
        </p:nvSpPr>
        <p:spPr>
          <a:xfrm xmlns:a="http://schemas.openxmlformats.org/drawingml/2006/main">
            <a:off x="896112" y="1600200"/>
            <a:ext cx="502920" cy="50292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6" name="Text 4">
            <a:extLst xmlns:a="http://schemas.openxmlformats.org/drawingml/2006/main">
              <a:ext uri="{FF2B5EF4-FFF2-40B4-BE49-F238E27FC236}">
                <a16:creationId xmlns:a16="http://schemas.microsoft.com/office/drawing/2014/main" id="{D73BA2C0-9A37-45EA-8DED-FC1C876EF597}"/>
              </a:ext>
            </a:extLst>
          </p:cNvPr>
          <p:cNvSpPr>
            <a:spLocks xmlns:a="http://schemas.openxmlformats.org/drawingml/2006/main" noGrp="1"/>
          </p:cNvSpPr>
          <p:nvPr/>
        </p:nvSpPr>
        <p:spPr>
          <a:xfrm xmlns:a="http://schemas.openxmlformats.org/drawingml/2006/main">
            <a:off x="941832" y="170992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T</a:t>
            </a:r>
            <a:endParaRPr sz="1300"/>
          </a:p>
        </p:txBody>
      </p:sp>
      <p:sp>
        <p:nvSpPr>
          <p:cNvPr id="7" name="Text 5">
            <a:extLst xmlns:a="http://schemas.openxmlformats.org/drawingml/2006/main">
              <a:ext uri="{FF2B5EF4-FFF2-40B4-BE49-F238E27FC236}">
                <a16:creationId xmlns:a16="http://schemas.microsoft.com/office/drawing/2014/main" id="{24B8B326-4E29-49C6-B3C1-2A7936AC0FED}"/>
              </a:ext>
            </a:extLst>
          </p:cNvPr>
          <p:cNvSpPr>
            <a:spLocks xmlns:a="http://schemas.openxmlformats.org/drawingml/2006/main" noGrp="1"/>
          </p:cNvSpPr>
          <p:nvPr/>
        </p:nvSpPr>
        <p:spPr>
          <a:xfrm xmlns:a="http://schemas.openxmlformats.org/drawingml/2006/main">
            <a:off x="1554480" y="1554480"/>
            <a:ext cx="1920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1827"/>
                </a:solidFill>
              </a:rPr>
              <a:t>TrainCore AI</a:t>
            </a:r>
            <a:endParaRPr sz="1700"/>
          </a:p>
        </p:txBody>
      </p:sp>
      <p:sp>
        <p:nvSpPr>
          <p:cNvPr id="8" name="Shape 6">
            <a:extLst xmlns:a="http://schemas.openxmlformats.org/drawingml/2006/main">
              <a:ext uri="{FF2B5EF4-FFF2-40B4-BE49-F238E27FC236}">
                <a16:creationId xmlns:a16="http://schemas.microsoft.com/office/drawing/2014/main" id="{D1DB1743-CE09-4339-9D1F-3379272ABC8A}"/>
              </a:ext>
            </a:extLst>
          </p:cNvPr>
          <p:cNvSpPr>
            <a:spLocks xmlns:a="http://schemas.openxmlformats.org/drawingml/2006/main" noGrp="1"/>
          </p:cNvSpPr>
          <p:nvPr/>
        </p:nvSpPr>
        <p:spPr>
          <a:xfrm xmlns:a="http://schemas.openxmlformats.org/drawingml/2006/main">
            <a:off x="3611880" y="1536192"/>
            <a:ext cx="1965960" cy="329184"/>
          </a:xfrm>
          <a:prstGeom xmlns:a="http://schemas.openxmlformats.org/drawingml/2006/main" prst="roundRect">
            <a:avLst>
              <a:gd name="adj" fmla="val 44444"/>
            </a:avLst>
          </a:prstGeom>
          <a:solidFill xmlns:a="http://schemas.openxmlformats.org/drawingml/2006/main">
            <a:srgbClr val="D1FAE5"/>
          </a:solidFill>
          <a:ln xmlns:a="http://schemas.openxmlformats.org/drawingml/2006/main" w="12700">
            <a:solidFill>
              <a:srgbClr val="D1FAE5"/>
            </a:solidFill>
            <a:prstDash val="solid"/>
          </a:ln>
        </p:spPr>
      </p:sp>
      <p:sp>
        <p:nvSpPr>
          <p:cNvPr id="9" name="Text 7">
            <a:extLst xmlns:a="http://schemas.openxmlformats.org/drawingml/2006/main">
              <a:ext uri="{FF2B5EF4-FFF2-40B4-BE49-F238E27FC236}">
                <a16:creationId xmlns:a16="http://schemas.microsoft.com/office/drawing/2014/main" id="{398E03CC-6054-4F98-80C2-9E880BA3B63E}"/>
              </a:ext>
            </a:extLst>
          </p:cNvPr>
          <p:cNvSpPr>
            <a:spLocks xmlns:a="http://schemas.openxmlformats.org/drawingml/2006/main" noGrp="1"/>
          </p:cNvSpPr>
          <p:nvPr/>
        </p:nvSpPr>
        <p:spPr>
          <a:xfrm xmlns:a="http://schemas.openxmlformats.org/drawingml/2006/main">
            <a:off x="3685032" y="1600200"/>
            <a:ext cx="181965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ctr">
              <a:buNone/>
            </a:pPr>
            <a:r>
              <a:rPr sz="1000" b="1">
                <a:solidFill>
                  <a:srgbClr val="10B981"/>
                </a:solidFill>
              </a:rPr>
              <a:t>Workout Recommendation</a:t>
            </a:r>
            <a:endParaRPr sz="1000"/>
          </a:p>
        </p:txBody>
      </p:sp>
      <p:sp>
        <p:nvSpPr>
          <p:cNvPr id="10" name="Text 8">
            <a:extLst xmlns:a="http://schemas.openxmlformats.org/drawingml/2006/main">
              <a:ext uri="{FF2B5EF4-FFF2-40B4-BE49-F238E27FC236}">
                <a16:creationId xmlns:a16="http://schemas.microsoft.com/office/drawing/2014/main" id="{8B296BDB-D0C5-435F-9BCA-F1C4226DF763}"/>
              </a:ext>
            </a:extLst>
          </p:cNvPr>
          <p:cNvSpPr>
            <a:spLocks xmlns:a="http://schemas.openxmlformats.org/drawingml/2006/main" noGrp="1"/>
          </p:cNvSpPr>
          <p:nvPr/>
        </p:nvSpPr>
        <p:spPr>
          <a:xfrm xmlns:a="http://schemas.openxmlformats.org/drawingml/2006/main">
            <a:off x="1554480" y="2039112"/>
            <a:ext cx="3886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50">
                <a:solidFill>
                  <a:srgbClr val="64748B"/>
                </a:solidFill>
              </a:rPr>
              <a:t>Builds personalized plans from exercise suitability scores.</a:t>
            </a:r>
            <a:endParaRPr sz="1250"/>
          </a:p>
        </p:txBody>
      </p:sp>
      <p:sp>
        <p:nvSpPr>
          <p:cNvPr id="11" name="Shape 9">
            <a:extLst xmlns:a="http://schemas.openxmlformats.org/drawingml/2006/main">
              <a:ext uri="{FF2B5EF4-FFF2-40B4-BE49-F238E27FC236}">
                <a16:creationId xmlns:a16="http://schemas.microsoft.com/office/drawing/2014/main" id="{14CC7A82-8C4F-4F8D-8F98-CCB03E13B5A6}"/>
              </a:ext>
            </a:extLst>
          </p:cNvPr>
          <p:cNvSpPr>
            <a:spLocks xmlns:a="http://schemas.openxmlformats.org/drawingml/2006/main" noGrp="1"/>
          </p:cNvSpPr>
          <p:nvPr/>
        </p:nvSpPr>
        <p:spPr>
          <a:xfrm xmlns:a="http://schemas.openxmlformats.org/drawingml/2006/main">
            <a:off x="6263640" y="1325880"/>
            <a:ext cx="5257800" cy="150876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2700">
            <a:solidFill>
              <a:srgbClr val="E2E8F0"/>
            </a:solidFill>
            <a:prstDash val="solid"/>
          </a:ln>
        </p:spPr>
      </p:sp>
      <p:sp>
        <p:nvSpPr>
          <p:cNvPr id="12" name="Shape 10">
            <a:extLst xmlns:a="http://schemas.openxmlformats.org/drawingml/2006/main">
              <a:ext uri="{FF2B5EF4-FFF2-40B4-BE49-F238E27FC236}">
                <a16:creationId xmlns:a16="http://schemas.microsoft.com/office/drawing/2014/main" id="{7F8CD076-1FB1-449F-AF64-0EFCC2335654}"/>
              </a:ext>
            </a:extLst>
          </p:cNvPr>
          <p:cNvSpPr>
            <a:spLocks xmlns:a="http://schemas.openxmlformats.org/drawingml/2006/main" noGrp="1"/>
          </p:cNvSpPr>
          <p:nvPr/>
        </p:nvSpPr>
        <p:spPr>
          <a:xfrm xmlns:a="http://schemas.openxmlformats.org/drawingml/2006/main">
            <a:off x="6519672" y="1600200"/>
            <a:ext cx="502920" cy="502920"/>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3" name="Text 11">
            <a:extLst xmlns:a="http://schemas.openxmlformats.org/drawingml/2006/main">
              <a:ext uri="{FF2B5EF4-FFF2-40B4-BE49-F238E27FC236}">
                <a16:creationId xmlns:a16="http://schemas.microsoft.com/office/drawing/2014/main" id="{2C1C211A-9365-4516-9117-31F301E8C566}"/>
              </a:ext>
            </a:extLst>
          </p:cNvPr>
          <p:cNvSpPr>
            <a:spLocks xmlns:a="http://schemas.openxmlformats.org/drawingml/2006/main" noGrp="1"/>
          </p:cNvSpPr>
          <p:nvPr/>
        </p:nvSpPr>
        <p:spPr>
          <a:xfrm xmlns:a="http://schemas.openxmlformats.org/drawingml/2006/main">
            <a:off x="6565392" y="170992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N</a:t>
            </a:r>
            <a:endParaRPr sz="1300"/>
          </a:p>
        </p:txBody>
      </p:sp>
      <p:sp>
        <p:nvSpPr>
          <p:cNvPr id="14" name="Text 12">
            <a:extLst xmlns:a="http://schemas.openxmlformats.org/drawingml/2006/main">
              <a:ext uri="{FF2B5EF4-FFF2-40B4-BE49-F238E27FC236}">
                <a16:creationId xmlns:a16="http://schemas.microsoft.com/office/drawing/2014/main" id="{1C207254-90EF-47B4-BA57-009125F1A662}"/>
              </a:ext>
            </a:extLst>
          </p:cNvPr>
          <p:cNvSpPr>
            <a:spLocks xmlns:a="http://schemas.openxmlformats.org/drawingml/2006/main" noGrp="1"/>
          </p:cNvSpPr>
          <p:nvPr/>
        </p:nvSpPr>
        <p:spPr>
          <a:xfrm xmlns:a="http://schemas.openxmlformats.org/drawingml/2006/main">
            <a:off x="7178040" y="1554480"/>
            <a:ext cx="1920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1827"/>
                </a:solidFill>
              </a:rPr>
              <a:t>NutriCore AI</a:t>
            </a:r>
            <a:endParaRPr sz="1700"/>
          </a:p>
        </p:txBody>
      </p:sp>
      <p:sp>
        <p:nvSpPr>
          <p:cNvPr id="15" name="Shape 13">
            <a:extLst xmlns:a="http://schemas.openxmlformats.org/drawingml/2006/main">
              <a:ext uri="{FF2B5EF4-FFF2-40B4-BE49-F238E27FC236}">
                <a16:creationId xmlns:a16="http://schemas.microsoft.com/office/drawing/2014/main" id="{E12E3FB0-99AB-4C09-85C7-932B56FA28D8}"/>
              </a:ext>
            </a:extLst>
          </p:cNvPr>
          <p:cNvSpPr>
            <a:spLocks xmlns:a="http://schemas.openxmlformats.org/drawingml/2006/main" noGrp="1"/>
          </p:cNvSpPr>
          <p:nvPr/>
        </p:nvSpPr>
        <p:spPr>
          <a:xfrm xmlns:a="http://schemas.openxmlformats.org/drawingml/2006/main">
            <a:off x="9235440" y="1536192"/>
            <a:ext cx="1965960" cy="329184"/>
          </a:xfrm>
          <a:prstGeom xmlns:a="http://schemas.openxmlformats.org/drawingml/2006/main" prst="roundRect">
            <a:avLst>
              <a:gd name="adj" fmla="val 44444"/>
            </a:avLst>
          </a:prstGeom>
          <a:solidFill xmlns:a="http://schemas.openxmlformats.org/drawingml/2006/main">
            <a:srgbClr val="FEF3C7"/>
          </a:solidFill>
          <a:ln xmlns:a="http://schemas.openxmlformats.org/drawingml/2006/main" w="12700">
            <a:solidFill>
              <a:srgbClr val="FEF3C7"/>
            </a:solidFill>
            <a:prstDash val="solid"/>
          </a:ln>
        </p:spPr>
      </p:sp>
      <p:sp>
        <p:nvSpPr>
          <p:cNvPr id="16" name="Text 14">
            <a:extLst xmlns:a="http://schemas.openxmlformats.org/drawingml/2006/main">
              <a:ext uri="{FF2B5EF4-FFF2-40B4-BE49-F238E27FC236}">
                <a16:creationId xmlns:a16="http://schemas.microsoft.com/office/drawing/2014/main" id="{71D907FB-7BFD-407B-9F52-F55557CDBF48}"/>
              </a:ext>
            </a:extLst>
          </p:cNvPr>
          <p:cNvSpPr>
            <a:spLocks xmlns:a="http://schemas.openxmlformats.org/drawingml/2006/main" noGrp="1"/>
          </p:cNvSpPr>
          <p:nvPr/>
        </p:nvSpPr>
        <p:spPr>
          <a:xfrm xmlns:a="http://schemas.openxmlformats.org/drawingml/2006/main">
            <a:off x="9308592" y="1600200"/>
            <a:ext cx="181965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ctr">
              <a:buNone/>
            </a:pPr>
            <a:r>
              <a:rPr sz="1000" b="1">
                <a:solidFill>
                  <a:srgbClr val="F59E0B"/>
                </a:solidFill>
              </a:rPr>
              <a:t>Nutrition Recommendation</a:t>
            </a:r>
            <a:endParaRPr sz="1000"/>
          </a:p>
        </p:txBody>
      </p:sp>
      <p:sp>
        <p:nvSpPr>
          <p:cNvPr id="17" name="Text 15">
            <a:extLst xmlns:a="http://schemas.openxmlformats.org/drawingml/2006/main">
              <a:ext uri="{FF2B5EF4-FFF2-40B4-BE49-F238E27FC236}">
                <a16:creationId xmlns:a16="http://schemas.microsoft.com/office/drawing/2014/main" id="{FCCCE5E7-ACF9-4032-9429-36DDAADA6130}"/>
              </a:ext>
            </a:extLst>
          </p:cNvPr>
          <p:cNvSpPr>
            <a:spLocks xmlns:a="http://schemas.openxmlformats.org/drawingml/2006/main" noGrp="1"/>
          </p:cNvSpPr>
          <p:nvPr/>
        </p:nvSpPr>
        <p:spPr>
          <a:xfrm xmlns:a="http://schemas.openxmlformats.org/drawingml/2006/main">
            <a:off x="7178040" y="2039112"/>
            <a:ext cx="3886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50">
                <a:solidFill>
                  <a:srgbClr val="64748B"/>
                </a:solidFill>
              </a:rPr>
              <a:t>Ranks meals under nutritional and personal constraints.</a:t>
            </a:r>
            <a:endParaRPr sz="1250"/>
          </a:p>
        </p:txBody>
      </p:sp>
      <p:sp>
        <p:nvSpPr>
          <p:cNvPr id="18" name="Shape 16">
            <a:extLst xmlns:a="http://schemas.openxmlformats.org/drawingml/2006/main">
              <a:ext uri="{FF2B5EF4-FFF2-40B4-BE49-F238E27FC236}">
                <a16:creationId xmlns:a16="http://schemas.microsoft.com/office/drawing/2014/main" id="{E1CFBEAE-CE8A-4C01-A12F-95EDF17BC7A7}"/>
              </a:ext>
            </a:extLst>
          </p:cNvPr>
          <p:cNvSpPr>
            <a:spLocks xmlns:a="http://schemas.openxmlformats.org/drawingml/2006/main" noGrp="1"/>
          </p:cNvSpPr>
          <p:nvPr/>
        </p:nvSpPr>
        <p:spPr>
          <a:xfrm xmlns:a="http://schemas.openxmlformats.org/drawingml/2006/main">
            <a:off x="640080" y="3200400"/>
            <a:ext cx="5257800" cy="150876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2700">
            <a:solidFill>
              <a:srgbClr val="E2E8F0"/>
            </a:solidFill>
            <a:prstDash val="solid"/>
          </a:ln>
        </p:spPr>
      </p:sp>
      <p:sp>
        <p:nvSpPr>
          <p:cNvPr id="19" name="Shape 17">
            <a:extLst xmlns:a="http://schemas.openxmlformats.org/drawingml/2006/main">
              <a:ext uri="{FF2B5EF4-FFF2-40B4-BE49-F238E27FC236}">
                <a16:creationId xmlns:a16="http://schemas.microsoft.com/office/drawing/2014/main" id="{2968EFE4-8B1C-467A-919B-6601DF751D27}"/>
              </a:ext>
            </a:extLst>
          </p:cNvPr>
          <p:cNvSpPr>
            <a:spLocks xmlns:a="http://schemas.openxmlformats.org/drawingml/2006/main" noGrp="1"/>
          </p:cNvSpPr>
          <p:nvPr/>
        </p:nvSpPr>
        <p:spPr>
          <a:xfrm xmlns:a="http://schemas.openxmlformats.org/drawingml/2006/main">
            <a:off x="896112" y="3474720"/>
            <a:ext cx="502920" cy="502920"/>
          </a:xfrm>
          <a:prstGeom xmlns:a="http://schemas.openxmlformats.org/drawingml/2006/main" prst="ellipse">
            <a:avLst/>
          </a:prstGeom>
          <a:solidFill xmlns:a="http://schemas.openxmlformats.org/drawingml/2006/main">
            <a:srgbClr val="0EA5E9"/>
          </a:solidFill>
          <a:ln xmlns:a="http://schemas.openxmlformats.org/drawingml/2006/main" w="12700">
            <a:solidFill>
              <a:srgbClr val="0EA5E9"/>
            </a:solidFill>
            <a:prstDash val="solid"/>
          </a:ln>
        </p:spPr>
      </p:sp>
      <p:sp>
        <p:nvSpPr>
          <p:cNvPr id="20" name="Text 18">
            <a:extLst xmlns:a="http://schemas.openxmlformats.org/drawingml/2006/main">
              <a:ext uri="{FF2B5EF4-FFF2-40B4-BE49-F238E27FC236}">
                <a16:creationId xmlns:a16="http://schemas.microsoft.com/office/drawing/2014/main" id="{1E85DD88-0D9F-473C-8DE2-674FA89DBF0B}"/>
              </a:ext>
            </a:extLst>
          </p:cNvPr>
          <p:cNvSpPr>
            <a:spLocks xmlns:a="http://schemas.openxmlformats.org/drawingml/2006/main" noGrp="1"/>
          </p:cNvSpPr>
          <p:nvPr/>
        </p:nvSpPr>
        <p:spPr>
          <a:xfrm xmlns:a="http://schemas.openxmlformats.org/drawingml/2006/main">
            <a:off x="941832" y="358444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P</a:t>
            </a:r>
            <a:endParaRPr sz="1300"/>
          </a:p>
        </p:txBody>
      </p:sp>
      <p:sp>
        <p:nvSpPr>
          <p:cNvPr id="21" name="Text 19">
            <a:extLst xmlns:a="http://schemas.openxmlformats.org/drawingml/2006/main">
              <a:ext uri="{FF2B5EF4-FFF2-40B4-BE49-F238E27FC236}">
                <a16:creationId xmlns:a16="http://schemas.microsoft.com/office/drawing/2014/main" id="{94CAF007-9D03-4AF3-A3F0-A687B134A48E}"/>
              </a:ext>
            </a:extLst>
          </p:cNvPr>
          <p:cNvSpPr>
            <a:spLocks xmlns:a="http://schemas.openxmlformats.org/drawingml/2006/main" noGrp="1"/>
          </p:cNvSpPr>
          <p:nvPr/>
        </p:nvSpPr>
        <p:spPr>
          <a:xfrm xmlns:a="http://schemas.openxmlformats.org/drawingml/2006/main">
            <a:off x="1554480" y="3429000"/>
            <a:ext cx="1920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1827"/>
                </a:solidFill>
              </a:rPr>
              <a:t>PredictionAI</a:t>
            </a:r>
            <a:endParaRPr sz="1700"/>
          </a:p>
        </p:txBody>
      </p:sp>
      <p:sp>
        <p:nvSpPr>
          <p:cNvPr id="22" name="Shape 20">
            <a:extLst xmlns:a="http://schemas.openxmlformats.org/drawingml/2006/main">
              <a:ext uri="{FF2B5EF4-FFF2-40B4-BE49-F238E27FC236}">
                <a16:creationId xmlns:a16="http://schemas.microsoft.com/office/drawing/2014/main" id="{0B72043C-21E5-4A87-81CB-E3AC6186AA14}"/>
              </a:ext>
            </a:extLst>
          </p:cNvPr>
          <p:cNvSpPr>
            <a:spLocks xmlns:a="http://schemas.openxmlformats.org/drawingml/2006/main" noGrp="1"/>
          </p:cNvSpPr>
          <p:nvPr/>
        </p:nvSpPr>
        <p:spPr>
          <a:xfrm xmlns:a="http://schemas.openxmlformats.org/drawingml/2006/main">
            <a:off x="3611880" y="3410712"/>
            <a:ext cx="1965960" cy="329184"/>
          </a:xfrm>
          <a:prstGeom xmlns:a="http://schemas.openxmlformats.org/drawingml/2006/main" prst="roundRect">
            <a:avLst>
              <a:gd name="adj" fmla="val 44444"/>
            </a:avLst>
          </a:prstGeom>
          <a:solidFill xmlns:a="http://schemas.openxmlformats.org/drawingml/2006/main">
            <a:srgbClr val="E0F2FE"/>
          </a:solidFill>
          <a:ln xmlns:a="http://schemas.openxmlformats.org/drawingml/2006/main" w="12700">
            <a:solidFill>
              <a:srgbClr val="E0F2FE"/>
            </a:solidFill>
            <a:prstDash val="solid"/>
          </a:ln>
        </p:spPr>
      </p:sp>
      <p:sp>
        <p:nvSpPr>
          <p:cNvPr id="23" name="Text 21">
            <a:extLst xmlns:a="http://schemas.openxmlformats.org/drawingml/2006/main">
              <a:ext uri="{FF2B5EF4-FFF2-40B4-BE49-F238E27FC236}">
                <a16:creationId xmlns:a16="http://schemas.microsoft.com/office/drawing/2014/main" id="{0513831B-6CBD-444D-AD5D-D06D850A6822}"/>
              </a:ext>
            </a:extLst>
          </p:cNvPr>
          <p:cNvSpPr>
            <a:spLocks xmlns:a="http://schemas.openxmlformats.org/drawingml/2006/main" noGrp="1"/>
          </p:cNvSpPr>
          <p:nvPr/>
        </p:nvSpPr>
        <p:spPr>
          <a:xfrm xmlns:a="http://schemas.openxmlformats.org/drawingml/2006/main">
            <a:off x="3685032" y="3474720"/>
            <a:ext cx="181965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ctr">
              <a:buNone/>
            </a:pPr>
            <a:r>
              <a:rPr sz="1000" b="1">
                <a:solidFill>
                  <a:srgbClr val="0EA5E9"/>
                </a:solidFill>
              </a:rPr>
              <a:t>Progress Intelligence</a:t>
            </a:r>
            <a:endParaRPr sz="1000"/>
          </a:p>
        </p:txBody>
      </p:sp>
      <p:sp>
        <p:nvSpPr>
          <p:cNvPr id="24" name="Text 22">
            <a:extLst xmlns:a="http://schemas.openxmlformats.org/drawingml/2006/main">
              <a:ext uri="{FF2B5EF4-FFF2-40B4-BE49-F238E27FC236}">
                <a16:creationId xmlns:a16="http://schemas.microsoft.com/office/drawing/2014/main" id="{AAA215ED-207A-4100-A0BC-D581DACB70CF}"/>
              </a:ext>
            </a:extLst>
          </p:cNvPr>
          <p:cNvSpPr>
            <a:spLocks xmlns:a="http://schemas.openxmlformats.org/drawingml/2006/main" noGrp="1"/>
          </p:cNvSpPr>
          <p:nvPr/>
        </p:nvSpPr>
        <p:spPr>
          <a:xfrm xmlns:a="http://schemas.openxmlformats.org/drawingml/2006/main">
            <a:off x="1554480" y="3913632"/>
            <a:ext cx="3886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50">
                <a:solidFill>
                  <a:srgbClr val="64748B"/>
                </a:solidFill>
              </a:rPr>
              <a:t>Supports weight-trend prediction from progress data.</a:t>
            </a:r>
            <a:endParaRPr sz="1250"/>
          </a:p>
        </p:txBody>
      </p:sp>
      <p:sp>
        <p:nvSpPr>
          <p:cNvPr id="25" name="Shape 23">
            <a:extLst xmlns:a="http://schemas.openxmlformats.org/drawingml/2006/main">
              <a:ext uri="{FF2B5EF4-FFF2-40B4-BE49-F238E27FC236}">
                <a16:creationId xmlns:a16="http://schemas.microsoft.com/office/drawing/2014/main" id="{630E02C7-6F01-483F-BCF8-7A9C42740AB4}"/>
              </a:ext>
            </a:extLst>
          </p:cNvPr>
          <p:cNvSpPr>
            <a:spLocks xmlns:a="http://schemas.openxmlformats.org/drawingml/2006/main" noGrp="1"/>
          </p:cNvSpPr>
          <p:nvPr/>
        </p:nvSpPr>
        <p:spPr>
          <a:xfrm xmlns:a="http://schemas.openxmlformats.org/drawingml/2006/main">
            <a:off x="6263640" y="3200400"/>
            <a:ext cx="5257800" cy="150876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2700">
            <a:solidFill>
              <a:srgbClr val="E2E8F0"/>
            </a:solidFill>
            <a:prstDash val="solid"/>
          </a:ln>
        </p:spPr>
      </p:sp>
      <p:sp>
        <p:nvSpPr>
          <p:cNvPr id="26" name="Shape 24">
            <a:extLst xmlns:a="http://schemas.openxmlformats.org/drawingml/2006/main">
              <a:ext uri="{FF2B5EF4-FFF2-40B4-BE49-F238E27FC236}">
                <a16:creationId xmlns:a16="http://schemas.microsoft.com/office/drawing/2014/main" id="{E86603DA-6416-4D49-8E3A-A9E96F8E7192}"/>
              </a:ext>
            </a:extLst>
          </p:cNvPr>
          <p:cNvSpPr>
            <a:spLocks xmlns:a="http://schemas.openxmlformats.org/drawingml/2006/main" noGrp="1"/>
          </p:cNvSpPr>
          <p:nvPr/>
        </p:nvSpPr>
        <p:spPr>
          <a:xfrm xmlns:a="http://schemas.openxmlformats.org/drawingml/2006/main">
            <a:off x="6519672" y="3474720"/>
            <a:ext cx="502920" cy="502920"/>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27" name="Text 25">
            <a:extLst xmlns:a="http://schemas.openxmlformats.org/drawingml/2006/main">
              <a:ext uri="{FF2B5EF4-FFF2-40B4-BE49-F238E27FC236}">
                <a16:creationId xmlns:a16="http://schemas.microsoft.com/office/drawing/2014/main" id="{A3D1B5C5-3001-43F8-AAE9-E6B6DB2AC886}"/>
              </a:ext>
            </a:extLst>
          </p:cNvPr>
          <p:cNvSpPr>
            <a:spLocks xmlns:a="http://schemas.openxmlformats.org/drawingml/2006/main" noGrp="1"/>
          </p:cNvSpPr>
          <p:nvPr/>
        </p:nvSpPr>
        <p:spPr>
          <a:xfrm xmlns:a="http://schemas.openxmlformats.org/drawingml/2006/main">
            <a:off x="6565392" y="358444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V</a:t>
            </a:r>
            <a:endParaRPr sz="1300"/>
          </a:p>
        </p:txBody>
      </p:sp>
      <p:sp>
        <p:nvSpPr>
          <p:cNvPr id="28" name="Text 26">
            <a:extLst xmlns:a="http://schemas.openxmlformats.org/drawingml/2006/main">
              <a:ext uri="{FF2B5EF4-FFF2-40B4-BE49-F238E27FC236}">
                <a16:creationId xmlns:a16="http://schemas.microsoft.com/office/drawing/2014/main" id="{16E2003A-43EE-449A-8C06-AE9524801AFD}"/>
              </a:ext>
            </a:extLst>
          </p:cNvPr>
          <p:cNvSpPr>
            <a:spLocks xmlns:a="http://schemas.openxmlformats.org/drawingml/2006/main" noGrp="1"/>
          </p:cNvSpPr>
          <p:nvPr/>
        </p:nvSpPr>
        <p:spPr>
          <a:xfrm xmlns:a="http://schemas.openxmlformats.org/drawingml/2006/main">
            <a:off x="7178040" y="3429000"/>
            <a:ext cx="1920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1827"/>
                </a:solidFill>
              </a:rPr>
              <a:t>PoseForm AI</a:t>
            </a:r>
            <a:endParaRPr sz="1700"/>
          </a:p>
        </p:txBody>
      </p:sp>
      <p:sp>
        <p:nvSpPr>
          <p:cNvPr id="29" name="Shape 27">
            <a:extLst xmlns:a="http://schemas.openxmlformats.org/drawingml/2006/main">
              <a:ext uri="{FF2B5EF4-FFF2-40B4-BE49-F238E27FC236}">
                <a16:creationId xmlns:a16="http://schemas.microsoft.com/office/drawing/2014/main" id="{7DCBA03B-2671-4DFB-A82B-BFDA4E7A2F11}"/>
              </a:ext>
            </a:extLst>
          </p:cNvPr>
          <p:cNvSpPr>
            <a:spLocks xmlns:a="http://schemas.openxmlformats.org/drawingml/2006/main" noGrp="1"/>
          </p:cNvSpPr>
          <p:nvPr/>
        </p:nvSpPr>
        <p:spPr>
          <a:xfrm xmlns:a="http://schemas.openxmlformats.org/drawingml/2006/main">
            <a:off x="9235440" y="3410712"/>
            <a:ext cx="1965960" cy="329184"/>
          </a:xfrm>
          <a:prstGeom xmlns:a="http://schemas.openxmlformats.org/drawingml/2006/main" prst="roundRect">
            <a:avLst>
              <a:gd name="adj" fmla="val 44444"/>
            </a:avLst>
          </a:prstGeom>
          <a:solidFill xmlns:a="http://schemas.openxmlformats.org/drawingml/2006/main">
            <a:srgbClr val="EDE9FE"/>
          </a:solidFill>
          <a:ln xmlns:a="http://schemas.openxmlformats.org/drawingml/2006/main" w="12700">
            <a:solidFill>
              <a:srgbClr val="EDE9FE"/>
            </a:solidFill>
            <a:prstDash val="solid"/>
          </a:ln>
        </p:spPr>
      </p:sp>
      <p:sp>
        <p:nvSpPr>
          <p:cNvPr id="30" name="Text 28">
            <a:extLst xmlns:a="http://schemas.openxmlformats.org/drawingml/2006/main">
              <a:ext uri="{FF2B5EF4-FFF2-40B4-BE49-F238E27FC236}">
                <a16:creationId xmlns:a16="http://schemas.microsoft.com/office/drawing/2014/main" id="{C800E7ED-2369-433C-9735-D29DBE1C8BF0}"/>
              </a:ext>
            </a:extLst>
          </p:cNvPr>
          <p:cNvSpPr>
            <a:spLocks xmlns:a="http://schemas.openxmlformats.org/drawingml/2006/main" noGrp="1"/>
          </p:cNvSpPr>
          <p:nvPr/>
        </p:nvSpPr>
        <p:spPr>
          <a:xfrm xmlns:a="http://schemas.openxmlformats.org/drawingml/2006/main">
            <a:off x="9308592" y="3474720"/>
            <a:ext cx="181965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ctr">
              <a:buNone/>
            </a:pPr>
            <a:r>
              <a:rPr sz="1000" b="1">
                <a:solidFill>
                  <a:srgbClr val="8B5CF6"/>
                </a:solidFill>
              </a:rPr>
              <a:t>Computer Vision</a:t>
            </a:r>
            <a:endParaRPr sz="1000"/>
          </a:p>
        </p:txBody>
      </p:sp>
      <p:sp>
        <p:nvSpPr>
          <p:cNvPr id="31" name="Text 29">
            <a:extLst xmlns:a="http://schemas.openxmlformats.org/drawingml/2006/main">
              <a:ext uri="{FF2B5EF4-FFF2-40B4-BE49-F238E27FC236}">
                <a16:creationId xmlns:a16="http://schemas.microsoft.com/office/drawing/2014/main" id="{A4FAAB93-671D-4C9F-AA1D-A50A69FCEF67}"/>
              </a:ext>
            </a:extLst>
          </p:cNvPr>
          <p:cNvSpPr>
            <a:spLocks xmlns:a="http://schemas.openxmlformats.org/drawingml/2006/main" noGrp="1"/>
          </p:cNvSpPr>
          <p:nvPr/>
        </p:nvSpPr>
        <p:spPr>
          <a:xfrm xmlns:a="http://schemas.openxmlformats.org/drawingml/2006/main">
            <a:off x="7178040" y="3913632"/>
            <a:ext cx="3886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50">
                <a:solidFill>
                  <a:srgbClr val="64748B"/>
                </a:solidFill>
              </a:rPr>
              <a:t>Analyzes repetitions, form quality and mistakes.</a:t>
            </a:r>
            <a:endParaRPr sz="1250"/>
          </a:p>
        </p:txBody>
      </p:sp>
      <p:sp>
        <p:nvSpPr>
          <p:cNvPr id="32" name="Text 30">
            <a:extLst xmlns:a="http://schemas.openxmlformats.org/drawingml/2006/main">
              <a:ext uri="{FF2B5EF4-FFF2-40B4-BE49-F238E27FC236}">
                <a16:creationId xmlns:a16="http://schemas.microsoft.com/office/drawing/2014/main" id="{3A82E965-1FAB-4451-B8E4-64674A33B5F9}"/>
              </a:ext>
            </a:extLst>
          </p:cNvPr>
          <p:cNvSpPr>
            <a:spLocks xmlns:a="http://schemas.openxmlformats.org/drawingml/2006/main" noGrp="1"/>
          </p:cNvSpPr>
          <p:nvPr/>
        </p:nvSpPr>
        <p:spPr>
          <a:xfrm xmlns:a="http://schemas.openxmlformats.org/drawingml/2006/main">
            <a:off x="914400" y="5440680"/>
            <a:ext cx="10332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2500"/>
          </a:bodyPr>
          <a:lstStyle xmlns:a="http://schemas.openxmlformats.org/drawingml/2006/main"/>
          <a:p xmlns:a="http://schemas.openxmlformats.org/drawingml/2006/main">
            <a:pPr marL="0" indent="0" algn="ctr">
              <a:buNone/>
            </a:pPr>
            <a:r>
              <a:rPr sz="1600" b="1">
                <a:solidFill>
                  <a:srgbClr val="10B981"/>
                </a:solidFill>
              </a:rPr>
              <a:t>AI is not one generic feature. Each model solves a specific technical problem and connects to the application through the backend.</a:t>
            </a:r>
            <a:endParaRPr sz="1600"/>
          </a:p>
        </p:txBody>
      </p:sp>
      <p:sp>
        <p:nvSpPr>
          <p:cNvPr id="33" name="Slide Number Placeholder 0">
            <a:extLst xmlns:a="http://schemas.openxmlformats.org/drawingml/2006/main">
              <a:ext uri="{FF2B5EF4-FFF2-40B4-BE49-F238E27FC236}">
                <a16:creationId xmlns:a16="http://schemas.microsoft.com/office/drawing/2014/main" id="{E76009AD-0300-4730-92D5-4FC3F65E8615}"/>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156633332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ADF38D-ADC1-4361-8870-7D4EF203412C}"/>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TECHNICAL DEEP DIVE</a:t>
            </a:r>
            <a:endParaRPr sz="1000"/>
          </a:p>
        </p:txBody>
      </p:sp>
      <p:sp>
        <p:nvSpPr>
          <p:cNvPr id="3" name="Text 1">
            <a:extLst xmlns:a="http://schemas.openxmlformats.org/drawingml/2006/main">
              <a:ext uri="{FF2B5EF4-FFF2-40B4-BE49-F238E27FC236}">
                <a16:creationId xmlns:a16="http://schemas.microsoft.com/office/drawing/2014/main" id="{2B343166-4CF0-4E9A-AC45-64D4ACF56BA8}"/>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TrainCore AI — Personalized Workout Generation</a:t>
            </a:r>
            <a:endParaRPr sz="2800"/>
          </a:p>
        </p:txBody>
      </p:sp>
      <p:sp>
        <p:nvSpPr>
          <p:cNvPr id="4" name="Text 2">
            <a:extLst xmlns:a="http://schemas.openxmlformats.org/drawingml/2006/main">
              <a:ext uri="{FF2B5EF4-FFF2-40B4-BE49-F238E27FC236}">
                <a16:creationId xmlns:a16="http://schemas.microsoft.com/office/drawing/2014/main" id="{923B6B77-737A-455D-810E-24B18723D247}"/>
              </a:ext>
            </a:extLst>
          </p:cNvPr>
          <p:cNvSpPr>
            <a:spLocks xmlns:a="http://schemas.openxmlformats.org/drawingml/2006/main" noGrp="1"/>
          </p:cNvSpPr>
          <p:nvPr/>
        </p:nvSpPr>
        <p:spPr>
          <a:xfrm xmlns:a="http://schemas.openxmlformats.org/drawingml/2006/main">
            <a:off x="640080" y="1325880"/>
            <a:ext cx="4983480" cy="34290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600">
                <a:solidFill>
                  <a:srgbClr val="111827"/>
                </a:solidFill>
              </a:rPr>
              <a:t>TrainCore AI is implemented as a local feed-forward neural network. It receives fitness goal, gender, physical measures, training level, workout location, frequency, preferred intensity, injuries, pain points and available equipment. After numerical preprocessing, the model assigns a suitability score from 0 to 1 to each candidate exercise. Higher-scoring exercises are selected while safety filters remove conflicts with physical limitations.</a:t>
            </a:r>
            <a:endParaRPr sz="1600"/>
          </a:p>
        </p:txBody>
      </p:sp>
      <p:sp>
        <p:nvSpPr>
          <p:cNvPr id="5" name="Shape 3">
            <a:extLst xmlns:a="http://schemas.openxmlformats.org/drawingml/2006/main">
              <a:ext uri="{FF2B5EF4-FFF2-40B4-BE49-F238E27FC236}">
                <a16:creationId xmlns:a16="http://schemas.microsoft.com/office/drawing/2014/main" id="{2E275626-8C08-4EA1-BBD4-8C5CB612A287}"/>
              </a:ext>
            </a:extLst>
          </p:cNvPr>
          <p:cNvSpPr>
            <a:spLocks xmlns:a="http://schemas.openxmlformats.org/drawingml/2006/main" noGrp="1"/>
          </p:cNvSpPr>
          <p:nvPr/>
        </p:nvSpPr>
        <p:spPr>
          <a:xfrm xmlns:a="http://schemas.openxmlformats.org/drawingml/2006/main">
            <a:off x="6492240" y="1234440"/>
            <a:ext cx="429768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6510">
            <a:solidFill>
              <a:srgbClr val="CBD5E1"/>
            </a:solidFill>
            <a:prstDash val="solid"/>
          </a:ln>
        </p:spPr>
      </p:sp>
      <p:sp>
        <p:nvSpPr>
          <p:cNvPr id="6" name="Text 4">
            <a:extLst xmlns:a="http://schemas.openxmlformats.org/drawingml/2006/main">
              <a:ext uri="{FF2B5EF4-FFF2-40B4-BE49-F238E27FC236}">
                <a16:creationId xmlns:a16="http://schemas.microsoft.com/office/drawing/2014/main" id="{63DD416D-52E2-480D-9FDB-2A55EDA3F82A}"/>
              </a:ext>
            </a:extLst>
          </p:cNvPr>
          <p:cNvSpPr>
            <a:spLocks xmlns:a="http://schemas.openxmlformats.org/drawingml/2006/main" noGrp="1"/>
          </p:cNvSpPr>
          <p:nvPr/>
        </p:nvSpPr>
        <p:spPr>
          <a:xfrm xmlns:a="http://schemas.openxmlformats.org/drawingml/2006/main">
            <a:off x="6565392" y="12801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USER PROFILE</a:t>
            </a:r>
            <a:endParaRPr sz="1100"/>
          </a:p>
        </p:txBody>
      </p:sp>
      <p:sp>
        <p:nvSpPr>
          <p:cNvPr id="7" name="Shape 5">
            <a:extLst xmlns:a="http://schemas.openxmlformats.org/drawingml/2006/main">
              <a:ext uri="{FF2B5EF4-FFF2-40B4-BE49-F238E27FC236}">
                <a16:creationId xmlns:a16="http://schemas.microsoft.com/office/drawing/2014/main" id="{0227D053-C1B1-44BC-A457-E79B6939B044}"/>
              </a:ext>
            </a:extLst>
          </p:cNvPr>
          <p:cNvSpPr>
            <a:spLocks xmlns:a="http://schemas.openxmlformats.org/drawingml/2006/main" noGrp="1"/>
          </p:cNvSpPr>
          <p:nvPr/>
        </p:nvSpPr>
        <p:spPr>
          <a:xfrm xmlns:a="http://schemas.openxmlformats.org/drawingml/2006/main">
            <a:off x="8641080" y="1709928"/>
            <a:ext cx="1" cy="182880"/>
          </a:xfrm>
          <a:prstGeom xmlns:a="http://schemas.openxmlformats.org/drawingml/2006/main" prst="line">
            <a:avLst/>
          </a:prstGeom>
          <a:noFill xmlns:a="http://schemas.openxmlformats.org/drawingml/2006/main"/>
          <a:ln xmlns:a="http://schemas.openxmlformats.org/drawingml/2006/main" w="21590">
            <a:solidFill>
              <a:srgbClr val="10B981"/>
            </a:solidFill>
            <a:prstDash val="solid"/>
            <a:headEnd type="none"/>
            <a:tailEnd type="triangle"/>
          </a:ln>
        </p:spPr>
      </p:sp>
      <p:sp>
        <p:nvSpPr>
          <p:cNvPr id="8" name="Shape 6">
            <a:extLst xmlns:a="http://schemas.openxmlformats.org/drawingml/2006/main">
              <a:ext uri="{FF2B5EF4-FFF2-40B4-BE49-F238E27FC236}">
                <a16:creationId xmlns:a16="http://schemas.microsoft.com/office/drawing/2014/main" id="{6427315F-C740-466D-AE76-23831CA2DA08}"/>
              </a:ext>
            </a:extLst>
          </p:cNvPr>
          <p:cNvSpPr>
            <a:spLocks xmlns:a="http://schemas.openxmlformats.org/drawingml/2006/main" noGrp="1"/>
          </p:cNvSpPr>
          <p:nvPr/>
        </p:nvSpPr>
        <p:spPr>
          <a:xfrm xmlns:a="http://schemas.openxmlformats.org/drawingml/2006/main">
            <a:off x="6492240" y="1920240"/>
            <a:ext cx="429768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6510">
            <a:solidFill>
              <a:srgbClr val="CBD5E1"/>
            </a:solidFill>
            <a:prstDash val="solid"/>
          </a:ln>
        </p:spPr>
      </p:sp>
      <p:sp>
        <p:nvSpPr>
          <p:cNvPr id="9" name="Text 7">
            <a:extLst xmlns:a="http://schemas.openxmlformats.org/drawingml/2006/main">
              <a:ext uri="{FF2B5EF4-FFF2-40B4-BE49-F238E27FC236}">
                <a16:creationId xmlns:a16="http://schemas.microsoft.com/office/drawing/2014/main" id="{5A6949F7-8766-4797-8F78-338584FB7A16}"/>
              </a:ext>
            </a:extLst>
          </p:cNvPr>
          <p:cNvSpPr>
            <a:spLocks xmlns:a="http://schemas.openxmlformats.org/drawingml/2006/main" noGrp="1"/>
          </p:cNvSpPr>
          <p:nvPr/>
        </p:nvSpPr>
        <p:spPr>
          <a:xfrm xmlns:a="http://schemas.openxmlformats.org/drawingml/2006/main">
            <a:off x="6565392" y="19659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FEATURE PREPROCESSING</a:t>
            </a:r>
            <a:endParaRPr sz="1100"/>
          </a:p>
        </p:txBody>
      </p:sp>
      <p:sp>
        <p:nvSpPr>
          <p:cNvPr id="10" name="Shape 8">
            <a:extLst xmlns:a="http://schemas.openxmlformats.org/drawingml/2006/main">
              <a:ext uri="{FF2B5EF4-FFF2-40B4-BE49-F238E27FC236}">
                <a16:creationId xmlns:a16="http://schemas.microsoft.com/office/drawing/2014/main" id="{93430331-DA1B-4617-9A48-FD6B2530305F}"/>
              </a:ext>
            </a:extLst>
          </p:cNvPr>
          <p:cNvSpPr>
            <a:spLocks xmlns:a="http://schemas.openxmlformats.org/drawingml/2006/main" noGrp="1"/>
          </p:cNvSpPr>
          <p:nvPr/>
        </p:nvSpPr>
        <p:spPr>
          <a:xfrm xmlns:a="http://schemas.openxmlformats.org/drawingml/2006/main">
            <a:off x="8641080" y="2395728"/>
            <a:ext cx="1" cy="182880"/>
          </a:xfrm>
          <a:prstGeom xmlns:a="http://schemas.openxmlformats.org/drawingml/2006/main" prst="line">
            <a:avLst/>
          </a:prstGeom>
          <a:noFill xmlns:a="http://schemas.openxmlformats.org/drawingml/2006/main"/>
          <a:ln xmlns:a="http://schemas.openxmlformats.org/drawingml/2006/main" w="21590">
            <a:solidFill>
              <a:srgbClr val="10B981"/>
            </a:solidFill>
            <a:prstDash val="solid"/>
            <a:headEnd type="none"/>
            <a:tailEnd type="triangle"/>
          </a:ln>
        </p:spPr>
      </p:sp>
      <p:sp>
        <p:nvSpPr>
          <p:cNvPr id="11" name="Shape 9">
            <a:extLst xmlns:a="http://schemas.openxmlformats.org/drawingml/2006/main">
              <a:ext uri="{FF2B5EF4-FFF2-40B4-BE49-F238E27FC236}">
                <a16:creationId xmlns:a16="http://schemas.microsoft.com/office/drawing/2014/main" id="{CC75BEFB-D262-4B75-8C4E-9B886C487855}"/>
              </a:ext>
            </a:extLst>
          </p:cNvPr>
          <p:cNvSpPr>
            <a:spLocks xmlns:a="http://schemas.openxmlformats.org/drawingml/2006/main" noGrp="1"/>
          </p:cNvSpPr>
          <p:nvPr/>
        </p:nvSpPr>
        <p:spPr>
          <a:xfrm xmlns:a="http://schemas.openxmlformats.org/drawingml/2006/main">
            <a:off x="6492240" y="2606040"/>
            <a:ext cx="429768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6510">
            <a:solidFill>
              <a:srgbClr val="CBD5E1"/>
            </a:solidFill>
            <a:prstDash val="solid"/>
          </a:ln>
        </p:spPr>
      </p:sp>
      <p:sp>
        <p:nvSpPr>
          <p:cNvPr id="12" name="Text 10">
            <a:extLst xmlns:a="http://schemas.openxmlformats.org/drawingml/2006/main">
              <a:ext uri="{FF2B5EF4-FFF2-40B4-BE49-F238E27FC236}">
                <a16:creationId xmlns:a16="http://schemas.microsoft.com/office/drawing/2014/main" id="{B3A7DA0F-A164-458D-87D2-17A8DD5E4A57}"/>
              </a:ext>
            </a:extLst>
          </p:cNvPr>
          <p:cNvSpPr>
            <a:spLocks xmlns:a="http://schemas.openxmlformats.org/drawingml/2006/main" noGrp="1"/>
          </p:cNvSpPr>
          <p:nvPr/>
        </p:nvSpPr>
        <p:spPr>
          <a:xfrm xmlns:a="http://schemas.openxmlformats.org/drawingml/2006/main">
            <a:off x="6565392" y="26517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FEED-FORWARD NETWORK</a:t>
            </a:r>
            <a:endParaRPr sz="1100"/>
          </a:p>
        </p:txBody>
      </p:sp>
      <p:sp>
        <p:nvSpPr>
          <p:cNvPr id="13" name="Shape 11">
            <a:extLst xmlns:a="http://schemas.openxmlformats.org/drawingml/2006/main">
              <a:ext uri="{FF2B5EF4-FFF2-40B4-BE49-F238E27FC236}">
                <a16:creationId xmlns:a16="http://schemas.microsoft.com/office/drawing/2014/main" id="{30A4BD12-CC43-4991-806D-6ED4D4CC8837}"/>
              </a:ext>
            </a:extLst>
          </p:cNvPr>
          <p:cNvSpPr>
            <a:spLocks xmlns:a="http://schemas.openxmlformats.org/drawingml/2006/main" noGrp="1"/>
          </p:cNvSpPr>
          <p:nvPr/>
        </p:nvSpPr>
        <p:spPr>
          <a:xfrm xmlns:a="http://schemas.openxmlformats.org/drawingml/2006/main">
            <a:off x="8641080" y="3081528"/>
            <a:ext cx="1" cy="182880"/>
          </a:xfrm>
          <a:prstGeom xmlns:a="http://schemas.openxmlformats.org/drawingml/2006/main" prst="line">
            <a:avLst/>
          </a:prstGeom>
          <a:noFill xmlns:a="http://schemas.openxmlformats.org/drawingml/2006/main"/>
          <a:ln xmlns:a="http://schemas.openxmlformats.org/drawingml/2006/main" w="21590">
            <a:solidFill>
              <a:srgbClr val="10B981"/>
            </a:solidFill>
            <a:prstDash val="solid"/>
            <a:headEnd type="none"/>
            <a:tailEnd type="triangle"/>
          </a:ln>
        </p:spPr>
      </p:sp>
      <p:sp>
        <p:nvSpPr>
          <p:cNvPr id="14" name="Shape 12">
            <a:extLst xmlns:a="http://schemas.openxmlformats.org/drawingml/2006/main">
              <a:ext uri="{FF2B5EF4-FFF2-40B4-BE49-F238E27FC236}">
                <a16:creationId xmlns:a16="http://schemas.microsoft.com/office/drawing/2014/main" id="{02490679-9B92-4A84-8AC6-8DCDB45A093F}"/>
              </a:ext>
            </a:extLst>
          </p:cNvPr>
          <p:cNvSpPr>
            <a:spLocks xmlns:a="http://schemas.openxmlformats.org/drawingml/2006/main" noGrp="1"/>
          </p:cNvSpPr>
          <p:nvPr/>
        </p:nvSpPr>
        <p:spPr>
          <a:xfrm xmlns:a="http://schemas.openxmlformats.org/drawingml/2006/main">
            <a:off x="6492240" y="3291840"/>
            <a:ext cx="429768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6510">
            <a:solidFill>
              <a:srgbClr val="CBD5E1"/>
            </a:solidFill>
            <a:prstDash val="solid"/>
          </a:ln>
        </p:spPr>
      </p:sp>
      <p:sp>
        <p:nvSpPr>
          <p:cNvPr id="15" name="Text 13">
            <a:extLst xmlns:a="http://schemas.openxmlformats.org/drawingml/2006/main">
              <a:ext uri="{FF2B5EF4-FFF2-40B4-BE49-F238E27FC236}">
                <a16:creationId xmlns:a16="http://schemas.microsoft.com/office/drawing/2014/main" id="{6D70376A-9A80-4EA4-B6DD-444C8169B745}"/>
              </a:ext>
            </a:extLst>
          </p:cNvPr>
          <p:cNvSpPr>
            <a:spLocks xmlns:a="http://schemas.openxmlformats.org/drawingml/2006/main" noGrp="1"/>
          </p:cNvSpPr>
          <p:nvPr/>
        </p:nvSpPr>
        <p:spPr>
          <a:xfrm xmlns:a="http://schemas.openxmlformats.org/drawingml/2006/main">
            <a:off x="6565392" y="33375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SUITABILITY SCORE</a:t>
            </a:r>
            <a:endParaRPr sz="1100"/>
          </a:p>
        </p:txBody>
      </p:sp>
      <p:sp>
        <p:nvSpPr>
          <p:cNvPr id="16" name="Shape 14">
            <a:extLst xmlns:a="http://schemas.openxmlformats.org/drawingml/2006/main">
              <a:ext uri="{FF2B5EF4-FFF2-40B4-BE49-F238E27FC236}">
                <a16:creationId xmlns:a16="http://schemas.microsoft.com/office/drawing/2014/main" id="{BBF440F9-3EC4-4B37-9747-73D9226F286A}"/>
              </a:ext>
            </a:extLst>
          </p:cNvPr>
          <p:cNvSpPr>
            <a:spLocks xmlns:a="http://schemas.openxmlformats.org/drawingml/2006/main" noGrp="1"/>
          </p:cNvSpPr>
          <p:nvPr/>
        </p:nvSpPr>
        <p:spPr>
          <a:xfrm xmlns:a="http://schemas.openxmlformats.org/drawingml/2006/main">
            <a:off x="8641080" y="3767328"/>
            <a:ext cx="1" cy="182880"/>
          </a:xfrm>
          <a:prstGeom xmlns:a="http://schemas.openxmlformats.org/drawingml/2006/main" prst="line">
            <a:avLst/>
          </a:prstGeom>
          <a:noFill xmlns:a="http://schemas.openxmlformats.org/drawingml/2006/main"/>
          <a:ln xmlns:a="http://schemas.openxmlformats.org/drawingml/2006/main" w="21590">
            <a:solidFill>
              <a:srgbClr val="10B981"/>
            </a:solidFill>
            <a:prstDash val="solid"/>
            <a:headEnd type="none"/>
            <a:tailEnd type="triangle"/>
          </a:ln>
        </p:spPr>
      </p:sp>
      <p:sp>
        <p:nvSpPr>
          <p:cNvPr id="17" name="Shape 15">
            <a:extLst xmlns:a="http://schemas.openxmlformats.org/drawingml/2006/main">
              <a:ext uri="{FF2B5EF4-FFF2-40B4-BE49-F238E27FC236}">
                <a16:creationId xmlns:a16="http://schemas.microsoft.com/office/drawing/2014/main" id="{0A84B78C-38FB-48B7-ADB0-95089CA4C880}"/>
              </a:ext>
            </a:extLst>
          </p:cNvPr>
          <p:cNvSpPr>
            <a:spLocks xmlns:a="http://schemas.openxmlformats.org/drawingml/2006/main" noGrp="1"/>
          </p:cNvSpPr>
          <p:nvPr/>
        </p:nvSpPr>
        <p:spPr>
          <a:xfrm xmlns:a="http://schemas.openxmlformats.org/drawingml/2006/main">
            <a:off x="6492240" y="3977640"/>
            <a:ext cx="429768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6510">
            <a:solidFill>
              <a:srgbClr val="CBD5E1"/>
            </a:solidFill>
            <a:prstDash val="solid"/>
          </a:ln>
        </p:spPr>
      </p:sp>
      <p:sp>
        <p:nvSpPr>
          <p:cNvPr id="18" name="Text 16">
            <a:extLst xmlns:a="http://schemas.openxmlformats.org/drawingml/2006/main">
              <a:ext uri="{FF2B5EF4-FFF2-40B4-BE49-F238E27FC236}">
                <a16:creationId xmlns:a16="http://schemas.microsoft.com/office/drawing/2014/main" id="{9A99076F-B11E-40A4-B4CC-CAFF19C28280}"/>
              </a:ext>
            </a:extLst>
          </p:cNvPr>
          <p:cNvSpPr>
            <a:spLocks xmlns:a="http://schemas.openxmlformats.org/drawingml/2006/main" noGrp="1"/>
          </p:cNvSpPr>
          <p:nvPr/>
        </p:nvSpPr>
        <p:spPr>
          <a:xfrm xmlns:a="http://schemas.openxmlformats.org/drawingml/2006/main">
            <a:off x="6565392" y="40233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SAFETY FILTERING</a:t>
            </a:r>
            <a:endParaRPr sz="1100"/>
          </a:p>
        </p:txBody>
      </p:sp>
      <p:sp>
        <p:nvSpPr>
          <p:cNvPr id="19" name="Shape 17">
            <a:extLst xmlns:a="http://schemas.openxmlformats.org/drawingml/2006/main">
              <a:ext uri="{FF2B5EF4-FFF2-40B4-BE49-F238E27FC236}">
                <a16:creationId xmlns:a16="http://schemas.microsoft.com/office/drawing/2014/main" id="{099EAACA-3471-483D-9830-9D3F92BFC12D}"/>
              </a:ext>
            </a:extLst>
          </p:cNvPr>
          <p:cNvSpPr>
            <a:spLocks xmlns:a="http://schemas.openxmlformats.org/drawingml/2006/main" noGrp="1"/>
          </p:cNvSpPr>
          <p:nvPr/>
        </p:nvSpPr>
        <p:spPr>
          <a:xfrm xmlns:a="http://schemas.openxmlformats.org/drawingml/2006/main">
            <a:off x="8641080" y="4453128"/>
            <a:ext cx="1" cy="182880"/>
          </a:xfrm>
          <a:prstGeom xmlns:a="http://schemas.openxmlformats.org/drawingml/2006/main" prst="line">
            <a:avLst/>
          </a:prstGeom>
          <a:noFill xmlns:a="http://schemas.openxmlformats.org/drawingml/2006/main"/>
          <a:ln xmlns:a="http://schemas.openxmlformats.org/drawingml/2006/main" w="21590">
            <a:solidFill>
              <a:srgbClr val="10B981"/>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29251B7E-0003-4ED1-9E1E-713E16DD9588}"/>
              </a:ext>
            </a:extLst>
          </p:cNvPr>
          <p:cNvSpPr>
            <a:spLocks xmlns:a="http://schemas.openxmlformats.org/drawingml/2006/main" noGrp="1"/>
          </p:cNvSpPr>
          <p:nvPr/>
        </p:nvSpPr>
        <p:spPr>
          <a:xfrm xmlns:a="http://schemas.openxmlformats.org/drawingml/2006/main">
            <a:off x="6492240" y="4663440"/>
            <a:ext cx="4297680" cy="365760"/>
          </a:xfrm>
          <a:prstGeom xmlns:a="http://schemas.openxmlformats.org/drawingml/2006/main" prst="roundRect">
            <a:avLst>
              <a:gd name="adj" fmla="val 16000"/>
            </a:avLst>
          </a:prstGeom>
          <a:solidFill xmlns:a="http://schemas.openxmlformats.org/drawingml/2006/main">
            <a:srgbClr val="D1FAE5"/>
          </a:solidFill>
          <a:ln xmlns:a="http://schemas.openxmlformats.org/drawingml/2006/main" w="16510">
            <a:solidFill>
              <a:srgbClr val="10B981"/>
            </a:solidFill>
            <a:prstDash val="solid"/>
          </a:ln>
        </p:spPr>
      </p:sp>
      <p:sp>
        <p:nvSpPr>
          <p:cNvPr id="21" name="Text 19">
            <a:extLst xmlns:a="http://schemas.openxmlformats.org/drawingml/2006/main">
              <a:ext uri="{FF2B5EF4-FFF2-40B4-BE49-F238E27FC236}">
                <a16:creationId xmlns:a16="http://schemas.microsoft.com/office/drawing/2014/main" id="{0BAEB255-2D56-4A64-BCD0-F64EAFFCBE81}"/>
              </a:ext>
            </a:extLst>
          </p:cNvPr>
          <p:cNvSpPr>
            <a:spLocks xmlns:a="http://schemas.openxmlformats.org/drawingml/2006/main" noGrp="1"/>
          </p:cNvSpPr>
          <p:nvPr/>
        </p:nvSpPr>
        <p:spPr>
          <a:xfrm xmlns:a="http://schemas.openxmlformats.org/drawingml/2006/main">
            <a:off x="6565392" y="47091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PERSONALIZED WORKOUT</a:t>
            </a:r>
            <a:endParaRPr sz="1100"/>
          </a:p>
        </p:txBody>
      </p:sp>
      <p:sp>
        <p:nvSpPr>
          <p:cNvPr id="22" name="Shape 20">
            <a:extLst xmlns:a="http://schemas.openxmlformats.org/drawingml/2006/main">
              <a:ext uri="{FF2B5EF4-FFF2-40B4-BE49-F238E27FC236}">
                <a16:creationId xmlns:a16="http://schemas.microsoft.com/office/drawing/2014/main" id="{E41B99B3-2771-4FFD-AB1C-F3C670A5B291}"/>
              </a:ext>
            </a:extLst>
          </p:cNvPr>
          <p:cNvSpPr>
            <a:spLocks xmlns:a="http://schemas.openxmlformats.org/drawingml/2006/main" noGrp="1"/>
          </p:cNvSpPr>
          <p:nvPr/>
        </p:nvSpPr>
        <p:spPr>
          <a:xfrm xmlns:a="http://schemas.openxmlformats.org/drawingml/2006/main">
            <a:off x="640080" y="5120640"/>
            <a:ext cx="10881360" cy="796066"/>
          </a:xfrm>
          <a:prstGeom xmlns:a="http://schemas.openxmlformats.org/drawingml/2006/main" prst="roundRect">
            <a:avLst>
              <a:gd name="adj" fmla="val 10526"/>
            </a:avLst>
          </a:prstGeom>
          <a:solidFill xmlns:a="http://schemas.openxmlformats.org/drawingml/2006/main">
            <a:srgbClr val="0F172A"/>
          </a:solidFill>
          <a:ln xmlns:a="http://schemas.openxmlformats.org/drawingml/2006/main" w="12700">
            <a:solidFill>
              <a:srgbClr val="0F172A"/>
            </a:solidFill>
            <a:prstDash val="solid"/>
          </a:ln>
        </p:spPr>
      </p:sp>
      <p:sp>
        <p:nvSpPr>
          <p:cNvPr id="23" name="Text 21">
            <a:extLst xmlns:a="http://schemas.openxmlformats.org/drawingml/2006/main">
              <a:ext uri="{FF2B5EF4-FFF2-40B4-BE49-F238E27FC236}">
                <a16:creationId xmlns:a16="http://schemas.microsoft.com/office/drawing/2014/main" id="{8E466F21-BE79-405F-B3A7-3A7D21CF567A}"/>
              </a:ext>
            </a:extLst>
          </p:cNvPr>
          <p:cNvSpPr>
            <a:spLocks xmlns:a="http://schemas.openxmlformats.org/drawingml/2006/main" noGrp="1"/>
          </p:cNvSpPr>
          <p:nvPr/>
        </p:nvSpPr>
        <p:spPr>
          <a:xfrm xmlns:a="http://schemas.openxmlformats.org/drawingml/2006/main">
            <a:off x="868680" y="512064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10B981"/>
                </a:solidFill>
              </a:rPr>
              <a:t>3,960</a:t>
            </a:r>
            <a:endParaRPr sz="2700"/>
          </a:p>
        </p:txBody>
      </p:sp>
      <p:sp>
        <p:nvSpPr>
          <p:cNvPr id="24" name="Text 22">
            <a:extLst xmlns:a="http://schemas.openxmlformats.org/drawingml/2006/main">
              <a:ext uri="{FF2B5EF4-FFF2-40B4-BE49-F238E27FC236}">
                <a16:creationId xmlns:a16="http://schemas.microsoft.com/office/drawing/2014/main" id="{99122608-A99F-41FE-BEAB-C5E591BEC2F5}"/>
              </a:ext>
            </a:extLst>
          </p:cNvPr>
          <p:cNvSpPr>
            <a:spLocks xmlns:a="http://schemas.openxmlformats.org/drawingml/2006/main" noGrp="1"/>
          </p:cNvSpPr>
          <p:nvPr/>
        </p:nvSpPr>
        <p:spPr>
          <a:xfrm xmlns:a="http://schemas.openxmlformats.org/drawingml/2006/main">
            <a:off x="868680" y="5650992"/>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synthetic profiles</a:t>
            </a:r>
            <a:endParaRPr sz="1050"/>
          </a:p>
        </p:txBody>
      </p:sp>
      <p:sp>
        <p:nvSpPr>
          <p:cNvPr id="25" name="Text 23">
            <a:extLst xmlns:a="http://schemas.openxmlformats.org/drawingml/2006/main">
              <a:ext uri="{FF2B5EF4-FFF2-40B4-BE49-F238E27FC236}">
                <a16:creationId xmlns:a16="http://schemas.microsoft.com/office/drawing/2014/main" id="{82F30251-0D8F-4C48-89B2-3B6C5A722E71}"/>
              </a:ext>
            </a:extLst>
          </p:cNvPr>
          <p:cNvSpPr>
            <a:spLocks xmlns:a="http://schemas.openxmlformats.org/drawingml/2006/main" noGrp="1"/>
          </p:cNvSpPr>
          <p:nvPr/>
        </p:nvSpPr>
        <p:spPr>
          <a:xfrm xmlns:a="http://schemas.openxmlformats.org/drawingml/2006/main">
            <a:off x="3429000" y="512064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10B981"/>
                </a:solidFill>
              </a:rPr>
              <a:t>74,250</a:t>
            </a:r>
            <a:endParaRPr sz="2700"/>
          </a:p>
        </p:txBody>
      </p:sp>
      <p:sp>
        <p:nvSpPr>
          <p:cNvPr id="26" name="Text 24">
            <a:extLst xmlns:a="http://schemas.openxmlformats.org/drawingml/2006/main">
              <a:ext uri="{FF2B5EF4-FFF2-40B4-BE49-F238E27FC236}">
                <a16:creationId xmlns:a16="http://schemas.microsoft.com/office/drawing/2014/main" id="{65980499-4A68-482B-A440-2AC4BA19FCA9}"/>
              </a:ext>
            </a:extLst>
          </p:cNvPr>
          <p:cNvSpPr>
            <a:spLocks xmlns:a="http://schemas.openxmlformats.org/drawingml/2006/main" noGrp="1"/>
          </p:cNvSpPr>
          <p:nvPr/>
        </p:nvSpPr>
        <p:spPr>
          <a:xfrm xmlns:a="http://schemas.openxmlformats.org/drawingml/2006/main">
            <a:off x="3429000" y="5650992"/>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exercise slots ranked</a:t>
            </a:r>
            <a:endParaRPr sz="1050"/>
          </a:p>
        </p:txBody>
      </p:sp>
      <p:sp>
        <p:nvSpPr>
          <p:cNvPr id="27" name="Text 25">
            <a:extLst xmlns:a="http://schemas.openxmlformats.org/drawingml/2006/main">
              <a:ext uri="{FF2B5EF4-FFF2-40B4-BE49-F238E27FC236}">
                <a16:creationId xmlns:a16="http://schemas.microsoft.com/office/drawing/2014/main" id="{26B6A926-B990-4048-930D-603E4B8686CB}"/>
              </a:ext>
            </a:extLst>
          </p:cNvPr>
          <p:cNvSpPr>
            <a:spLocks xmlns:a="http://schemas.openxmlformats.org/drawingml/2006/main" noGrp="1"/>
          </p:cNvSpPr>
          <p:nvPr/>
        </p:nvSpPr>
        <p:spPr>
          <a:xfrm xmlns:a="http://schemas.openxmlformats.org/drawingml/2006/main">
            <a:off x="5989320" y="512064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10B981"/>
                </a:solidFill>
              </a:rPr>
              <a:t>191</a:t>
            </a:r>
            <a:endParaRPr sz="2700"/>
          </a:p>
        </p:txBody>
      </p:sp>
      <p:sp>
        <p:nvSpPr>
          <p:cNvPr id="28" name="Text 26">
            <a:extLst xmlns:a="http://schemas.openxmlformats.org/drawingml/2006/main">
              <a:ext uri="{FF2B5EF4-FFF2-40B4-BE49-F238E27FC236}">
                <a16:creationId xmlns:a16="http://schemas.microsoft.com/office/drawing/2014/main" id="{FCFCCA5F-3278-478B-9CCE-18771A366DEE}"/>
              </a:ext>
            </a:extLst>
          </p:cNvPr>
          <p:cNvSpPr>
            <a:spLocks xmlns:a="http://schemas.openxmlformats.org/drawingml/2006/main" noGrp="1"/>
          </p:cNvSpPr>
          <p:nvPr/>
        </p:nvSpPr>
        <p:spPr>
          <a:xfrm xmlns:a="http://schemas.openxmlformats.org/drawingml/2006/main">
            <a:off x="5989320" y="5650992"/>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unique exercises</a:t>
            </a:r>
            <a:endParaRPr sz="1050"/>
          </a:p>
        </p:txBody>
      </p:sp>
      <p:sp>
        <p:nvSpPr>
          <p:cNvPr id="29" name="Text 27">
            <a:extLst xmlns:a="http://schemas.openxmlformats.org/drawingml/2006/main">
              <a:ext uri="{FF2B5EF4-FFF2-40B4-BE49-F238E27FC236}">
                <a16:creationId xmlns:a16="http://schemas.microsoft.com/office/drawing/2014/main" id="{6D7DAE6C-2722-4E07-ACE8-D6F46CB4B246}"/>
              </a:ext>
            </a:extLst>
          </p:cNvPr>
          <p:cNvSpPr>
            <a:spLocks xmlns:a="http://schemas.openxmlformats.org/drawingml/2006/main" noGrp="1"/>
          </p:cNvSpPr>
          <p:nvPr/>
        </p:nvSpPr>
        <p:spPr>
          <a:xfrm xmlns:a="http://schemas.openxmlformats.org/drawingml/2006/main">
            <a:off x="8549640" y="512064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10B981"/>
                </a:solidFill>
              </a:rPr>
              <a:t>0.0329</a:t>
            </a:r>
            <a:endParaRPr sz="2700"/>
          </a:p>
        </p:txBody>
      </p:sp>
      <p:sp>
        <p:nvSpPr>
          <p:cNvPr id="30" name="Text 28">
            <a:extLst xmlns:a="http://schemas.openxmlformats.org/drawingml/2006/main">
              <a:ext uri="{FF2B5EF4-FFF2-40B4-BE49-F238E27FC236}">
                <a16:creationId xmlns:a16="http://schemas.microsoft.com/office/drawing/2014/main" id="{C79B203B-C4F5-4F8C-87DA-07D885B7C2B8}"/>
              </a:ext>
            </a:extLst>
          </p:cNvPr>
          <p:cNvSpPr>
            <a:spLocks xmlns:a="http://schemas.openxmlformats.org/drawingml/2006/main" noGrp="1"/>
          </p:cNvSpPr>
          <p:nvPr/>
        </p:nvSpPr>
        <p:spPr>
          <a:xfrm xmlns:a="http://schemas.openxmlformats.org/drawingml/2006/main">
            <a:off x="8549640" y="5650992"/>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validation MAE</a:t>
            </a:r>
            <a:endParaRPr sz="1050"/>
          </a:p>
        </p:txBody>
      </p:sp>
      <p:sp>
        <p:nvSpPr>
          <p:cNvPr id="31" name="Slide Number Placeholder 0">
            <a:extLst xmlns:a="http://schemas.openxmlformats.org/drawingml/2006/main">
              <a:ext uri="{FF2B5EF4-FFF2-40B4-BE49-F238E27FC236}">
                <a16:creationId xmlns:a16="http://schemas.microsoft.com/office/drawing/2014/main" id="{33BB6A14-6D8C-4C9C-B3FC-F04C20D28105}"/>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113524690"/>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51AF84E-1268-4D8D-AF0C-82AA757C4B6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E63011-1E01-44B6-8CDE-6F27B3FD4315}"/>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WORKOUT EXPERIENCE</a:t>
            </a:r>
          </a:p>
        </p:txBody>
      </p:sp>
      <p:sp>
        <p:nvSpPr>
          <p:cNvPr id="3" name="">
            <a:extLst xmlns:a="http://schemas.openxmlformats.org/drawingml/2006/main">
              <a:ext uri="{FF2B5EF4-FFF2-40B4-BE49-F238E27FC236}">
                <a16:creationId xmlns:a16="http://schemas.microsoft.com/office/drawing/2014/main" id="{B769CFE8-F9C2-45F3-B573-4FE3DA988D5D}"/>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TrainCore in the actual mobile app</a:t>
            </a:r>
          </a:p>
        </p:txBody>
      </p:sp>
      <p:sp>
        <p:nvSpPr>
          <p:cNvPr id="4" name="">
            <a:extLst xmlns:a="http://schemas.openxmlformats.org/drawingml/2006/main">
              <a:ext uri="{FF2B5EF4-FFF2-40B4-BE49-F238E27FC236}">
                <a16:creationId xmlns:a16="http://schemas.microsoft.com/office/drawing/2014/main" id="{8CFCE2FA-2C84-4C08-A2A8-2EEF0E4773F6}"/>
              </a:ext>
            </a:extLst>
          </p:cNvPr>
          <p:cNvSpPr>
            <a:spLocks xmlns:a="http://schemas.openxmlformats.org/drawingml/2006/main" noGrp="1"/>
          </p:cNvSpPr>
          <p:nvPr/>
        </p:nvSpPr>
        <p:spPr>
          <a:xfrm xmlns:a="http://schemas.openxmlformats.org/drawingml/2006/main">
            <a:off x="514350" y="64389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587087"/>
                </a:solidFill>
                <a:latin typeface="Aptos"/>
                <a:ea typeface="Aptos"/>
                <a:cs typeface="Aptos"/>
              </a:defRPr>
            </a:pPr>
            <a:r>
              <a:rPr sz="900" b="1">
                <a:solidFill>
                  <a:srgbClr val="587087"/>
                </a:solidFill>
                <a:latin typeface="Aptos"/>
                <a:ea typeface="Aptos"/>
                <a:cs typeface="Aptos"/>
              </a:rPr>
              <a:t>ELITE FITNESS</a:t>
            </a:r>
          </a:p>
        </p:txBody>
      </p:sp>
      <p:sp>
        <p:nvSpPr>
          <p:cNvPr id="5" name="">
            <a:extLst xmlns:a="http://schemas.openxmlformats.org/drawingml/2006/main">
              <a:ext uri="{FF2B5EF4-FFF2-40B4-BE49-F238E27FC236}">
                <a16:creationId xmlns:a16="http://schemas.microsoft.com/office/drawing/2014/main" id="{87703C8C-B3B7-4B1A-96BD-948E383487BB}"/>
              </a:ext>
            </a:extLst>
          </p:cNvPr>
          <p:cNvSpPr>
            <a:spLocks xmlns:a="http://schemas.openxmlformats.org/drawingml/2006/main" noGrp="1"/>
          </p:cNvSpPr>
          <p:nvPr/>
        </p:nvSpPr>
        <p:spPr>
          <a:xfrm xmlns:a="http://schemas.openxmlformats.org/drawingml/2006/main">
            <a:off x="9667875" y="64389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825" b="0">
                <a:solidFill>
                  <a:srgbClr val="587087"/>
                </a:solidFill>
                <a:latin typeface="Aptos"/>
                <a:ea typeface="Aptos"/>
                <a:cs typeface="Aptos"/>
              </a:defRPr>
            </a:pPr>
            <a:r>
              <a:rPr sz="825" b="0">
                <a:solidFill>
                  <a:srgbClr val="587087"/>
                </a:solidFill>
                <a:latin typeface="Aptos"/>
                <a:ea typeface="Aptos"/>
                <a:cs typeface="Aptos"/>
              </a:rPr>
              <a:t>FINAL YEAR PROJECT   9</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853b7c0b56e4327"/>
          <a:stretch xmlns:a="http://schemas.openxmlformats.org/drawingml/2006/main"/>
        </p:blipFill>
        <p:spPr>
          <a:xfrm xmlns:a="http://schemas.openxmlformats.org/drawingml/2006/main">
            <a:off x="787785" y="1438275"/>
            <a:ext cx="2348730" cy="453390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f75eba9b28d43d0"/>
          <a:stretch xmlns:a="http://schemas.openxmlformats.org/drawingml/2006/main"/>
        </p:blipFill>
        <p:spPr>
          <a:xfrm xmlns:a="http://schemas.openxmlformats.org/drawingml/2006/main">
            <a:off x="3486150" y="1577585"/>
            <a:ext cx="2590800" cy="425528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05596FE-D16C-435A-A432-F781D198E49B}"/>
              </a:ext>
            </a:extLst>
          </p:cNvPr>
          <p:cNvSpPr>
            <a:spLocks xmlns:a="http://schemas.openxmlformats.org/drawingml/2006/main" noGrp="1"/>
          </p:cNvSpPr>
          <p:nvPr/>
        </p:nvSpPr>
        <p:spPr>
          <a:xfrm xmlns:a="http://schemas.openxmlformats.org/drawingml/2006/main">
            <a:off x="6534150" y="1609725"/>
            <a:ext cx="487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11B2D"/>
                </a:solidFill>
                <a:latin typeface="Aptos Display"/>
                <a:ea typeface="Aptos Display"/>
                <a:cs typeface="Aptos Display"/>
              </a:defRPr>
            </a:pPr>
            <a:r>
              <a:rPr sz="2025" b="1">
                <a:solidFill>
                  <a:srgbClr val="111B2D"/>
                </a:solidFill>
                <a:latin typeface="Aptos Display"/>
                <a:ea typeface="Aptos Display"/>
                <a:cs typeface="Aptos Display"/>
              </a:rPr>
              <a:t>From profile to plan</a:t>
            </a:r>
          </a:p>
        </p:txBody>
      </p:sp>
      <p:sp>
        <p:nvSpPr>
          <p:cNvPr id="9" name="">
            <a:extLst xmlns:a="http://schemas.openxmlformats.org/drawingml/2006/main">
              <a:ext uri="{FF2B5EF4-FFF2-40B4-BE49-F238E27FC236}">
                <a16:creationId xmlns:a16="http://schemas.microsoft.com/office/drawing/2014/main" id="{24E3EBCB-148C-4A99-8A6A-A0D96E797954}"/>
              </a:ext>
            </a:extLst>
          </p:cNvPr>
          <p:cNvSpPr>
            <a:spLocks xmlns:a="http://schemas.openxmlformats.org/drawingml/2006/main" noGrp="1"/>
          </p:cNvSpPr>
          <p:nvPr/>
        </p:nvSpPr>
        <p:spPr>
          <a:xfrm xmlns:a="http://schemas.openxmlformats.org/drawingml/2006/main">
            <a:off x="6562725" y="2419350"/>
            <a:ext cx="66675" cy="55245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B0A254B-22B9-4C4E-951C-7F519E6D3EED}"/>
              </a:ext>
            </a:extLst>
          </p:cNvPr>
          <p:cNvSpPr>
            <a:spLocks xmlns:a="http://schemas.openxmlformats.org/drawingml/2006/main" noGrp="1"/>
          </p:cNvSpPr>
          <p:nvPr/>
        </p:nvSpPr>
        <p:spPr>
          <a:xfrm xmlns:a="http://schemas.openxmlformats.org/drawingml/2006/main">
            <a:off x="6810375" y="2343150"/>
            <a:ext cx="4610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11B2D"/>
                </a:solidFill>
                <a:latin typeface="Aptos"/>
                <a:ea typeface="Aptos"/>
                <a:cs typeface="Aptos"/>
              </a:defRPr>
            </a:pPr>
            <a:r>
              <a:rPr sz="1575" b="0">
                <a:solidFill>
                  <a:srgbClr val="111B2D"/>
                </a:solidFill>
                <a:latin typeface="Aptos"/>
                <a:ea typeface="Aptos"/>
                <a:cs typeface="Aptos"/>
              </a:rPr>
              <a:t>Goal, level, location and injuries are read from the saved profile.</a:t>
            </a:r>
          </a:p>
        </p:txBody>
      </p:sp>
      <p:sp>
        <p:nvSpPr>
          <p:cNvPr id="11" name="">
            <a:extLst xmlns:a="http://schemas.openxmlformats.org/drawingml/2006/main">
              <a:ext uri="{FF2B5EF4-FFF2-40B4-BE49-F238E27FC236}">
                <a16:creationId xmlns:a16="http://schemas.microsoft.com/office/drawing/2014/main" id="{05CD1953-24A0-457D-A2AF-21959CBE3E30}"/>
              </a:ext>
            </a:extLst>
          </p:cNvPr>
          <p:cNvSpPr>
            <a:spLocks xmlns:a="http://schemas.openxmlformats.org/drawingml/2006/main" noGrp="1"/>
          </p:cNvSpPr>
          <p:nvPr/>
        </p:nvSpPr>
        <p:spPr>
          <a:xfrm xmlns:a="http://schemas.openxmlformats.org/drawingml/2006/main">
            <a:off x="6562725" y="3448050"/>
            <a:ext cx="66675" cy="55245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356D958-8F8E-487A-9678-E9F0B58C78F2}"/>
              </a:ext>
            </a:extLst>
          </p:cNvPr>
          <p:cNvSpPr>
            <a:spLocks xmlns:a="http://schemas.openxmlformats.org/drawingml/2006/main" noGrp="1"/>
          </p:cNvSpPr>
          <p:nvPr/>
        </p:nvSpPr>
        <p:spPr>
          <a:xfrm xmlns:a="http://schemas.openxmlformats.org/drawingml/2006/main">
            <a:off x="6810375" y="3371850"/>
            <a:ext cx="4610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11B2D"/>
                </a:solidFill>
                <a:latin typeface="Aptos"/>
                <a:ea typeface="Aptos"/>
                <a:cs typeface="Aptos"/>
              </a:defRPr>
            </a:pPr>
            <a:r>
              <a:rPr sz="1575" b="0">
                <a:solidFill>
                  <a:srgbClr val="111B2D"/>
                </a:solidFill>
                <a:latin typeface="Aptos"/>
                <a:ea typeface="Aptos"/>
                <a:cs typeface="Aptos"/>
              </a:rPr>
              <a:t>TrainCore scores candidate exercises; safety rules exclude conflicts.</a:t>
            </a:r>
          </a:p>
        </p:txBody>
      </p:sp>
      <p:sp>
        <p:nvSpPr>
          <p:cNvPr id="13" name="">
            <a:extLst xmlns:a="http://schemas.openxmlformats.org/drawingml/2006/main">
              <a:ext uri="{FF2B5EF4-FFF2-40B4-BE49-F238E27FC236}">
                <a16:creationId xmlns:a16="http://schemas.microsoft.com/office/drawing/2014/main" id="{B700DE0C-20AB-4FAD-8DF7-A418782E823E}"/>
              </a:ext>
            </a:extLst>
          </p:cNvPr>
          <p:cNvSpPr>
            <a:spLocks xmlns:a="http://schemas.openxmlformats.org/drawingml/2006/main" noGrp="1"/>
          </p:cNvSpPr>
          <p:nvPr/>
        </p:nvSpPr>
        <p:spPr>
          <a:xfrm xmlns:a="http://schemas.openxmlformats.org/drawingml/2006/main">
            <a:off x="6562725" y="4476750"/>
            <a:ext cx="66675" cy="55245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DAE14BF-1D19-46CB-A6CD-A4432A3CC580}"/>
              </a:ext>
            </a:extLst>
          </p:cNvPr>
          <p:cNvSpPr>
            <a:spLocks xmlns:a="http://schemas.openxmlformats.org/drawingml/2006/main" noGrp="1"/>
          </p:cNvSpPr>
          <p:nvPr/>
        </p:nvSpPr>
        <p:spPr>
          <a:xfrm xmlns:a="http://schemas.openxmlformats.org/drawingml/2006/main">
            <a:off x="6810375" y="4400550"/>
            <a:ext cx="4610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11B2D"/>
                </a:solidFill>
                <a:latin typeface="Aptos"/>
                <a:ea typeface="Aptos"/>
                <a:cs typeface="Aptos"/>
              </a:defRPr>
            </a:pPr>
            <a:r>
              <a:rPr sz="1575" b="0">
                <a:solidFill>
                  <a:srgbClr val="111B2D"/>
                </a:solidFill>
                <a:latin typeface="Aptos"/>
                <a:ea typeface="Aptos"/>
                <a:cs typeface="Aptos"/>
              </a:rPr>
              <a:t>The PHP backend stores the plan and returns it to the phone.</a:t>
            </a:r>
          </a:p>
        </p:txBody>
      </p:sp>
    </p:spTree>
    <p:extLst>
      <p:ext uri="{BB962C8B-B14F-4D97-AF65-F5344CB8AC3E}">
        <p14:creationId xmlns:p14="http://schemas.microsoft.com/office/powerpoint/2010/main" val="181112073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74C30F6-CBCA-4E5D-83CE-740C7E33996C}"/>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TECHNICAL DEEP DIVE</a:t>
            </a:r>
            <a:endParaRPr sz="1000"/>
          </a:p>
        </p:txBody>
      </p:sp>
      <p:sp>
        <p:nvSpPr>
          <p:cNvPr id="3" name="Text 1">
            <a:extLst xmlns:a="http://schemas.openxmlformats.org/drawingml/2006/main">
              <a:ext uri="{FF2B5EF4-FFF2-40B4-BE49-F238E27FC236}">
                <a16:creationId xmlns:a16="http://schemas.microsoft.com/office/drawing/2014/main" id="{410A9E85-4D9A-4FF5-A9F5-B97DABD7DF8F}"/>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NutriCore AI — Intelligent Nutrition Recommendation</a:t>
            </a:r>
            <a:endParaRPr sz="2800"/>
          </a:p>
        </p:txBody>
      </p:sp>
      <p:sp>
        <p:nvSpPr>
          <p:cNvPr id="4" name="Text 2">
            <a:extLst xmlns:a="http://schemas.openxmlformats.org/drawingml/2006/main">
              <a:ext uri="{FF2B5EF4-FFF2-40B4-BE49-F238E27FC236}">
                <a16:creationId xmlns:a16="http://schemas.microsoft.com/office/drawing/2014/main" id="{283771F9-B93D-4EFD-A8C4-63820E236EDA}"/>
              </a:ext>
            </a:extLst>
          </p:cNvPr>
          <p:cNvSpPr>
            <a:spLocks xmlns:a="http://schemas.openxmlformats.org/drawingml/2006/main" noGrp="1"/>
          </p:cNvSpPr>
          <p:nvPr/>
        </p:nvSpPr>
        <p:spPr>
          <a:xfrm xmlns:a="http://schemas.openxmlformats.org/drawingml/2006/main">
            <a:off x="640080" y="1325880"/>
            <a:ext cx="4800600" cy="310896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600">
                <a:solidFill>
                  <a:srgbClr val="111827"/>
                </a:solidFill>
              </a:rPr>
              <a:t>NutriCore AI is a local neural-network model that estimates meal suitability. It combines nutritional targets with calories, macronutrients, allergies, disliked foods, preferences and available fridge ingredients. Candidate meals are scored by the model, then passed through filtering and validation before reaching the user.</a:t>
            </a:r>
            <a:endParaRPr sz="1600"/>
          </a:p>
        </p:txBody>
      </p:sp>
      <p:sp>
        <p:nvSpPr>
          <p:cNvPr id="5" name="Shape 3">
            <a:extLst xmlns:a="http://schemas.openxmlformats.org/drawingml/2006/main">
              <a:ext uri="{FF2B5EF4-FFF2-40B4-BE49-F238E27FC236}">
                <a16:creationId xmlns:a16="http://schemas.microsoft.com/office/drawing/2014/main" id="{42F6C223-14F0-458D-9A97-7B29FD37BA57}"/>
              </a:ext>
            </a:extLst>
          </p:cNvPr>
          <p:cNvSpPr>
            <a:spLocks xmlns:a="http://schemas.openxmlformats.org/drawingml/2006/main" noGrp="1"/>
          </p:cNvSpPr>
          <p:nvPr/>
        </p:nvSpPr>
        <p:spPr>
          <a:xfrm xmlns:a="http://schemas.openxmlformats.org/drawingml/2006/main">
            <a:off x="6400800" y="1115568"/>
            <a:ext cx="4480560" cy="420624"/>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6510">
            <a:solidFill>
              <a:srgbClr val="CBD5E1"/>
            </a:solidFill>
            <a:prstDash val="solid"/>
          </a:ln>
        </p:spPr>
      </p:sp>
      <p:sp>
        <p:nvSpPr>
          <p:cNvPr id="6" name="Text 4">
            <a:extLst xmlns:a="http://schemas.openxmlformats.org/drawingml/2006/main">
              <a:ext uri="{FF2B5EF4-FFF2-40B4-BE49-F238E27FC236}">
                <a16:creationId xmlns:a16="http://schemas.microsoft.com/office/drawing/2014/main" id="{B393140A-4206-4F1B-9FD5-451FB1F2ADEE}"/>
              </a:ext>
            </a:extLst>
          </p:cNvPr>
          <p:cNvSpPr>
            <a:spLocks xmlns:a="http://schemas.openxmlformats.org/drawingml/2006/main" noGrp="1"/>
          </p:cNvSpPr>
          <p:nvPr/>
        </p:nvSpPr>
        <p:spPr>
          <a:xfrm xmlns:a="http://schemas.openxmlformats.org/drawingml/2006/main">
            <a:off x="6473952" y="116128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USDA FOUNDATION FOODS</a:t>
            </a:r>
            <a:endParaRPr sz="1070"/>
          </a:p>
        </p:txBody>
      </p:sp>
      <p:sp>
        <p:nvSpPr>
          <p:cNvPr id="7" name="Shape 5">
            <a:extLst xmlns:a="http://schemas.openxmlformats.org/drawingml/2006/main">
              <a:ext uri="{FF2B5EF4-FFF2-40B4-BE49-F238E27FC236}">
                <a16:creationId xmlns:a16="http://schemas.microsoft.com/office/drawing/2014/main" id="{9C07767F-966D-4233-A81A-56E92B42A9F3}"/>
              </a:ext>
            </a:extLst>
          </p:cNvPr>
          <p:cNvSpPr>
            <a:spLocks xmlns:a="http://schemas.openxmlformats.org/drawingml/2006/main" noGrp="1"/>
          </p:cNvSpPr>
          <p:nvPr/>
        </p:nvSpPr>
        <p:spPr>
          <a:xfrm xmlns:a="http://schemas.openxmlformats.org/drawingml/2006/main">
            <a:off x="8641080" y="1554480"/>
            <a:ext cx="1" cy="173736"/>
          </a:xfrm>
          <a:prstGeom xmlns:a="http://schemas.openxmlformats.org/drawingml/2006/main" prst="line">
            <a:avLst/>
          </a:prstGeom>
          <a:noFill xmlns:a="http://schemas.openxmlformats.org/drawingml/2006/main"/>
          <a:ln xmlns:a="http://schemas.openxmlformats.org/drawingml/2006/main" w="20320">
            <a:solidFill>
              <a:srgbClr val="CBD5E1"/>
            </a:solidFill>
            <a:prstDash val="solid"/>
            <a:headEnd type="none"/>
            <a:tailEnd type="triangle"/>
          </a:ln>
        </p:spPr>
      </p:sp>
      <p:sp>
        <p:nvSpPr>
          <p:cNvPr id="8" name="Shape 6">
            <a:extLst xmlns:a="http://schemas.openxmlformats.org/drawingml/2006/main">
              <a:ext uri="{FF2B5EF4-FFF2-40B4-BE49-F238E27FC236}">
                <a16:creationId xmlns:a16="http://schemas.microsoft.com/office/drawing/2014/main" id="{F56A644D-40F6-4E66-9E6F-99F5D93CED2E}"/>
              </a:ext>
            </a:extLst>
          </p:cNvPr>
          <p:cNvSpPr>
            <a:spLocks xmlns:a="http://schemas.openxmlformats.org/drawingml/2006/main" noGrp="1"/>
          </p:cNvSpPr>
          <p:nvPr/>
        </p:nvSpPr>
        <p:spPr>
          <a:xfrm xmlns:a="http://schemas.openxmlformats.org/drawingml/2006/main">
            <a:off x="6400800" y="1755648"/>
            <a:ext cx="4480560" cy="420624"/>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6510">
            <a:solidFill>
              <a:srgbClr val="CBD5E1"/>
            </a:solidFill>
            <a:prstDash val="solid"/>
          </a:ln>
        </p:spPr>
      </p:sp>
      <p:sp>
        <p:nvSpPr>
          <p:cNvPr id="9" name="Text 7">
            <a:extLst xmlns:a="http://schemas.openxmlformats.org/drawingml/2006/main">
              <a:ext uri="{FF2B5EF4-FFF2-40B4-BE49-F238E27FC236}">
                <a16:creationId xmlns:a16="http://schemas.microsoft.com/office/drawing/2014/main" id="{6952943C-03AB-4F99-87AE-547E27BCE736}"/>
              </a:ext>
            </a:extLst>
          </p:cNvPr>
          <p:cNvSpPr>
            <a:spLocks xmlns:a="http://schemas.openxmlformats.org/drawingml/2006/main" noGrp="1"/>
          </p:cNvSpPr>
          <p:nvPr/>
        </p:nvSpPr>
        <p:spPr>
          <a:xfrm xmlns:a="http://schemas.openxmlformats.org/drawingml/2006/main">
            <a:off x="6473952" y="180136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PROCESSED MEAL DATASET</a:t>
            </a:r>
            <a:endParaRPr sz="1070"/>
          </a:p>
        </p:txBody>
      </p:sp>
      <p:sp>
        <p:nvSpPr>
          <p:cNvPr id="10" name="Shape 8">
            <a:extLst xmlns:a="http://schemas.openxmlformats.org/drawingml/2006/main">
              <a:ext uri="{FF2B5EF4-FFF2-40B4-BE49-F238E27FC236}">
                <a16:creationId xmlns:a16="http://schemas.microsoft.com/office/drawing/2014/main" id="{BA20E5D8-8E1E-403D-B8B0-8F6450CA6526}"/>
              </a:ext>
            </a:extLst>
          </p:cNvPr>
          <p:cNvSpPr>
            <a:spLocks xmlns:a="http://schemas.openxmlformats.org/drawingml/2006/main" noGrp="1"/>
          </p:cNvSpPr>
          <p:nvPr/>
        </p:nvSpPr>
        <p:spPr>
          <a:xfrm xmlns:a="http://schemas.openxmlformats.org/drawingml/2006/main">
            <a:off x="8641080" y="2194560"/>
            <a:ext cx="1" cy="173736"/>
          </a:xfrm>
          <a:prstGeom xmlns:a="http://schemas.openxmlformats.org/drawingml/2006/main" prst="line">
            <a:avLst/>
          </a:prstGeom>
          <a:noFill xmlns:a="http://schemas.openxmlformats.org/drawingml/2006/main"/>
          <a:ln xmlns:a="http://schemas.openxmlformats.org/drawingml/2006/main" w="20320">
            <a:solidFill>
              <a:srgbClr val="CBD5E1"/>
            </a:solidFill>
            <a:prstDash val="solid"/>
            <a:headEnd type="none"/>
            <a:tailEnd type="triangle"/>
          </a:ln>
        </p:spPr>
      </p:sp>
      <p:sp>
        <p:nvSpPr>
          <p:cNvPr id="11" name="Shape 9">
            <a:extLst xmlns:a="http://schemas.openxmlformats.org/drawingml/2006/main">
              <a:ext uri="{FF2B5EF4-FFF2-40B4-BE49-F238E27FC236}">
                <a16:creationId xmlns:a16="http://schemas.microsoft.com/office/drawing/2014/main" id="{456CCA21-A6BA-42C4-8E69-98541BC4A163}"/>
              </a:ext>
            </a:extLst>
          </p:cNvPr>
          <p:cNvSpPr>
            <a:spLocks xmlns:a="http://schemas.openxmlformats.org/drawingml/2006/main" noGrp="1"/>
          </p:cNvSpPr>
          <p:nvPr/>
        </p:nvSpPr>
        <p:spPr>
          <a:xfrm xmlns:a="http://schemas.openxmlformats.org/drawingml/2006/main">
            <a:off x="6400800" y="2395728"/>
            <a:ext cx="4480560" cy="420624"/>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6510">
            <a:solidFill>
              <a:srgbClr val="CBD5E1"/>
            </a:solidFill>
            <a:prstDash val="solid"/>
          </a:ln>
        </p:spPr>
      </p:sp>
      <p:sp>
        <p:nvSpPr>
          <p:cNvPr id="12" name="Text 10">
            <a:extLst xmlns:a="http://schemas.openxmlformats.org/drawingml/2006/main">
              <a:ext uri="{FF2B5EF4-FFF2-40B4-BE49-F238E27FC236}">
                <a16:creationId xmlns:a16="http://schemas.microsoft.com/office/drawing/2014/main" id="{6106EA82-F6A8-4DE6-9216-E24B89E0E7A7}"/>
              </a:ext>
            </a:extLst>
          </p:cNvPr>
          <p:cNvSpPr>
            <a:spLocks xmlns:a="http://schemas.openxmlformats.org/drawingml/2006/main" noGrp="1"/>
          </p:cNvSpPr>
          <p:nvPr/>
        </p:nvSpPr>
        <p:spPr>
          <a:xfrm xmlns:a="http://schemas.openxmlformats.org/drawingml/2006/main">
            <a:off x="6473952" y="244144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NEURAL NETWORK</a:t>
            </a:r>
            <a:endParaRPr sz="1070"/>
          </a:p>
        </p:txBody>
      </p:sp>
      <p:sp>
        <p:nvSpPr>
          <p:cNvPr id="13" name="Shape 11">
            <a:extLst xmlns:a="http://schemas.openxmlformats.org/drawingml/2006/main">
              <a:ext uri="{FF2B5EF4-FFF2-40B4-BE49-F238E27FC236}">
                <a16:creationId xmlns:a16="http://schemas.microsoft.com/office/drawing/2014/main" id="{E1D23FFC-7814-4468-A9EB-9FF494E49183}"/>
              </a:ext>
            </a:extLst>
          </p:cNvPr>
          <p:cNvSpPr>
            <a:spLocks xmlns:a="http://schemas.openxmlformats.org/drawingml/2006/main" noGrp="1"/>
          </p:cNvSpPr>
          <p:nvPr/>
        </p:nvSpPr>
        <p:spPr>
          <a:xfrm xmlns:a="http://schemas.openxmlformats.org/drawingml/2006/main">
            <a:off x="8641080" y="2834640"/>
            <a:ext cx="1" cy="173736"/>
          </a:xfrm>
          <a:prstGeom xmlns:a="http://schemas.openxmlformats.org/drawingml/2006/main" prst="line">
            <a:avLst/>
          </a:prstGeom>
          <a:noFill xmlns:a="http://schemas.openxmlformats.org/drawingml/2006/main"/>
          <a:ln xmlns:a="http://schemas.openxmlformats.org/drawingml/2006/main" w="20320">
            <a:solidFill>
              <a:srgbClr val="CBD5E1"/>
            </a:solidFill>
            <a:prstDash val="solid"/>
            <a:headEnd type="none"/>
            <a:tailEnd type="triangle"/>
          </a:ln>
        </p:spPr>
      </p:sp>
      <p:sp>
        <p:nvSpPr>
          <p:cNvPr id="14" name="Shape 12">
            <a:extLst xmlns:a="http://schemas.openxmlformats.org/drawingml/2006/main">
              <a:ext uri="{FF2B5EF4-FFF2-40B4-BE49-F238E27FC236}">
                <a16:creationId xmlns:a16="http://schemas.microsoft.com/office/drawing/2014/main" id="{3933D997-B65B-4ECA-A5DB-A5AE0E2CBCB0}"/>
              </a:ext>
            </a:extLst>
          </p:cNvPr>
          <p:cNvSpPr>
            <a:spLocks xmlns:a="http://schemas.openxmlformats.org/drawingml/2006/main" noGrp="1"/>
          </p:cNvSpPr>
          <p:nvPr/>
        </p:nvSpPr>
        <p:spPr>
          <a:xfrm xmlns:a="http://schemas.openxmlformats.org/drawingml/2006/main">
            <a:off x="6400800" y="3035808"/>
            <a:ext cx="4480560" cy="420624"/>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6510">
            <a:solidFill>
              <a:srgbClr val="CBD5E1"/>
            </a:solidFill>
            <a:prstDash val="solid"/>
          </a:ln>
        </p:spPr>
      </p:sp>
      <p:sp>
        <p:nvSpPr>
          <p:cNvPr id="15" name="Text 13">
            <a:extLst xmlns:a="http://schemas.openxmlformats.org/drawingml/2006/main">
              <a:ext uri="{FF2B5EF4-FFF2-40B4-BE49-F238E27FC236}">
                <a16:creationId xmlns:a16="http://schemas.microsoft.com/office/drawing/2014/main" id="{8100CBAB-D97F-4273-B544-B6A679CE9B2D}"/>
              </a:ext>
            </a:extLst>
          </p:cNvPr>
          <p:cNvSpPr>
            <a:spLocks xmlns:a="http://schemas.openxmlformats.org/drawingml/2006/main" noGrp="1"/>
          </p:cNvSpPr>
          <p:nvPr/>
        </p:nvSpPr>
        <p:spPr>
          <a:xfrm xmlns:a="http://schemas.openxmlformats.org/drawingml/2006/main">
            <a:off x="6473952" y="308152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MEAL SUITABILITY SCORE</a:t>
            </a:r>
            <a:endParaRPr sz="1070"/>
          </a:p>
        </p:txBody>
      </p:sp>
      <p:sp>
        <p:nvSpPr>
          <p:cNvPr id="16" name="Shape 14">
            <a:extLst xmlns:a="http://schemas.openxmlformats.org/drawingml/2006/main">
              <a:ext uri="{FF2B5EF4-FFF2-40B4-BE49-F238E27FC236}">
                <a16:creationId xmlns:a16="http://schemas.microsoft.com/office/drawing/2014/main" id="{6515BDA0-1D8E-40BB-BBF9-E52FE7CC30D7}"/>
              </a:ext>
            </a:extLst>
          </p:cNvPr>
          <p:cNvSpPr>
            <a:spLocks xmlns:a="http://schemas.openxmlformats.org/drawingml/2006/main" noGrp="1"/>
          </p:cNvSpPr>
          <p:nvPr/>
        </p:nvSpPr>
        <p:spPr>
          <a:xfrm xmlns:a="http://schemas.openxmlformats.org/drawingml/2006/main">
            <a:off x="8641080" y="3474720"/>
            <a:ext cx="1" cy="173736"/>
          </a:xfrm>
          <a:prstGeom xmlns:a="http://schemas.openxmlformats.org/drawingml/2006/main" prst="line">
            <a:avLst/>
          </a:prstGeom>
          <a:noFill xmlns:a="http://schemas.openxmlformats.org/drawingml/2006/main"/>
          <a:ln xmlns:a="http://schemas.openxmlformats.org/drawingml/2006/main" w="20320">
            <a:solidFill>
              <a:srgbClr val="10B981"/>
            </a:solidFill>
            <a:prstDash val="solid"/>
            <a:headEnd type="none"/>
            <a:tailEnd type="triangle"/>
          </a:ln>
        </p:spPr>
      </p:sp>
      <p:sp>
        <p:nvSpPr>
          <p:cNvPr id="17" name="Shape 15">
            <a:extLst xmlns:a="http://schemas.openxmlformats.org/drawingml/2006/main">
              <a:ext uri="{FF2B5EF4-FFF2-40B4-BE49-F238E27FC236}">
                <a16:creationId xmlns:a16="http://schemas.microsoft.com/office/drawing/2014/main" id="{4E57AA88-15AF-49E8-83BB-A384B8A7E82C}"/>
              </a:ext>
            </a:extLst>
          </p:cNvPr>
          <p:cNvSpPr>
            <a:spLocks xmlns:a="http://schemas.openxmlformats.org/drawingml/2006/main" noGrp="1"/>
          </p:cNvSpPr>
          <p:nvPr/>
        </p:nvSpPr>
        <p:spPr>
          <a:xfrm xmlns:a="http://schemas.openxmlformats.org/drawingml/2006/main">
            <a:off x="6400800" y="3675888"/>
            <a:ext cx="4480560" cy="420624"/>
          </a:xfrm>
          <a:prstGeom xmlns:a="http://schemas.openxmlformats.org/drawingml/2006/main" prst="roundRect">
            <a:avLst>
              <a:gd name="adj" fmla="val 17391"/>
            </a:avLst>
          </a:prstGeom>
          <a:solidFill xmlns:a="http://schemas.openxmlformats.org/drawingml/2006/main">
            <a:srgbClr val="D1FAE5"/>
          </a:solidFill>
          <a:ln xmlns:a="http://schemas.openxmlformats.org/drawingml/2006/main" w="16510">
            <a:solidFill>
              <a:srgbClr val="10B981"/>
            </a:solidFill>
            <a:prstDash val="solid"/>
          </a:ln>
        </p:spPr>
      </p:sp>
      <p:sp>
        <p:nvSpPr>
          <p:cNvPr id="18" name="Text 16">
            <a:extLst xmlns:a="http://schemas.openxmlformats.org/drawingml/2006/main">
              <a:ext uri="{FF2B5EF4-FFF2-40B4-BE49-F238E27FC236}">
                <a16:creationId xmlns:a16="http://schemas.microsoft.com/office/drawing/2014/main" id="{EABE8AD9-F861-4246-920A-747295C4CB57}"/>
              </a:ext>
            </a:extLst>
          </p:cNvPr>
          <p:cNvSpPr>
            <a:spLocks xmlns:a="http://schemas.openxmlformats.org/drawingml/2006/main" noGrp="1"/>
          </p:cNvSpPr>
          <p:nvPr/>
        </p:nvSpPr>
        <p:spPr>
          <a:xfrm xmlns:a="http://schemas.openxmlformats.org/drawingml/2006/main">
            <a:off x="6473952" y="372160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ALLERGY + PREFERENCE FILTER</a:t>
            </a:r>
            <a:endParaRPr sz="1070"/>
          </a:p>
        </p:txBody>
      </p:sp>
      <p:sp>
        <p:nvSpPr>
          <p:cNvPr id="19" name="Shape 17">
            <a:extLst xmlns:a="http://schemas.openxmlformats.org/drawingml/2006/main">
              <a:ext uri="{FF2B5EF4-FFF2-40B4-BE49-F238E27FC236}">
                <a16:creationId xmlns:a16="http://schemas.microsoft.com/office/drawing/2014/main" id="{10EDC2F1-C18E-4778-A6D8-CE3B82FC03C2}"/>
              </a:ext>
            </a:extLst>
          </p:cNvPr>
          <p:cNvSpPr>
            <a:spLocks xmlns:a="http://schemas.openxmlformats.org/drawingml/2006/main" noGrp="1"/>
          </p:cNvSpPr>
          <p:nvPr/>
        </p:nvSpPr>
        <p:spPr>
          <a:xfrm xmlns:a="http://schemas.openxmlformats.org/drawingml/2006/main">
            <a:off x="8641080" y="4114800"/>
            <a:ext cx="1" cy="173736"/>
          </a:xfrm>
          <a:prstGeom xmlns:a="http://schemas.openxmlformats.org/drawingml/2006/main" prst="line">
            <a:avLst/>
          </a:prstGeom>
          <a:noFill xmlns:a="http://schemas.openxmlformats.org/drawingml/2006/main"/>
          <a:ln xmlns:a="http://schemas.openxmlformats.org/drawingml/2006/main" w="20320">
            <a:solidFill>
              <a:srgbClr val="10B981"/>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A4D10A22-6FE6-47D0-BCF1-EC798A1FE8E5}"/>
              </a:ext>
            </a:extLst>
          </p:cNvPr>
          <p:cNvSpPr>
            <a:spLocks xmlns:a="http://schemas.openxmlformats.org/drawingml/2006/main" noGrp="1"/>
          </p:cNvSpPr>
          <p:nvPr/>
        </p:nvSpPr>
        <p:spPr>
          <a:xfrm xmlns:a="http://schemas.openxmlformats.org/drawingml/2006/main">
            <a:off x="6400800" y="4315968"/>
            <a:ext cx="4480560" cy="420624"/>
          </a:xfrm>
          <a:prstGeom xmlns:a="http://schemas.openxmlformats.org/drawingml/2006/main" prst="roundRect">
            <a:avLst>
              <a:gd name="adj" fmla="val 17391"/>
            </a:avLst>
          </a:prstGeom>
          <a:solidFill xmlns:a="http://schemas.openxmlformats.org/drawingml/2006/main">
            <a:srgbClr val="FEF3C7"/>
          </a:solidFill>
          <a:ln xmlns:a="http://schemas.openxmlformats.org/drawingml/2006/main" w="16510">
            <a:solidFill>
              <a:srgbClr val="F59E0B"/>
            </a:solidFill>
            <a:prstDash val="solid"/>
          </a:ln>
        </p:spPr>
      </p:sp>
      <p:sp>
        <p:nvSpPr>
          <p:cNvPr id="21" name="Text 19">
            <a:extLst xmlns:a="http://schemas.openxmlformats.org/drawingml/2006/main">
              <a:ext uri="{FF2B5EF4-FFF2-40B4-BE49-F238E27FC236}">
                <a16:creationId xmlns:a16="http://schemas.microsoft.com/office/drawing/2014/main" id="{FF3EF7E7-019A-4655-9370-FBEB9EF801EA}"/>
              </a:ext>
            </a:extLst>
          </p:cNvPr>
          <p:cNvSpPr>
            <a:spLocks xmlns:a="http://schemas.openxmlformats.org/drawingml/2006/main" noGrp="1"/>
          </p:cNvSpPr>
          <p:nvPr/>
        </p:nvSpPr>
        <p:spPr>
          <a:xfrm xmlns:a="http://schemas.openxmlformats.org/drawingml/2006/main">
            <a:off x="6473952" y="436168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EXPERT APPROVAL</a:t>
            </a:r>
            <a:endParaRPr sz="1070"/>
          </a:p>
        </p:txBody>
      </p:sp>
      <p:sp>
        <p:nvSpPr>
          <p:cNvPr id="22" name="Shape 20">
            <a:extLst xmlns:a="http://schemas.openxmlformats.org/drawingml/2006/main">
              <a:ext uri="{FF2B5EF4-FFF2-40B4-BE49-F238E27FC236}">
                <a16:creationId xmlns:a16="http://schemas.microsoft.com/office/drawing/2014/main" id="{B5E9407E-87C2-4D2A-B647-0B2137DB1AB5}"/>
              </a:ext>
            </a:extLst>
          </p:cNvPr>
          <p:cNvSpPr>
            <a:spLocks xmlns:a="http://schemas.openxmlformats.org/drawingml/2006/main" noGrp="1"/>
          </p:cNvSpPr>
          <p:nvPr/>
        </p:nvSpPr>
        <p:spPr>
          <a:xfrm xmlns:a="http://schemas.openxmlformats.org/drawingml/2006/main">
            <a:off x="8641080" y="4754880"/>
            <a:ext cx="1" cy="173736"/>
          </a:xfrm>
          <a:prstGeom xmlns:a="http://schemas.openxmlformats.org/drawingml/2006/main" prst="line">
            <a:avLst/>
          </a:prstGeom>
          <a:noFill xmlns:a="http://schemas.openxmlformats.org/drawingml/2006/main"/>
          <a:ln xmlns:a="http://schemas.openxmlformats.org/drawingml/2006/main" w="20320">
            <a:solidFill>
              <a:srgbClr val="10B981"/>
            </a:solidFill>
            <a:prstDash val="solid"/>
            <a:headEnd type="none"/>
            <a:tailEnd type="triangle"/>
          </a:ln>
        </p:spPr>
      </p:sp>
      <p:sp>
        <p:nvSpPr>
          <p:cNvPr id="23" name="Shape 21">
            <a:extLst xmlns:a="http://schemas.openxmlformats.org/drawingml/2006/main">
              <a:ext uri="{FF2B5EF4-FFF2-40B4-BE49-F238E27FC236}">
                <a16:creationId xmlns:a16="http://schemas.microsoft.com/office/drawing/2014/main" id="{3B8C70B7-019A-48D0-B53A-098E744410F8}"/>
              </a:ext>
            </a:extLst>
          </p:cNvPr>
          <p:cNvSpPr>
            <a:spLocks xmlns:a="http://schemas.openxmlformats.org/drawingml/2006/main" noGrp="1"/>
          </p:cNvSpPr>
          <p:nvPr/>
        </p:nvSpPr>
        <p:spPr>
          <a:xfrm xmlns:a="http://schemas.openxmlformats.org/drawingml/2006/main">
            <a:off x="6400800" y="4956048"/>
            <a:ext cx="4480560" cy="420624"/>
          </a:xfrm>
          <a:prstGeom xmlns:a="http://schemas.openxmlformats.org/drawingml/2006/main" prst="roundRect">
            <a:avLst>
              <a:gd name="adj" fmla="val 17391"/>
            </a:avLst>
          </a:prstGeom>
          <a:solidFill xmlns:a="http://schemas.openxmlformats.org/drawingml/2006/main">
            <a:srgbClr val="D1FAE5"/>
          </a:solidFill>
          <a:ln xmlns:a="http://schemas.openxmlformats.org/drawingml/2006/main" w="16510">
            <a:solidFill>
              <a:srgbClr val="10B981"/>
            </a:solidFill>
            <a:prstDash val="solid"/>
          </a:ln>
        </p:spPr>
      </p:sp>
      <p:sp>
        <p:nvSpPr>
          <p:cNvPr id="24" name="Text 22">
            <a:extLst xmlns:a="http://schemas.openxmlformats.org/drawingml/2006/main">
              <a:ext uri="{FF2B5EF4-FFF2-40B4-BE49-F238E27FC236}">
                <a16:creationId xmlns:a16="http://schemas.microsoft.com/office/drawing/2014/main" id="{C9C768E4-0EA2-44BF-B142-94312B3B5648}"/>
              </a:ext>
            </a:extLst>
          </p:cNvPr>
          <p:cNvSpPr>
            <a:spLocks xmlns:a="http://schemas.openxmlformats.org/drawingml/2006/main" noGrp="1"/>
          </p:cNvSpPr>
          <p:nvPr/>
        </p:nvSpPr>
        <p:spPr>
          <a:xfrm xmlns:a="http://schemas.openxmlformats.org/drawingml/2006/main">
            <a:off x="6473952" y="500176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USER</a:t>
            </a:r>
            <a:endParaRPr sz="1070"/>
          </a:p>
        </p:txBody>
      </p:sp>
      <p:sp>
        <p:nvSpPr>
          <p:cNvPr id="25" name="Shape 23">
            <a:extLst xmlns:a="http://schemas.openxmlformats.org/drawingml/2006/main">
              <a:ext uri="{FF2B5EF4-FFF2-40B4-BE49-F238E27FC236}">
                <a16:creationId xmlns:a16="http://schemas.microsoft.com/office/drawing/2014/main" id="{512F2AFE-0A52-4BFF-A99E-66053314E68E}"/>
              </a:ext>
            </a:extLst>
          </p:cNvPr>
          <p:cNvSpPr>
            <a:spLocks xmlns:a="http://schemas.openxmlformats.org/drawingml/2006/main" noGrp="1"/>
          </p:cNvSpPr>
          <p:nvPr/>
        </p:nvSpPr>
        <p:spPr>
          <a:xfrm xmlns:a="http://schemas.openxmlformats.org/drawingml/2006/main">
            <a:off x="685800" y="4983480"/>
            <a:ext cx="4754880" cy="777240"/>
          </a:xfrm>
          <a:prstGeom xmlns:a="http://schemas.openxmlformats.org/drawingml/2006/main" prst="roundRect">
            <a:avLst>
              <a:gd name="adj" fmla="val 11765"/>
            </a:avLst>
          </a:prstGeom>
          <a:solidFill xmlns:a="http://schemas.openxmlformats.org/drawingml/2006/main">
            <a:srgbClr val="0F172A"/>
          </a:solidFill>
          <a:ln xmlns:a="http://schemas.openxmlformats.org/drawingml/2006/main" w="12700">
            <a:solidFill>
              <a:srgbClr val="0F172A"/>
            </a:solidFill>
            <a:prstDash val="solid"/>
          </a:ln>
        </p:spPr>
      </p:sp>
      <p:sp>
        <p:nvSpPr>
          <p:cNvPr id="26" name="Text 24">
            <a:extLst xmlns:a="http://schemas.openxmlformats.org/drawingml/2006/main">
              <a:ext uri="{FF2B5EF4-FFF2-40B4-BE49-F238E27FC236}">
                <a16:creationId xmlns:a16="http://schemas.microsoft.com/office/drawing/2014/main" id="{02FDE82F-83FB-4B34-B5A8-A20378BC3C49}"/>
              </a:ext>
            </a:extLst>
          </p:cNvPr>
          <p:cNvSpPr>
            <a:spLocks xmlns:a="http://schemas.openxmlformats.org/drawingml/2006/main" noGrp="1"/>
          </p:cNvSpPr>
          <p:nvPr/>
        </p:nvSpPr>
        <p:spPr>
          <a:xfrm xmlns:a="http://schemas.openxmlformats.org/drawingml/2006/main">
            <a:off x="960120" y="5230368"/>
            <a:ext cx="42062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rPr>
              <a:t>AI recommends. Rules protect. Experts approve.</a:t>
            </a:r>
            <a:endParaRPr sz="1500"/>
          </a:p>
        </p:txBody>
      </p:sp>
      <p:sp>
        <p:nvSpPr>
          <p:cNvPr id="27" name="Slide Number Placeholder 0">
            <a:extLst xmlns:a="http://schemas.openxmlformats.org/drawingml/2006/main">
              <a:ext uri="{FF2B5EF4-FFF2-40B4-BE49-F238E27FC236}">
                <a16:creationId xmlns:a16="http://schemas.microsoft.com/office/drawing/2014/main" id="{8E29A64F-A14B-4761-A050-ED31E2EEF7C6}"/>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10</a:t>
            </a:fld>
            <a:endParaRPr/>
          </a:p>
        </p:txBody>
      </p:sp>
    </p:spTree>
    <p:extLst>
      <p:ext uri="{BB962C8B-B14F-4D97-AF65-F5344CB8AC3E}">
        <p14:creationId xmlns:p14="http://schemas.microsoft.com/office/powerpoint/2010/main" val="733703820"/>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9CD689B-CC1A-4ED2-A962-EFC23E3DB9D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43B53D-1D1A-48C2-B7AC-FA3FAD86A946}"/>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NUTRITION EXPERIENCE</a:t>
            </a:r>
          </a:p>
        </p:txBody>
      </p:sp>
      <p:sp>
        <p:nvSpPr>
          <p:cNvPr id="3" name="">
            <a:extLst xmlns:a="http://schemas.openxmlformats.org/drawingml/2006/main">
              <a:ext uri="{FF2B5EF4-FFF2-40B4-BE49-F238E27FC236}">
                <a16:creationId xmlns:a16="http://schemas.microsoft.com/office/drawing/2014/main" id="{3150FD62-F3BA-4CE6-AE5E-6BB22692D69C}"/>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NutriCore: plans, fridge and approved meals</a:t>
            </a:r>
          </a:p>
        </p:txBody>
      </p:sp>
      <p:sp>
        <p:nvSpPr>
          <p:cNvPr id="4" name="">
            <a:extLst xmlns:a="http://schemas.openxmlformats.org/drawingml/2006/main">
              <a:ext uri="{FF2B5EF4-FFF2-40B4-BE49-F238E27FC236}">
                <a16:creationId xmlns:a16="http://schemas.microsoft.com/office/drawing/2014/main" id="{F6459A2D-D7C8-4F6F-81B0-CA554C0855BB}"/>
              </a:ext>
            </a:extLst>
          </p:cNvPr>
          <p:cNvSpPr>
            <a:spLocks xmlns:a="http://schemas.openxmlformats.org/drawingml/2006/main" noGrp="1"/>
          </p:cNvSpPr>
          <p:nvPr/>
        </p:nvSpPr>
        <p:spPr>
          <a:xfrm xmlns:a="http://schemas.openxmlformats.org/drawingml/2006/main">
            <a:off x="514350" y="64389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587087"/>
                </a:solidFill>
                <a:latin typeface="Aptos"/>
                <a:ea typeface="Aptos"/>
                <a:cs typeface="Aptos"/>
              </a:defRPr>
            </a:pPr>
            <a:r>
              <a:rPr sz="900" b="1">
                <a:solidFill>
                  <a:srgbClr val="587087"/>
                </a:solidFill>
                <a:latin typeface="Aptos"/>
                <a:ea typeface="Aptos"/>
                <a:cs typeface="Aptos"/>
              </a:rPr>
              <a:t>ELITE FITNESS</a:t>
            </a:r>
          </a:p>
        </p:txBody>
      </p:sp>
      <p:sp>
        <p:nvSpPr>
          <p:cNvPr id="5" name="">
            <a:extLst xmlns:a="http://schemas.openxmlformats.org/drawingml/2006/main">
              <a:ext uri="{FF2B5EF4-FFF2-40B4-BE49-F238E27FC236}">
                <a16:creationId xmlns:a16="http://schemas.microsoft.com/office/drawing/2014/main" id="{A148AEBE-D6C3-47B6-99AD-352DAE62B18D}"/>
              </a:ext>
            </a:extLst>
          </p:cNvPr>
          <p:cNvSpPr>
            <a:spLocks xmlns:a="http://schemas.openxmlformats.org/drawingml/2006/main" noGrp="1"/>
          </p:cNvSpPr>
          <p:nvPr/>
        </p:nvSpPr>
        <p:spPr>
          <a:xfrm xmlns:a="http://schemas.openxmlformats.org/drawingml/2006/main">
            <a:off x="9667875" y="64389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825" b="0">
                <a:solidFill>
                  <a:srgbClr val="587087"/>
                </a:solidFill>
                <a:latin typeface="Aptos"/>
                <a:ea typeface="Aptos"/>
                <a:cs typeface="Aptos"/>
              </a:defRPr>
            </a:pPr>
            <a:r>
              <a:rPr sz="825" b="0">
                <a:solidFill>
                  <a:srgbClr val="587087"/>
                </a:solidFill>
                <a:latin typeface="Aptos"/>
                <a:ea typeface="Aptos"/>
                <a:cs typeface="Aptos"/>
              </a:rPr>
              <a:t>FINAL YEAR PROJECT   11</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9c5942ff9d94e0c"/>
          <a:stretch xmlns:a="http://schemas.openxmlformats.org/drawingml/2006/main"/>
        </p:blipFill>
        <p:spPr>
          <a:xfrm xmlns:a="http://schemas.openxmlformats.org/drawingml/2006/main">
            <a:off x="644937" y="1419225"/>
            <a:ext cx="2510601" cy="450532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c616c0eaacf46f5"/>
          <a:stretch xmlns:a="http://schemas.openxmlformats.org/drawingml/2006/main"/>
        </p:blipFill>
        <p:spPr>
          <a:xfrm xmlns:a="http://schemas.openxmlformats.org/drawingml/2006/main">
            <a:off x="3593468" y="1419225"/>
            <a:ext cx="2099940" cy="45053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362AD59-CA53-4C2E-84D4-D787A2E76F61}"/>
              </a:ext>
            </a:extLst>
          </p:cNvPr>
          <p:cNvSpPr>
            <a:spLocks xmlns:a="http://schemas.openxmlformats.org/drawingml/2006/main" noGrp="1"/>
          </p:cNvSpPr>
          <p:nvPr/>
        </p:nvSpPr>
        <p:spPr>
          <a:xfrm xmlns:a="http://schemas.openxmlformats.org/drawingml/2006/main">
            <a:off x="6448425" y="1524000"/>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11B2D"/>
                </a:solidFill>
                <a:latin typeface="Aptos Display"/>
                <a:ea typeface="Aptos Display"/>
                <a:cs typeface="Aptos Display"/>
              </a:defRPr>
            </a:pPr>
            <a:r>
              <a:rPr sz="2025" b="1">
                <a:solidFill>
                  <a:srgbClr val="111B2D"/>
                </a:solidFill>
                <a:latin typeface="Aptos Display"/>
                <a:ea typeface="Aptos Display"/>
                <a:cs typeface="Aptos Display"/>
              </a:rPr>
              <a:t>Every suggestion passes two gates</a:t>
            </a:r>
          </a:p>
        </p:txBody>
      </p:sp>
      <p:sp>
        <p:nvSpPr>
          <p:cNvPr id="9" name="">
            <a:extLst xmlns:a="http://schemas.openxmlformats.org/drawingml/2006/main">
              <a:ext uri="{FF2B5EF4-FFF2-40B4-BE49-F238E27FC236}">
                <a16:creationId xmlns:a16="http://schemas.microsoft.com/office/drawing/2014/main" id="{8900E0F0-139D-4895-BCAE-6B827E28B579}"/>
              </a:ext>
            </a:extLst>
          </p:cNvPr>
          <p:cNvSpPr>
            <a:spLocks xmlns:a="http://schemas.openxmlformats.org/drawingml/2006/main" noGrp="1"/>
          </p:cNvSpPr>
          <p:nvPr/>
        </p:nvSpPr>
        <p:spPr>
          <a:xfrm xmlns:a="http://schemas.openxmlformats.org/drawingml/2006/main">
            <a:off x="6448425" y="2543175"/>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04BA87"/>
                </a:solidFill>
                <a:latin typeface="Aptos"/>
                <a:ea typeface="Aptos"/>
                <a:cs typeface="Aptos"/>
              </a:defRPr>
            </a:pPr>
            <a:r>
              <a:rPr sz="2025" b="1">
                <a:solidFill>
                  <a:srgbClr val="04BA87"/>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13C7C620-BC0C-4A65-A50A-13FFFC116E53}"/>
              </a:ext>
            </a:extLst>
          </p:cNvPr>
          <p:cNvSpPr>
            <a:spLocks xmlns:a="http://schemas.openxmlformats.org/drawingml/2006/main" noGrp="1"/>
          </p:cNvSpPr>
          <p:nvPr/>
        </p:nvSpPr>
        <p:spPr>
          <a:xfrm xmlns:a="http://schemas.openxmlformats.org/drawingml/2006/main">
            <a:off x="6943725" y="248602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Allergy and dislike filters</a:t>
            </a:r>
          </a:p>
        </p:txBody>
      </p:sp>
      <p:sp>
        <p:nvSpPr>
          <p:cNvPr id="11" name="">
            <a:extLst xmlns:a="http://schemas.openxmlformats.org/drawingml/2006/main">
              <a:ext uri="{FF2B5EF4-FFF2-40B4-BE49-F238E27FC236}">
                <a16:creationId xmlns:a16="http://schemas.microsoft.com/office/drawing/2014/main" id="{6A2063A7-704D-4236-9752-241FE2B5EC22}"/>
              </a:ext>
            </a:extLst>
          </p:cNvPr>
          <p:cNvSpPr>
            <a:spLocks xmlns:a="http://schemas.openxmlformats.org/drawingml/2006/main" noGrp="1"/>
          </p:cNvSpPr>
          <p:nvPr/>
        </p:nvSpPr>
        <p:spPr>
          <a:xfrm xmlns:a="http://schemas.openxmlformats.org/drawingml/2006/main">
            <a:off x="6448425" y="3457575"/>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04BA87"/>
                </a:solidFill>
                <a:latin typeface="Aptos"/>
                <a:ea typeface="Aptos"/>
                <a:cs typeface="Aptos"/>
              </a:defRPr>
            </a:pPr>
            <a:r>
              <a:rPr sz="2025" b="1">
                <a:solidFill>
                  <a:srgbClr val="04BA87"/>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020616BB-3F56-471F-A89C-C10D7217B79F}"/>
              </a:ext>
            </a:extLst>
          </p:cNvPr>
          <p:cNvSpPr>
            <a:spLocks xmlns:a="http://schemas.openxmlformats.org/drawingml/2006/main" noGrp="1"/>
          </p:cNvSpPr>
          <p:nvPr/>
        </p:nvSpPr>
        <p:spPr>
          <a:xfrm xmlns:a="http://schemas.openxmlformats.org/drawingml/2006/main">
            <a:off x="6943725" y="340042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Expert approval before display</a:t>
            </a:r>
          </a:p>
        </p:txBody>
      </p:sp>
      <p:sp>
        <p:nvSpPr>
          <p:cNvPr id="13" name="">
            <a:extLst xmlns:a="http://schemas.openxmlformats.org/drawingml/2006/main">
              <a:ext uri="{FF2B5EF4-FFF2-40B4-BE49-F238E27FC236}">
                <a16:creationId xmlns:a16="http://schemas.microsoft.com/office/drawing/2014/main" id="{7DD75BC4-4BBE-43A2-91FB-2FF43E8621C7}"/>
              </a:ext>
            </a:extLst>
          </p:cNvPr>
          <p:cNvSpPr>
            <a:spLocks xmlns:a="http://schemas.openxmlformats.org/drawingml/2006/main" noGrp="1"/>
          </p:cNvSpPr>
          <p:nvPr/>
        </p:nvSpPr>
        <p:spPr>
          <a:xfrm xmlns:a="http://schemas.openxmlformats.org/drawingml/2006/main">
            <a:off x="6448425" y="4448175"/>
            <a:ext cx="4895850" cy="381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77BB1CC-748E-4326-A8A1-D7C8FFE4CD6F}"/>
              </a:ext>
            </a:extLst>
          </p:cNvPr>
          <p:cNvSpPr>
            <a:spLocks xmlns:a="http://schemas.openxmlformats.org/drawingml/2006/main" noGrp="1"/>
          </p:cNvSpPr>
          <p:nvPr/>
        </p:nvSpPr>
        <p:spPr>
          <a:xfrm xmlns:a="http://schemas.openxmlformats.org/drawingml/2006/main">
            <a:off x="6448425" y="4695825"/>
            <a:ext cx="49339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87087"/>
                </a:solidFill>
                <a:latin typeface="Aptos"/>
                <a:ea typeface="Aptos"/>
                <a:cs typeface="Aptos"/>
              </a:defRPr>
            </a:pPr>
            <a:r>
              <a:rPr sz="1575" b="0">
                <a:solidFill>
                  <a:srgbClr val="587087"/>
                </a:solidFill>
                <a:latin typeface="Aptos"/>
                <a:ea typeface="Aptos"/>
                <a:cs typeface="Aptos"/>
              </a:rPr>
              <a:t>The fridge feature proposes swaps using ingredients the user already has.</a:t>
            </a:r>
          </a:p>
        </p:txBody>
      </p:sp>
    </p:spTree>
    <p:extLst>
      <p:ext uri="{BB962C8B-B14F-4D97-AF65-F5344CB8AC3E}">
        <p14:creationId xmlns:p14="http://schemas.microsoft.com/office/powerpoint/2010/main" val="10873998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BBCF47E-48C5-490B-8E5A-12D18E753982}"/>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VIDEO INTELLIGENCE</a:t>
            </a:r>
            <a:endParaRPr sz="1000"/>
          </a:p>
        </p:txBody>
      </p:sp>
      <p:sp>
        <p:nvSpPr>
          <p:cNvPr id="3" name="Text 1">
            <a:extLst xmlns:a="http://schemas.openxmlformats.org/drawingml/2006/main">
              <a:ext uri="{FF2B5EF4-FFF2-40B4-BE49-F238E27FC236}">
                <a16:creationId xmlns:a16="http://schemas.microsoft.com/office/drawing/2014/main" id="{3E836D41-0D95-423F-8DCF-38952EB8409E}"/>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PoseForm AI — Computer Vision for Exercise Form</a:t>
            </a:r>
            <a:endParaRPr sz="2800"/>
          </a:p>
        </p:txBody>
      </p:sp>
      <p:sp>
        <p:nvSpPr>
          <p:cNvPr id="4" name="Shape 2">
            <a:extLst xmlns:a="http://schemas.openxmlformats.org/drawingml/2006/main">
              <a:ext uri="{FF2B5EF4-FFF2-40B4-BE49-F238E27FC236}">
                <a16:creationId xmlns:a16="http://schemas.microsoft.com/office/drawing/2014/main" id="{45852290-C128-42FA-AA32-9E2C88EA4294}"/>
              </a:ext>
            </a:extLst>
          </p:cNvPr>
          <p:cNvSpPr>
            <a:spLocks xmlns:a="http://schemas.openxmlformats.org/drawingml/2006/main" noGrp="1"/>
          </p:cNvSpPr>
          <p:nvPr/>
        </p:nvSpPr>
        <p:spPr>
          <a:xfrm xmlns:a="http://schemas.openxmlformats.org/drawingml/2006/main">
            <a:off x="685800" y="1280160"/>
            <a:ext cx="4206240" cy="4434840"/>
          </a:xfrm>
          <a:prstGeom xmlns:a="http://schemas.openxmlformats.org/drawingml/2006/main" prst="roundRect">
            <a:avLst>
              <a:gd name="adj" fmla="val 2174"/>
            </a:avLst>
          </a:prstGeom>
          <a:solidFill xmlns:a="http://schemas.openxmlformats.org/drawingml/2006/main">
            <a:srgbClr val="0F172A"/>
          </a:solidFill>
          <a:ln xmlns:a="http://schemas.openxmlformats.org/drawingml/2006/main" w="12700">
            <a:solidFill>
              <a:srgbClr val="0F172A"/>
            </a:solidFill>
            <a:prstDash val="solid"/>
          </a:ln>
        </p:spPr>
      </p:sp>
      <p:sp>
        <p:nvSpPr>
          <p:cNvPr id="5" name="Shape 3">
            <a:extLst xmlns:a="http://schemas.openxmlformats.org/drawingml/2006/main">
              <a:ext uri="{FF2B5EF4-FFF2-40B4-BE49-F238E27FC236}">
                <a16:creationId xmlns:a16="http://schemas.microsoft.com/office/drawing/2014/main" id="{01A12E64-5545-48DA-8B92-E81A0594F638}"/>
              </a:ext>
            </a:extLst>
          </p:cNvPr>
          <p:cNvSpPr>
            <a:spLocks xmlns:a="http://schemas.openxmlformats.org/drawingml/2006/main" noGrp="1"/>
          </p:cNvSpPr>
          <p:nvPr/>
        </p:nvSpPr>
        <p:spPr>
          <a:xfrm xmlns:a="http://schemas.openxmlformats.org/drawingml/2006/main">
            <a:off x="2414016" y="1755648"/>
            <a:ext cx="566928" cy="566928"/>
          </a:xfrm>
          <a:prstGeom xmlns:a="http://schemas.openxmlformats.org/drawingml/2006/main" prst="ellipse">
            <a:avLst/>
          </a:prstGeom>
          <a:solidFill xmlns:a="http://schemas.openxmlformats.org/drawingml/2006/main">
            <a:srgbClr val="E2E8F0"/>
          </a:solidFill>
          <a:ln xmlns:a="http://schemas.openxmlformats.org/drawingml/2006/main" w="38100">
            <a:solidFill>
              <a:srgbClr val="10B981"/>
            </a:solidFill>
            <a:prstDash val="solid"/>
          </a:ln>
        </p:spPr>
      </p:sp>
      <p:sp>
        <p:nvSpPr>
          <p:cNvPr id="6" name="Shape 4">
            <a:extLst xmlns:a="http://schemas.openxmlformats.org/drawingml/2006/main">
              <a:ext uri="{FF2B5EF4-FFF2-40B4-BE49-F238E27FC236}">
                <a16:creationId xmlns:a16="http://schemas.microsoft.com/office/drawing/2014/main" id="{7322F3B8-649D-4910-8BEA-4B00C215659F}"/>
              </a:ext>
            </a:extLst>
          </p:cNvPr>
          <p:cNvSpPr>
            <a:spLocks xmlns:a="http://schemas.openxmlformats.org/drawingml/2006/main" noGrp="1"/>
          </p:cNvSpPr>
          <p:nvPr/>
        </p:nvSpPr>
        <p:spPr>
          <a:xfrm xmlns:a="http://schemas.openxmlformats.org/drawingml/2006/main">
            <a:off x="2697480" y="2322576"/>
            <a:ext cx="1" cy="1051560"/>
          </a:xfrm>
          <a:prstGeom xmlns:a="http://schemas.openxmlformats.org/drawingml/2006/main" prst="line">
            <a:avLst/>
          </a:prstGeom>
          <a:noFill xmlns:a="http://schemas.openxmlformats.org/drawingml/2006/main"/>
          <a:ln xmlns:a="http://schemas.openxmlformats.org/drawingml/2006/main" w="63500">
            <a:solidFill>
              <a:srgbClr val="10B981"/>
            </a:solidFill>
            <a:prstDash val="solid"/>
          </a:ln>
        </p:spPr>
      </p:sp>
      <p:sp>
        <p:nvSpPr>
          <p:cNvPr id="7" name="Shape 5">
            <a:extLst xmlns:a="http://schemas.openxmlformats.org/drawingml/2006/main">
              <a:ext uri="{FF2B5EF4-FFF2-40B4-BE49-F238E27FC236}">
                <a16:creationId xmlns:a16="http://schemas.microsoft.com/office/drawing/2014/main" id="{E3C3B5CC-4722-4BBF-A4D1-79BB85B50FC8}"/>
              </a:ext>
            </a:extLst>
          </p:cNvPr>
          <p:cNvSpPr>
            <a:spLocks xmlns:a="http://schemas.openxmlformats.org/drawingml/2006/main" noGrp="1"/>
          </p:cNvSpPr>
          <p:nvPr/>
        </p:nvSpPr>
        <p:spPr>
          <a:xfrm xmlns:a="http://schemas.openxmlformats.org/drawingml/2006/main" flipH="1">
            <a:off x="1737360" y="2560320"/>
            <a:ext cx="960120" cy="658368"/>
          </a:xfrm>
          <a:prstGeom xmlns:a="http://schemas.openxmlformats.org/drawingml/2006/main" prst="line">
            <a:avLst/>
          </a:prstGeom>
          <a:noFill xmlns:a="http://schemas.openxmlformats.org/drawingml/2006/main"/>
          <a:ln xmlns:a="http://schemas.openxmlformats.org/drawingml/2006/main" w="63500">
            <a:solidFill>
              <a:srgbClr val="10B981"/>
            </a:solidFill>
            <a:prstDash val="solid"/>
          </a:ln>
        </p:spPr>
      </p:sp>
      <p:sp>
        <p:nvSpPr>
          <p:cNvPr id="8" name="Shape 6">
            <a:extLst xmlns:a="http://schemas.openxmlformats.org/drawingml/2006/main">
              <a:ext uri="{FF2B5EF4-FFF2-40B4-BE49-F238E27FC236}">
                <a16:creationId xmlns:a16="http://schemas.microsoft.com/office/drawing/2014/main" id="{5504D68C-81DA-45F0-B615-AB021E1E0F38}"/>
              </a:ext>
            </a:extLst>
          </p:cNvPr>
          <p:cNvSpPr>
            <a:spLocks xmlns:a="http://schemas.openxmlformats.org/drawingml/2006/main" noGrp="1"/>
          </p:cNvSpPr>
          <p:nvPr/>
        </p:nvSpPr>
        <p:spPr>
          <a:xfrm xmlns:a="http://schemas.openxmlformats.org/drawingml/2006/main">
            <a:off x="2697480" y="2560320"/>
            <a:ext cx="960120" cy="658368"/>
          </a:xfrm>
          <a:prstGeom xmlns:a="http://schemas.openxmlformats.org/drawingml/2006/main" prst="line">
            <a:avLst/>
          </a:prstGeom>
          <a:noFill xmlns:a="http://schemas.openxmlformats.org/drawingml/2006/main"/>
          <a:ln xmlns:a="http://schemas.openxmlformats.org/drawingml/2006/main" w="63500">
            <a:solidFill>
              <a:srgbClr val="10B981"/>
            </a:solidFill>
            <a:prstDash val="solid"/>
          </a:ln>
        </p:spPr>
      </p:sp>
      <p:sp>
        <p:nvSpPr>
          <p:cNvPr id="9" name="Shape 7">
            <a:extLst xmlns:a="http://schemas.openxmlformats.org/drawingml/2006/main">
              <a:ext uri="{FF2B5EF4-FFF2-40B4-BE49-F238E27FC236}">
                <a16:creationId xmlns:a16="http://schemas.microsoft.com/office/drawing/2014/main" id="{7D201736-01CF-4674-B5D0-2DC957A23B5A}"/>
              </a:ext>
            </a:extLst>
          </p:cNvPr>
          <p:cNvSpPr>
            <a:spLocks xmlns:a="http://schemas.openxmlformats.org/drawingml/2006/main" noGrp="1"/>
          </p:cNvSpPr>
          <p:nvPr/>
        </p:nvSpPr>
        <p:spPr>
          <a:xfrm xmlns:a="http://schemas.openxmlformats.org/drawingml/2006/main" flipH="1">
            <a:off x="1911096" y="3364992"/>
            <a:ext cx="786384" cy="1078992"/>
          </a:xfrm>
          <a:prstGeom xmlns:a="http://schemas.openxmlformats.org/drawingml/2006/main" prst="line">
            <a:avLst/>
          </a:prstGeom>
          <a:noFill xmlns:a="http://schemas.openxmlformats.org/drawingml/2006/main"/>
          <a:ln xmlns:a="http://schemas.openxmlformats.org/drawingml/2006/main" w="63500">
            <a:solidFill>
              <a:srgbClr val="10B981"/>
            </a:solidFill>
            <a:prstDash val="solid"/>
          </a:ln>
        </p:spPr>
      </p:sp>
      <p:sp>
        <p:nvSpPr>
          <p:cNvPr id="10" name="Shape 8">
            <a:extLst xmlns:a="http://schemas.openxmlformats.org/drawingml/2006/main">
              <a:ext uri="{FF2B5EF4-FFF2-40B4-BE49-F238E27FC236}">
                <a16:creationId xmlns:a16="http://schemas.microsoft.com/office/drawing/2014/main" id="{669AFBF3-529F-4B2C-BCD0-B08D8E259099}"/>
              </a:ext>
            </a:extLst>
          </p:cNvPr>
          <p:cNvSpPr>
            <a:spLocks xmlns:a="http://schemas.openxmlformats.org/drawingml/2006/main" noGrp="1"/>
          </p:cNvSpPr>
          <p:nvPr/>
        </p:nvSpPr>
        <p:spPr>
          <a:xfrm xmlns:a="http://schemas.openxmlformats.org/drawingml/2006/main">
            <a:off x="2697480" y="3364992"/>
            <a:ext cx="786384" cy="1078992"/>
          </a:xfrm>
          <a:prstGeom xmlns:a="http://schemas.openxmlformats.org/drawingml/2006/main" prst="line">
            <a:avLst/>
          </a:prstGeom>
          <a:noFill xmlns:a="http://schemas.openxmlformats.org/drawingml/2006/main"/>
          <a:ln xmlns:a="http://schemas.openxmlformats.org/drawingml/2006/main" w="63500">
            <a:solidFill>
              <a:srgbClr val="10B981"/>
            </a:solidFill>
            <a:prstDash val="solid"/>
          </a:ln>
        </p:spPr>
      </p:sp>
      <p:sp>
        <p:nvSpPr>
          <p:cNvPr id="11" name="Shape 9">
            <a:extLst xmlns:a="http://schemas.openxmlformats.org/drawingml/2006/main">
              <a:ext uri="{FF2B5EF4-FFF2-40B4-BE49-F238E27FC236}">
                <a16:creationId xmlns:a16="http://schemas.microsoft.com/office/drawing/2014/main" id="{B7F4F0BF-A466-4C46-81E7-44FE8ECF29F4}"/>
              </a:ext>
            </a:extLst>
          </p:cNvPr>
          <p:cNvSpPr>
            <a:spLocks xmlns:a="http://schemas.openxmlformats.org/drawingml/2006/main" noGrp="1"/>
          </p:cNvSpPr>
          <p:nvPr/>
        </p:nvSpPr>
        <p:spPr>
          <a:xfrm xmlns:a="http://schemas.openxmlformats.org/drawingml/2006/main">
            <a:off x="2624328" y="2487168"/>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2" name="Shape 10">
            <a:extLst xmlns:a="http://schemas.openxmlformats.org/drawingml/2006/main">
              <a:ext uri="{FF2B5EF4-FFF2-40B4-BE49-F238E27FC236}">
                <a16:creationId xmlns:a16="http://schemas.microsoft.com/office/drawing/2014/main" id="{AD06D3F6-4D9E-4613-BB1E-90ED66141824}"/>
              </a:ext>
            </a:extLst>
          </p:cNvPr>
          <p:cNvSpPr>
            <a:spLocks xmlns:a="http://schemas.openxmlformats.org/drawingml/2006/main" noGrp="1"/>
          </p:cNvSpPr>
          <p:nvPr/>
        </p:nvSpPr>
        <p:spPr>
          <a:xfrm xmlns:a="http://schemas.openxmlformats.org/drawingml/2006/main">
            <a:off x="1664208" y="3145536"/>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3" name="Shape 11">
            <a:extLst xmlns:a="http://schemas.openxmlformats.org/drawingml/2006/main">
              <a:ext uri="{FF2B5EF4-FFF2-40B4-BE49-F238E27FC236}">
                <a16:creationId xmlns:a16="http://schemas.microsoft.com/office/drawing/2014/main" id="{FEAD5884-394A-4964-A67D-2443F1C56F47}"/>
              </a:ext>
            </a:extLst>
          </p:cNvPr>
          <p:cNvSpPr>
            <a:spLocks xmlns:a="http://schemas.openxmlformats.org/drawingml/2006/main" noGrp="1"/>
          </p:cNvSpPr>
          <p:nvPr/>
        </p:nvSpPr>
        <p:spPr>
          <a:xfrm xmlns:a="http://schemas.openxmlformats.org/drawingml/2006/main">
            <a:off x="3584448" y="3145536"/>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4" name="Shape 12">
            <a:extLst xmlns:a="http://schemas.openxmlformats.org/drawingml/2006/main">
              <a:ext uri="{FF2B5EF4-FFF2-40B4-BE49-F238E27FC236}">
                <a16:creationId xmlns:a16="http://schemas.microsoft.com/office/drawing/2014/main" id="{7FCE3386-7138-44F6-A29D-C6CF835B0499}"/>
              </a:ext>
            </a:extLst>
          </p:cNvPr>
          <p:cNvSpPr>
            <a:spLocks xmlns:a="http://schemas.openxmlformats.org/drawingml/2006/main" noGrp="1"/>
          </p:cNvSpPr>
          <p:nvPr/>
        </p:nvSpPr>
        <p:spPr>
          <a:xfrm xmlns:a="http://schemas.openxmlformats.org/drawingml/2006/main">
            <a:off x="2624328" y="3291840"/>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5" name="Shape 13">
            <a:extLst xmlns:a="http://schemas.openxmlformats.org/drawingml/2006/main">
              <a:ext uri="{FF2B5EF4-FFF2-40B4-BE49-F238E27FC236}">
                <a16:creationId xmlns:a16="http://schemas.microsoft.com/office/drawing/2014/main" id="{5AA3631C-8FED-48A2-8369-D025DBBB2BCD}"/>
              </a:ext>
            </a:extLst>
          </p:cNvPr>
          <p:cNvSpPr>
            <a:spLocks xmlns:a="http://schemas.openxmlformats.org/drawingml/2006/main" noGrp="1"/>
          </p:cNvSpPr>
          <p:nvPr/>
        </p:nvSpPr>
        <p:spPr>
          <a:xfrm xmlns:a="http://schemas.openxmlformats.org/drawingml/2006/main">
            <a:off x="1837944" y="4370832"/>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6" name="Shape 14">
            <a:extLst xmlns:a="http://schemas.openxmlformats.org/drawingml/2006/main">
              <a:ext uri="{FF2B5EF4-FFF2-40B4-BE49-F238E27FC236}">
                <a16:creationId xmlns:a16="http://schemas.microsoft.com/office/drawing/2014/main" id="{D821A90E-A2CF-41BA-9E84-5A6C25F22582}"/>
              </a:ext>
            </a:extLst>
          </p:cNvPr>
          <p:cNvSpPr>
            <a:spLocks xmlns:a="http://schemas.openxmlformats.org/drawingml/2006/main" noGrp="1"/>
          </p:cNvSpPr>
          <p:nvPr/>
        </p:nvSpPr>
        <p:spPr>
          <a:xfrm xmlns:a="http://schemas.openxmlformats.org/drawingml/2006/main">
            <a:off x="3410712" y="4370832"/>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7" name="Text 15">
            <a:extLst xmlns:a="http://schemas.openxmlformats.org/drawingml/2006/main">
              <a:ext uri="{FF2B5EF4-FFF2-40B4-BE49-F238E27FC236}">
                <a16:creationId xmlns:a16="http://schemas.microsoft.com/office/drawing/2014/main" id="{A9880484-27DB-4A70-87E3-9E210255951F}"/>
              </a:ext>
            </a:extLst>
          </p:cNvPr>
          <p:cNvSpPr>
            <a:spLocks xmlns:a="http://schemas.openxmlformats.org/drawingml/2006/main" noGrp="1"/>
          </p:cNvSpPr>
          <p:nvPr/>
        </p:nvSpPr>
        <p:spPr>
          <a:xfrm xmlns:a="http://schemas.openxmlformats.org/drawingml/2006/main">
            <a:off x="1005840" y="5166360"/>
            <a:ext cx="3566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rPr>
              <a:t>LANDMARK + ANGLE ANALYSIS</a:t>
            </a:r>
            <a:endParaRPr sz="1200"/>
          </a:p>
        </p:txBody>
      </p:sp>
      <p:sp>
        <p:nvSpPr>
          <p:cNvPr id="18" name="Shape 16">
            <a:extLst xmlns:a="http://schemas.openxmlformats.org/drawingml/2006/main">
              <a:ext uri="{FF2B5EF4-FFF2-40B4-BE49-F238E27FC236}">
                <a16:creationId xmlns:a16="http://schemas.microsoft.com/office/drawing/2014/main" id="{CAD6718A-7088-45F2-A219-F114B6C52A1D}"/>
              </a:ext>
            </a:extLst>
          </p:cNvPr>
          <p:cNvSpPr>
            <a:spLocks xmlns:a="http://schemas.openxmlformats.org/drawingml/2006/main" noGrp="1"/>
          </p:cNvSpPr>
          <p:nvPr/>
        </p:nvSpPr>
        <p:spPr>
          <a:xfrm xmlns:a="http://schemas.openxmlformats.org/drawingml/2006/main">
            <a:off x="5623560" y="1234440"/>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19" name="Text 17">
            <a:extLst xmlns:a="http://schemas.openxmlformats.org/drawingml/2006/main">
              <a:ext uri="{FF2B5EF4-FFF2-40B4-BE49-F238E27FC236}">
                <a16:creationId xmlns:a16="http://schemas.microsoft.com/office/drawing/2014/main" id="{471C052B-0C6B-4836-9D6E-69E51A14AC75}"/>
              </a:ext>
            </a:extLst>
          </p:cNvPr>
          <p:cNvSpPr>
            <a:spLocks xmlns:a="http://schemas.openxmlformats.org/drawingml/2006/main" noGrp="1"/>
          </p:cNvSpPr>
          <p:nvPr/>
        </p:nvSpPr>
        <p:spPr>
          <a:xfrm xmlns:a="http://schemas.openxmlformats.org/drawingml/2006/main">
            <a:off x="5696712" y="1280160"/>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Recorded Video</a:t>
            </a:r>
            <a:endParaRPr sz="1100"/>
          </a:p>
        </p:txBody>
      </p:sp>
      <p:sp>
        <p:nvSpPr>
          <p:cNvPr id="20" name="Shape 18">
            <a:extLst xmlns:a="http://schemas.openxmlformats.org/drawingml/2006/main">
              <a:ext uri="{FF2B5EF4-FFF2-40B4-BE49-F238E27FC236}">
                <a16:creationId xmlns:a16="http://schemas.microsoft.com/office/drawing/2014/main" id="{50FD7513-2146-4CD9-ACD6-BE0C01BD0F56}"/>
              </a:ext>
            </a:extLst>
          </p:cNvPr>
          <p:cNvSpPr>
            <a:spLocks xmlns:a="http://schemas.openxmlformats.org/drawingml/2006/main" noGrp="1"/>
          </p:cNvSpPr>
          <p:nvPr/>
        </p:nvSpPr>
        <p:spPr>
          <a:xfrm xmlns:a="http://schemas.openxmlformats.org/drawingml/2006/main">
            <a:off x="8275320" y="1664208"/>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21" name="Shape 19">
            <a:extLst xmlns:a="http://schemas.openxmlformats.org/drawingml/2006/main">
              <a:ext uri="{FF2B5EF4-FFF2-40B4-BE49-F238E27FC236}">
                <a16:creationId xmlns:a16="http://schemas.microsoft.com/office/drawing/2014/main" id="{EC16994B-8103-4D79-A93E-9BF28A1C7B99}"/>
              </a:ext>
            </a:extLst>
          </p:cNvPr>
          <p:cNvSpPr>
            <a:spLocks xmlns:a="http://schemas.openxmlformats.org/drawingml/2006/main" noGrp="1"/>
          </p:cNvSpPr>
          <p:nvPr/>
        </p:nvSpPr>
        <p:spPr>
          <a:xfrm xmlns:a="http://schemas.openxmlformats.org/drawingml/2006/main">
            <a:off x="5623560" y="1856232"/>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22" name="Text 20">
            <a:extLst xmlns:a="http://schemas.openxmlformats.org/drawingml/2006/main">
              <a:ext uri="{FF2B5EF4-FFF2-40B4-BE49-F238E27FC236}">
                <a16:creationId xmlns:a16="http://schemas.microsoft.com/office/drawing/2014/main" id="{51EB83CC-DD47-466F-A0A5-5C3A6B280B82}"/>
              </a:ext>
            </a:extLst>
          </p:cNvPr>
          <p:cNvSpPr>
            <a:spLocks xmlns:a="http://schemas.openxmlformats.org/drawingml/2006/main" noGrp="1"/>
          </p:cNvSpPr>
          <p:nvPr/>
        </p:nvSpPr>
        <p:spPr>
          <a:xfrm xmlns:a="http://schemas.openxmlformats.org/drawingml/2006/main">
            <a:off x="5696712" y="1901952"/>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Pose Landmarks</a:t>
            </a:r>
            <a:endParaRPr sz="1100"/>
          </a:p>
        </p:txBody>
      </p:sp>
      <p:sp>
        <p:nvSpPr>
          <p:cNvPr id="23" name="Shape 21">
            <a:extLst xmlns:a="http://schemas.openxmlformats.org/drawingml/2006/main">
              <a:ext uri="{FF2B5EF4-FFF2-40B4-BE49-F238E27FC236}">
                <a16:creationId xmlns:a16="http://schemas.microsoft.com/office/drawing/2014/main" id="{79C2A19F-CFF9-4258-8997-A5E3D99983D8}"/>
              </a:ext>
            </a:extLst>
          </p:cNvPr>
          <p:cNvSpPr>
            <a:spLocks xmlns:a="http://schemas.openxmlformats.org/drawingml/2006/main" noGrp="1"/>
          </p:cNvSpPr>
          <p:nvPr/>
        </p:nvSpPr>
        <p:spPr>
          <a:xfrm xmlns:a="http://schemas.openxmlformats.org/drawingml/2006/main">
            <a:off x="8275320" y="2286000"/>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24" name="Shape 22">
            <a:extLst xmlns:a="http://schemas.openxmlformats.org/drawingml/2006/main">
              <a:ext uri="{FF2B5EF4-FFF2-40B4-BE49-F238E27FC236}">
                <a16:creationId xmlns:a16="http://schemas.microsoft.com/office/drawing/2014/main" id="{80A15610-E0FB-4C8A-99CC-712A98B2B3A4}"/>
              </a:ext>
            </a:extLst>
          </p:cNvPr>
          <p:cNvSpPr>
            <a:spLocks xmlns:a="http://schemas.openxmlformats.org/drawingml/2006/main" noGrp="1"/>
          </p:cNvSpPr>
          <p:nvPr/>
        </p:nvSpPr>
        <p:spPr>
          <a:xfrm xmlns:a="http://schemas.openxmlformats.org/drawingml/2006/main">
            <a:off x="5623560" y="2478024"/>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25" name="Text 23">
            <a:extLst xmlns:a="http://schemas.openxmlformats.org/drawingml/2006/main">
              <a:ext uri="{FF2B5EF4-FFF2-40B4-BE49-F238E27FC236}">
                <a16:creationId xmlns:a16="http://schemas.microsoft.com/office/drawing/2014/main" id="{5EBD9DCB-46FB-4FED-8638-BA46FD9A4F0E}"/>
              </a:ext>
            </a:extLst>
          </p:cNvPr>
          <p:cNvSpPr>
            <a:spLocks xmlns:a="http://schemas.openxmlformats.org/drawingml/2006/main" noGrp="1"/>
          </p:cNvSpPr>
          <p:nvPr/>
        </p:nvSpPr>
        <p:spPr>
          <a:xfrm xmlns:a="http://schemas.openxmlformats.org/drawingml/2006/main">
            <a:off x="5696712" y="2523744"/>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Movement Phases</a:t>
            </a:r>
            <a:endParaRPr sz="1100"/>
          </a:p>
        </p:txBody>
      </p:sp>
      <p:sp>
        <p:nvSpPr>
          <p:cNvPr id="26" name="Shape 24">
            <a:extLst xmlns:a="http://schemas.openxmlformats.org/drawingml/2006/main">
              <a:ext uri="{FF2B5EF4-FFF2-40B4-BE49-F238E27FC236}">
                <a16:creationId xmlns:a16="http://schemas.microsoft.com/office/drawing/2014/main" id="{B368F612-5977-4EFA-B3D1-58EBD9CB54BF}"/>
              </a:ext>
            </a:extLst>
          </p:cNvPr>
          <p:cNvSpPr>
            <a:spLocks xmlns:a="http://schemas.openxmlformats.org/drawingml/2006/main" noGrp="1"/>
          </p:cNvSpPr>
          <p:nvPr/>
        </p:nvSpPr>
        <p:spPr>
          <a:xfrm xmlns:a="http://schemas.openxmlformats.org/drawingml/2006/main">
            <a:off x="8275320" y="2907792"/>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27" name="Shape 25">
            <a:extLst xmlns:a="http://schemas.openxmlformats.org/drawingml/2006/main">
              <a:ext uri="{FF2B5EF4-FFF2-40B4-BE49-F238E27FC236}">
                <a16:creationId xmlns:a16="http://schemas.microsoft.com/office/drawing/2014/main" id="{5E76970F-D5BD-4C87-97C0-614EAEBF8D24}"/>
              </a:ext>
            </a:extLst>
          </p:cNvPr>
          <p:cNvSpPr>
            <a:spLocks xmlns:a="http://schemas.openxmlformats.org/drawingml/2006/main" noGrp="1"/>
          </p:cNvSpPr>
          <p:nvPr/>
        </p:nvSpPr>
        <p:spPr>
          <a:xfrm xmlns:a="http://schemas.openxmlformats.org/drawingml/2006/main">
            <a:off x="5623560" y="3099816"/>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28" name="Text 26">
            <a:extLst xmlns:a="http://schemas.openxmlformats.org/drawingml/2006/main">
              <a:ext uri="{FF2B5EF4-FFF2-40B4-BE49-F238E27FC236}">
                <a16:creationId xmlns:a16="http://schemas.microsoft.com/office/drawing/2014/main" id="{3507C88C-7DDA-4104-98E9-E2BCF12CDB7E}"/>
              </a:ext>
            </a:extLst>
          </p:cNvPr>
          <p:cNvSpPr>
            <a:spLocks xmlns:a="http://schemas.openxmlformats.org/drawingml/2006/main" noGrp="1"/>
          </p:cNvSpPr>
          <p:nvPr/>
        </p:nvSpPr>
        <p:spPr>
          <a:xfrm xmlns:a="http://schemas.openxmlformats.org/drawingml/2006/main">
            <a:off x="5696712" y="3145536"/>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Joint Angles</a:t>
            </a:r>
            <a:endParaRPr sz="1100"/>
          </a:p>
        </p:txBody>
      </p:sp>
      <p:sp>
        <p:nvSpPr>
          <p:cNvPr id="29" name="Shape 27">
            <a:extLst xmlns:a="http://schemas.openxmlformats.org/drawingml/2006/main">
              <a:ext uri="{FF2B5EF4-FFF2-40B4-BE49-F238E27FC236}">
                <a16:creationId xmlns:a16="http://schemas.microsoft.com/office/drawing/2014/main" id="{574DFB8D-5BC1-405E-BEC2-90DE1DDB0C57}"/>
              </a:ext>
            </a:extLst>
          </p:cNvPr>
          <p:cNvSpPr>
            <a:spLocks xmlns:a="http://schemas.openxmlformats.org/drawingml/2006/main" noGrp="1"/>
          </p:cNvSpPr>
          <p:nvPr/>
        </p:nvSpPr>
        <p:spPr>
          <a:xfrm xmlns:a="http://schemas.openxmlformats.org/drawingml/2006/main">
            <a:off x="8275320" y="3529584"/>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30" name="Shape 28">
            <a:extLst xmlns:a="http://schemas.openxmlformats.org/drawingml/2006/main">
              <a:ext uri="{FF2B5EF4-FFF2-40B4-BE49-F238E27FC236}">
                <a16:creationId xmlns:a16="http://schemas.microsoft.com/office/drawing/2014/main" id="{14417FA8-7AEF-4B97-9792-773F6DE42FDE}"/>
              </a:ext>
            </a:extLst>
          </p:cNvPr>
          <p:cNvSpPr>
            <a:spLocks xmlns:a="http://schemas.openxmlformats.org/drawingml/2006/main" noGrp="1"/>
          </p:cNvSpPr>
          <p:nvPr/>
        </p:nvSpPr>
        <p:spPr>
          <a:xfrm xmlns:a="http://schemas.openxmlformats.org/drawingml/2006/main">
            <a:off x="5623560" y="3721608"/>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31" name="Text 29">
            <a:extLst xmlns:a="http://schemas.openxmlformats.org/drawingml/2006/main">
              <a:ext uri="{FF2B5EF4-FFF2-40B4-BE49-F238E27FC236}">
                <a16:creationId xmlns:a16="http://schemas.microsoft.com/office/drawing/2014/main" id="{9677058E-7FCA-464B-A52B-246701B3B944}"/>
              </a:ext>
            </a:extLst>
          </p:cNvPr>
          <p:cNvSpPr>
            <a:spLocks xmlns:a="http://schemas.openxmlformats.org/drawingml/2006/main" noGrp="1"/>
          </p:cNvSpPr>
          <p:nvPr/>
        </p:nvSpPr>
        <p:spPr>
          <a:xfrm xmlns:a="http://schemas.openxmlformats.org/drawingml/2006/main">
            <a:off x="5696712" y="3767328"/>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Rep Detection</a:t>
            </a:r>
            <a:endParaRPr sz="1100"/>
          </a:p>
        </p:txBody>
      </p:sp>
      <p:sp>
        <p:nvSpPr>
          <p:cNvPr id="32" name="Shape 30">
            <a:extLst xmlns:a="http://schemas.openxmlformats.org/drawingml/2006/main">
              <a:ext uri="{FF2B5EF4-FFF2-40B4-BE49-F238E27FC236}">
                <a16:creationId xmlns:a16="http://schemas.microsoft.com/office/drawing/2014/main" id="{63AB0C63-9008-481E-9FEB-47681D6E6DE3}"/>
              </a:ext>
            </a:extLst>
          </p:cNvPr>
          <p:cNvSpPr>
            <a:spLocks xmlns:a="http://schemas.openxmlformats.org/drawingml/2006/main" noGrp="1"/>
          </p:cNvSpPr>
          <p:nvPr/>
        </p:nvSpPr>
        <p:spPr>
          <a:xfrm xmlns:a="http://schemas.openxmlformats.org/drawingml/2006/main">
            <a:off x="8275320" y="4151376"/>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33" name="Shape 31">
            <a:extLst xmlns:a="http://schemas.openxmlformats.org/drawingml/2006/main">
              <a:ext uri="{FF2B5EF4-FFF2-40B4-BE49-F238E27FC236}">
                <a16:creationId xmlns:a16="http://schemas.microsoft.com/office/drawing/2014/main" id="{B595F7E0-DA99-47A8-8456-14BA5A84F5B3}"/>
              </a:ext>
            </a:extLst>
          </p:cNvPr>
          <p:cNvSpPr>
            <a:spLocks xmlns:a="http://schemas.openxmlformats.org/drawingml/2006/main" noGrp="1"/>
          </p:cNvSpPr>
          <p:nvPr/>
        </p:nvSpPr>
        <p:spPr>
          <a:xfrm xmlns:a="http://schemas.openxmlformats.org/drawingml/2006/main">
            <a:off x="5623560" y="4343400"/>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34" name="Text 32">
            <a:extLst xmlns:a="http://schemas.openxmlformats.org/drawingml/2006/main">
              <a:ext uri="{FF2B5EF4-FFF2-40B4-BE49-F238E27FC236}">
                <a16:creationId xmlns:a16="http://schemas.microsoft.com/office/drawing/2014/main" id="{411817C1-EE89-46B4-A4CF-182460FD373A}"/>
              </a:ext>
            </a:extLst>
          </p:cNvPr>
          <p:cNvSpPr>
            <a:spLocks xmlns:a="http://schemas.openxmlformats.org/drawingml/2006/main" noGrp="1"/>
          </p:cNvSpPr>
          <p:nvPr/>
        </p:nvSpPr>
        <p:spPr>
          <a:xfrm xmlns:a="http://schemas.openxmlformats.org/drawingml/2006/main">
            <a:off x="5696712" y="4389120"/>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Form Score</a:t>
            </a:r>
            <a:endParaRPr sz="1100"/>
          </a:p>
        </p:txBody>
      </p:sp>
      <p:sp>
        <p:nvSpPr>
          <p:cNvPr id="35" name="Shape 33">
            <a:extLst xmlns:a="http://schemas.openxmlformats.org/drawingml/2006/main">
              <a:ext uri="{FF2B5EF4-FFF2-40B4-BE49-F238E27FC236}">
                <a16:creationId xmlns:a16="http://schemas.microsoft.com/office/drawing/2014/main" id="{F0F0DCD6-DDC3-4137-A596-2A3FAF8BE1DA}"/>
              </a:ext>
            </a:extLst>
          </p:cNvPr>
          <p:cNvSpPr>
            <a:spLocks xmlns:a="http://schemas.openxmlformats.org/drawingml/2006/main" noGrp="1"/>
          </p:cNvSpPr>
          <p:nvPr/>
        </p:nvSpPr>
        <p:spPr>
          <a:xfrm xmlns:a="http://schemas.openxmlformats.org/drawingml/2006/main">
            <a:off x="8275320" y="4773168"/>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36" name="Shape 34">
            <a:extLst xmlns:a="http://schemas.openxmlformats.org/drawingml/2006/main">
              <a:ext uri="{FF2B5EF4-FFF2-40B4-BE49-F238E27FC236}">
                <a16:creationId xmlns:a16="http://schemas.microsoft.com/office/drawing/2014/main" id="{9A763B8A-C009-4EEC-A58D-C88E5F177429}"/>
              </a:ext>
            </a:extLst>
          </p:cNvPr>
          <p:cNvSpPr>
            <a:spLocks xmlns:a="http://schemas.openxmlformats.org/drawingml/2006/main" noGrp="1"/>
          </p:cNvSpPr>
          <p:nvPr/>
        </p:nvSpPr>
        <p:spPr>
          <a:xfrm xmlns:a="http://schemas.openxmlformats.org/drawingml/2006/main">
            <a:off x="5623560" y="4965192"/>
            <a:ext cx="5303520" cy="411480"/>
          </a:xfrm>
          <a:prstGeom xmlns:a="http://schemas.openxmlformats.org/drawingml/2006/main" prst="roundRect">
            <a:avLst>
              <a:gd name="adj" fmla="val 17778"/>
            </a:avLst>
          </a:prstGeom>
          <a:solidFill xmlns:a="http://schemas.openxmlformats.org/drawingml/2006/main">
            <a:srgbClr val="D1FAE5"/>
          </a:solidFill>
          <a:ln xmlns:a="http://schemas.openxmlformats.org/drawingml/2006/main" w="16510">
            <a:solidFill>
              <a:srgbClr val="10B981"/>
            </a:solidFill>
            <a:prstDash val="solid"/>
          </a:ln>
        </p:spPr>
      </p:sp>
      <p:sp>
        <p:nvSpPr>
          <p:cNvPr id="37" name="Text 35">
            <a:extLst xmlns:a="http://schemas.openxmlformats.org/drawingml/2006/main">
              <a:ext uri="{FF2B5EF4-FFF2-40B4-BE49-F238E27FC236}">
                <a16:creationId xmlns:a16="http://schemas.microsoft.com/office/drawing/2014/main" id="{D3470E2C-9940-42B2-80AC-B9F2F7B38C75}"/>
              </a:ext>
            </a:extLst>
          </p:cNvPr>
          <p:cNvSpPr>
            <a:spLocks xmlns:a="http://schemas.openxmlformats.org/drawingml/2006/main" noGrp="1"/>
          </p:cNvSpPr>
          <p:nvPr/>
        </p:nvSpPr>
        <p:spPr>
          <a:xfrm xmlns:a="http://schemas.openxmlformats.org/drawingml/2006/main">
            <a:off x="5696712" y="5010912"/>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Mistake + Feedback</a:t>
            </a:r>
            <a:endParaRPr sz="1100"/>
          </a:p>
        </p:txBody>
      </p:sp>
      <p:sp>
        <p:nvSpPr>
          <p:cNvPr id="38" name="Text 36">
            <a:extLst xmlns:a="http://schemas.openxmlformats.org/drawingml/2006/main">
              <a:ext uri="{FF2B5EF4-FFF2-40B4-BE49-F238E27FC236}">
                <a16:creationId xmlns:a16="http://schemas.microsoft.com/office/drawing/2014/main" id="{79F1CAF6-81FD-462B-BD19-F53072EE4BB6}"/>
              </a:ext>
            </a:extLst>
          </p:cNvPr>
          <p:cNvSpPr>
            <a:spLocks xmlns:a="http://schemas.openxmlformats.org/drawingml/2006/main" noGrp="1"/>
          </p:cNvSpPr>
          <p:nvPr/>
        </p:nvSpPr>
        <p:spPr>
          <a:xfrm xmlns:a="http://schemas.openxmlformats.org/drawingml/2006/main">
            <a:off x="5715000" y="5623560"/>
            <a:ext cx="5120640" cy="4114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85000" lnSpcReduction="20000"/>
          </a:bodyPr>
          <a:lstStyle xmlns:a="http://schemas.openxmlformats.org/drawingml/2006/main"/>
          <a:p xmlns:a="http://schemas.openxmlformats.org/drawingml/2006/main">
            <a:pPr marL="0" indent="0">
              <a:buNone/>
            </a:pPr>
            <a:r>
              <a:rPr sz="1250">
                <a:solidFill>
                  <a:srgbClr val="64748B"/>
                </a:solidFill>
              </a:rPr>
              <a:t>PoseForm converts recorded exercise video into structured technical feedback by extracting landmarks, analyzing movement phases and joint angles, estimating repetitions, scoring form, and returning corrective guidance.</a:t>
            </a:r>
            <a:endParaRPr sz="1250"/>
          </a:p>
        </p:txBody>
      </p:sp>
      <p:sp>
        <p:nvSpPr>
          <p:cNvPr id="39" name="Slide Number Placeholder 0">
            <a:extLst xmlns:a="http://schemas.openxmlformats.org/drawingml/2006/main">
              <a:ext uri="{FF2B5EF4-FFF2-40B4-BE49-F238E27FC236}">
                <a16:creationId xmlns:a16="http://schemas.microsoft.com/office/drawing/2014/main" id="{E0E4AA95-1C4C-4FAD-BD69-7E777316C077}"/>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12</a:t>
            </a:fld>
            <a:endParaRPr/>
          </a:p>
        </p:txBody>
      </p:sp>
    </p:spTree>
    <p:extLst>
      <p:ext uri="{BB962C8B-B14F-4D97-AF65-F5344CB8AC3E}">
        <p14:creationId xmlns:p14="http://schemas.microsoft.com/office/powerpoint/2010/main" val="1705627280"/>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90334FA-4E6F-4215-B52D-7A44DACB512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5D1AC7-5257-4809-B2AB-713095CAA8FC}"/>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POSEFORM EXPERIENCE</a:t>
            </a:r>
          </a:p>
        </p:txBody>
      </p:sp>
      <p:sp>
        <p:nvSpPr>
          <p:cNvPr id="3" name="">
            <a:extLst xmlns:a="http://schemas.openxmlformats.org/drawingml/2006/main">
              <a:ext uri="{FF2B5EF4-FFF2-40B4-BE49-F238E27FC236}">
                <a16:creationId xmlns:a16="http://schemas.microsoft.com/office/drawing/2014/main" id="{6B456DDF-6043-49FF-959A-E3C0D50AF447}"/>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From uploaded video to form feedback</a:t>
            </a:r>
          </a:p>
        </p:txBody>
      </p:sp>
      <p:sp>
        <p:nvSpPr>
          <p:cNvPr id="4" name="">
            <a:extLst xmlns:a="http://schemas.openxmlformats.org/drawingml/2006/main">
              <a:ext uri="{FF2B5EF4-FFF2-40B4-BE49-F238E27FC236}">
                <a16:creationId xmlns:a16="http://schemas.microsoft.com/office/drawing/2014/main" id="{302187AF-35AB-4B0E-941B-AD5A30A45CAD}"/>
              </a:ext>
            </a:extLst>
          </p:cNvPr>
          <p:cNvSpPr>
            <a:spLocks xmlns:a="http://schemas.openxmlformats.org/drawingml/2006/main" noGrp="1"/>
          </p:cNvSpPr>
          <p:nvPr/>
        </p:nvSpPr>
        <p:spPr>
          <a:xfrm xmlns:a="http://schemas.openxmlformats.org/drawingml/2006/main">
            <a:off x="514350" y="64389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587087"/>
                </a:solidFill>
                <a:latin typeface="Aptos"/>
                <a:ea typeface="Aptos"/>
                <a:cs typeface="Aptos"/>
              </a:defRPr>
            </a:pPr>
            <a:r>
              <a:rPr sz="900" b="1">
                <a:solidFill>
                  <a:srgbClr val="587087"/>
                </a:solidFill>
                <a:latin typeface="Aptos"/>
                <a:ea typeface="Aptos"/>
                <a:cs typeface="Aptos"/>
              </a:rPr>
              <a:t>ELITE FITNESS</a:t>
            </a:r>
          </a:p>
        </p:txBody>
      </p:sp>
      <p:sp>
        <p:nvSpPr>
          <p:cNvPr id="5" name="">
            <a:extLst xmlns:a="http://schemas.openxmlformats.org/drawingml/2006/main">
              <a:ext uri="{FF2B5EF4-FFF2-40B4-BE49-F238E27FC236}">
                <a16:creationId xmlns:a16="http://schemas.microsoft.com/office/drawing/2014/main" id="{A292D1B8-948A-46E8-A4B9-817DCD1D9BFF}"/>
              </a:ext>
            </a:extLst>
          </p:cNvPr>
          <p:cNvSpPr>
            <a:spLocks xmlns:a="http://schemas.openxmlformats.org/drawingml/2006/main" noGrp="1"/>
          </p:cNvSpPr>
          <p:nvPr/>
        </p:nvSpPr>
        <p:spPr>
          <a:xfrm xmlns:a="http://schemas.openxmlformats.org/drawingml/2006/main">
            <a:off x="9667875" y="64389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825" b="0">
                <a:solidFill>
                  <a:srgbClr val="587087"/>
                </a:solidFill>
                <a:latin typeface="Aptos"/>
                <a:ea typeface="Aptos"/>
                <a:cs typeface="Aptos"/>
              </a:defRPr>
            </a:pPr>
            <a:r>
              <a:rPr sz="825" b="0">
                <a:solidFill>
                  <a:srgbClr val="587087"/>
                </a:solidFill>
                <a:latin typeface="Aptos"/>
                <a:ea typeface="Aptos"/>
                <a:cs typeface="Aptos"/>
              </a:rPr>
              <a:t>FINAL YEAR PROJECT   13</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ac50ed5063a4a50"/>
          <a:stretch xmlns:a="http://schemas.openxmlformats.org/drawingml/2006/main"/>
        </p:blipFill>
        <p:spPr>
          <a:xfrm xmlns:a="http://schemas.openxmlformats.org/drawingml/2006/main">
            <a:off x="953552" y="1409700"/>
            <a:ext cx="2464871" cy="4667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170DF53-F5A7-4E5E-8EAC-9FCCD7CA528B}"/>
              </a:ext>
            </a:extLst>
          </p:cNvPr>
          <p:cNvSpPr>
            <a:spLocks xmlns:a="http://schemas.openxmlformats.org/drawingml/2006/main" noGrp="1"/>
          </p:cNvSpPr>
          <p:nvPr/>
        </p:nvSpPr>
        <p:spPr>
          <a:xfrm xmlns:a="http://schemas.openxmlformats.org/drawingml/2006/main">
            <a:off x="4229100" y="14382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4BA87"/>
                </a:solidFill>
                <a:latin typeface="Aptos"/>
                <a:ea typeface="Aptos"/>
                <a:cs typeface="Aptos"/>
              </a:defRPr>
            </a:pPr>
            <a:r>
              <a:rPr sz="2250" b="1">
                <a:solidFill>
                  <a:srgbClr val="04BA87"/>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4520CEA6-4FEB-4D95-9E81-2AD3834D733E}"/>
              </a:ext>
            </a:extLst>
          </p:cNvPr>
          <p:cNvSpPr>
            <a:spLocks xmlns:a="http://schemas.openxmlformats.org/drawingml/2006/main" noGrp="1"/>
          </p:cNvSpPr>
          <p:nvPr/>
        </p:nvSpPr>
        <p:spPr>
          <a:xfrm xmlns:a="http://schemas.openxmlformats.org/drawingml/2006/main">
            <a:off x="4838700" y="1438275"/>
            <a:ext cx="628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Record or upload</a:t>
            </a:r>
          </a:p>
        </p:txBody>
      </p:sp>
      <p:sp>
        <p:nvSpPr>
          <p:cNvPr id="9" name="">
            <a:extLst xmlns:a="http://schemas.openxmlformats.org/drawingml/2006/main">
              <a:ext uri="{FF2B5EF4-FFF2-40B4-BE49-F238E27FC236}">
                <a16:creationId xmlns:a16="http://schemas.microsoft.com/office/drawing/2014/main" id="{929117BA-A2B6-479B-83A3-9B66C2DE2C8D}"/>
              </a:ext>
            </a:extLst>
          </p:cNvPr>
          <p:cNvSpPr>
            <a:spLocks xmlns:a="http://schemas.openxmlformats.org/drawingml/2006/main" noGrp="1"/>
          </p:cNvSpPr>
          <p:nvPr/>
        </p:nvSpPr>
        <p:spPr>
          <a:xfrm xmlns:a="http://schemas.openxmlformats.org/drawingml/2006/main">
            <a:off x="4838700" y="1838325"/>
            <a:ext cx="628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87087"/>
                </a:solidFill>
                <a:latin typeface="Aptos"/>
                <a:ea typeface="Aptos"/>
                <a:cs typeface="Aptos"/>
              </a:defRPr>
            </a:pPr>
            <a:r>
              <a:rPr sz="1350" b="0">
                <a:solidFill>
                  <a:srgbClr val="587087"/>
                </a:solidFill>
                <a:latin typeface="Aptos"/>
                <a:ea typeface="Aptos"/>
                <a:cs typeface="Aptos"/>
              </a:rPr>
              <a:t>The phone sends a complete exercise clip.</a:t>
            </a:r>
          </a:p>
        </p:txBody>
      </p:sp>
      <p:sp>
        <p:nvSpPr>
          <p:cNvPr id="10" name="">
            <a:extLst xmlns:a="http://schemas.openxmlformats.org/drawingml/2006/main">
              <a:ext uri="{FF2B5EF4-FFF2-40B4-BE49-F238E27FC236}">
                <a16:creationId xmlns:a16="http://schemas.microsoft.com/office/drawing/2014/main" id="{A3131E85-6653-4536-A4A0-0B1233F182CA}"/>
              </a:ext>
            </a:extLst>
          </p:cNvPr>
          <p:cNvSpPr>
            <a:spLocks xmlns:a="http://schemas.openxmlformats.org/drawingml/2006/main" noGrp="1"/>
          </p:cNvSpPr>
          <p:nvPr/>
        </p:nvSpPr>
        <p:spPr>
          <a:xfrm xmlns:a="http://schemas.openxmlformats.org/drawingml/2006/main">
            <a:off x="4229100" y="25050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4BA87"/>
                </a:solidFill>
                <a:latin typeface="Aptos"/>
                <a:ea typeface="Aptos"/>
                <a:cs typeface="Aptos"/>
              </a:defRPr>
            </a:pPr>
            <a:r>
              <a:rPr sz="2250" b="1">
                <a:solidFill>
                  <a:srgbClr val="04BA87"/>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4FCAF505-3375-46A4-8777-BAD611BD9557}"/>
              </a:ext>
            </a:extLst>
          </p:cNvPr>
          <p:cNvSpPr>
            <a:spLocks xmlns:a="http://schemas.openxmlformats.org/drawingml/2006/main" noGrp="1"/>
          </p:cNvSpPr>
          <p:nvPr/>
        </p:nvSpPr>
        <p:spPr>
          <a:xfrm xmlns:a="http://schemas.openxmlformats.org/drawingml/2006/main">
            <a:off x="4838700" y="2505075"/>
            <a:ext cx="628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Detect landmarks</a:t>
            </a:r>
          </a:p>
        </p:txBody>
      </p:sp>
      <p:sp>
        <p:nvSpPr>
          <p:cNvPr id="12" name="">
            <a:extLst xmlns:a="http://schemas.openxmlformats.org/drawingml/2006/main">
              <a:ext uri="{FF2B5EF4-FFF2-40B4-BE49-F238E27FC236}">
                <a16:creationId xmlns:a16="http://schemas.microsoft.com/office/drawing/2014/main" id="{324369D1-E05A-451B-BC9E-8EBA17ECE52A}"/>
              </a:ext>
            </a:extLst>
          </p:cNvPr>
          <p:cNvSpPr>
            <a:spLocks xmlns:a="http://schemas.openxmlformats.org/drawingml/2006/main" noGrp="1"/>
          </p:cNvSpPr>
          <p:nvPr/>
        </p:nvSpPr>
        <p:spPr>
          <a:xfrm xmlns:a="http://schemas.openxmlformats.org/drawingml/2006/main">
            <a:off x="4838700" y="2905125"/>
            <a:ext cx="628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87087"/>
                </a:solidFill>
                <a:latin typeface="Aptos"/>
                <a:ea typeface="Aptos"/>
                <a:cs typeface="Aptos"/>
              </a:defRPr>
            </a:pPr>
            <a:r>
              <a:rPr sz="1350" b="0">
                <a:solidFill>
                  <a:srgbClr val="587087"/>
                </a:solidFill>
                <a:latin typeface="Aptos"/>
                <a:ea typeface="Aptos"/>
                <a:cs typeface="Aptos"/>
              </a:rPr>
              <a:t>MediaPipe finds body joints frame by frame.</a:t>
            </a:r>
          </a:p>
        </p:txBody>
      </p:sp>
      <p:sp>
        <p:nvSpPr>
          <p:cNvPr id="13" name="">
            <a:extLst xmlns:a="http://schemas.openxmlformats.org/drawingml/2006/main">
              <a:ext uri="{FF2B5EF4-FFF2-40B4-BE49-F238E27FC236}">
                <a16:creationId xmlns:a16="http://schemas.microsoft.com/office/drawing/2014/main" id="{7F0F2FEB-D01B-461A-9961-5497413D7B2C}"/>
              </a:ext>
            </a:extLst>
          </p:cNvPr>
          <p:cNvSpPr>
            <a:spLocks xmlns:a="http://schemas.openxmlformats.org/drawingml/2006/main" noGrp="1"/>
          </p:cNvSpPr>
          <p:nvPr/>
        </p:nvSpPr>
        <p:spPr>
          <a:xfrm xmlns:a="http://schemas.openxmlformats.org/drawingml/2006/main">
            <a:off x="4229100" y="35718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4BA87"/>
                </a:solidFill>
                <a:latin typeface="Aptos"/>
                <a:ea typeface="Aptos"/>
                <a:cs typeface="Aptos"/>
              </a:defRPr>
            </a:pPr>
            <a:r>
              <a:rPr sz="2250" b="1">
                <a:solidFill>
                  <a:srgbClr val="04BA87"/>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30DA7AAB-D118-421D-A7E6-B5AA6DEBC15F}"/>
              </a:ext>
            </a:extLst>
          </p:cNvPr>
          <p:cNvSpPr>
            <a:spLocks xmlns:a="http://schemas.openxmlformats.org/drawingml/2006/main" noGrp="1"/>
          </p:cNvSpPr>
          <p:nvPr/>
        </p:nvSpPr>
        <p:spPr>
          <a:xfrm xmlns:a="http://schemas.openxmlformats.org/drawingml/2006/main">
            <a:off x="4838700" y="3571875"/>
            <a:ext cx="628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Apply local rules</a:t>
            </a:r>
          </a:p>
        </p:txBody>
      </p:sp>
      <p:sp>
        <p:nvSpPr>
          <p:cNvPr id="15" name="">
            <a:extLst xmlns:a="http://schemas.openxmlformats.org/drawingml/2006/main">
              <a:ext uri="{FF2B5EF4-FFF2-40B4-BE49-F238E27FC236}">
                <a16:creationId xmlns:a16="http://schemas.microsoft.com/office/drawing/2014/main" id="{B2CE455A-5EEA-4CA2-BDD7-78C1276AFF54}"/>
              </a:ext>
            </a:extLst>
          </p:cNvPr>
          <p:cNvSpPr>
            <a:spLocks xmlns:a="http://schemas.openxmlformats.org/drawingml/2006/main" noGrp="1"/>
          </p:cNvSpPr>
          <p:nvPr/>
        </p:nvSpPr>
        <p:spPr>
          <a:xfrm xmlns:a="http://schemas.openxmlformats.org/drawingml/2006/main">
            <a:off x="4838700" y="3971925"/>
            <a:ext cx="628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87087"/>
                </a:solidFill>
                <a:latin typeface="Aptos"/>
                <a:ea typeface="Aptos"/>
                <a:cs typeface="Aptos"/>
              </a:defRPr>
            </a:pPr>
            <a:r>
              <a:rPr sz="1350" b="0">
                <a:solidFill>
                  <a:srgbClr val="587087"/>
                </a:solidFill>
                <a:latin typeface="Aptos"/>
                <a:ea typeface="Aptos"/>
                <a:cs typeface="Aptos"/>
              </a:rPr>
              <a:t>Angles and movement phases estimate reps and form.</a:t>
            </a:r>
          </a:p>
        </p:txBody>
      </p:sp>
      <p:sp>
        <p:nvSpPr>
          <p:cNvPr id="16" name="">
            <a:extLst xmlns:a="http://schemas.openxmlformats.org/drawingml/2006/main">
              <a:ext uri="{FF2B5EF4-FFF2-40B4-BE49-F238E27FC236}">
                <a16:creationId xmlns:a16="http://schemas.microsoft.com/office/drawing/2014/main" id="{BE1C6C19-4538-40CB-A887-6B6B3A837A12}"/>
              </a:ext>
            </a:extLst>
          </p:cNvPr>
          <p:cNvSpPr>
            <a:spLocks xmlns:a="http://schemas.openxmlformats.org/drawingml/2006/main" noGrp="1"/>
          </p:cNvSpPr>
          <p:nvPr/>
        </p:nvSpPr>
        <p:spPr>
          <a:xfrm xmlns:a="http://schemas.openxmlformats.org/drawingml/2006/main">
            <a:off x="4229100" y="46386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4BA87"/>
                </a:solidFill>
                <a:latin typeface="Aptos"/>
                <a:ea typeface="Aptos"/>
                <a:cs typeface="Aptos"/>
              </a:defRPr>
            </a:pPr>
            <a:r>
              <a:rPr sz="2250" b="1">
                <a:solidFill>
                  <a:srgbClr val="04BA87"/>
                </a:solidFill>
                <a:latin typeface="Aptos"/>
                <a:ea typeface="Aptos"/>
                <a:cs typeface="Aptos"/>
              </a:rPr>
              <a:t>4</a:t>
            </a:r>
          </a:p>
        </p:txBody>
      </p:sp>
      <p:sp>
        <p:nvSpPr>
          <p:cNvPr id="17" name="">
            <a:extLst xmlns:a="http://schemas.openxmlformats.org/drawingml/2006/main">
              <a:ext uri="{FF2B5EF4-FFF2-40B4-BE49-F238E27FC236}">
                <a16:creationId xmlns:a16="http://schemas.microsoft.com/office/drawing/2014/main" id="{97DA8845-1325-406A-98C2-ED743D43CF3F}"/>
              </a:ext>
            </a:extLst>
          </p:cNvPr>
          <p:cNvSpPr>
            <a:spLocks xmlns:a="http://schemas.openxmlformats.org/drawingml/2006/main" noGrp="1"/>
          </p:cNvSpPr>
          <p:nvPr/>
        </p:nvSpPr>
        <p:spPr>
          <a:xfrm xmlns:a="http://schemas.openxmlformats.org/drawingml/2006/main">
            <a:off x="4838700" y="4638675"/>
            <a:ext cx="628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Return JSON</a:t>
            </a:r>
          </a:p>
        </p:txBody>
      </p:sp>
      <p:sp>
        <p:nvSpPr>
          <p:cNvPr id="18" name="">
            <a:extLst xmlns:a="http://schemas.openxmlformats.org/drawingml/2006/main">
              <a:ext uri="{FF2B5EF4-FFF2-40B4-BE49-F238E27FC236}">
                <a16:creationId xmlns:a16="http://schemas.microsoft.com/office/drawing/2014/main" id="{315A91AE-785A-4A7E-AF9F-0DB7188F4F46}"/>
              </a:ext>
            </a:extLst>
          </p:cNvPr>
          <p:cNvSpPr>
            <a:spLocks xmlns:a="http://schemas.openxmlformats.org/drawingml/2006/main" noGrp="1"/>
          </p:cNvSpPr>
          <p:nvPr/>
        </p:nvSpPr>
        <p:spPr>
          <a:xfrm xmlns:a="http://schemas.openxmlformats.org/drawingml/2006/main">
            <a:off x="4838700" y="5038725"/>
            <a:ext cx="628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87087"/>
                </a:solidFill>
                <a:latin typeface="Aptos"/>
                <a:ea typeface="Aptos"/>
                <a:cs typeface="Aptos"/>
              </a:defRPr>
            </a:pPr>
            <a:r>
              <a:rPr sz="1350" b="0">
                <a:solidFill>
                  <a:srgbClr val="587087"/>
                </a:solidFill>
                <a:latin typeface="Aptos"/>
                <a:ea typeface="Aptos"/>
                <a:cs typeface="Aptos"/>
              </a:rPr>
              <a:t>The phone displays score, mistakes and feedback.</a:t>
            </a:r>
          </a:p>
        </p:txBody>
      </p:sp>
    </p:spTree>
    <p:extLst>
      <p:ext uri="{BB962C8B-B14F-4D97-AF65-F5344CB8AC3E}">
        <p14:creationId xmlns:p14="http://schemas.microsoft.com/office/powerpoint/2010/main" val="1961245229"/>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394CFFF-60CE-46F0-9FD2-16168566D1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8F1135-581B-4D30-A4C1-89951CF17AD2}"/>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DAILY ENGAGEMENT</a:t>
            </a:r>
          </a:p>
        </p:txBody>
      </p:sp>
      <p:sp>
        <p:nvSpPr>
          <p:cNvPr id="3" name="">
            <a:extLst xmlns:a="http://schemas.openxmlformats.org/drawingml/2006/main">
              <a:ext uri="{FF2B5EF4-FFF2-40B4-BE49-F238E27FC236}">
                <a16:creationId xmlns:a16="http://schemas.microsoft.com/office/drawing/2014/main" id="{5F319E46-034C-4C5C-BF84-2AE35B6034FC}"/>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Community, challenges and rewards</a:t>
            </a:r>
          </a:p>
        </p:txBody>
      </p:sp>
      <p:sp>
        <p:nvSpPr>
          <p:cNvPr id="4" name="">
            <a:extLst xmlns:a="http://schemas.openxmlformats.org/drawingml/2006/main">
              <a:ext uri="{FF2B5EF4-FFF2-40B4-BE49-F238E27FC236}">
                <a16:creationId xmlns:a16="http://schemas.microsoft.com/office/drawing/2014/main" id="{57F4DD0A-F425-4EED-9769-9D4C01B4C5E8}"/>
              </a:ext>
            </a:extLst>
          </p:cNvPr>
          <p:cNvSpPr>
            <a:spLocks xmlns:a="http://schemas.openxmlformats.org/drawingml/2006/main" noGrp="1"/>
          </p:cNvSpPr>
          <p:nvPr/>
        </p:nvSpPr>
        <p:spPr>
          <a:xfrm xmlns:a="http://schemas.openxmlformats.org/drawingml/2006/main">
            <a:off x="514350" y="64389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587087"/>
                </a:solidFill>
                <a:latin typeface="Aptos"/>
                <a:ea typeface="Aptos"/>
                <a:cs typeface="Aptos"/>
              </a:defRPr>
            </a:pPr>
            <a:r>
              <a:rPr sz="900" b="1">
                <a:solidFill>
                  <a:srgbClr val="587087"/>
                </a:solidFill>
                <a:latin typeface="Aptos"/>
                <a:ea typeface="Aptos"/>
                <a:cs typeface="Aptos"/>
              </a:rPr>
              <a:t>ELITE FITNESS</a:t>
            </a:r>
          </a:p>
        </p:txBody>
      </p:sp>
      <p:sp>
        <p:nvSpPr>
          <p:cNvPr id="5" name="">
            <a:extLst xmlns:a="http://schemas.openxmlformats.org/drawingml/2006/main">
              <a:ext uri="{FF2B5EF4-FFF2-40B4-BE49-F238E27FC236}">
                <a16:creationId xmlns:a16="http://schemas.microsoft.com/office/drawing/2014/main" id="{9E1EF775-5D31-467B-B846-69AAB7378D0E}"/>
              </a:ext>
            </a:extLst>
          </p:cNvPr>
          <p:cNvSpPr>
            <a:spLocks xmlns:a="http://schemas.openxmlformats.org/drawingml/2006/main" noGrp="1"/>
          </p:cNvSpPr>
          <p:nvPr/>
        </p:nvSpPr>
        <p:spPr>
          <a:xfrm xmlns:a="http://schemas.openxmlformats.org/drawingml/2006/main">
            <a:off x="9667875" y="64389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825" b="0">
                <a:solidFill>
                  <a:srgbClr val="587087"/>
                </a:solidFill>
                <a:latin typeface="Aptos"/>
                <a:ea typeface="Aptos"/>
                <a:cs typeface="Aptos"/>
              </a:defRPr>
            </a:pPr>
            <a:r>
              <a:rPr sz="825" b="0">
                <a:solidFill>
                  <a:srgbClr val="587087"/>
                </a:solidFill>
                <a:latin typeface="Aptos"/>
                <a:ea typeface="Aptos"/>
                <a:cs typeface="Aptos"/>
              </a:rPr>
              <a:t>FINAL YEAR PROJECT   14</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d4117fa553349a9"/>
          <a:stretch xmlns:a="http://schemas.openxmlformats.org/drawingml/2006/main"/>
        </p:blipFill>
        <p:spPr>
          <a:xfrm xmlns:a="http://schemas.openxmlformats.org/drawingml/2006/main">
            <a:off x="854971" y="1457325"/>
            <a:ext cx="2604883" cy="4457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A0ABCC7-7E4F-4CFC-9B22-33447AD7C07F}"/>
              </a:ext>
            </a:extLst>
          </p:cNvPr>
          <p:cNvSpPr>
            <a:spLocks xmlns:a="http://schemas.openxmlformats.org/drawingml/2006/main" noGrp="1"/>
          </p:cNvSpPr>
          <p:nvPr/>
        </p:nvSpPr>
        <p:spPr>
          <a:xfrm xmlns:a="http://schemas.openxmlformats.org/drawingml/2006/main">
            <a:off x="819150" y="5915025"/>
            <a:ext cx="2676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COMMUNITY</a:t>
            </a:r>
          </a:p>
        </p:txBody>
      </p:sp>
      <p:sp>
        <p:nvSpPr>
          <p:cNvPr id="8" name="">
            <a:extLst xmlns:a="http://schemas.openxmlformats.org/drawingml/2006/main">
              <a:ext uri="{FF2B5EF4-FFF2-40B4-BE49-F238E27FC236}">
                <a16:creationId xmlns:a16="http://schemas.microsoft.com/office/drawing/2014/main" id="{F3914E88-FF9B-4070-AB5C-ABCEFA4718E6}"/>
              </a:ext>
            </a:extLst>
          </p:cNvPr>
          <p:cNvSpPr>
            <a:spLocks xmlns:a="http://schemas.openxmlformats.org/drawingml/2006/main" noGrp="1"/>
          </p:cNvSpPr>
          <p:nvPr/>
        </p:nvSpPr>
        <p:spPr>
          <a:xfrm xmlns:a="http://schemas.openxmlformats.org/drawingml/2006/main">
            <a:off x="819150" y="6181725"/>
            <a:ext cx="2676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Friends, clubs and posts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9ad9c0b1fd241bc"/>
          <a:stretch xmlns:a="http://schemas.openxmlformats.org/drawingml/2006/main"/>
        </p:blipFill>
        <p:spPr>
          <a:xfrm xmlns:a="http://schemas.openxmlformats.org/drawingml/2006/main">
            <a:off x="4773889" y="1457325"/>
            <a:ext cx="2196548" cy="44577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26FA0F3-D146-43E8-970D-5713545243D5}"/>
              </a:ext>
            </a:extLst>
          </p:cNvPr>
          <p:cNvSpPr>
            <a:spLocks xmlns:a="http://schemas.openxmlformats.org/drawingml/2006/main" noGrp="1"/>
          </p:cNvSpPr>
          <p:nvPr/>
        </p:nvSpPr>
        <p:spPr>
          <a:xfrm xmlns:a="http://schemas.openxmlformats.org/drawingml/2006/main">
            <a:off x="4533900" y="5915025"/>
            <a:ext cx="2676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CHALLENGES</a:t>
            </a:r>
          </a:p>
        </p:txBody>
      </p:sp>
      <p:sp>
        <p:nvSpPr>
          <p:cNvPr id="11" name="">
            <a:extLst xmlns:a="http://schemas.openxmlformats.org/drawingml/2006/main">
              <a:ext uri="{FF2B5EF4-FFF2-40B4-BE49-F238E27FC236}">
                <a16:creationId xmlns:a16="http://schemas.microsoft.com/office/drawing/2014/main" id="{40FD1661-6C06-43E9-9922-48AADD95598F}"/>
              </a:ext>
            </a:extLst>
          </p:cNvPr>
          <p:cNvSpPr>
            <a:spLocks xmlns:a="http://schemas.openxmlformats.org/drawingml/2006/main" noGrp="1"/>
          </p:cNvSpPr>
          <p:nvPr/>
        </p:nvSpPr>
        <p:spPr>
          <a:xfrm xmlns:a="http://schemas.openxmlformats.org/drawingml/2006/main">
            <a:off x="4533900" y="6181725"/>
            <a:ext cx="2676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Daily missions and points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7f656da12bc472f"/>
          <a:stretch xmlns:a="http://schemas.openxmlformats.org/drawingml/2006/main"/>
        </p:blipFill>
        <p:spPr>
          <a:xfrm xmlns:a="http://schemas.openxmlformats.org/drawingml/2006/main">
            <a:off x="8501778" y="1457325"/>
            <a:ext cx="2170269" cy="4457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3264087-2F5F-4647-9BD2-1A7AD3FE67F0}"/>
              </a:ext>
            </a:extLst>
          </p:cNvPr>
          <p:cNvSpPr>
            <a:spLocks xmlns:a="http://schemas.openxmlformats.org/drawingml/2006/main" noGrp="1"/>
          </p:cNvSpPr>
          <p:nvPr/>
        </p:nvSpPr>
        <p:spPr>
          <a:xfrm xmlns:a="http://schemas.openxmlformats.org/drawingml/2006/main">
            <a:off x="8248650" y="5915025"/>
            <a:ext cx="2676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REWARDS</a:t>
            </a:r>
          </a:p>
        </p:txBody>
      </p:sp>
      <p:sp>
        <p:nvSpPr>
          <p:cNvPr id="14" name="">
            <a:extLst xmlns:a="http://schemas.openxmlformats.org/drawingml/2006/main">
              <a:ext uri="{FF2B5EF4-FFF2-40B4-BE49-F238E27FC236}">
                <a16:creationId xmlns:a16="http://schemas.microsoft.com/office/drawing/2014/main" id="{E70D3A10-FB8E-4664-AB9D-AFE21A1B1E7D}"/>
              </a:ext>
            </a:extLst>
          </p:cNvPr>
          <p:cNvSpPr>
            <a:spLocks xmlns:a="http://schemas.openxmlformats.org/drawingml/2006/main" noGrp="1"/>
          </p:cNvSpPr>
          <p:nvPr/>
        </p:nvSpPr>
        <p:spPr>
          <a:xfrm xmlns:a="http://schemas.openxmlformats.org/drawingml/2006/main">
            <a:off x="8248650" y="6181725"/>
            <a:ext cx="2676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Redeem earned points</a:t>
            </a:r>
          </a:p>
        </p:txBody>
      </p:sp>
    </p:spTree>
    <p:extLst>
      <p:ext uri="{BB962C8B-B14F-4D97-AF65-F5344CB8AC3E}">
        <p14:creationId xmlns:p14="http://schemas.microsoft.com/office/powerpoint/2010/main" val="173389668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D3F0CF-51D8-4A62-8A64-929786DD0EA5}"/>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RESPONSIBLE AI</a:t>
            </a:r>
            <a:endParaRPr sz="1000"/>
          </a:p>
        </p:txBody>
      </p:sp>
      <p:sp>
        <p:nvSpPr>
          <p:cNvPr id="3" name="Text 1">
            <a:extLst xmlns:a="http://schemas.openxmlformats.org/drawingml/2006/main">
              <a:ext uri="{FF2B5EF4-FFF2-40B4-BE49-F238E27FC236}">
                <a16:creationId xmlns:a16="http://schemas.microsoft.com/office/drawing/2014/main" id="{2735DE12-08F1-4A5E-AC5B-E7AD6A5001AD}"/>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Why AI Alone Is Not Enough</a:t>
            </a:r>
            <a:endParaRPr sz="2800"/>
          </a:p>
        </p:txBody>
      </p:sp>
      <p:sp>
        <p:nvSpPr>
          <p:cNvPr id="4" name="Text 2">
            <a:extLst xmlns:a="http://schemas.openxmlformats.org/drawingml/2006/main">
              <a:ext uri="{FF2B5EF4-FFF2-40B4-BE49-F238E27FC236}">
                <a16:creationId xmlns:a16="http://schemas.microsoft.com/office/drawing/2014/main" id="{98357C5D-1199-4B34-B29C-D23FCDB6915F}"/>
              </a:ext>
            </a:extLst>
          </p:cNvPr>
          <p:cNvSpPr>
            <a:spLocks xmlns:a="http://schemas.openxmlformats.org/drawingml/2006/main" noGrp="1"/>
          </p:cNvSpPr>
          <p:nvPr/>
        </p:nvSpPr>
        <p:spPr>
          <a:xfrm xmlns:a="http://schemas.openxmlformats.org/drawingml/2006/main">
            <a:off x="685800" y="1371600"/>
            <a:ext cx="108356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0F172A"/>
                </a:solidFill>
              </a:rPr>
              <a:t>INTELLIGENCE  +  RULES  +  HUMAN VALIDATION</a:t>
            </a:r>
            <a:endParaRPr sz="2800"/>
          </a:p>
        </p:txBody>
      </p:sp>
      <p:sp>
        <p:nvSpPr>
          <p:cNvPr id="5" name="Shape 3">
            <a:extLst xmlns:a="http://schemas.openxmlformats.org/drawingml/2006/main">
              <a:ext uri="{FF2B5EF4-FFF2-40B4-BE49-F238E27FC236}">
                <a16:creationId xmlns:a16="http://schemas.microsoft.com/office/drawing/2014/main" id="{381C98CD-560E-456E-8888-04EEB75AC555}"/>
              </a:ext>
            </a:extLst>
          </p:cNvPr>
          <p:cNvSpPr>
            <a:spLocks xmlns:a="http://schemas.openxmlformats.org/drawingml/2006/main" noGrp="1"/>
          </p:cNvSpPr>
          <p:nvPr/>
        </p:nvSpPr>
        <p:spPr>
          <a:xfrm xmlns:a="http://schemas.openxmlformats.org/drawingml/2006/main">
            <a:off x="914400" y="2514600"/>
            <a:ext cx="3246120" cy="155448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2700">
            <a:solidFill>
              <a:srgbClr val="E2E8F0"/>
            </a:solidFill>
            <a:prstDash val="solid"/>
          </a:ln>
        </p:spPr>
      </p:sp>
      <p:sp>
        <p:nvSpPr>
          <p:cNvPr id="6" name="Shape 4">
            <a:extLst xmlns:a="http://schemas.openxmlformats.org/drawingml/2006/main">
              <a:ext uri="{FF2B5EF4-FFF2-40B4-BE49-F238E27FC236}">
                <a16:creationId xmlns:a16="http://schemas.microsoft.com/office/drawing/2014/main" id="{C999A73F-BD00-4F4E-9D94-AF80E969CEFB}"/>
              </a:ext>
            </a:extLst>
          </p:cNvPr>
          <p:cNvSpPr>
            <a:spLocks xmlns:a="http://schemas.openxmlformats.org/drawingml/2006/main" noGrp="1"/>
          </p:cNvSpPr>
          <p:nvPr/>
        </p:nvSpPr>
        <p:spPr>
          <a:xfrm xmlns:a="http://schemas.openxmlformats.org/drawingml/2006/main">
            <a:off x="2286000" y="2743200"/>
            <a:ext cx="502920" cy="50292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7" name="Text 5">
            <a:extLst xmlns:a="http://schemas.openxmlformats.org/drawingml/2006/main">
              <a:ext uri="{FF2B5EF4-FFF2-40B4-BE49-F238E27FC236}">
                <a16:creationId xmlns:a16="http://schemas.microsoft.com/office/drawing/2014/main" id="{8222B7D4-7C06-44A7-A5F8-C795A7795352}"/>
              </a:ext>
            </a:extLst>
          </p:cNvPr>
          <p:cNvSpPr>
            <a:spLocks xmlns:a="http://schemas.openxmlformats.org/drawingml/2006/main" noGrp="1"/>
          </p:cNvSpPr>
          <p:nvPr/>
        </p:nvSpPr>
        <p:spPr>
          <a:xfrm xmlns:a="http://schemas.openxmlformats.org/drawingml/2006/main">
            <a:off x="2331720" y="285292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A</a:t>
            </a:r>
            <a:endParaRPr sz="1300"/>
          </a:p>
        </p:txBody>
      </p:sp>
      <p:sp>
        <p:nvSpPr>
          <p:cNvPr id="8" name="Text 6">
            <a:extLst xmlns:a="http://schemas.openxmlformats.org/drawingml/2006/main">
              <a:ext uri="{FF2B5EF4-FFF2-40B4-BE49-F238E27FC236}">
                <a16:creationId xmlns:a16="http://schemas.microsoft.com/office/drawing/2014/main" id="{EDBC2DCC-9F88-40BF-8BD4-2543D685CEF1}"/>
              </a:ext>
            </a:extLst>
          </p:cNvPr>
          <p:cNvSpPr>
            <a:spLocks xmlns:a="http://schemas.openxmlformats.org/drawingml/2006/main" noGrp="1"/>
          </p:cNvSpPr>
          <p:nvPr/>
        </p:nvSpPr>
        <p:spPr>
          <a:xfrm xmlns:a="http://schemas.openxmlformats.org/drawingml/2006/main">
            <a:off x="1234440" y="3401568"/>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11827"/>
                </a:solidFill>
              </a:rPr>
              <a:t>AI</a:t>
            </a:r>
            <a:endParaRPr sz="1500"/>
          </a:p>
        </p:txBody>
      </p:sp>
      <p:sp>
        <p:nvSpPr>
          <p:cNvPr id="9" name="Text 7">
            <a:extLst xmlns:a="http://schemas.openxmlformats.org/drawingml/2006/main">
              <a:ext uri="{FF2B5EF4-FFF2-40B4-BE49-F238E27FC236}">
                <a16:creationId xmlns:a16="http://schemas.microsoft.com/office/drawing/2014/main" id="{221F80A0-4019-42E3-9EB3-BCEC5C0F9B60}"/>
              </a:ext>
            </a:extLst>
          </p:cNvPr>
          <p:cNvSpPr>
            <a:spLocks xmlns:a="http://schemas.openxmlformats.org/drawingml/2006/main" noGrp="1"/>
          </p:cNvSpPr>
          <p:nvPr/>
        </p:nvSpPr>
        <p:spPr>
          <a:xfrm xmlns:a="http://schemas.openxmlformats.org/drawingml/2006/main">
            <a:off x="1234440" y="3730752"/>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4748B"/>
                </a:solidFill>
              </a:rPr>
              <a:t>Ranks and recommends</a:t>
            </a:r>
            <a:endParaRPr sz="1100"/>
          </a:p>
        </p:txBody>
      </p:sp>
      <p:sp>
        <p:nvSpPr>
          <p:cNvPr id="10" name="Text 8">
            <a:extLst xmlns:a="http://schemas.openxmlformats.org/drawingml/2006/main">
              <a:ext uri="{FF2B5EF4-FFF2-40B4-BE49-F238E27FC236}">
                <a16:creationId xmlns:a16="http://schemas.microsoft.com/office/drawing/2014/main" id="{CBC4DE31-D05D-4D66-8FFE-FEBBA272FF66}"/>
              </a:ext>
            </a:extLst>
          </p:cNvPr>
          <p:cNvSpPr>
            <a:spLocks xmlns:a="http://schemas.openxmlformats.org/drawingml/2006/main" noGrp="1"/>
          </p:cNvSpPr>
          <p:nvPr/>
        </p:nvSpPr>
        <p:spPr>
          <a:xfrm xmlns:a="http://schemas.openxmlformats.org/drawingml/2006/main">
            <a:off x="4224528" y="297180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CBD5E1"/>
                </a:solidFill>
              </a:rPr>
              <a:t>+</a:t>
            </a:r>
            <a:endParaRPr sz="2400"/>
          </a:p>
        </p:txBody>
      </p:sp>
      <p:sp>
        <p:nvSpPr>
          <p:cNvPr id="11" name="Shape 9">
            <a:extLst xmlns:a="http://schemas.openxmlformats.org/drawingml/2006/main">
              <a:ext uri="{FF2B5EF4-FFF2-40B4-BE49-F238E27FC236}">
                <a16:creationId xmlns:a16="http://schemas.microsoft.com/office/drawing/2014/main" id="{2F9C9E5B-AE6A-4E7D-B32B-3780150502F8}"/>
              </a:ext>
            </a:extLst>
          </p:cNvPr>
          <p:cNvSpPr>
            <a:spLocks xmlns:a="http://schemas.openxmlformats.org/drawingml/2006/main" noGrp="1"/>
          </p:cNvSpPr>
          <p:nvPr/>
        </p:nvSpPr>
        <p:spPr>
          <a:xfrm xmlns:a="http://schemas.openxmlformats.org/drawingml/2006/main">
            <a:off x="4663440" y="2514600"/>
            <a:ext cx="3246120" cy="155448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2700">
            <a:solidFill>
              <a:srgbClr val="E2E8F0"/>
            </a:solidFill>
            <a:prstDash val="solid"/>
          </a:ln>
        </p:spPr>
      </p:sp>
      <p:sp>
        <p:nvSpPr>
          <p:cNvPr id="12" name="Shape 10">
            <a:extLst xmlns:a="http://schemas.openxmlformats.org/drawingml/2006/main">
              <a:ext uri="{FF2B5EF4-FFF2-40B4-BE49-F238E27FC236}">
                <a16:creationId xmlns:a16="http://schemas.microsoft.com/office/drawing/2014/main" id="{3AC59635-1F64-4F3D-96E9-DF593E5AC7CE}"/>
              </a:ext>
            </a:extLst>
          </p:cNvPr>
          <p:cNvSpPr>
            <a:spLocks xmlns:a="http://schemas.openxmlformats.org/drawingml/2006/main" noGrp="1"/>
          </p:cNvSpPr>
          <p:nvPr/>
        </p:nvSpPr>
        <p:spPr>
          <a:xfrm xmlns:a="http://schemas.openxmlformats.org/drawingml/2006/main">
            <a:off x="6035040" y="2743200"/>
            <a:ext cx="502920" cy="502920"/>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3" name="Text 11">
            <a:extLst xmlns:a="http://schemas.openxmlformats.org/drawingml/2006/main">
              <a:ext uri="{FF2B5EF4-FFF2-40B4-BE49-F238E27FC236}">
                <a16:creationId xmlns:a16="http://schemas.microsoft.com/office/drawing/2014/main" id="{28E1E09E-FDBC-4F75-801E-A5B1C3B054E0}"/>
              </a:ext>
            </a:extLst>
          </p:cNvPr>
          <p:cNvSpPr>
            <a:spLocks xmlns:a="http://schemas.openxmlformats.org/drawingml/2006/main" noGrp="1"/>
          </p:cNvSpPr>
          <p:nvPr/>
        </p:nvSpPr>
        <p:spPr>
          <a:xfrm xmlns:a="http://schemas.openxmlformats.org/drawingml/2006/main">
            <a:off x="6080760" y="285292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R</a:t>
            </a:r>
            <a:endParaRPr sz="1300"/>
          </a:p>
        </p:txBody>
      </p:sp>
      <p:sp>
        <p:nvSpPr>
          <p:cNvPr id="14" name="Text 12">
            <a:extLst xmlns:a="http://schemas.openxmlformats.org/drawingml/2006/main">
              <a:ext uri="{FF2B5EF4-FFF2-40B4-BE49-F238E27FC236}">
                <a16:creationId xmlns:a16="http://schemas.microsoft.com/office/drawing/2014/main" id="{BEA3ADE8-E869-462B-ABED-A94DD9B5ECD9}"/>
              </a:ext>
            </a:extLst>
          </p:cNvPr>
          <p:cNvSpPr>
            <a:spLocks xmlns:a="http://schemas.openxmlformats.org/drawingml/2006/main" noGrp="1"/>
          </p:cNvSpPr>
          <p:nvPr/>
        </p:nvSpPr>
        <p:spPr>
          <a:xfrm xmlns:a="http://schemas.openxmlformats.org/drawingml/2006/main">
            <a:off x="4983480" y="3401568"/>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11827"/>
                </a:solidFill>
              </a:rPr>
              <a:t>RULES</a:t>
            </a:r>
            <a:endParaRPr sz="1500"/>
          </a:p>
        </p:txBody>
      </p:sp>
      <p:sp>
        <p:nvSpPr>
          <p:cNvPr id="15" name="Text 13">
            <a:extLst xmlns:a="http://schemas.openxmlformats.org/drawingml/2006/main">
              <a:ext uri="{FF2B5EF4-FFF2-40B4-BE49-F238E27FC236}">
                <a16:creationId xmlns:a16="http://schemas.microsoft.com/office/drawing/2014/main" id="{A66FF2DF-E79B-430C-8683-D19DB447A842}"/>
              </a:ext>
            </a:extLst>
          </p:cNvPr>
          <p:cNvSpPr>
            <a:spLocks xmlns:a="http://schemas.openxmlformats.org/drawingml/2006/main" noGrp="1"/>
          </p:cNvSpPr>
          <p:nvPr/>
        </p:nvSpPr>
        <p:spPr>
          <a:xfrm xmlns:a="http://schemas.openxmlformats.org/drawingml/2006/main">
            <a:off x="4983480" y="3730752"/>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4748B"/>
                </a:solidFill>
              </a:rPr>
              <a:t>Block unsafe conflicts</a:t>
            </a:r>
            <a:endParaRPr sz="1100"/>
          </a:p>
        </p:txBody>
      </p:sp>
      <p:sp>
        <p:nvSpPr>
          <p:cNvPr id="16" name="Text 14">
            <a:extLst xmlns:a="http://schemas.openxmlformats.org/drawingml/2006/main">
              <a:ext uri="{FF2B5EF4-FFF2-40B4-BE49-F238E27FC236}">
                <a16:creationId xmlns:a16="http://schemas.microsoft.com/office/drawing/2014/main" id="{DD586FDF-05EB-43AD-A45F-2DBF00DEB9ED}"/>
              </a:ext>
            </a:extLst>
          </p:cNvPr>
          <p:cNvSpPr>
            <a:spLocks xmlns:a="http://schemas.openxmlformats.org/drawingml/2006/main" noGrp="1"/>
          </p:cNvSpPr>
          <p:nvPr/>
        </p:nvSpPr>
        <p:spPr>
          <a:xfrm xmlns:a="http://schemas.openxmlformats.org/drawingml/2006/main">
            <a:off x="7973568" y="297180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CBD5E1"/>
                </a:solidFill>
              </a:rPr>
              <a:t>+</a:t>
            </a:r>
            <a:endParaRPr sz="2400"/>
          </a:p>
        </p:txBody>
      </p:sp>
      <p:sp>
        <p:nvSpPr>
          <p:cNvPr id="17" name="Shape 15">
            <a:extLst xmlns:a="http://schemas.openxmlformats.org/drawingml/2006/main">
              <a:ext uri="{FF2B5EF4-FFF2-40B4-BE49-F238E27FC236}">
                <a16:creationId xmlns:a16="http://schemas.microsoft.com/office/drawing/2014/main" id="{3DDEA3DA-D63A-4B13-8D80-6EEB7BC87DC9}"/>
              </a:ext>
            </a:extLst>
          </p:cNvPr>
          <p:cNvSpPr>
            <a:spLocks xmlns:a="http://schemas.openxmlformats.org/drawingml/2006/main" noGrp="1"/>
          </p:cNvSpPr>
          <p:nvPr/>
        </p:nvSpPr>
        <p:spPr>
          <a:xfrm xmlns:a="http://schemas.openxmlformats.org/drawingml/2006/main">
            <a:off x="8412480" y="2514600"/>
            <a:ext cx="3246120" cy="155448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2700">
            <a:solidFill>
              <a:srgbClr val="E2E8F0"/>
            </a:solidFill>
            <a:prstDash val="solid"/>
          </a:ln>
        </p:spPr>
      </p:sp>
      <p:sp>
        <p:nvSpPr>
          <p:cNvPr id="18" name="Shape 16">
            <a:extLst xmlns:a="http://schemas.openxmlformats.org/drawingml/2006/main">
              <a:ext uri="{FF2B5EF4-FFF2-40B4-BE49-F238E27FC236}">
                <a16:creationId xmlns:a16="http://schemas.microsoft.com/office/drawing/2014/main" id="{2FBF7A60-79D3-461F-B3BE-6D396EBC3834}"/>
              </a:ext>
            </a:extLst>
          </p:cNvPr>
          <p:cNvSpPr>
            <a:spLocks xmlns:a="http://schemas.openxmlformats.org/drawingml/2006/main" noGrp="1"/>
          </p:cNvSpPr>
          <p:nvPr/>
        </p:nvSpPr>
        <p:spPr>
          <a:xfrm xmlns:a="http://schemas.openxmlformats.org/drawingml/2006/main">
            <a:off x="9784080" y="2743200"/>
            <a:ext cx="502920" cy="502920"/>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9" name="Text 17">
            <a:extLst xmlns:a="http://schemas.openxmlformats.org/drawingml/2006/main">
              <a:ext uri="{FF2B5EF4-FFF2-40B4-BE49-F238E27FC236}">
                <a16:creationId xmlns:a16="http://schemas.microsoft.com/office/drawing/2014/main" id="{86CEC7FE-B7DD-47D0-908C-B33240C781D9}"/>
              </a:ext>
            </a:extLst>
          </p:cNvPr>
          <p:cNvSpPr>
            <a:spLocks xmlns:a="http://schemas.openxmlformats.org/drawingml/2006/main" noGrp="1"/>
          </p:cNvSpPr>
          <p:nvPr/>
        </p:nvSpPr>
        <p:spPr>
          <a:xfrm xmlns:a="http://schemas.openxmlformats.org/drawingml/2006/main">
            <a:off x="9829800" y="285292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E</a:t>
            </a:r>
            <a:endParaRPr sz="1300"/>
          </a:p>
        </p:txBody>
      </p:sp>
      <p:sp>
        <p:nvSpPr>
          <p:cNvPr id="20" name="Text 18">
            <a:extLst xmlns:a="http://schemas.openxmlformats.org/drawingml/2006/main">
              <a:ext uri="{FF2B5EF4-FFF2-40B4-BE49-F238E27FC236}">
                <a16:creationId xmlns:a16="http://schemas.microsoft.com/office/drawing/2014/main" id="{274FE251-2ADB-4777-8EF7-F043DC3D7276}"/>
              </a:ext>
            </a:extLst>
          </p:cNvPr>
          <p:cNvSpPr>
            <a:spLocks xmlns:a="http://schemas.openxmlformats.org/drawingml/2006/main" noGrp="1"/>
          </p:cNvSpPr>
          <p:nvPr/>
        </p:nvSpPr>
        <p:spPr>
          <a:xfrm xmlns:a="http://schemas.openxmlformats.org/drawingml/2006/main">
            <a:off x="8732520" y="3401568"/>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11827"/>
                </a:solidFill>
              </a:rPr>
              <a:t>EXPERT</a:t>
            </a:r>
            <a:endParaRPr sz="1500"/>
          </a:p>
        </p:txBody>
      </p:sp>
      <p:sp>
        <p:nvSpPr>
          <p:cNvPr id="21" name="Text 19">
            <a:extLst xmlns:a="http://schemas.openxmlformats.org/drawingml/2006/main">
              <a:ext uri="{FF2B5EF4-FFF2-40B4-BE49-F238E27FC236}">
                <a16:creationId xmlns:a16="http://schemas.microsoft.com/office/drawing/2014/main" id="{D07EE646-4FAB-4657-BF2A-AFEED50AB3B0}"/>
              </a:ext>
            </a:extLst>
          </p:cNvPr>
          <p:cNvSpPr>
            <a:spLocks xmlns:a="http://schemas.openxmlformats.org/drawingml/2006/main" noGrp="1"/>
          </p:cNvSpPr>
          <p:nvPr/>
        </p:nvSpPr>
        <p:spPr>
          <a:xfrm xmlns:a="http://schemas.openxmlformats.org/drawingml/2006/main">
            <a:off x="8732520" y="3730752"/>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4748B"/>
                </a:solidFill>
              </a:rPr>
              <a:t>Reviews final content</a:t>
            </a:r>
            <a:endParaRPr sz="1100"/>
          </a:p>
        </p:txBody>
      </p:sp>
      <p:sp>
        <p:nvSpPr>
          <p:cNvPr id="22" name="Text 20">
            <a:extLst xmlns:a="http://schemas.openxmlformats.org/drawingml/2006/main">
              <a:ext uri="{FF2B5EF4-FFF2-40B4-BE49-F238E27FC236}">
                <a16:creationId xmlns:a16="http://schemas.microsoft.com/office/drawing/2014/main" id="{7265367B-5C81-45EF-9436-C2FF149312F9}"/>
              </a:ext>
            </a:extLst>
          </p:cNvPr>
          <p:cNvSpPr>
            <a:spLocks xmlns:a="http://schemas.openxmlformats.org/drawingml/2006/main" noGrp="1"/>
          </p:cNvSpPr>
          <p:nvPr/>
        </p:nvSpPr>
        <p:spPr>
          <a:xfrm xmlns:a="http://schemas.openxmlformats.org/drawingml/2006/main">
            <a:off x="960120" y="4709160"/>
            <a:ext cx="10195560" cy="82296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500">
                <a:solidFill>
                  <a:srgbClr val="111827"/>
                </a:solidFill>
              </a:rPr>
              <a:t>Nutrition recommendations are filtered for allergies and user constraints, generated meals are reviewed before acceptance, and exercise resources are subject to review. This design improves reliability and demonstrates responsible AI integration in a health and fitness context.</a:t>
            </a:r>
            <a:endParaRPr sz="1500"/>
          </a:p>
        </p:txBody>
      </p:sp>
      <p:sp>
        <p:nvSpPr>
          <p:cNvPr id="25" name="Slide Number Placeholder 0">
            <a:extLst xmlns:a="http://schemas.openxmlformats.org/drawingml/2006/main">
              <a:ext uri="{FF2B5EF4-FFF2-40B4-BE49-F238E27FC236}">
                <a16:creationId xmlns:a16="http://schemas.microsoft.com/office/drawing/2014/main" id="{091C07DB-734C-420E-849A-DDAC4AEC2FE4}"/>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15</a:t>
            </a:fld>
            <a:endParaRPr/>
          </a:p>
        </p:txBody>
      </p:sp>
    </p:spTree>
    <p:extLst>
      <p:ext uri="{BB962C8B-B14F-4D97-AF65-F5344CB8AC3E}">
        <p14:creationId xmlns:p14="http://schemas.microsoft.com/office/powerpoint/2010/main" val="433287956"/>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2297C29-1089-454F-858C-2DDF93856EC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76206A-8C47-410E-BFBE-0F6150F929CD}"/>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SAFETY BY DESIGN</a:t>
            </a:r>
          </a:p>
        </p:txBody>
      </p:sp>
      <p:sp>
        <p:nvSpPr>
          <p:cNvPr id="3" name="">
            <a:extLst xmlns:a="http://schemas.openxmlformats.org/drawingml/2006/main">
              <a:ext uri="{FF2B5EF4-FFF2-40B4-BE49-F238E27FC236}">
                <a16:creationId xmlns:a16="http://schemas.microsoft.com/office/drawing/2014/main" id="{B8C3C135-2462-439D-BC31-0C0EF013B0B5}"/>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Onboarding and expert review in the app</a:t>
            </a:r>
          </a:p>
        </p:txBody>
      </p:sp>
      <p:sp>
        <p:nvSpPr>
          <p:cNvPr id="4" name="">
            <a:extLst xmlns:a="http://schemas.openxmlformats.org/drawingml/2006/main">
              <a:ext uri="{FF2B5EF4-FFF2-40B4-BE49-F238E27FC236}">
                <a16:creationId xmlns:a16="http://schemas.microsoft.com/office/drawing/2014/main" id="{41BCF4A5-D1A9-4A29-96E5-8A5F67247D6F}"/>
              </a:ext>
            </a:extLst>
          </p:cNvPr>
          <p:cNvSpPr>
            <a:spLocks xmlns:a="http://schemas.openxmlformats.org/drawingml/2006/main" noGrp="1"/>
          </p:cNvSpPr>
          <p:nvPr/>
        </p:nvSpPr>
        <p:spPr>
          <a:xfrm xmlns:a="http://schemas.openxmlformats.org/drawingml/2006/main">
            <a:off x="514350" y="64389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587087"/>
                </a:solidFill>
                <a:latin typeface="Aptos"/>
                <a:ea typeface="Aptos"/>
                <a:cs typeface="Aptos"/>
              </a:defRPr>
            </a:pPr>
            <a:r>
              <a:rPr sz="900" b="1">
                <a:solidFill>
                  <a:srgbClr val="587087"/>
                </a:solidFill>
                <a:latin typeface="Aptos"/>
                <a:ea typeface="Aptos"/>
                <a:cs typeface="Aptos"/>
              </a:rPr>
              <a:t>ELITE FITNESS</a:t>
            </a:r>
          </a:p>
        </p:txBody>
      </p:sp>
      <p:sp>
        <p:nvSpPr>
          <p:cNvPr id="5" name="">
            <a:extLst xmlns:a="http://schemas.openxmlformats.org/drawingml/2006/main">
              <a:ext uri="{FF2B5EF4-FFF2-40B4-BE49-F238E27FC236}">
                <a16:creationId xmlns:a16="http://schemas.microsoft.com/office/drawing/2014/main" id="{E82738CE-3383-4D1E-8FD6-96B1A72A674C}"/>
              </a:ext>
            </a:extLst>
          </p:cNvPr>
          <p:cNvSpPr>
            <a:spLocks xmlns:a="http://schemas.openxmlformats.org/drawingml/2006/main" noGrp="1"/>
          </p:cNvSpPr>
          <p:nvPr/>
        </p:nvSpPr>
        <p:spPr>
          <a:xfrm xmlns:a="http://schemas.openxmlformats.org/drawingml/2006/main">
            <a:off x="9667875" y="64389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825" b="0">
                <a:solidFill>
                  <a:srgbClr val="587087"/>
                </a:solidFill>
                <a:latin typeface="Aptos"/>
                <a:ea typeface="Aptos"/>
                <a:cs typeface="Aptos"/>
              </a:defRPr>
            </a:pPr>
            <a:r>
              <a:rPr sz="825" b="0">
                <a:solidFill>
                  <a:srgbClr val="587087"/>
                </a:solidFill>
                <a:latin typeface="Aptos"/>
                <a:ea typeface="Aptos"/>
                <a:cs typeface="Aptos"/>
              </a:rPr>
              <a:t>FINAL YEAR PROJECT   16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16c4be0de084bba"/>
          <a:stretch xmlns:a="http://schemas.openxmlformats.org/drawingml/2006/main"/>
        </p:blipFill>
        <p:spPr>
          <a:xfrm xmlns:a="http://schemas.openxmlformats.org/drawingml/2006/main">
            <a:off x="738196" y="1428750"/>
            <a:ext cx="2733659"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EDF37F1-EFFD-4CDF-BEC7-522CC085EAAC}"/>
              </a:ext>
            </a:extLst>
          </p:cNvPr>
          <p:cNvSpPr>
            <a:spLocks xmlns:a="http://schemas.openxmlformats.org/drawingml/2006/main" noGrp="1"/>
          </p:cNvSpPr>
          <p:nvPr/>
        </p:nvSpPr>
        <p:spPr>
          <a:xfrm xmlns:a="http://schemas.openxmlformats.org/drawingml/2006/main">
            <a:off x="723900" y="5915025"/>
            <a:ext cx="276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ctr">
              <a:defRPr sz="1350" b="1">
                <a:solidFill>
                  <a:srgbClr val="04BA87"/>
                </a:solidFill>
                <a:latin typeface="Aptos"/>
                <a:ea typeface="Aptos"/>
                <a:cs typeface="Aptos"/>
              </a:defRPr>
            </a:pPr>
            <a:r>
              <a:rPr sz="1350" b="1">
                <a:solidFill>
                  <a:srgbClr val="04BA87"/>
                </a:solidFill>
                <a:latin typeface="Aptos"/>
                <a:ea typeface="Aptos"/>
                <a:cs typeface="Aptos"/>
              </a:rPr>
              <a:t>Allergies</a:t>
            </a:r>
          </a:p>
        </p:txBody>
      </p:sp>
      <p:sp>
        <p:nvSpPr>
          <p:cNvPr id="8" name="">
            <a:extLst xmlns:a="http://schemas.openxmlformats.org/drawingml/2006/main">
              <a:ext uri="{FF2B5EF4-FFF2-40B4-BE49-F238E27FC236}">
                <a16:creationId xmlns:a16="http://schemas.microsoft.com/office/drawing/2014/main" id="{DBA1CFCE-7457-48ED-ADF3-58B720EACDC5}"/>
              </a:ext>
            </a:extLst>
          </p:cNvPr>
          <p:cNvSpPr>
            <a:spLocks xmlns:a="http://schemas.openxmlformats.org/drawingml/2006/main" noGrp="1"/>
          </p:cNvSpPr>
          <p:nvPr/>
        </p:nvSpPr>
        <p:spPr>
          <a:xfrm xmlns:a="http://schemas.openxmlformats.org/drawingml/2006/main">
            <a:off x="723900" y="618172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Profile input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0bd04f059d643ba"/>
          <a:stretch xmlns:a="http://schemas.openxmlformats.org/drawingml/2006/main"/>
        </p:blipFill>
        <p:spPr>
          <a:xfrm xmlns:a="http://schemas.openxmlformats.org/drawingml/2006/main">
            <a:off x="4686035" y="1428750"/>
            <a:ext cx="2362729" cy="4476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A324EB5-4302-4A53-B419-26303018DCD8}"/>
              </a:ext>
            </a:extLst>
          </p:cNvPr>
          <p:cNvSpPr>
            <a:spLocks xmlns:a="http://schemas.openxmlformats.org/drawingml/2006/main" noGrp="1"/>
          </p:cNvSpPr>
          <p:nvPr/>
        </p:nvSpPr>
        <p:spPr>
          <a:xfrm xmlns:a="http://schemas.openxmlformats.org/drawingml/2006/main">
            <a:off x="4486275" y="5915025"/>
            <a:ext cx="276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ctr">
              <a:defRPr sz="1350" b="1">
                <a:solidFill>
                  <a:srgbClr val="04BA87"/>
                </a:solidFill>
                <a:latin typeface="Aptos"/>
                <a:ea typeface="Aptos"/>
                <a:cs typeface="Aptos"/>
              </a:defRPr>
            </a:pPr>
            <a:r>
              <a:rPr sz="1350" b="1">
                <a:solidFill>
                  <a:srgbClr val="04BA87"/>
                </a:solidFill>
                <a:latin typeface="Aptos"/>
                <a:ea typeface="Aptos"/>
                <a:cs typeface="Aptos"/>
              </a:rPr>
              <a:t>Injuries</a:t>
            </a:r>
          </a:p>
        </p:txBody>
      </p:sp>
      <p:sp>
        <p:nvSpPr>
          <p:cNvPr id="11" name="">
            <a:extLst xmlns:a="http://schemas.openxmlformats.org/drawingml/2006/main">
              <a:ext uri="{FF2B5EF4-FFF2-40B4-BE49-F238E27FC236}">
                <a16:creationId xmlns:a16="http://schemas.microsoft.com/office/drawing/2014/main" id="{C7F30F8D-6EAE-4FC6-BDF4-75688FF784AC}"/>
              </a:ext>
            </a:extLst>
          </p:cNvPr>
          <p:cNvSpPr>
            <a:spLocks xmlns:a="http://schemas.openxmlformats.org/drawingml/2006/main" noGrp="1"/>
          </p:cNvSpPr>
          <p:nvPr/>
        </p:nvSpPr>
        <p:spPr>
          <a:xfrm xmlns:a="http://schemas.openxmlformats.org/drawingml/2006/main">
            <a:off x="4486275" y="618172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Training constraints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bff10c3909740bb"/>
          <a:stretch xmlns:a="http://schemas.openxmlformats.org/drawingml/2006/main"/>
        </p:blipFill>
        <p:spPr>
          <a:xfrm xmlns:a="http://schemas.openxmlformats.org/drawingml/2006/main">
            <a:off x="8300951" y="1428750"/>
            <a:ext cx="2657648" cy="4476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ECC1C79-EA64-49F1-83EB-C47B079A7103}"/>
              </a:ext>
            </a:extLst>
          </p:cNvPr>
          <p:cNvSpPr>
            <a:spLocks xmlns:a="http://schemas.openxmlformats.org/drawingml/2006/main" noGrp="1"/>
          </p:cNvSpPr>
          <p:nvPr/>
        </p:nvSpPr>
        <p:spPr>
          <a:xfrm xmlns:a="http://schemas.openxmlformats.org/drawingml/2006/main">
            <a:off x="8248650" y="5915025"/>
            <a:ext cx="276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ctr">
              <a:defRPr sz="1350" b="1">
                <a:solidFill>
                  <a:srgbClr val="04BA87"/>
                </a:solidFill>
                <a:latin typeface="Aptos"/>
                <a:ea typeface="Aptos"/>
                <a:cs typeface="Aptos"/>
              </a:defRPr>
            </a:pPr>
            <a:r>
              <a:rPr sz="1350" b="1">
                <a:solidFill>
                  <a:srgbClr val="04BA87"/>
                </a:solidFill>
                <a:latin typeface="Aptos"/>
                <a:ea typeface="Aptos"/>
                <a:cs typeface="Aptos"/>
              </a:rPr>
              <a:t>Expert review</a:t>
            </a:r>
          </a:p>
        </p:txBody>
      </p:sp>
      <p:sp>
        <p:nvSpPr>
          <p:cNvPr id="14" name="">
            <a:extLst xmlns:a="http://schemas.openxmlformats.org/drawingml/2006/main">
              <a:ext uri="{FF2B5EF4-FFF2-40B4-BE49-F238E27FC236}">
                <a16:creationId xmlns:a16="http://schemas.microsoft.com/office/drawing/2014/main" id="{372C8081-E4A5-4763-BBA0-CF3ACB58C434}"/>
              </a:ext>
            </a:extLst>
          </p:cNvPr>
          <p:cNvSpPr>
            <a:spLocks xmlns:a="http://schemas.openxmlformats.org/drawingml/2006/main" noGrp="1"/>
          </p:cNvSpPr>
          <p:nvPr/>
        </p:nvSpPr>
        <p:spPr>
          <a:xfrm xmlns:a="http://schemas.openxmlformats.org/drawingml/2006/main">
            <a:off x="8248650" y="618172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Meal approval</a:t>
            </a:r>
          </a:p>
        </p:txBody>
      </p:sp>
    </p:spTree>
    <p:extLst>
      <p:ext uri="{BB962C8B-B14F-4D97-AF65-F5344CB8AC3E}">
        <p14:creationId xmlns:p14="http://schemas.microsoft.com/office/powerpoint/2010/main" val="195854294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9F4075-5241-423C-B28F-D4BE49AB896C}"/>
              </a:ext>
            </a:extLst>
          </p:cNvPr>
          <p:cNvSpPr>
            <a:spLocks xmlns:a="http://schemas.openxmlformats.org/drawingml/2006/main" noGrp="1"/>
          </p:cNvSpPr>
          <p:nvPr/>
        </p:nvSpPr>
        <p:spPr>
          <a:xfrm xmlns:a="http://schemas.openxmlformats.org/drawingml/2006/main">
            <a:off x="502920" y="301752"/>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EXPERIMENTAL VALIDATION</a:t>
            </a:r>
            <a:endParaRPr sz="1000"/>
          </a:p>
        </p:txBody>
      </p:sp>
      <p:sp>
        <p:nvSpPr>
          <p:cNvPr id="3" name="Text 1">
            <a:extLst xmlns:a="http://schemas.openxmlformats.org/drawingml/2006/main">
              <a:ext uri="{FF2B5EF4-FFF2-40B4-BE49-F238E27FC236}">
                <a16:creationId xmlns:a16="http://schemas.microsoft.com/office/drawing/2014/main" id="{41A10487-15EB-4554-9E66-D248DF5B761C}"/>
              </a:ext>
            </a:extLst>
          </p:cNvPr>
          <p:cNvSpPr>
            <a:spLocks xmlns:a="http://schemas.openxmlformats.org/drawingml/2006/main" noGrp="1"/>
          </p:cNvSpPr>
          <p:nvPr/>
        </p:nvSpPr>
        <p:spPr>
          <a:xfrm xmlns:a="http://schemas.openxmlformats.org/drawingml/2006/main">
            <a:off x="502920" y="530352"/>
            <a:ext cx="111099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3"/>
                </a:solidFill>
              </a:rPr>
              <a:t>System Testing &amp; Validation</a:t>
            </a:r>
            <a:endParaRPr sz="2700"/>
          </a:p>
        </p:txBody>
      </p:sp>
      <p:sp>
        <p:nvSpPr>
          <p:cNvPr id="4" name="Shape 2">
            <a:extLst xmlns:a="http://schemas.openxmlformats.org/drawingml/2006/main">
              <a:ext uri="{FF2B5EF4-FFF2-40B4-BE49-F238E27FC236}">
                <a16:creationId xmlns:a16="http://schemas.microsoft.com/office/drawing/2014/main" id="{ECDB9BFD-F505-4402-B581-3ADEBBDB5934}"/>
              </a:ext>
            </a:extLst>
          </p:cNvPr>
          <p:cNvSpPr>
            <a:spLocks xmlns:a="http://schemas.openxmlformats.org/drawingml/2006/main" noGrp="1"/>
          </p:cNvSpPr>
          <p:nvPr/>
        </p:nvSpPr>
        <p:spPr>
          <a:xfrm xmlns:a="http://schemas.openxmlformats.org/drawingml/2006/main">
            <a:off x="502920" y="1042416"/>
            <a:ext cx="822960" cy="1"/>
          </a:xfrm>
          <a:prstGeom xmlns:a="http://schemas.openxmlformats.org/drawingml/2006/main" prst="line">
            <a:avLst/>
          </a:prstGeom>
          <a:noFill xmlns:a="http://schemas.openxmlformats.org/drawingml/2006/main"/>
          <a:ln xmlns:a="http://schemas.openxmlformats.org/drawingml/2006/main" w="38100">
            <a:solidFill>
              <a:srgbClr val="16C79A"/>
            </a:solidFill>
            <a:prstDash val="solid"/>
          </a:ln>
        </p:spPr>
      </p:sp>
      <p:sp>
        <p:nvSpPr>
          <p:cNvPr id="5" name="Shape 3">
            <a:extLst xmlns:a="http://schemas.openxmlformats.org/drawingml/2006/main">
              <a:ext uri="{FF2B5EF4-FFF2-40B4-BE49-F238E27FC236}">
                <a16:creationId xmlns:a16="http://schemas.microsoft.com/office/drawing/2014/main" id="{64EA590E-3D4C-421B-BA47-75FF3E1D6A78}"/>
              </a:ext>
            </a:extLst>
          </p:cNvPr>
          <p:cNvSpPr>
            <a:spLocks xmlns:a="http://schemas.openxmlformats.org/drawingml/2006/main" noGrp="1"/>
          </p:cNvSpPr>
          <p:nvPr/>
        </p:nvSpPr>
        <p:spPr>
          <a:xfrm xmlns:a="http://schemas.openxmlformats.org/drawingml/2006/main">
            <a:off x="621792" y="1234440"/>
            <a:ext cx="5285232" cy="201168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2700">
            <a:solidFill>
              <a:srgbClr val="DCE6EE"/>
            </a:solidFill>
            <a:prstDash val="solid"/>
          </a:ln>
        </p:spPr>
      </p:sp>
      <p:sp>
        <p:nvSpPr>
          <p:cNvPr id="6" name="Shape 4">
            <a:extLst xmlns:a="http://schemas.openxmlformats.org/drawingml/2006/main">
              <a:ext uri="{FF2B5EF4-FFF2-40B4-BE49-F238E27FC236}">
                <a16:creationId xmlns:a16="http://schemas.microsoft.com/office/drawing/2014/main" id="{37B09C7C-A1FB-48C4-AA03-68CC5BC963E2}"/>
              </a:ext>
            </a:extLst>
          </p:cNvPr>
          <p:cNvSpPr>
            <a:spLocks xmlns:a="http://schemas.openxmlformats.org/drawingml/2006/main" noGrp="1"/>
          </p:cNvSpPr>
          <p:nvPr/>
        </p:nvSpPr>
        <p:spPr>
          <a:xfrm xmlns:a="http://schemas.openxmlformats.org/drawingml/2006/main">
            <a:off x="850392" y="1453896"/>
            <a:ext cx="868680" cy="27432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12700">
            <a:solidFill>
              <a:srgbClr val="EAF2FF"/>
            </a:solidFill>
            <a:prstDash val="solid"/>
          </a:ln>
        </p:spPr>
      </p:sp>
      <p:sp>
        <p:nvSpPr>
          <p:cNvPr id="7" name="Text 5">
            <a:extLst xmlns:a="http://schemas.openxmlformats.org/drawingml/2006/main">
              <a:ext uri="{FF2B5EF4-FFF2-40B4-BE49-F238E27FC236}">
                <a16:creationId xmlns:a16="http://schemas.microsoft.com/office/drawing/2014/main" id="{296C36AF-760C-433B-AD5E-A7F4FE199CBF}"/>
              </a:ext>
            </a:extLst>
          </p:cNvPr>
          <p:cNvSpPr>
            <a:spLocks xmlns:a="http://schemas.openxmlformats.org/drawingml/2006/main" noGrp="1"/>
          </p:cNvSpPr>
          <p:nvPr/>
        </p:nvSpPr>
        <p:spPr>
          <a:xfrm xmlns:a="http://schemas.openxmlformats.org/drawingml/2006/main">
            <a:off x="923544" y="1504188"/>
            <a:ext cx="72237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77FF"/>
                </a:solidFill>
              </a:rPr>
              <a:t>TEST 01</a:t>
            </a:r>
            <a:endParaRPr sz="950"/>
          </a:p>
        </p:txBody>
      </p:sp>
      <p:sp>
        <p:nvSpPr>
          <p:cNvPr id="8" name="Text 6">
            <a:extLst xmlns:a="http://schemas.openxmlformats.org/drawingml/2006/main">
              <a:ext uri="{FF2B5EF4-FFF2-40B4-BE49-F238E27FC236}">
                <a16:creationId xmlns:a16="http://schemas.microsoft.com/office/drawing/2014/main" id="{20EEB2AA-3949-4645-9694-36CD3E69C24B}"/>
              </a:ext>
            </a:extLst>
          </p:cNvPr>
          <p:cNvSpPr>
            <a:spLocks xmlns:a="http://schemas.openxmlformats.org/drawingml/2006/main" noGrp="1"/>
          </p:cNvSpPr>
          <p:nvPr/>
        </p:nvSpPr>
        <p:spPr>
          <a:xfrm xmlns:a="http://schemas.openxmlformats.org/drawingml/2006/main">
            <a:off x="1920240" y="148132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buNone/>
            </a:pPr>
            <a:r>
              <a:rPr sz="1600" b="1">
                <a:solidFill>
                  <a:srgbClr val="0B1F33"/>
                </a:solidFill>
              </a:rPr>
              <a:t>Authentication &amp; Onboarding</a:t>
            </a:r>
            <a:endParaRPr sz="1600"/>
          </a:p>
        </p:txBody>
      </p:sp>
      <p:sp>
        <p:nvSpPr>
          <p:cNvPr id="9" name="Text 7">
            <a:extLst xmlns:a="http://schemas.openxmlformats.org/drawingml/2006/main">
              <a:ext uri="{FF2B5EF4-FFF2-40B4-BE49-F238E27FC236}">
                <a16:creationId xmlns:a16="http://schemas.microsoft.com/office/drawing/2014/main" id="{1FA161F3-0149-40ED-B2E9-A86D1DA56F88}"/>
              </a:ext>
            </a:extLst>
          </p:cNvPr>
          <p:cNvSpPr>
            <a:spLocks xmlns:a="http://schemas.openxmlformats.org/drawingml/2006/main" noGrp="1"/>
          </p:cNvSpPr>
          <p:nvPr/>
        </p:nvSpPr>
        <p:spPr>
          <a:xfrm xmlns:a="http://schemas.openxmlformats.org/drawingml/2006/main">
            <a:off x="896112" y="20665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10" name="Text 8">
            <a:extLst xmlns:a="http://schemas.openxmlformats.org/drawingml/2006/main">
              <a:ext uri="{FF2B5EF4-FFF2-40B4-BE49-F238E27FC236}">
                <a16:creationId xmlns:a16="http://schemas.microsoft.com/office/drawing/2014/main" id="{C03788B0-FD51-4FB8-B3A7-F0C997277A8A}"/>
              </a:ext>
            </a:extLst>
          </p:cNvPr>
          <p:cNvSpPr>
            <a:spLocks xmlns:a="http://schemas.openxmlformats.org/drawingml/2006/main" noGrp="1"/>
          </p:cNvSpPr>
          <p:nvPr/>
        </p:nvSpPr>
        <p:spPr>
          <a:xfrm xmlns:a="http://schemas.openxmlformats.org/drawingml/2006/main">
            <a:off x="1170432" y="20665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Registration</a:t>
            </a:r>
            <a:endParaRPr sz="1050"/>
          </a:p>
        </p:txBody>
      </p:sp>
      <p:sp>
        <p:nvSpPr>
          <p:cNvPr id="11" name="Text 9">
            <a:extLst xmlns:a="http://schemas.openxmlformats.org/drawingml/2006/main">
              <a:ext uri="{FF2B5EF4-FFF2-40B4-BE49-F238E27FC236}">
                <a16:creationId xmlns:a16="http://schemas.microsoft.com/office/drawing/2014/main" id="{4818CECC-31F4-4DCA-9CC9-2B3BA7E2B106}"/>
              </a:ext>
            </a:extLst>
          </p:cNvPr>
          <p:cNvSpPr>
            <a:spLocks xmlns:a="http://schemas.openxmlformats.org/drawingml/2006/main" noGrp="1"/>
          </p:cNvSpPr>
          <p:nvPr/>
        </p:nvSpPr>
        <p:spPr>
          <a:xfrm xmlns:a="http://schemas.openxmlformats.org/drawingml/2006/main">
            <a:off x="3227832" y="20665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12" name="Text 10">
            <a:extLst xmlns:a="http://schemas.openxmlformats.org/drawingml/2006/main">
              <a:ext uri="{FF2B5EF4-FFF2-40B4-BE49-F238E27FC236}">
                <a16:creationId xmlns:a16="http://schemas.microsoft.com/office/drawing/2014/main" id="{76EF1E9F-7F9E-4C49-A271-1CADBDDC2072}"/>
              </a:ext>
            </a:extLst>
          </p:cNvPr>
          <p:cNvSpPr>
            <a:spLocks xmlns:a="http://schemas.openxmlformats.org/drawingml/2006/main" noGrp="1"/>
          </p:cNvSpPr>
          <p:nvPr/>
        </p:nvSpPr>
        <p:spPr>
          <a:xfrm xmlns:a="http://schemas.openxmlformats.org/drawingml/2006/main">
            <a:off x="3502152" y="20665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Login</a:t>
            </a:r>
            <a:endParaRPr sz="1050"/>
          </a:p>
        </p:txBody>
      </p:sp>
      <p:sp>
        <p:nvSpPr>
          <p:cNvPr id="13" name="Text 11">
            <a:extLst xmlns:a="http://schemas.openxmlformats.org/drawingml/2006/main">
              <a:ext uri="{FF2B5EF4-FFF2-40B4-BE49-F238E27FC236}">
                <a16:creationId xmlns:a16="http://schemas.microsoft.com/office/drawing/2014/main" id="{98DE34A3-6F46-4BEC-8873-9F3FBDF4C40D}"/>
              </a:ext>
            </a:extLst>
          </p:cNvPr>
          <p:cNvSpPr>
            <a:spLocks xmlns:a="http://schemas.openxmlformats.org/drawingml/2006/main" noGrp="1"/>
          </p:cNvSpPr>
          <p:nvPr/>
        </p:nvSpPr>
        <p:spPr>
          <a:xfrm xmlns:a="http://schemas.openxmlformats.org/drawingml/2006/main">
            <a:off x="896112" y="25237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14" name="Text 12">
            <a:extLst xmlns:a="http://schemas.openxmlformats.org/drawingml/2006/main">
              <a:ext uri="{FF2B5EF4-FFF2-40B4-BE49-F238E27FC236}">
                <a16:creationId xmlns:a16="http://schemas.microsoft.com/office/drawing/2014/main" id="{8D44EC6B-3B66-429D-B43F-21227FDC876B}"/>
              </a:ext>
            </a:extLst>
          </p:cNvPr>
          <p:cNvSpPr>
            <a:spLocks xmlns:a="http://schemas.openxmlformats.org/drawingml/2006/main" noGrp="1"/>
          </p:cNvSpPr>
          <p:nvPr/>
        </p:nvSpPr>
        <p:spPr>
          <a:xfrm xmlns:a="http://schemas.openxmlformats.org/drawingml/2006/main">
            <a:off x="1170432" y="25237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Token</a:t>
            </a:r>
            <a:endParaRPr sz="1050"/>
          </a:p>
        </p:txBody>
      </p:sp>
      <p:sp>
        <p:nvSpPr>
          <p:cNvPr id="15" name="Text 13">
            <a:extLst xmlns:a="http://schemas.openxmlformats.org/drawingml/2006/main">
              <a:ext uri="{FF2B5EF4-FFF2-40B4-BE49-F238E27FC236}">
                <a16:creationId xmlns:a16="http://schemas.microsoft.com/office/drawing/2014/main" id="{FAFD23E4-F50D-4FD3-83EC-6B0BB6C3A179}"/>
              </a:ext>
            </a:extLst>
          </p:cNvPr>
          <p:cNvSpPr>
            <a:spLocks xmlns:a="http://schemas.openxmlformats.org/drawingml/2006/main" noGrp="1"/>
          </p:cNvSpPr>
          <p:nvPr/>
        </p:nvSpPr>
        <p:spPr>
          <a:xfrm xmlns:a="http://schemas.openxmlformats.org/drawingml/2006/main">
            <a:off x="3227832" y="25237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16" name="Text 14">
            <a:extLst xmlns:a="http://schemas.openxmlformats.org/drawingml/2006/main">
              <a:ext uri="{FF2B5EF4-FFF2-40B4-BE49-F238E27FC236}">
                <a16:creationId xmlns:a16="http://schemas.microsoft.com/office/drawing/2014/main" id="{81486ACD-D74D-49F8-A1F1-73503742E30A}"/>
              </a:ext>
            </a:extLst>
          </p:cNvPr>
          <p:cNvSpPr>
            <a:spLocks xmlns:a="http://schemas.openxmlformats.org/drawingml/2006/main" noGrp="1"/>
          </p:cNvSpPr>
          <p:nvPr/>
        </p:nvSpPr>
        <p:spPr>
          <a:xfrm xmlns:a="http://schemas.openxmlformats.org/drawingml/2006/main">
            <a:off x="3502152" y="25237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Profile storage</a:t>
            </a:r>
            <a:endParaRPr sz="1050"/>
          </a:p>
        </p:txBody>
      </p:sp>
      <p:sp>
        <p:nvSpPr>
          <p:cNvPr id="17" name="Shape 15">
            <a:extLst xmlns:a="http://schemas.openxmlformats.org/drawingml/2006/main">
              <a:ext uri="{FF2B5EF4-FFF2-40B4-BE49-F238E27FC236}">
                <a16:creationId xmlns:a16="http://schemas.microsoft.com/office/drawing/2014/main" id="{D6705FC0-1FF7-45D6-AF3F-A8729CC86517}"/>
              </a:ext>
            </a:extLst>
          </p:cNvPr>
          <p:cNvSpPr>
            <a:spLocks xmlns:a="http://schemas.openxmlformats.org/drawingml/2006/main" noGrp="1"/>
          </p:cNvSpPr>
          <p:nvPr/>
        </p:nvSpPr>
        <p:spPr>
          <a:xfrm xmlns:a="http://schemas.openxmlformats.org/drawingml/2006/main">
            <a:off x="4873752" y="2532888"/>
            <a:ext cx="804672" cy="384048"/>
          </a:xfrm>
          <a:prstGeom xmlns:a="http://schemas.openxmlformats.org/drawingml/2006/main" prst="roundRect">
            <a:avLst>
              <a:gd name="adj" fmla="val 28571"/>
            </a:avLst>
          </a:prstGeom>
          <a:solidFill xmlns:a="http://schemas.openxmlformats.org/drawingml/2006/main">
            <a:srgbClr val="EAF9F4"/>
          </a:solidFill>
          <a:ln xmlns:a="http://schemas.openxmlformats.org/drawingml/2006/main" w="12700">
            <a:solidFill>
              <a:srgbClr val="16C79A"/>
            </a:solidFill>
            <a:prstDash val="solid"/>
          </a:ln>
        </p:spPr>
      </p:sp>
      <p:sp>
        <p:nvSpPr>
          <p:cNvPr id="18" name="Text 16">
            <a:extLst xmlns:a="http://schemas.openxmlformats.org/drawingml/2006/main">
              <a:ext uri="{FF2B5EF4-FFF2-40B4-BE49-F238E27FC236}">
                <a16:creationId xmlns:a16="http://schemas.microsoft.com/office/drawing/2014/main" id="{80BF4746-82C9-471C-8280-D6D33D1AB24E}"/>
              </a:ext>
            </a:extLst>
          </p:cNvPr>
          <p:cNvSpPr>
            <a:spLocks xmlns:a="http://schemas.openxmlformats.org/drawingml/2006/main" noGrp="1"/>
          </p:cNvSpPr>
          <p:nvPr/>
        </p:nvSpPr>
        <p:spPr>
          <a:xfrm xmlns:a="http://schemas.openxmlformats.org/drawingml/2006/main">
            <a:off x="4946904" y="2651760"/>
            <a:ext cx="658368"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6C79A"/>
                </a:solidFill>
              </a:rPr>
              <a:t>PASSED</a:t>
            </a:r>
            <a:endParaRPr sz="900"/>
          </a:p>
        </p:txBody>
      </p:sp>
      <p:sp>
        <p:nvSpPr>
          <p:cNvPr id="19" name="Shape 17">
            <a:extLst xmlns:a="http://schemas.openxmlformats.org/drawingml/2006/main">
              <a:ext uri="{FF2B5EF4-FFF2-40B4-BE49-F238E27FC236}">
                <a16:creationId xmlns:a16="http://schemas.microsoft.com/office/drawing/2014/main" id="{E4F646C7-CCA2-4AF4-8F13-3B83F8F09F04}"/>
              </a:ext>
            </a:extLst>
          </p:cNvPr>
          <p:cNvSpPr>
            <a:spLocks xmlns:a="http://schemas.openxmlformats.org/drawingml/2006/main" noGrp="1"/>
          </p:cNvSpPr>
          <p:nvPr/>
        </p:nvSpPr>
        <p:spPr>
          <a:xfrm xmlns:a="http://schemas.openxmlformats.org/drawingml/2006/main">
            <a:off x="6272784" y="1234440"/>
            <a:ext cx="5285232" cy="201168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2700">
            <a:solidFill>
              <a:srgbClr val="DCE6EE"/>
            </a:solidFill>
            <a:prstDash val="solid"/>
          </a:ln>
        </p:spPr>
      </p:sp>
      <p:sp>
        <p:nvSpPr>
          <p:cNvPr id="20" name="Shape 18">
            <a:extLst xmlns:a="http://schemas.openxmlformats.org/drawingml/2006/main">
              <a:ext uri="{FF2B5EF4-FFF2-40B4-BE49-F238E27FC236}">
                <a16:creationId xmlns:a16="http://schemas.microsoft.com/office/drawing/2014/main" id="{DFA48EDE-86F5-4D6A-B0EE-80102AA57184}"/>
              </a:ext>
            </a:extLst>
          </p:cNvPr>
          <p:cNvSpPr>
            <a:spLocks xmlns:a="http://schemas.openxmlformats.org/drawingml/2006/main" noGrp="1"/>
          </p:cNvSpPr>
          <p:nvPr/>
        </p:nvSpPr>
        <p:spPr>
          <a:xfrm xmlns:a="http://schemas.openxmlformats.org/drawingml/2006/main">
            <a:off x="6501384" y="1453896"/>
            <a:ext cx="868680" cy="27432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12700">
            <a:solidFill>
              <a:srgbClr val="EAF2FF"/>
            </a:solidFill>
            <a:prstDash val="solid"/>
          </a:ln>
        </p:spPr>
      </p:sp>
      <p:sp>
        <p:nvSpPr>
          <p:cNvPr id="21" name="Text 19">
            <a:extLst xmlns:a="http://schemas.openxmlformats.org/drawingml/2006/main">
              <a:ext uri="{FF2B5EF4-FFF2-40B4-BE49-F238E27FC236}">
                <a16:creationId xmlns:a16="http://schemas.microsoft.com/office/drawing/2014/main" id="{CF7CC520-7003-4D6F-B2AA-A17F9977F2EE}"/>
              </a:ext>
            </a:extLst>
          </p:cNvPr>
          <p:cNvSpPr>
            <a:spLocks xmlns:a="http://schemas.openxmlformats.org/drawingml/2006/main" noGrp="1"/>
          </p:cNvSpPr>
          <p:nvPr/>
        </p:nvSpPr>
        <p:spPr>
          <a:xfrm xmlns:a="http://schemas.openxmlformats.org/drawingml/2006/main">
            <a:off x="6574536" y="1504188"/>
            <a:ext cx="72237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77FF"/>
                </a:solidFill>
              </a:rPr>
              <a:t>TEST 02</a:t>
            </a:r>
            <a:endParaRPr sz="950"/>
          </a:p>
        </p:txBody>
      </p:sp>
      <p:sp>
        <p:nvSpPr>
          <p:cNvPr id="22" name="Text 20">
            <a:extLst xmlns:a="http://schemas.openxmlformats.org/drawingml/2006/main">
              <a:ext uri="{FF2B5EF4-FFF2-40B4-BE49-F238E27FC236}">
                <a16:creationId xmlns:a16="http://schemas.microsoft.com/office/drawing/2014/main" id="{17ACBC2E-32B0-4A6A-B05A-C220015475D0}"/>
              </a:ext>
            </a:extLst>
          </p:cNvPr>
          <p:cNvSpPr>
            <a:spLocks xmlns:a="http://schemas.openxmlformats.org/drawingml/2006/main" noGrp="1"/>
          </p:cNvSpPr>
          <p:nvPr/>
        </p:nvSpPr>
        <p:spPr>
          <a:xfrm xmlns:a="http://schemas.openxmlformats.org/drawingml/2006/main">
            <a:off x="7571232" y="148132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buNone/>
            </a:pPr>
            <a:r>
              <a:rPr sz="1600" b="1">
                <a:solidFill>
                  <a:srgbClr val="0B1F33"/>
                </a:solidFill>
              </a:rPr>
              <a:t>TrainCore AI</a:t>
            </a:r>
            <a:endParaRPr sz="1600"/>
          </a:p>
        </p:txBody>
      </p:sp>
      <p:sp>
        <p:nvSpPr>
          <p:cNvPr id="23" name="Text 21">
            <a:extLst xmlns:a="http://schemas.openxmlformats.org/drawingml/2006/main">
              <a:ext uri="{FF2B5EF4-FFF2-40B4-BE49-F238E27FC236}">
                <a16:creationId xmlns:a16="http://schemas.microsoft.com/office/drawing/2014/main" id="{FC9AFBE7-24FE-4674-94F2-8DB53683F283}"/>
              </a:ext>
            </a:extLst>
          </p:cNvPr>
          <p:cNvSpPr>
            <a:spLocks xmlns:a="http://schemas.openxmlformats.org/drawingml/2006/main" noGrp="1"/>
          </p:cNvSpPr>
          <p:nvPr/>
        </p:nvSpPr>
        <p:spPr>
          <a:xfrm xmlns:a="http://schemas.openxmlformats.org/drawingml/2006/main">
            <a:off x="6547104" y="20665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24" name="Text 22">
            <a:extLst xmlns:a="http://schemas.openxmlformats.org/drawingml/2006/main">
              <a:ext uri="{FF2B5EF4-FFF2-40B4-BE49-F238E27FC236}">
                <a16:creationId xmlns:a16="http://schemas.microsoft.com/office/drawing/2014/main" id="{1EA6C6CE-949E-43AB-A813-B8CBEAEF7ABD}"/>
              </a:ext>
            </a:extLst>
          </p:cNvPr>
          <p:cNvSpPr>
            <a:spLocks xmlns:a="http://schemas.openxmlformats.org/drawingml/2006/main" noGrp="1"/>
          </p:cNvSpPr>
          <p:nvPr/>
        </p:nvSpPr>
        <p:spPr>
          <a:xfrm xmlns:a="http://schemas.openxmlformats.org/drawingml/2006/main">
            <a:off x="6821424" y="20665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AI execution</a:t>
            </a:r>
            <a:endParaRPr sz="1050"/>
          </a:p>
        </p:txBody>
      </p:sp>
      <p:sp>
        <p:nvSpPr>
          <p:cNvPr id="25" name="Text 23">
            <a:extLst xmlns:a="http://schemas.openxmlformats.org/drawingml/2006/main">
              <a:ext uri="{FF2B5EF4-FFF2-40B4-BE49-F238E27FC236}">
                <a16:creationId xmlns:a16="http://schemas.microsoft.com/office/drawing/2014/main" id="{51D92654-74DE-426E-8EB9-4F468DA32692}"/>
              </a:ext>
            </a:extLst>
          </p:cNvPr>
          <p:cNvSpPr>
            <a:spLocks xmlns:a="http://schemas.openxmlformats.org/drawingml/2006/main" noGrp="1"/>
          </p:cNvSpPr>
          <p:nvPr/>
        </p:nvSpPr>
        <p:spPr>
          <a:xfrm xmlns:a="http://schemas.openxmlformats.org/drawingml/2006/main">
            <a:off x="8878824" y="20665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26" name="Text 24">
            <a:extLst xmlns:a="http://schemas.openxmlformats.org/drawingml/2006/main">
              <a:ext uri="{FF2B5EF4-FFF2-40B4-BE49-F238E27FC236}">
                <a16:creationId xmlns:a16="http://schemas.microsoft.com/office/drawing/2014/main" id="{4674220D-9EEF-4783-93B9-9849E8DD9A74}"/>
              </a:ext>
            </a:extLst>
          </p:cNvPr>
          <p:cNvSpPr>
            <a:spLocks xmlns:a="http://schemas.openxmlformats.org/drawingml/2006/main" noGrp="1"/>
          </p:cNvSpPr>
          <p:nvPr/>
        </p:nvSpPr>
        <p:spPr>
          <a:xfrm xmlns:a="http://schemas.openxmlformats.org/drawingml/2006/main">
            <a:off x="9153144" y="20665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Workout generation</a:t>
            </a:r>
            <a:endParaRPr sz="1050"/>
          </a:p>
        </p:txBody>
      </p:sp>
      <p:sp>
        <p:nvSpPr>
          <p:cNvPr id="27" name="Text 25">
            <a:extLst xmlns:a="http://schemas.openxmlformats.org/drawingml/2006/main">
              <a:ext uri="{FF2B5EF4-FFF2-40B4-BE49-F238E27FC236}">
                <a16:creationId xmlns:a16="http://schemas.microsoft.com/office/drawing/2014/main" id="{43D960E9-6695-4A07-BAAC-228983DAB653}"/>
              </a:ext>
            </a:extLst>
          </p:cNvPr>
          <p:cNvSpPr>
            <a:spLocks xmlns:a="http://schemas.openxmlformats.org/drawingml/2006/main" noGrp="1"/>
          </p:cNvSpPr>
          <p:nvPr/>
        </p:nvSpPr>
        <p:spPr>
          <a:xfrm xmlns:a="http://schemas.openxmlformats.org/drawingml/2006/main">
            <a:off x="6547104" y="25237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28" name="Text 26">
            <a:extLst xmlns:a="http://schemas.openxmlformats.org/drawingml/2006/main">
              <a:ext uri="{FF2B5EF4-FFF2-40B4-BE49-F238E27FC236}">
                <a16:creationId xmlns:a16="http://schemas.microsoft.com/office/drawing/2014/main" id="{07CC5203-9EC4-43E4-8958-C38225354D90}"/>
              </a:ext>
            </a:extLst>
          </p:cNvPr>
          <p:cNvSpPr>
            <a:spLocks xmlns:a="http://schemas.openxmlformats.org/drawingml/2006/main" noGrp="1"/>
          </p:cNvSpPr>
          <p:nvPr/>
        </p:nvSpPr>
        <p:spPr>
          <a:xfrm xmlns:a="http://schemas.openxmlformats.org/drawingml/2006/main">
            <a:off x="6821424" y="25237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Database storage</a:t>
            </a:r>
            <a:endParaRPr sz="1050"/>
          </a:p>
        </p:txBody>
      </p:sp>
      <p:sp>
        <p:nvSpPr>
          <p:cNvPr id="29" name="Text 27">
            <a:extLst xmlns:a="http://schemas.openxmlformats.org/drawingml/2006/main">
              <a:ext uri="{FF2B5EF4-FFF2-40B4-BE49-F238E27FC236}">
                <a16:creationId xmlns:a16="http://schemas.microsoft.com/office/drawing/2014/main" id="{02EF24D8-D7F2-4A4C-9FB3-3353BFBC0DB6}"/>
              </a:ext>
            </a:extLst>
          </p:cNvPr>
          <p:cNvSpPr>
            <a:spLocks xmlns:a="http://schemas.openxmlformats.org/drawingml/2006/main" noGrp="1"/>
          </p:cNvSpPr>
          <p:nvPr/>
        </p:nvSpPr>
        <p:spPr>
          <a:xfrm xmlns:a="http://schemas.openxmlformats.org/drawingml/2006/main">
            <a:off x="8878824" y="25237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30" name="Text 28">
            <a:extLst xmlns:a="http://schemas.openxmlformats.org/drawingml/2006/main">
              <a:ext uri="{FF2B5EF4-FFF2-40B4-BE49-F238E27FC236}">
                <a16:creationId xmlns:a16="http://schemas.microsoft.com/office/drawing/2014/main" id="{1297658E-D156-4A07-8CAC-F8C5C5C98AB7}"/>
              </a:ext>
            </a:extLst>
          </p:cNvPr>
          <p:cNvSpPr>
            <a:spLocks xmlns:a="http://schemas.openxmlformats.org/drawingml/2006/main" noGrp="1"/>
          </p:cNvSpPr>
          <p:nvPr/>
        </p:nvSpPr>
        <p:spPr>
          <a:xfrm xmlns:a="http://schemas.openxmlformats.org/drawingml/2006/main">
            <a:off x="9153144" y="25237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Mobile display</a:t>
            </a:r>
            <a:endParaRPr sz="1050"/>
          </a:p>
        </p:txBody>
      </p:sp>
      <p:sp>
        <p:nvSpPr>
          <p:cNvPr id="31" name="Shape 29">
            <a:extLst xmlns:a="http://schemas.openxmlformats.org/drawingml/2006/main">
              <a:ext uri="{FF2B5EF4-FFF2-40B4-BE49-F238E27FC236}">
                <a16:creationId xmlns:a16="http://schemas.microsoft.com/office/drawing/2014/main" id="{A150D157-1F5E-4380-B9C7-7F6953581896}"/>
              </a:ext>
            </a:extLst>
          </p:cNvPr>
          <p:cNvSpPr>
            <a:spLocks xmlns:a="http://schemas.openxmlformats.org/drawingml/2006/main" noGrp="1"/>
          </p:cNvSpPr>
          <p:nvPr/>
        </p:nvSpPr>
        <p:spPr>
          <a:xfrm xmlns:a="http://schemas.openxmlformats.org/drawingml/2006/main">
            <a:off x="10524744" y="2532888"/>
            <a:ext cx="804672" cy="384048"/>
          </a:xfrm>
          <a:prstGeom xmlns:a="http://schemas.openxmlformats.org/drawingml/2006/main" prst="roundRect">
            <a:avLst>
              <a:gd name="adj" fmla="val 28571"/>
            </a:avLst>
          </a:prstGeom>
          <a:solidFill xmlns:a="http://schemas.openxmlformats.org/drawingml/2006/main">
            <a:srgbClr val="EAF9F4"/>
          </a:solidFill>
          <a:ln xmlns:a="http://schemas.openxmlformats.org/drawingml/2006/main" w="12700">
            <a:solidFill>
              <a:srgbClr val="16C79A"/>
            </a:solidFill>
            <a:prstDash val="solid"/>
          </a:ln>
        </p:spPr>
      </p:sp>
      <p:sp>
        <p:nvSpPr>
          <p:cNvPr id="32" name="Text 30">
            <a:extLst xmlns:a="http://schemas.openxmlformats.org/drawingml/2006/main">
              <a:ext uri="{FF2B5EF4-FFF2-40B4-BE49-F238E27FC236}">
                <a16:creationId xmlns:a16="http://schemas.microsoft.com/office/drawing/2014/main" id="{5292A215-4FF9-48EE-BDD1-7B50EFB46F38}"/>
              </a:ext>
            </a:extLst>
          </p:cNvPr>
          <p:cNvSpPr>
            <a:spLocks xmlns:a="http://schemas.openxmlformats.org/drawingml/2006/main" noGrp="1"/>
          </p:cNvSpPr>
          <p:nvPr/>
        </p:nvSpPr>
        <p:spPr>
          <a:xfrm xmlns:a="http://schemas.openxmlformats.org/drawingml/2006/main">
            <a:off x="10597896" y="2651760"/>
            <a:ext cx="658368"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6C79A"/>
                </a:solidFill>
              </a:rPr>
              <a:t>PASSED</a:t>
            </a:r>
            <a:endParaRPr sz="900"/>
          </a:p>
        </p:txBody>
      </p:sp>
      <p:sp>
        <p:nvSpPr>
          <p:cNvPr id="33" name="Shape 31">
            <a:extLst xmlns:a="http://schemas.openxmlformats.org/drawingml/2006/main">
              <a:ext uri="{FF2B5EF4-FFF2-40B4-BE49-F238E27FC236}">
                <a16:creationId xmlns:a16="http://schemas.microsoft.com/office/drawing/2014/main" id="{F3512A62-75FE-4C4F-8228-BA0EC8157D2D}"/>
              </a:ext>
            </a:extLst>
          </p:cNvPr>
          <p:cNvSpPr>
            <a:spLocks xmlns:a="http://schemas.openxmlformats.org/drawingml/2006/main" noGrp="1"/>
          </p:cNvSpPr>
          <p:nvPr/>
        </p:nvSpPr>
        <p:spPr>
          <a:xfrm xmlns:a="http://schemas.openxmlformats.org/drawingml/2006/main">
            <a:off x="621792" y="3566160"/>
            <a:ext cx="5285232" cy="201168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2700">
            <a:solidFill>
              <a:srgbClr val="DCE6EE"/>
            </a:solidFill>
            <a:prstDash val="solid"/>
          </a:ln>
        </p:spPr>
      </p:sp>
      <p:sp>
        <p:nvSpPr>
          <p:cNvPr id="34" name="Shape 32">
            <a:extLst xmlns:a="http://schemas.openxmlformats.org/drawingml/2006/main">
              <a:ext uri="{FF2B5EF4-FFF2-40B4-BE49-F238E27FC236}">
                <a16:creationId xmlns:a16="http://schemas.microsoft.com/office/drawing/2014/main" id="{20EA0087-60D3-43C7-9E05-A362E647FD08}"/>
              </a:ext>
            </a:extLst>
          </p:cNvPr>
          <p:cNvSpPr>
            <a:spLocks xmlns:a="http://schemas.openxmlformats.org/drawingml/2006/main" noGrp="1"/>
          </p:cNvSpPr>
          <p:nvPr/>
        </p:nvSpPr>
        <p:spPr>
          <a:xfrm xmlns:a="http://schemas.openxmlformats.org/drawingml/2006/main">
            <a:off x="850392" y="3785616"/>
            <a:ext cx="868680" cy="27432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12700">
            <a:solidFill>
              <a:srgbClr val="EAF2FF"/>
            </a:solidFill>
            <a:prstDash val="solid"/>
          </a:ln>
        </p:spPr>
      </p:sp>
      <p:sp>
        <p:nvSpPr>
          <p:cNvPr id="35" name="Text 33">
            <a:extLst xmlns:a="http://schemas.openxmlformats.org/drawingml/2006/main">
              <a:ext uri="{FF2B5EF4-FFF2-40B4-BE49-F238E27FC236}">
                <a16:creationId xmlns:a16="http://schemas.microsoft.com/office/drawing/2014/main" id="{2850EB4D-25FC-4C5B-B498-399D414615EF}"/>
              </a:ext>
            </a:extLst>
          </p:cNvPr>
          <p:cNvSpPr>
            <a:spLocks xmlns:a="http://schemas.openxmlformats.org/drawingml/2006/main" noGrp="1"/>
          </p:cNvSpPr>
          <p:nvPr/>
        </p:nvSpPr>
        <p:spPr>
          <a:xfrm xmlns:a="http://schemas.openxmlformats.org/drawingml/2006/main">
            <a:off x="923544" y="3835908"/>
            <a:ext cx="72237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77FF"/>
                </a:solidFill>
              </a:rPr>
              <a:t>TEST 03</a:t>
            </a:r>
            <a:endParaRPr sz="950"/>
          </a:p>
        </p:txBody>
      </p:sp>
      <p:sp>
        <p:nvSpPr>
          <p:cNvPr id="36" name="Text 34">
            <a:extLst xmlns:a="http://schemas.openxmlformats.org/drawingml/2006/main">
              <a:ext uri="{FF2B5EF4-FFF2-40B4-BE49-F238E27FC236}">
                <a16:creationId xmlns:a16="http://schemas.microsoft.com/office/drawing/2014/main" id="{BF9428D0-DFD2-43AB-A4D4-1ED95C4E1B8E}"/>
              </a:ext>
            </a:extLst>
          </p:cNvPr>
          <p:cNvSpPr>
            <a:spLocks xmlns:a="http://schemas.openxmlformats.org/drawingml/2006/main" noGrp="1"/>
          </p:cNvSpPr>
          <p:nvPr/>
        </p:nvSpPr>
        <p:spPr>
          <a:xfrm xmlns:a="http://schemas.openxmlformats.org/drawingml/2006/main">
            <a:off x="1920240" y="381304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buNone/>
            </a:pPr>
            <a:r>
              <a:rPr sz="1600" b="1">
                <a:solidFill>
                  <a:srgbClr val="0B1F33"/>
                </a:solidFill>
              </a:rPr>
              <a:t>NutriCore AI</a:t>
            </a:r>
            <a:endParaRPr sz="1600"/>
          </a:p>
        </p:txBody>
      </p:sp>
      <p:sp>
        <p:nvSpPr>
          <p:cNvPr id="37" name="Text 35">
            <a:extLst xmlns:a="http://schemas.openxmlformats.org/drawingml/2006/main">
              <a:ext uri="{FF2B5EF4-FFF2-40B4-BE49-F238E27FC236}">
                <a16:creationId xmlns:a16="http://schemas.microsoft.com/office/drawing/2014/main" id="{A6AEE3C7-0B37-4161-A506-C010EF6CBCFC}"/>
              </a:ext>
            </a:extLst>
          </p:cNvPr>
          <p:cNvSpPr>
            <a:spLocks xmlns:a="http://schemas.openxmlformats.org/drawingml/2006/main" noGrp="1"/>
          </p:cNvSpPr>
          <p:nvPr/>
        </p:nvSpPr>
        <p:spPr>
          <a:xfrm xmlns:a="http://schemas.openxmlformats.org/drawingml/2006/main">
            <a:off x="896112" y="43982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38" name="Text 36">
            <a:extLst xmlns:a="http://schemas.openxmlformats.org/drawingml/2006/main">
              <a:ext uri="{FF2B5EF4-FFF2-40B4-BE49-F238E27FC236}">
                <a16:creationId xmlns:a16="http://schemas.microsoft.com/office/drawing/2014/main" id="{7A4D9AAB-695C-467B-9860-A525A7767920}"/>
              </a:ext>
            </a:extLst>
          </p:cNvPr>
          <p:cNvSpPr>
            <a:spLocks xmlns:a="http://schemas.openxmlformats.org/drawingml/2006/main" noGrp="1"/>
          </p:cNvSpPr>
          <p:nvPr/>
        </p:nvSpPr>
        <p:spPr>
          <a:xfrm xmlns:a="http://schemas.openxmlformats.org/drawingml/2006/main">
            <a:off x="1170432" y="43982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Meal generation</a:t>
            </a:r>
            <a:endParaRPr sz="1050"/>
          </a:p>
        </p:txBody>
      </p:sp>
      <p:sp>
        <p:nvSpPr>
          <p:cNvPr id="39" name="Text 37">
            <a:extLst xmlns:a="http://schemas.openxmlformats.org/drawingml/2006/main">
              <a:ext uri="{FF2B5EF4-FFF2-40B4-BE49-F238E27FC236}">
                <a16:creationId xmlns:a16="http://schemas.microsoft.com/office/drawing/2014/main" id="{ACD52C95-D672-475A-9759-900A176E1CC7}"/>
              </a:ext>
            </a:extLst>
          </p:cNvPr>
          <p:cNvSpPr>
            <a:spLocks xmlns:a="http://schemas.openxmlformats.org/drawingml/2006/main" noGrp="1"/>
          </p:cNvSpPr>
          <p:nvPr/>
        </p:nvSpPr>
        <p:spPr>
          <a:xfrm xmlns:a="http://schemas.openxmlformats.org/drawingml/2006/main">
            <a:off x="3227832" y="43982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40" name="Text 38">
            <a:extLst xmlns:a="http://schemas.openxmlformats.org/drawingml/2006/main">
              <a:ext uri="{FF2B5EF4-FFF2-40B4-BE49-F238E27FC236}">
                <a16:creationId xmlns:a16="http://schemas.microsoft.com/office/drawing/2014/main" id="{8C9D8357-EBCE-4692-B33A-5A09FEBA7B49}"/>
              </a:ext>
            </a:extLst>
          </p:cNvPr>
          <p:cNvSpPr>
            <a:spLocks xmlns:a="http://schemas.openxmlformats.org/drawingml/2006/main" noGrp="1"/>
          </p:cNvSpPr>
          <p:nvPr/>
        </p:nvSpPr>
        <p:spPr>
          <a:xfrm xmlns:a="http://schemas.openxmlformats.org/drawingml/2006/main">
            <a:off x="3502152" y="43982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Allergy filtering</a:t>
            </a:r>
            <a:endParaRPr sz="1050"/>
          </a:p>
        </p:txBody>
      </p:sp>
      <p:sp>
        <p:nvSpPr>
          <p:cNvPr id="41" name="Text 39">
            <a:extLst xmlns:a="http://schemas.openxmlformats.org/drawingml/2006/main">
              <a:ext uri="{FF2B5EF4-FFF2-40B4-BE49-F238E27FC236}">
                <a16:creationId xmlns:a16="http://schemas.microsoft.com/office/drawing/2014/main" id="{5661FCB7-0E67-4D17-A893-83237FCEFBE3}"/>
              </a:ext>
            </a:extLst>
          </p:cNvPr>
          <p:cNvSpPr>
            <a:spLocks xmlns:a="http://schemas.openxmlformats.org/drawingml/2006/main" noGrp="1"/>
          </p:cNvSpPr>
          <p:nvPr/>
        </p:nvSpPr>
        <p:spPr>
          <a:xfrm xmlns:a="http://schemas.openxmlformats.org/drawingml/2006/main">
            <a:off x="896112" y="48554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42" name="Text 40">
            <a:extLst xmlns:a="http://schemas.openxmlformats.org/drawingml/2006/main">
              <a:ext uri="{FF2B5EF4-FFF2-40B4-BE49-F238E27FC236}">
                <a16:creationId xmlns:a16="http://schemas.microsoft.com/office/drawing/2014/main" id="{25C42CC0-C2DD-4786-A150-9C49C002ADAE}"/>
              </a:ext>
            </a:extLst>
          </p:cNvPr>
          <p:cNvSpPr>
            <a:spLocks xmlns:a="http://schemas.openxmlformats.org/drawingml/2006/main" noGrp="1"/>
          </p:cNvSpPr>
          <p:nvPr/>
        </p:nvSpPr>
        <p:spPr>
          <a:xfrm xmlns:a="http://schemas.openxmlformats.org/drawingml/2006/main">
            <a:off x="1170432" y="48554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Expert approval</a:t>
            </a:r>
            <a:endParaRPr sz="1050"/>
          </a:p>
        </p:txBody>
      </p:sp>
      <p:sp>
        <p:nvSpPr>
          <p:cNvPr id="43" name="Shape 41">
            <a:extLst xmlns:a="http://schemas.openxmlformats.org/drawingml/2006/main">
              <a:ext uri="{FF2B5EF4-FFF2-40B4-BE49-F238E27FC236}">
                <a16:creationId xmlns:a16="http://schemas.microsoft.com/office/drawing/2014/main" id="{2E103858-0254-4027-8F9A-BC89DFD1AEBC}"/>
              </a:ext>
            </a:extLst>
          </p:cNvPr>
          <p:cNvSpPr>
            <a:spLocks xmlns:a="http://schemas.openxmlformats.org/drawingml/2006/main" noGrp="1"/>
          </p:cNvSpPr>
          <p:nvPr/>
        </p:nvSpPr>
        <p:spPr>
          <a:xfrm xmlns:a="http://schemas.openxmlformats.org/drawingml/2006/main">
            <a:off x="4873752" y="4864608"/>
            <a:ext cx="804672" cy="384048"/>
          </a:xfrm>
          <a:prstGeom xmlns:a="http://schemas.openxmlformats.org/drawingml/2006/main" prst="roundRect">
            <a:avLst>
              <a:gd name="adj" fmla="val 28571"/>
            </a:avLst>
          </a:prstGeom>
          <a:solidFill xmlns:a="http://schemas.openxmlformats.org/drawingml/2006/main">
            <a:srgbClr val="EAF9F4"/>
          </a:solidFill>
          <a:ln xmlns:a="http://schemas.openxmlformats.org/drawingml/2006/main" w="12700">
            <a:solidFill>
              <a:srgbClr val="16C79A"/>
            </a:solidFill>
            <a:prstDash val="solid"/>
          </a:ln>
        </p:spPr>
      </p:sp>
      <p:sp>
        <p:nvSpPr>
          <p:cNvPr id="44" name="Text 42">
            <a:extLst xmlns:a="http://schemas.openxmlformats.org/drawingml/2006/main">
              <a:ext uri="{FF2B5EF4-FFF2-40B4-BE49-F238E27FC236}">
                <a16:creationId xmlns:a16="http://schemas.microsoft.com/office/drawing/2014/main" id="{927EB088-0831-4E0A-9AC0-E7B5223AF816}"/>
              </a:ext>
            </a:extLst>
          </p:cNvPr>
          <p:cNvSpPr>
            <a:spLocks xmlns:a="http://schemas.openxmlformats.org/drawingml/2006/main" noGrp="1"/>
          </p:cNvSpPr>
          <p:nvPr/>
        </p:nvSpPr>
        <p:spPr>
          <a:xfrm xmlns:a="http://schemas.openxmlformats.org/drawingml/2006/main">
            <a:off x="4946904" y="4983480"/>
            <a:ext cx="658368"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6C79A"/>
                </a:solidFill>
              </a:rPr>
              <a:t>PASSED</a:t>
            </a:r>
            <a:endParaRPr sz="900"/>
          </a:p>
        </p:txBody>
      </p:sp>
      <p:sp>
        <p:nvSpPr>
          <p:cNvPr id="45" name="Shape 43">
            <a:extLst xmlns:a="http://schemas.openxmlformats.org/drawingml/2006/main">
              <a:ext uri="{FF2B5EF4-FFF2-40B4-BE49-F238E27FC236}">
                <a16:creationId xmlns:a16="http://schemas.microsoft.com/office/drawing/2014/main" id="{EF1C807D-57D6-443B-95F7-069575A484AE}"/>
              </a:ext>
            </a:extLst>
          </p:cNvPr>
          <p:cNvSpPr>
            <a:spLocks xmlns:a="http://schemas.openxmlformats.org/drawingml/2006/main" noGrp="1"/>
          </p:cNvSpPr>
          <p:nvPr/>
        </p:nvSpPr>
        <p:spPr>
          <a:xfrm xmlns:a="http://schemas.openxmlformats.org/drawingml/2006/main">
            <a:off x="6272784" y="3566160"/>
            <a:ext cx="5285232" cy="201168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2700">
            <a:solidFill>
              <a:srgbClr val="DCE6EE"/>
            </a:solidFill>
            <a:prstDash val="solid"/>
          </a:ln>
        </p:spPr>
      </p:sp>
      <p:sp>
        <p:nvSpPr>
          <p:cNvPr id="46" name="Shape 44">
            <a:extLst xmlns:a="http://schemas.openxmlformats.org/drawingml/2006/main">
              <a:ext uri="{FF2B5EF4-FFF2-40B4-BE49-F238E27FC236}">
                <a16:creationId xmlns:a16="http://schemas.microsoft.com/office/drawing/2014/main" id="{E1974E01-F9BC-4113-B2B3-40DD92A24A5F}"/>
              </a:ext>
            </a:extLst>
          </p:cNvPr>
          <p:cNvSpPr>
            <a:spLocks xmlns:a="http://schemas.openxmlformats.org/drawingml/2006/main" noGrp="1"/>
          </p:cNvSpPr>
          <p:nvPr/>
        </p:nvSpPr>
        <p:spPr>
          <a:xfrm xmlns:a="http://schemas.openxmlformats.org/drawingml/2006/main">
            <a:off x="6501384" y="3785616"/>
            <a:ext cx="868680" cy="27432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12700">
            <a:solidFill>
              <a:srgbClr val="EAF2FF"/>
            </a:solidFill>
            <a:prstDash val="solid"/>
          </a:ln>
        </p:spPr>
      </p:sp>
      <p:sp>
        <p:nvSpPr>
          <p:cNvPr id="47" name="Text 45">
            <a:extLst xmlns:a="http://schemas.openxmlformats.org/drawingml/2006/main">
              <a:ext uri="{FF2B5EF4-FFF2-40B4-BE49-F238E27FC236}">
                <a16:creationId xmlns:a16="http://schemas.microsoft.com/office/drawing/2014/main" id="{E87EF60E-8565-450D-AF84-41040A915F61}"/>
              </a:ext>
            </a:extLst>
          </p:cNvPr>
          <p:cNvSpPr>
            <a:spLocks xmlns:a="http://schemas.openxmlformats.org/drawingml/2006/main" noGrp="1"/>
          </p:cNvSpPr>
          <p:nvPr/>
        </p:nvSpPr>
        <p:spPr>
          <a:xfrm xmlns:a="http://schemas.openxmlformats.org/drawingml/2006/main">
            <a:off x="6574536" y="3835908"/>
            <a:ext cx="72237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77FF"/>
                </a:solidFill>
              </a:rPr>
              <a:t>TEST 04</a:t>
            </a:r>
            <a:endParaRPr sz="950"/>
          </a:p>
        </p:txBody>
      </p:sp>
      <p:sp>
        <p:nvSpPr>
          <p:cNvPr id="48" name="Text 46">
            <a:extLst xmlns:a="http://schemas.openxmlformats.org/drawingml/2006/main">
              <a:ext uri="{FF2B5EF4-FFF2-40B4-BE49-F238E27FC236}">
                <a16:creationId xmlns:a16="http://schemas.microsoft.com/office/drawing/2014/main" id="{A56BBB88-A127-46B7-A5EB-6424C84EAED3}"/>
              </a:ext>
            </a:extLst>
          </p:cNvPr>
          <p:cNvSpPr>
            <a:spLocks xmlns:a="http://schemas.openxmlformats.org/drawingml/2006/main" noGrp="1"/>
          </p:cNvSpPr>
          <p:nvPr/>
        </p:nvSpPr>
        <p:spPr>
          <a:xfrm xmlns:a="http://schemas.openxmlformats.org/drawingml/2006/main">
            <a:off x="7571232" y="381304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buNone/>
            </a:pPr>
            <a:r>
              <a:rPr sz="1600" b="1">
                <a:solidFill>
                  <a:srgbClr val="0B1F33"/>
                </a:solidFill>
              </a:rPr>
              <a:t>PoseForm AI</a:t>
            </a:r>
            <a:endParaRPr sz="1600"/>
          </a:p>
        </p:txBody>
      </p:sp>
      <p:sp>
        <p:nvSpPr>
          <p:cNvPr id="49" name="Text 47">
            <a:extLst xmlns:a="http://schemas.openxmlformats.org/drawingml/2006/main">
              <a:ext uri="{FF2B5EF4-FFF2-40B4-BE49-F238E27FC236}">
                <a16:creationId xmlns:a16="http://schemas.microsoft.com/office/drawing/2014/main" id="{C5E37BA8-E30C-4987-AB88-FA58DACF9341}"/>
              </a:ext>
            </a:extLst>
          </p:cNvPr>
          <p:cNvSpPr>
            <a:spLocks xmlns:a="http://schemas.openxmlformats.org/drawingml/2006/main" noGrp="1"/>
          </p:cNvSpPr>
          <p:nvPr/>
        </p:nvSpPr>
        <p:spPr>
          <a:xfrm xmlns:a="http://schemas.openxmlformats.org/drawingml/2006/main">
            <a:off x="6547104" y="43982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50" name="Text 48">
            <a:extLst xmlns:a="http://schemas.openxmlformats.org/drawingml/2006/main">
              <a:ext uri="{FF2B5EF4-FFF2-40B4-BE49-F238E27FC236}">
                <a16:creationId xmlns:a16="http://schemas.microsoft.com/office/drawing/2014/main" id="{61871D18-FB6F-4B72-8FAB-AEE5248F5530}"/>
              </a:ext>
            </a:extLst>
          </p:cNvPr>
          <p:cNvSpPr>
            <a:spLocks xmlns:a="http://schemas.openxmlformats.org/drawingml/2006/main" noGrp="1"/>
          </p:cNvSpPr>
          <p:nvPr/>
        </p:nvSpPr>
        <p:spPr>
          <a:xfrm xmlns:a="http://schemas.openxmlformats.org/drawingml/2006/main">
            <a:off x="6821424" y="43982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Video upload</a:t>
            </a:r>
            <a:endParaRPr sz="1050"/>
          </a:p>
        </p:txBody>
      </p:sp>
      <p:sp>
        <p:nvSpPr>
          <p:cNvPr id="51" name="Text 49">
            <a:extLst xmlns:a="http://schemas.openxmlformats.org/drawingml/2006/main">
              <a:ext uri="{FF2B5EF4-FFF2-40B4-BE49-F238E27FC236}">
                <a16:creationId xmlns:a16="http://schemas.microsoft.com/office/drawing/2014/main" id="{4A659950-17E8-49D4-9841-D7D26BF5650C}"/>
              </a:ext>
            </a:extLst>
          </p:cNvPr>
          <p:cNvSpPr>
            <a:spLocks xmlns:a="http://schemas.openxmlformats.org/drawingml/2006/main" noGrp="1"/>
          </p:cNvSpPr>
          <p:nvPr/>
        </p:nvSpPr>
        <p:spPr>
          <a:xfrm xmlns:a="http://schemas.openxmlformats.org/drawingml/2006/main">
            <a:off x="8878824" y="43982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52" name="Text 50">
            <a:extLst xmlns:a="http://schemas.openxmlformats.org/drawingml/2006/main">
              <a:ext uri="{FF2B5EF4-FFF2-40B4-BE49-F238E27FC236}">
                <a16:creationId xmlns:a16="http://schemas.microsoft.com/office/drawing/2014/main" id="{879AE14E-25EC-4E00-A4B0-BF257108EE74}"/>
              </a:ext>
            </a:extLst>
          </p:cNvPr>
          <p:cNvSpPr>
            <a:spLocks xmlns:a="http://schemas.openxmlformats.org/drawingml/2006/main" noGrp="1"/>
          </p:cNvSpPr>
          <p:nvPr/>
        </p:nvSpPr>
        <p:spPr>
          <a:xfrm xmlns:a="http://schemas.openxmlformats.org/drawingml/2006/main">
            <a:off x="9153144" y="43982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Pose detection</a:t>
            </a:r>
            <a:endParaRPr sz="1050"/>
          </a:p>
        </p:txBody>
      </p:sp>
      <p:sp>
        <p:nvSpPr>
          <p:cNvPr id="53" name="Text 51">
            <a:extLst xmlns:a="http://schemas.openxmlformats.org/drawingml/2006/main">
              <a:ext uri="{FF2B5EF4-FFF2-40B4-BE49-F238E27FC236}">
                <a16:creationId xmlns:a16="http://schemas.microsoft.com/office/drawing/2014/main" id="{86D86EEB-D9B5-49A7-B79A-61F42CA73736}"/>
              </a:ext>
            </a:extLst>
          </p:cNvPr>
          <p:cNvSpPr>
            <a:spLocks xmlns:a="http://schemas.openxmlformats.org/drawingml/2006/main" noGrp="1"/>
          </p:cNvSpPr>
          <p:nvPr/>
        </p:nvSpPr>
        <p:spPr>
          <a:xfrm xmlns:a="http://schemas.openxmlformats.org/drawingml/2006/main">
            <a:off x="6547104" y="48554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54" name="Text 52">
            <a:extLst xmlns:a="http://schemas.openxmlformats.org/drawingml/2006/main">
              <a:ext uri="{FF2B5EF4-FFF2-40B4-BE49-F238E27FC236}">
                <a16:creationId xmlns:a16="http://schemas.microsoft.com/office/drawing/2014/main" id="{50424D37-91D0-49DE-94FA-98CEE387E44A}"/>
              </a:ext>
            </a:extLst>
          </p:cNvPr>
          <p:cNvSpPr>
            <a:spLocks xmlns:a="http://schemas.openxmlformats.org/drawingml/2006/main" noGrp="1"/>
          </p:cNvSpPr>
          <p:nvPr/>
        </p:nvSpPr>
        <p:spPr>
          <a:xfrm xmlns:a="http://schemas.openxmlformats.org/drawingml/2006/main">
            <a:off x="6821424" y="48554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Repetition counting</a:t>
            </a:r>
            <a:endParaRPr sz="1050"/>
          </a:p>
        </p:txBody>
      </p:sp>
      <p:sp>
        <p:nvSpPr>
          <p:cNvPr id="55" name="Text 53">
            <a:extLst xmlns:a="http://schemas.openxmlformats.org/drawingml/2006/main">
              <a:ext uri="{FF2B5EF4-FFF2-40B4-BE49-F238E27FC236}">
                <a16:creationId xmlns:a16="http://schemas.microsoft.com/office/drawing/2014/main" id="{CF04AA8A-F4D4-4E68-9833-C913801ADB5A}"/>
              </a:ext>
            </a:extLst>
          </p:cNvPr>
          <p:cNvSpPr>
            <a:spLocks xmlns:a="http://schemas.openxmlformats.org/drawingml/2006/main" noGrp="1"/>
          </p:cNvSpPr>
          <p:nvPr/>
        </p:nvSpPr>
        <p:spPr>
          <a:xfrm xmlns:a="http://schemas.openxmlformats.org/drawingml/2006/main">
            <a:off x="8878824" y="48554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56" name="Text 54">
            <a:extLst xmlns:a="http://schemas.openxmlformats.org/drawingml/2006/main">
              <a:ext uri="{FF2B5EF4-FFF2-40B4-BE49-F238E27FC236}">
                <a16:creationId xmlns:a16="http://schemas.microsoft.com/office/drawing/2014/main" id="{29BA6967-2FFE-4B61-81F5-E754AB314B14}"/>
              </a:ext>
            </a:extLst>
          </p:cNvPr>
          <p:cNvSpPr>
            <a:spLocks xmlns:a="http://schemas.openxmlformats.org/drawingml/2006/main" noGrp="1"/>
          </p:cNvSpPr>
          <p:nvPr/>
        </p:nvSpPr>
        <p:spPr>
          <a:xfrm xmlns:a="http://schemas.openxmlformats.org/drawingml/2006/main">
            <a:off x="9153144" y="48554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Form evaluation</a:t>
            </a:r>
            <a:endParaRPr sz="1050"/>
          </a:p>
        </p:txBody>
      </p:sp>
      <p:sp>
        <p:nvSpPr>
          <p:cNvPr id="57" name="Shape 55">
            <a:extLst xmlns:a="http://schemas.openxmlformats.org/drawingml/2006/main">
              <a:ext uri="{FF2B5EF4-FFF2-40B4-BE49-F238E27FC236}">
                <a16:creationId xmlns:a16="http://schemas.microsoft.com/office/drawing/2014/main" id="{AA8C982B-F66F-4BD6-AD4D-D9886AFEFF8C}"/>
              </a:ext>
            </a:extLst>
          </p:cNvPr>
          <p:cNvSpPr>
            <a:spLocks xmlns:a="http://schemas.openxmlformats.org/drawingml/2006/main" noGrp="1"/>
          </p:cNvSpPr>
          <p:nvPr/>
        </p:nvSpPr>
        <p:spPr>
          <a:xfrm xmlns:a="http://schemas.openxmlformats.org/drawingml/2006/main">
            <a:off x="10524744" y="4864608"/>
            <a:ext cx="804672" cy="384048"/>
          </a:xfrm>
          <a:prstGeom xmlns:a="http://schemas.openxmlformats.org/drawingml/2006/main" prst="roundRect">
            <a:avLst>
              <a:gd name="adj" fmla="val 28571"/>
            </a:avLst>
          </a:prstGeom>
          <a:solidFill xmlns:a="http://schemas.openxmlformats.org/drawingml/2006/main">
            <a:srgbClr val="EAF9F4"/>
          </a:solidFill>
          <a:ln xmlns:a="http://schemas.openxmlformats.org/drawingml/2006/main" w="12700">
            <a:solidFill>
              <a:srgbClr val="16C79A"/>
            </a:solidFill>
            <a:prstDash val="solid"/>
          </a:ln>
        </p:spPr>
      </p:sp>
      <p:sp>
        <p:nvSpPr>
          <p:cNvPr id="58" name="Text 56">
            <a:extLst xmlns:a="http://schemas.openxmlformats.org/drawingml/2006/main">
              <a:ext uri="{FF2B5EF4-FFF2-40B4-BE49-F238E27FC236}">
                <a16:creationId xmlns:a16="http://schemas.microsoft.com/office/drawing/2014/main" id="{BA168687-8447-45E3-A71C-0FB84F028D75}"/>
              </a:ext>
            </a:extLst>
          </p:cNvPr>
          <p:cNvSpPr>
            <a:spLocks xmlns:a="http://schemas.openxmlformats.org/drawingml/2006/main" noGrp="1"/>
          </p:cNvSpPr>
          <p:nvPr/>
        </p:nvSpPr>
        <p:spPr>
          <a:xfrm xmlns:a="http://schemas.openxmlformats.org/drawingml/2006/main">
            <a:off x="10597896" y="4983480"/>
            <a:ext cx="658368"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6C79A"/>
                </a:solidFill>
              </a:rPr>
              <a:t>PASSED</a:t>
            </a:r>
            <a:endParaRPr sz="900"/>
          </a:p>
        </p:txBody>
      </p:sp>
      <p:sp>
        <p:nvSpPr>
          <p:cNvPr id="59" name="Slide Number Placeholder 0">
            <a:extLst xmlns:a="http://schemas.openxmlformats.org/drawingml/2006/main">
              <a:ext uri="{FF2B5EF4-FFF2-40B4-BE49-F238E27FC236}">
                <a16:creationId xmlns:a16="http://schemas.microsoft.com/office/drawing/2014/main" id="{0EEBA754-D68D-4191-B2D1-070761B96A14}"/>
              </a:ext>
            </a:extLst>
          </p:cNvPr>
          <p:cNvSpPr>
            <a:spLocks xmlns:a="http://schemas.openxmlformats.org/drawingml/2006/main" noGrp="1"/>
          </p:cNvSpPr>
          <p:nvPr>
            <p:ph type="sldNum" idx="4294967295"/>
          </p:nvPr>
        </p:nvSpPr>
        <p:spPr>
          <a:xfrm xmlns:a="http://schemas.openxmlformats.org/drawingml/2006/main">
            <a:off x="11777472" y="6510528"/>
            <a:ext cx="201168" cy="164592"/>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8A2B3"/>
                </a:solidFill>
                <a:latin typeface="Aptos"/>
                <a:ea typeface="Aptos"/>
                <a:cs typeface="Aptos"/>
              </a:defRPr>
            </a:lvl1pPr>
          </a:lstStyle>
          <a:p xmlns:a="http://schemas.openxmlformats.org/drawingml/2006/main">
            <a:pPr algn="r">
              <a:buNone/>
            </a:pPr>
            <a:fld id="{F7021451-1387-4CA6-816F-3879F97B5CBC}" type="slidenum">
              <a:rPr b="0"/>
              <a:t>17</a:t>
            </a:fld>
            <a:endParaRPr/>
          </a:p>
        </p:txBody>
      </p:sp>
    </p:spTree>
    <p:extLst>
      <p:ext uri="{BB962C8B-B14F-4D97-AF65-F5344CB8AC3E}">
        <p14:creationId xmlns:p14="http://schemas.microsoft.com/office/powerpoint/2010/main" val="32725458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2322D70-BC3A-43EE-AF8E-65DEAA772920}"/>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TECHNICAL OUTCOMES</a:t>
            </a:r>
            <a:endParaRPr sz="1000"/>
          </a:p>
        </p:txBody>
      </p:sp>
      <p:sp>
        <p:nvSpPr>
          <p:cNvPr id="3" name="Text 1">
            <a:extLst xmlns:a="http://schemas.openxmlformats.org/drawingml/2006/main">
              <a:ext uri="{FF2B5EF4-FFF2-40B4-BE49-F238E27FC236}">
                <a16:creationId xmlns:a16="http://schemas.microsoft.com/office/drawing/2014/main" id="{80D39623-4F22-486D-930E-63CD3DCD234C}"/>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Key Results</a:t>
            </a:r>
            <a:endParaRPr sz="2800"/>
          </a:p>
        </p:txBody>
      </p:sp>
      <p:sp>
        <p:nvSpPr>
          <p:cNvPr id="4" name="Shape 2">
            <a:extLst xmlns:a="http://schemas.openxmlformats.org/drawingml/2006/main">
              <a:ext uri="{FF2B5EF4-FFF2-40B4-BE49-F238E27FC236}">
                <a16:creationId xmlns:a16="http://schemas.microsoft.com/office/drawing/2014/main" id="{8AD2FBD3-6A2F-4674-A2BE-BE98AD56D474}"/>
              </a:ext>
            </a:extLst>
          </p:cNvPr>
          <p:cNvSpPr>
            <a:spLocks xmlns:a="http://schemas.openxmlformats.org/drawingml/2006/main" noGrp="1"/>
          </p:cNvSpPr>
          <p:nvPr/>
        </p:nvSpPr>
        <p:spPr>
          <a:xfrm xmlns:a="http://schemas.openxmlformats.org/drawingml/2006/main">
            <a:off x="502920" y="1417320"/>
            <a:ext cx="2084832" cy="20574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2700">
            <a:solidFill>
              <a:srgbClr val="E2E8F0"/>
            </a:solidFill>
            <a:prstDash val="solid"/>
          </a:ln>
        </p:spPr>
      </p:sp>
      <p:sp>
        <p:nvSpPr>
          <p:cNvPr id="5" name="Text 3">
            <a:extLst xmlns:a="http://schemas.openxmlformats.org/drawingml/2006/main">
              <a:ext uri="{FF2B5EF4-FFF2-40B4-BE49-F238E27FC236}">
                <a16:creationId xmlns:a16="http://schemas.microsoft.com/office/drawing/2014/main" id="{D5C8C01E-6588-45B3-98DF-7B92B206469E}"/>
              </a:ext>
            </a:extLst>
          </p:cNvPr>
          <p:cNvSpPr>
            <a:spLocks xmlns:a="http://schemas.openxmlformats.org/drawingml/2006/main" noGrp="1"/>
          </p:cNvSpPr>
          <p:nvPr/>
        </p:nvSpPr>
        <p:spPr>
          <a:xfrm xmlns:a="http://schemas.openxmlformats.org/drawingml/2006/main">
            <a:off x="640080" y="182880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0F172A"/>
                </a:solidFill>
              </a:rPr>
              <a:t>0.0329</a:t>
            </a:r>
            <a:endParaRPr sz="2700"/>
          </a:p>
        </p:txBody>
      </p:sp>
      <p:sp>
        <p:nvSpPr>
          <p:cNvPr id="6" name="Text 4">
            <a:extLst xmlns:a="http://schemas.openxmlformats.org/drawingml/2006/main">
              <a:ext uri="{FF2B5EF4-FFF2-40B4-BE49-F238E27FC236}">
                <a16:creationId xmlns:a16="http://schemas.microsoft.com/office/drawing/2014/main" id="{7939D498-689B-46FF-93DE-B3FE7C7676DB}"/>
              </a:ext>
            </a:extLst>
          </p:cNvPr>
          <p:cNvSpPr>
            <a:spLocks xmlns:a="http://schemas.openxmlformats.org/drawingml/2006/main" noGrp="1"/>
          </p:cNvSpPr>
          <p:nvPr/>
        </p:nvSpPr>
        <p:spPr>
          <a:xfrm xmlns:a="http://schemas.openxmlformats.org/drawingml/2006/main">
            <a:off x="640080" y="2359152"/>
            <a:ext cx="181051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1050">
                <a:solidFill>
                  <a:srgbClr val="64748B"/>
                </a:solidFill>
              </a:rPr>
              <a:t>TrainCore Model-Fit MAE</a:t>
            </a:r>
            <a:endParaRPr sz="1050"/>
          </a:p>
        </p:txBody>
      </p:sp>
      <p:sp>
        <p:nvSpPr>
          <p:cNvPr id="7" name="Shape 5">
            <a:extLst xmlns:a="http://schemas.openxmlformats.org/drawingml/2006/main">
              <a:ext uri="{FF2B5EF4-FFF2-40B4-BE49-F238E27FC236}">
                <a16:creationId xmlns:a16="http://schemas.microsoft.com/office/drawing/2014/main" id="{8410EEA2-153C-4480-9FF0-5BD7DD551888}"/>
              </a:ext>
            </a:extLst>
          </p:cNvPr>
          <p:cNvSpPr>
            <a:spLocks xmlns:a="http://schemas.openxmlformats.org/drawingml/2006/main" noGrp="1"/>
          </p:cNvSpPr>
          <p:nvPr/>
        </p:nvSpPr>
        <p:spPr>
          <a:xfrm xmlns:a="http://schemas.openxmlformats.org/drawingml/2006/main">
            <a:off x="2816352" y="1417320"/>
            <a:ext cx="2084832" cy="20574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2700">
            <a:solidFill>
              <a:srgbClr val="E2E8F0"/>
            </a:solidFill>
            <a:prstDash val="solid"/>
          </a:ln>
        </p:spPr>
      </p:sp>
      <p:sp>
        <p:nvSpPr>
          <p:cNvPr id="8" name="Text 6">
            <a:extLst xmlns:a="http://schemas.openxmlformats.org/drawingml/2006/main">
              <a:ext uri="{FF2B5EF4-FFF2-40B4-BE49-F238E27FC236}">
                <a16:creationId xmlns:a16="http://schemas.microsoft.com/office/drawing/2014/main" id="{563B4794-BE18-4680-AAAF-F2A7A65589D3}"/>
              </a:ext>
            </a:extLst>
          </p:cNvPr>
          <p:cNvSpPr>
            <a:spLocks xmlns:a="http://schemas.openxmlformats.org/drawingml/2006/main" noGrp="1"/>
          </p:cNvSpPr>
          <p:nvPr/>
        </p:nvSpPr>
        <p:spPr>
          <a:xfrm xmlns:a="http://schemas.openxmlformats.org/drawingml/2006/main">
            <a:off x="2953512" y="182880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0F172A"/>
                </a:solidFill>
              </a:rPr>
              <a:t>99%</a:t>
            </a:r>
            <a:endParaRPr sz="2700"/>
          </a:p>
        </p:txBody>
      </p:sp>
      <p:sp>
        <p:nvSpPr>
          <p:cNvPr id="9" name="Text 7">
            <a:extLst xmlns:a="http://schemas.openxmlformats.org/drawingml/2006/main">
              <a:ext uri="{FF2B5EF4-FFF2-40B4-BE49-F238E27FC236}">
                <a16:creationId xmlns:a16="http://schemas.microsoft.com/office/drawing/2014/main" id="{5A561DF9-99E8-42D3-AC26-5E7952301076}"/>
              </a:ext>
            </a:extLst>
          </p:cNvPr>
          <p:cNvSpPr>
            <a:spLocks xmlns:a="http://schemas.openxmlformats.org/drawingml/2006/main" noGrp="1"/>
          </p:cNvSpPr>
          <p:nvPr/>
        </p:nvSpPr>
        <p:spPr>
          <a:xfrm xmlns:a="http://schemas.openxmlformats.org/drawingml/2006/main">
            <a:off x="2953512" y="2359152"/>
            <a:ext cx="181051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NutriCore Training Accuracy</a:t>
            </a:r>
            <a:endParaRPr sz="1050"/>
          </a:p>
        </p:txBody>
      </p:sp>
      <p:sp>
        <p:nvSpPr>
          <p:cNvPr id="10" name="Shape 8">
            <a:extLst xmlns:a="http://schemas.openxmlformats.org/drawingml/2006/main">
              <a:ext uri="{FF2B5EF4-FFF2-40B4-BE49-F238E27FC236}">
                <a16:creationId xmlns:a16="http://schemas.microsoft.com/office/drawing/2014/main" id="{6DCCB87E-3932-4304-9121-0113E984BD50}"/>
              </a:ext>
            </a:extLst>
          </p:cNvPr>
          <p:cNvSpPr>
            <a:spLocks xmlns:a="http://schemas.openxmlformats.org/drawingml/2006/main" noGrp="1"/>
          </p:cNvSpPr>
          <p:nvPr/>
        </p:nvSpPr>
        <p:spPr>
          <a:xfrm xmlns:a="http://schemas.openxmlformats.org/drawingml/2006/main">
            <a:off x="5129784" y="1417320"/>
            <a:ext cx="2084832" cy="20574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2700">
            <a:solidFill>
              <a:srgbClr val="E2E8F0"/>
            </a:solidFill>
            <a:prstDash val="solid"/>
          </a:ln>
        </p:spPr>
      </p:sp>
      <p:sp>
        <p:nvSpPr>
          <p:cNvPr id="11" name="Text 9">
            <a:extLst xmlns:a="http://schemas.openxmlformats.org/drawingml/2006/main">
              <a:ext uri="{FF2B5EF4-FFF2-40B4-BE49-F238E27FC236}">
                <a16:creationId xmlns:a16="http://schemas.microsoft.com/office/drawing/2014/main" id="{476C20BC-6A81-4706-8BA6-6CC506BA187A}"/>
              </a:ext>
            </a:extLst>
          </p:cNvPr>
          <p:cNvSpPr>
            <a:spLocks xmlns:a="http://schemas.openxmlformats.org/drawingml/2006/main" noGrp="1"/>
          </p:cNvSpPr>
          <p:nvPr/>
        </p:nvSpPr>
        <p:spPr>
          <a:xfrm xmlns:a="http://schemas.openxmlformats.org/drawingml/2006/main">
            <a:off x="5266944" y="182880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0F172A"/>
                </a:solidFill>
              </a:rPr>
              <a:t>100%</a:t>
            </a:r>
            <a:endParaRPr sz="2700"/>
          </a:p>
        </p:txBody>
      </p:sp>
      <p:sp>
        <p:nvSpPr>
          <p:cNvPr id="12" name="Text 10">
            <a:extLst xmlns:a="http://schemas.openxmlformats.org/drawingml/2006/main">
              <a:ext uri="{FF2B5EF4-FFF2-40B4-BE49-F238E27FC236}">
                <a16:creationId xmlns:a16="http://schemas.microsoft.com/office/drawing/2014/main" id="{E6C13111-040F-495B-A890-89931174BA87}"/>
              </a:ext>
            </a:extLst>
          </p:cNvPr>
          <p:cNvSpPr>
            <a:spLocks xmlns:a="http://schemas.openxmlformats.org/drawingml/2006/main" noGrp="1"/>
          </p:cNvSpPr>
          <p:nvPr/>
        </p:nvSpPr>
        <p:spPr>
          <a:xfrm xmlns:a="http://schemas.openxmlformats.org/drawingml/2006/main">
            <a:off x="5266944" y="2359152"/>
            <a:ext cx="181051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1050">
                <a:solidFill>
                  <a:srgbClr val="64748B"/>
                </a:solidFill>
              </a:rPr>
              <a:t>NutriCore Prepared-Set Accuracy</a:t>
            </a:r>
            <a:endParaRPr sz="1050"/>
          </a:p>
        </p:txBody>
      </p:sp>
      <p:sp>
        <p:nvSpPr>
          <p:cNvPr id="13" name="Shape 11">
            <a:extLst xmlns:a="http://schemas.openxmlformats.org/drawingml/2006/main">
              <a:ext uri="{FF2B5EF4-FFF2-40B4-BE49-F238E27FC236}">
                <a16:creationId xmlns:a16="http://schemas.microsoft.com/office/drawing/2014/main" id="{B3553C6B-2092-4815-B60B-87902916EC83}"/>
              </a:ext>
            </a:extLst>
          </p:cNvPr>
          <p:cNvSpPr>
            <a:spLocks xmlns:a="http://schemas.openxmlformats.org/drawingml/2006/main" noGrp="1"/>
          </p:cNvSpPr>
          <p:nvPr/>
        </p:nvSpPr>
        <p:spPr>
          <a:xfrm xmlns:a="http://schemas.openxmlformats.org/drawingml/2006/main">
            <a:off x="7443216" y="1417320"/>
            <a:ext cx="2084832" cy="2057400"/>
          </a:xfrm>
          <a:prstGeom xmlns:a="http://schemas.openxmlformats.org/drawingml/2006/main" prst="roundRect">
            <a:avLst>
              <a:gd name="adj" fmla="val 4444"/>
            </a:avLst>
          </a:prstGeom>
          <a:solidFill xmlns:a="http://schemas.openxmlformats.org/drawingml/2006/main">
            <a:srgbClr val="ECFDF5"/>
          </a:solidFill>
          <a:ln xmlns:a="http://schemas.openxmlformats.org/drawingml/2006/main" w="12700">
            <a:solidFill>
              <a:srgbClr val="E2E8F0"/>
            </a:solidFill>
            <a:prstDash val="solid"/>
          </a:ln>
        </p:spPr>
      </p:sp>
      <p:sp>
        <p:nvSpPr>
          <p:cNvPr id="14" name="Text 12">
            <a:extLst xmlns:a="http://schemas.openxmlformats.org/drawingml/2006/main">
              <a:ext uri="{FF2B5EF4-FFF2-40B4-BE49-F238E27FC236}">
                <a16:creationId xmlns:a16="http://schemas.microsoft.com/office/drawing/2014/main" id="{5A3D06B6-8046-47C2-911F-10D4A5F45C3F}"/>
              </a:ext>
            </a:extLst>
          </p:cNvPr>
          <p:cNvSpPr>
            <a:spLocks xmlns:a="http://schemas.openxmlformats.org/drawingml/2006/main" noGrp="1"/>
          </p:cNvSpPr>
          <p:nvPr/>
        </p:nvSpPr>
        <p:spPr>
          <a:xfrm xmlns:a="http://schemas.openxmlformats.org/drawingml/2006/main">
            <a:off x="7580376" y="182880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10B981"/>
                </a:solidFill>
              </a:rPr>
              <a:t>100%</a:t>
            </a:r>
            <a:endParaRPr sz="2700"/>
          </a:p>
        </p:txBody>
      </p:sp>
      <p:sp>
        <p:nvSpPr>
          <p:cNvPr id="15" name="Text 13">
            <a:extLst xmlns:a="http://schemas.openxmlformats.org/drawingml/2006/main">
              <a:ext uri="{FF2B5EF4-FFF2-40B4-BE49-F238E27FC236}">
                <a16:creationId xmlns:a16="http://schemas.microsoft.com/office/drawing/2014/main" id="{2FD4F03C-E639-42B2-89EF-2A14E9E0BC18}"/>
              </a:ext>
            </a:extLst>
          </p:cNvPr>
          <p:cNvSpPr>
            <a:spLocks xmlns:a="http://schemas.openxmlformats.org/drawingml/2006/main" noGrp="1"/>
          </p:cNvSpPr>
          <p:nvPr/>
        </p:nvSpPr>
        <p:spPr>
          <a:xfrm xmlns:a="http://schemas.openxmlformats.org/drawingml/2006/main">
            <a:off x="7580376" y="2359152"/>
            <a:ext cx="181051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Allergy Filtering</a:t>
            </a:r>
            <a:endParaRPr sz="1050"/>
          </a:p>
        </p:txBody>
      </p:sp>
      <p:sp>
        <p:nvSpPr>
          <p:cNvPr id="16" name="Shape 14">
            <a:extLst xmlns:a="http://schemas.openxmlformats.org/drawingml/2006/main">
              <a:ext uri="{FF2B5EF4-FFF2-40B4-BE49-F238E27FC236}">
                <a16:creationId xmlns:a16="http://schemas.microsoft.com/office/drawing/2014/main" id="{3CBD9DAC-BA49-445A-B3EF-56D1212CB228}"/>
              </a:ext>
            </a:extLst>
          </p:cNvPr>
          <p:cNvSpPr>
            <a:spLocks xmlns:a="http://schemas.openxmlformats.org/drawingml/2006/main" noGrp="1"/>
          </p:cNvSpPr>
          <p:nvPr/>
        </p:nvSpPr>
        <p:spPr>
          <a:xfrm xmlns:a="http://schemas.openxmlformats.org/drawingml/2006/main">
            <a:off x="9756648" y="1417320"/>
            <a:ext cx="2084832" cy="20574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2700">
            <a:solidFill>
              <a:srgbClr val="E2E8F0"/>
            </a:solidFill>
            <a:prstDash val="solid"/>
          </a:ln>
        </p:spPr>
      </p:sp>
      <p:sp>
        <p:nvSpPr>
          <p:cNvPr id="17" name="Text 15">
            <a:extLst xmlns:a="http://schemas.openxmlformats.org/drawingml/2006/main">
              <a:ext uri="{FF2B5EF4-FFF2-40B4-BE49-F238E27FC236}">
                <a16:creationId xmlns:a16="http://schemas.microsoft.com/office/drawing/2014/main" id="{88CC4A00-B602-44A9-B83D-220FBC6ADF21}"/>
              </a:ext>
            </a:extLst>
          </p:cNvPr>
          <p:cNvSpPr>
            <a:spLocks xmlns:a="http://schemas.openxmlformats.org/drawingml/2006/main" noGrp="1"/>
          </p:cNvSpPr>
          <p:nvPr/>
        </p:nvSpPr>
        <p:spPr>
          <a:xfrm xmlns:a="http://schemas.openxmlformats.org/drawingml/2006/main">
            <a:off x="9893808" y="182880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8B5CF6"/>
                </a:solidFill>
              </a:rPr>
              <a:t>17/17</a:t>
            </a:r>
            <a:endParaRPr sz="2700"/>
          </a:p>
        </p:txBody>
      </p:sp>
      <p:sp>
        <p:nvSpPr>
          <p:cNvPr id="18" name="Text 16">
            <a:extLst xmlns:a="http://schemas.openxmlformats.org/drawingml/2006/main">
              <a:ext uri="{FF2B5EF4-FFF2-40B4-BE49-F238E27FC236}">
                <a16:creationId xmlns:a16="http://schemas.microsoft.com/office/drawing/2014/main" id="{C2347D5C-DDB4-461F-80FE-3E923D3F47A0}"/>
              </a:ext>
            </a:extLst>
          </p:cNvPr>
          <p:cNvSpPr>
            <a:spLocks xmlns:a="http://schemas.openxmlformats.org/drawingml/2006/main" noGrp="1"/>
          </p:cNvSpPr>
          <p:nvPr/>
        </p:nvSpPr>
        <p:spPr>
          <a:xfrm xmlns:a="http://schemas.openxmlformats.org/drawingml/2006/main">
            <a:off x="9893808" y="2359152"/>
            <a:ext cx="181051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PoseForm Template Validation</a:t>
            </a:r>
            <a:endParaRPr sz="1050"/>
          </a:p>
        </p:txBody>
      </p:sp>
      <p:sp>
        <p:nvSpPr>
          <p:cNvPr id="19" name="Shape 17">
            <a:extLst xmlns:a="http://schemas.openxmlformats.org/drawingml/2006/main">
              <a:ext uri="{FF2B5EF4-FFF2-40B4-BE49-F238E27FC236}">
                <a16:creationId xmlns:a16="http://schemas.microsoft.com/office/drawing/2014/main" id="{16BDA0E0-5D24-4A23-9B78-C21EDB5C2844}"/>
              </a:ext>
            </a:extLst>
          </p:cNvPr>
          <p:cNvSpPr>
            <a:spLocks xmlns:a="http://schemas.openxmlformats.org/drawingml/2006/main" noGrp="1"/>
          </p:cNvSpPr>
          <p:nvPr/>
        </p:nvSpPr>
        <p:spPr>
          <a:xfrm xmlns:a="http://schemas.openxmlformats.org/drawingml/2006/main">
            <a:off x="713232" y="3977640"/>
            <a:ext cx="10744200" cy="1417320"/>
          </a:xfrm>
          <a:prstGeom xmlns:a="http://schemas.openxmlformats.org/drawingml/2006/main" prst="roundRect">
            <a:avLst>
              <a:gd name="adj" fmla="val 6452"/>
            </a:avLst>
          </a:prstGeom>
          <a:solidFill xmlns:a="http://schemas.openxmlformats.org/drawingml/2006/main">
            <a:srgbClr val="0F172A"/>
          </a:solidFill>
          <a:ln xmlns:a="http://schemas.openxmlformats.org/drawingml/2006/main" w="12700">
            <a:solidFill>
              <a:srgbClr val="0F172A"/>
            </a:solidFill>
            <a:prstDash val="solid"/>
          </a:ln>
        </p:spPr>
      </p:sp>
      <p:sp>
        <p:nvSpPr>
          <p:cNvPr id="20" name="Text 18">
            <a:extLst xmlns:a="http://schemas.openxmlformats.org/drawingml/2006/main">
              <a:ext uri="{FF2B5EF4-FFF2-40B4-BE49-F238E27FC236}">
                <a16:creationId xmlns:a16="http://schemas.microsoft.com/office/drawing/2014/main" id="{E534DE97-2EF6-4A41-A014-AFF5F647FC55}"/>
              </a:ext>
            </a:extLst>
          </p:cNvPr>
          <p:cNvSpPr>
            <a:spLocks xmlns:a="http://schemas.openxmlformats.org/drawingml/2006/main" noGrp="1"/>
          </p:cNvSpPr>
          <p:nvPr/>
        </p:nvSpPr>
        <p:spPr>
          <a:xfrm xmlns:a="http://schemas.openxmlformats.org/drawingml/2006/main">
            <a:off x="1097280" y="4334256"/>
            <a:ext cx="99669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2500"/>
          </a:bodyPr>
          <a:lstStyle xmlns:a="http://schemas.openxmlformats.org/drawingml/2006/main"/>
          <a:p xmlns:a="http://schemas.openxmlformats.org/drawingml/2006/main">
            <a:pPr marL="0" indent="0" algn="ctr">
              <a:buNone/>
            </a:pPr>
            <a:r>
              <a:rPr sz="1500">
                <a:solidFill>
                  <a:srgbClr val="FFFFFF"/>
                </a:solidFill>
              </a:rPr>
              <a:t>The prototype integrates multiple forms of artificial intelligence into one mobile system. TrainCore produced stable suitability predictions, NutriCore combined high validation performance with safety filtering, and PoseForm returned structured exercise feedback.</a:t>
            </a:r>
            <a:endParaRPr sz="1500"/>
          </a:p>
        </p:txBody>
      </p:sp>
      <p:sp>
        <p:nvSpPr>
          <p:cNvPr id="25" name="Slide Number Placeholder 0">
            <a:extLst xmlns:a="http://schemas.openxmlformats.org/drawingml/2006/main">
              <a:ext uri="{FF2B5EF4-FFF2-40B4-BE49-F238E27FC236}">
                <a16:creationId xmlns:a16="http://schemas.microsoft.com/office/drawing/2014/main" id="{0E5E0566-500D-4F22-82A7-26F0E36299AA}"/>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18</a:t>
            </a:fld>
            <a:endParaRPr/>
          </a:p>
        </p:txBody>
      </p:sp>
      <p:sp>
        <p:nvSpPr>
          <p:cNvPr id="26" name="">
            <a:extLst xmlns:a="http://schemas.openxmlformats.org/drawingml/2006/main">
              <a:ext uri="{FF2B5EF4-FFF2-40B4-BE49-F238E27FC236}">
                <a16:creationId xmlns:a16="http://schemas.microsoft.com/office/drawing/2014/main" id="{79AA6CC9-950F-4083-A72A-3B05B2254D66}"/>
              </a:ext>
            </a:extLst>
          </p:cNvPr>
          <p:cNvSpPr>
            <a:spLocks xmlns:a="http://schemas.openxmlformats.org/drawingml/2006/main" noGrp="1"/>
          </p:cNvSpPr>
          <p:nvPr/>
        </p:nvSpPr>
        <p:spPr>
          <a:xfrm xmlns:a="http://schemas.openxmlformats.org/drawingml/2006/main">
            <a:off x="695325" y="5629275"/>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87087"/>
                </a:solidFill>
                <a:latin typeface="Aptos"/>
                <a:ea typeface="Aptos"/>
                <a:cs typeface="Aptos"/>
              </a:defRPr>
            </a:pPr>
            <a:r>
              <a:rPr sz="1350" b="0">
                <a:solidFill>
                  <a:srgbClr val="587087"/>
                </a:solidFill>
                <a:latin typeface="Aptos"/>
                <a:ea typeface="Aptos"/>
                <a:cs typeface="Aptos"/>
              </a:rPr>
              <a:t>Internal project tests; these metrics do not establish clinical performance for new users.</a:t>
            </a:r>
          </a:p>
        </p:txBody>
      </p:sp>
    </p:spTree>
    <p:extLst>
      <p:ext uri="{BB962C8B-B14F-4D97-AF65-F5344CB8AC3E}">
        <p14:creationId xmlns:p14="http://schemas.microsoft.com/office/powerpoint/2010/main" val="147516348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F3FF6AA-8130-4FCC-A846-BD68F2ADD21E}"/>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LIMITATIONS &amp; FUTURE DEVELOPMENT</a:t>
            </a:r>
            <a:endParaRPr sz="1000"/>
          </a:p>
        </p:txBody>
      </p:sp>
      <p:sp>
        <p:nvSpPr>
          <p:cNvPr id="3" name="Text 1">
            <a:extLst xmlns:a="http://schemas.openxmlformats.org/drawingml/2006/main">
              <a:ext uri="{FF2B5EF4-FFF2-40B4-BE49-F238E27FC236}">
                <a16:creationId xmlns:a16="http://schemas.microsoft.com/office/drawing/2014/main" id="{E283E7C6-B132-495B-A4DF-3046FCDD033A}"/>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From Functional Prototype to Production System</a:t>
            </a:r>
            <a:endParaRPr sz="2800"/>
          </a:p>
        </p:txBody>
      </p:sp>
      <p:sp>
        <p:nvSpPr>
          <p:cNvPr id="4" name="Shape 2">
            <a:extLst xmlns:a="http://schemas.openxmlformats.org/drawingml/2006/main">
              <a:ext uri="{FF2B5EF4-FFF2-40B4-BE49-F238E27FC236}">
                <a16:creationId xmlns:a16="http://schemas.microsoft.com/office/drawing/2014/main" id="{4A682605-10FA-492E-B66F-84E1A9EF7360}"/>
              </a:ext>
            </a:extLst>
          </p:cNvPr>
          <p:cNvSpPr>
            <a:spLocks xmlns:a="http://schemas.openxmlformats.org/drawingml/2006/main" noGrp="1"/>
          </p:cNvSpPr>
          <p:nvPr/>
        </p:nvSpPr>
        <p:spPr>
          <a:xfrm xmlns:a="http://schemas.openxmlformats.org/drawingml/2006/main">
            <a:off x="685800" y="1325880"/>
            <a:ext cx="6492240" cy="4343400"/>
          </a:xfrm>
          <a:prstGeom xmlns:a="http://schemas.openxmlformats.org/drawingml/2006/main" prst="roundRect">
            <a:avLst>
              <a:gd name="adj" fmla="val 2105"/>
            </a:avLst>
          </a:prstGeom>
          <a:solidFill xmlns:a="http://schemas.openxmlformats.org/drawingml/2006/main">
            <a:srgbClr val="FFFFFF"/>
          </a:solidFill>
          <a:ln xmlns:a="http://schemas.openxmlformats.org/drawingml/2006/main" w="12700">
            <a:solidFill>
              <a:srgbClr val="E2E8F0"/>
            </a:solidFill>
            <a:prstDash val="solid"/>
          </a:ln>
        </p:spPr>
      </p:sp>
      <p:sp>
        <p:nvSpPr>
          <p:cNvPr id="5" name="Text 3">
            <a:extLst xmlns:a="http://schemas.openxmlformats.org/drawingml/2006/main">
              <a:ext uri="{FF2B5EF4-FFF2-40B4-BE49-F238E27FC236}">
                <a16:creationId xmlns:a16="http://schemas.microsoft.com/office/drawing/2014/main" id="{B0D85BC6-9356-412C-907F-91EFADEC07B4}"/>
              </a:ext>
            </a:extLst>
          </p:cNvPr>
          <p:cNvSpPr>
            <a:spLocks xmlns:a="http://schemas.openxmlformats.org/drawingml/2006/main" noGrp="1"/>
          </p:cNvSpPr>
          <p:nvPr/>
        </p:nvSpPr>
        <p:spPr>
          <a:xfrm xmlns:a="http://schemas.openxmlformats.org/drawingml/2006/main">
            <a:off x="1051560" y="1783080"/>
            <a:ext cx="5760720" cy="1508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lnSpcReduction="10000"/>
          </a:bodyPr>
          <a:lstStyle xmlns:a="http://schemas.openxmlformats.org/drawingml/2006/main"/>
          <a:p xmlns:a="http://schemas.openxmlformats.org/drawingml/2006/main">
            <a:pPr marL="0" indent="0">
              <a:buNone/>
            </a:pPr>
            <a:r>
              <a:rPr sz="1700">
                <a:solidFill>
                  <a:srgbClr val="111827"/>
                </a:solidFill>
              </a:rPr>
              <a:t>The current system is a functional prototype validated mainly in a local development environment. The datasets remain limited compared with commercial platforms, PoseForm depends on recorded videos and recording conditions, and long-term validation with a large population of real users has not yet been performed.</a:t>
            </a:r>
            <a:endParaRPr sz="1700"/>
          </a:p>
        </p:txBody>
      </p:sp>
      <p:sp>
        <p:nvSpPr>
          <p:cNvPr id="6" name="Text 4">
            <a:extLst xmlns:a="http://schemas.openxmlformats.org/drawingml/2006/main">
              <a:ext uri="{FF2B5EF4-FFF2-40B4-BE49-F238E27FC236}">
                <a16:creationId xmlns:a16="http://schemas.microsoft.com/office/drawing/2014/main" id="{B2B2265F-503E-4E9F-99DE-6647F5CF4F02}"/>
              </a:ext>
            </a:extLst>
          </p:cNvPr>
          <p:cNvSpPr>
            <a:spLocks xmlns:a="http://schemas.openxmlformats.org/drawingml/2006/main" noGrp="1"/>
          </p:cNvSpPr>
          <p:nvPr/>
        </p:nvSpPr>
        <p:spPr>
          <a:xfrm xmlns:a="http://schemas.openxmlformats.org/drawingml/2006/main">
            <a:off x="1051560" y="3657600"/>
            <a:ext cx="5760720" cy="13258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111827"/>
                </a:solidFill>
              </a:rPr>
              <a:t>Future development can expand the datasets, introduce more regional nutrition data, support more exercises, improve analysis across varied conditions, enable real-time feedback, and move toward secure production deployment.</a:t>
            </a:r>
            <a:endParaRPr sz="1700"/>
          </a:p>
        </p:txBody>
      </p:sp>
      <p:sp>
        <p:nvSpPr>
          <p:cNvPr id="7" name="Shape 5">
            <a:extLst xmlns:a="http://schemas.openxmlformats.org/drawingml/2006/main">
              <a:ext uri="{FF2B5EF4-FFF2-40B4-BE49-F238E27FC236}">
                <a16:creationId xmlns:a16="http://schemas.microsoft.com/office/drawing/2014/main" id="{7F67C412-86C8-497B-982F-1A5717C92319}"/>
              </a:ext>
            </a:extLst>
          </p:cNvPr>
          <p:cNvSpPr>
            <a:spLocks xmlns:a="http://schemas.openxmlformats.org/drawingml/2006/main" noGrp="1"/>
          </p:cNvSpPr>
          <p:nvPr/>
        </p:nvSpPr>
        <p:spPr>
          <a:xfrm xmlns:a="http://schemas.openxmlformats.org/drawingml/2006/main">
            <a:off x="7726680" y="1417320"/>
            <a:ext cx="3474720" cy="777240"/>
          </a:xfrm>
          <a:prstGeom xmlns:a="http://schemas.openxmlformats.org/drawingml/2006/main" prst="roundRect">
            <a:avLst>
              <a:gd name="adj" fmla="val 11765"/>
            </a:avLst>
          </a:prstGeom>
          <a:solidFill xmlns:a="http://schemas.openxmlformats.org/drawingml/2006/main">
            <a:srgbClr val="F1F5F9"/>
          </a:solidFill>
          <a:ln xmlns:a="http://schemas.openxmlformats.org/drawingml/2006/main" w="12700">
            <a:solidFill>
              <a:srgbClr val="F1F5F9"/>
            </a:solidFill>
            <a:prstDash val="solid"/>
          </a:ln>
        </p:spPr>
      </p:sp>
      <p:sp>
        <p:nvSpPr>
          <p:cNvPr id="8" name="Text 6">
            <a:extLst xmlns:a="http://schemas.openxmlformats.org/drawingml/2006/main">
              <a:ext uri="{FF2B5EF4-FFF2-40B4-BE49-F238E27FC236}">
                <a16:creationId xmlns:a16="http://schemas.microsoft.com/office/drawing/2014/main" id="{64F83A33-EB51-46F8-A3DC-852B5B3054A8}"/>
              </a:ext>
            </a:extLst>
          </p:cNvPr>
          <p:cNvSpPr>
            <a:spLocks xmlns:a="http://schemas.openxmlformats.org/drawingml/2006/main" noGrp="1"/>
          </p:cNvSpPr>
          <p:nvPr/>
        </p:nvSpPr>
        <p:spPr>
          <a:xfrm xmlns:a="http://schemas.openxmlformats.org/drawingml/2006/main">
            <a:off x="8001000" y="1572768"/>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11827"/>
                </a:solidFill>
              </a:rPr>
              <a:t>DATA</a:t>
            </a:r>
            <a:endParaRPr sz="1100"/>
          </a:p>
        </p:txBody>
      </p:sp>
      <p:sp>
        <p:nvSpPr>
          <p:cNvPr id="9" name="Text 7">
            <a:extLst xmlns:a="http://schemas.openxmlformats.org/drawingml/2006/main">
              <a:ext uri="{FF2B5EF4-FFF2-40B4-BE49-F238E27FC236}">
                <a16:creationId xmlns:a16="http://schemas.microsoft.com/office/drawing/2014/main" id="{0CEEA9BA-E853-453B-93B3-EF2242A4DB96}"/>
              </a:ext>
            </a:extLst>
          </p:cNvPr>
          <p:cNvSpPr>
            <a:spLocks xmlns:a="http://schemas.openxmlformats.org/drawingml/2006/main" noGrp="1"/>
          </p:cNvSpPr>
          <p:nvPr/>
        </p:nvSpPr>
        <p:spPr>
          <a:xfrm xmlns:a="http://schemas.openxmlformats.org/drawingml/2006/main">
            <a:off x="8915400" y="1572768"/>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4748B"/>
                </a:solidFill>
              </a:rPr>
              <a:t>Larger + more diverse</a:t>
            </a:r>
            <a:endParaRPr sz="1100"/>
          </a:p>
        </p:txBody>
      </p:sp>
      <p:sp>
        <p:nvSpPr>
          <p:cNvPr id="10" name="Shape 8">
            <a:extLst xmlns:a="http://schemas.openxmlformats.org/drawingml/2006/main">
              <a:ext uri="{FF2B5EF4-FFF2-40B4-BE49-F238E27FC236}">
                <a16:creationId xmlns:a16="http://schemas.microsoft.com/office/drawing/2014/main" id="{DE817477-9D77-4ACF-A797-CE7BFF48BA69}"/>
              </a:ext>
            </a:extLst>
          </p:cNvPr>
          <p:cNvSpPr>
            <a:spLocks xmlns:a="http://schemas.openxmlformats.org/drawingml/2006/main" noGrp="1"/>
          </p:cNvSpPr>
          <p:nvPr/>
        </p:nvSpPr>
        <p:spPr>
          <a:xfrm xmlns:a="http://schemas.openxmlformats.org/drawingml/2006/main">
            <a:off x="7726680" y="2468880"/>
            <a:ext cx="3474720" cy="777240"/>
          </a:xfrm>
          <a:prstGeom xmlns:a="http://schemas.openxmlformats.org/drawingml/2006/main" prst="roundRect">
            <a:avLst>
              <a:gd name="adj" fmla="val 11765"/>
            </a:avLst>
          </a:prstGeom>
          <a:solidFill xmlns:a="http://schemas.openxmlformats.org/drawingml/2006/main">
            <a:srgbClr val="F1F5F9"/>
          </a:solidFill>
          <a:ln xmlns:a="http://schemas.openxmlformats.org/drawingml/2006/main" w="12700">
            <a:solidFill>
              <a:srgbClr val="F1F5F9"/>
            </a:solidFill>
            <a:prstDash val="solid"/>
          </a:ln>
        </p:spPr>
      </p:sp>
      <p:sp>
        <p:nvSpPr>
          <p:cNvPr id="11" name="Text 9">
            <a:extLst xmlns:a="http://schemas.openxmlformats.org/drawingml/2006/main">
              <a:ext uri="{FF2B5EF4-FFF2-40B4-BE49-F238E27FC236}">
                <a16:creationId xmlns:a16="http://schemas.microsoft.com/office/drawing/2014/main" id="{BF622D40-50D3-4F83-A7D6-84461C64841E}"/>
              </a:ext>
            </a:extLst>
          </p:cNvPr>
          <p:cNvSpPr>
            <a:spLocks xmlns:a="http://schemas.openxmlformats.org/drawingml/2006/main" noGrp="1"/>
          </p:cNvSpPr>
          <p:nvPr/>
        </p:nvSpPr>
        <p:spPr>
          <a:xfrm xmlns:a="http://schemas.openxmlformats.org/drawingml/2006/main">
            <a:off x="8001000" y="2624328"/>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11827"/>
                </a:solidFill>
              </a:rPr>
              <a:t>VISION</a:t>
            </a:r>
            <a:endParaRPr sz="1100"/>
          </a:p>
        </p:txBody>
      </p:sp>
      <p:sp>
        <p:nvSpPr>
          <p:cNvPr id="12" name="Text 10">
            <a:extLst xmlns:a="http://schemas.openxmlformats.org/drawingml/2006/main">
              <a:ext uri="{FF2B5EF4-FFF2-40B4-BE49-F238E27FC236}">
                <a16:creationId xmlns:a16="http://schemas.microsoft.com/office/drawing/2014/main" id="{983A6FA3-C37E-404D-9444-9E949571C0F8}"/>
              </a:ext>
            </a:extLst>
          </p:cNvPr>
          <p:cNvSpPr>
            <a:spLocks xmlns:a="http://schemas.openxmlformats.org/drawingml/2006/main" noGrp="1"/>
          </p:cNvSpPr>
          <p:nvPr/>
        </p:nvSpPr>
        <p:spPr>
          <a:xfrm xmlns:a="http://schemas.openxmlformats.org/drawingml/2006/main">
            <a:off x="8915400" y="2624328"/>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4748B"/>
                </a:solidFill>
              </a:rPr>
              <a:t>More exercises + conditions</a:t>
            </a:r>
            <a:endParaRPr sz="1100"/>
          </a:p>
        </p:txBody>
      </p:sp>
      <p:sp>
        <p:nvSpPr>
          <p:cNvPr id="13" name="Shape 11">
            <a:extLst xmlns:a="http://schemas.openxmlformats.org/drawingml/2006/main">
              <a:ext uri="{FF2B5EF4-FFF2-40B4-BE49-F238E27FC236}">
                <a16:creationId xmlns:a16="http://schemas.microsoft.com/office/drawing/2014/main" id="{728E8BDE-76FD-4031-B937-36BD1EA0D0F4}"/>
              </a:ext>
            </a:extLst>
          </p:cNvPr>
          <p:cNvSpPr>
            <a:spLocks xmlns:a="http://schemas.openxmlformats.org/drawingml/2006/main" noGrp="1"/>
          </p:cNvSpPr>
          <p:nvPr/>
        </p:nvSpPr>
        <p:spPr>
          <a:xfrm xmlns:a="http://schemas.openxmlformats.org/drawingml/2006/main">
            <a:off x="7726680" y="3520440"/>
            <a:ext cx="3474720" cy="777240"/>
          </a:xfrm>
          <a:prstGeom xmlns:a="http://schemas.openxmlformats.org/drawingml/2006/main" prst="roundRect">
            <a:avLst>
              <a:gd name="adj" fmla="val 11765"/>
            </a:avLst>
          </a:prstGeom>
          <a:solidFill xmlns:a="http://schemas.openxmlformats.org/drawingml/2006/main">
            <a:srgbClr val="F1F5F9"/>
          </a:solidFill>
          <a:ln xmlns:a="http://schemas.openxmlformats.org/drawingml/2006/main" w="12700">
            <a:solidFill>
              <a:srgbClr val="F1F5F9"/>
            </a:solidFill>
            <a:prstDash val="solid"/>
          </a:ln>
        </p:spPr>
      </p:sp>
      <p:sp>
        <p:nvSpPr>
          <p:cNvPr id="14" name="Text 12">
            <a:extLst xmlns:a="http://schemas.openxmlformats.org/drawingml/2006/main">
              <a:ext uri="{FF2B5EF4-FFF2-40B4-BE49-F238E27FC236}">
                <a16:creationId xmlns:a16="http://schemas.microsoft.com/office/drawing/2014/main" id="{7E171527-61C4-4DD1-9804-A4F3F651E0D4}"/>
              </a:ext>
            </a:extLst>
          </p:cNvPr>
          <p:cNvSpPr>
            <a:spLocks xmlns:a="http://schemas.openxmlformats.org/drawingml/2006/main" noGrp="1"/>
          </p:cNvSpPr>
          <p:nvPr/>
        </p:nvSpPr>
        <p:spPr>
          <a:xfrm xmlns:a="http://schemas.openxmlformats.org/drawingml/2006/main">
            <a:off x="8001000" y="3675888"/>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11827"/>
                </a:solidFill>
              </a:rPr>
              <a:t>REAL TIME</a:t>
            </a:r>
            <a:endParaRPr sz="1100"/>
          </a:p>
        </p:txBody>
      </p:sp>
      <p:sp>
        <p:nvSpPr>
          <p:cNvPr id="15" name="Text 13">
            <a:extLst xmlns:a="http://schemas.openxmlformats.org/drawingml/2006/main">
              <a:ext uri="{FF2B5EF4-FFF2-40B4-BE49-F238E27FC236}">
                <a16:creationId xmlns:a16="http://schemas.microsoft.com/office/drawing/2014/main" id="{981605A2-0DF0-4D26-8C1C-ACA992E1F5F0}"/>
              </a:ext>
            </a:extLst>
          </p:cNvPr>
          <p:cNvSpPr>
            <a:spLocks xmlns:a="http://schemas.openxmlformats.org/drawingml/2006/main" noGrp="1"/>
          </p:cNvSpPr>
          <p:nvPr/>
        </p:nvSpPr>
        <p:spPr>
          <a:xfrm xmlns:a="http://schemas.openxmlformats.org/drawingml/2006/main">
            <a:off x="8915400" y="3675888"/>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4748B"/>
                </a:solidFill>
              </a:rPr>
              <a:t>Immediate form feedback</a:t>
            </a:r>
            <a:endParaRPr sz="1100"/>
          </a:p>
        </p:txBody>
      </p:sp>
      <p:sp>
        <p:nvSpPr>
          <p:cNvPr id="16" name="Shape 14">
            <a:extLst xmlns:a="http://schemas.openxmlformats.org/drawingml/2006/main">
              <a:ext uri="{FF2B5EF4-FFF2-40B4-BE49-F238E27FC236}">
                <a16:creationId xmlns:a16="http://schemas.microsoft.com/office/drawing/2014/main" id="{E1EB27D9-0344-4159-A03B-AE3EBCC802DD}"/>
              </a:ext>
            </a:extLst>
          </p:cNvPr>
          <p:cNvSpPr>
            <a:spLocks xmlns:a="http://schemas.openxmlformats.org/drawingml/2006/main" noGrp="1"/>
          </p:cNvSpPr>
          <p:nvPr/>
        </p:nvSpPr>
        <p:spPr>
          <a:xfrm xmlns:a="http://schemas.openxmlformats.org/drawingml/2006/main">
            <a:off x="7726680" y="4572000"/>
            <a:ext cx="3474720" cy="777240"/>
          </a:xfrm>
          <a:prstGeom xmlns:a="http://schemas.openxmlformats.org/drawingml/2006/main" prst="roundRect">
            <a:avLst>
              <a:gd name="adj" fmla="val 11765"/>
            </a:avLst>
          </a:prstGeom>
          <a:solidFill xmlns:a="http://schemas.openxmlformats.org/drawingml/2006/main">
            <a:srgbClr val="D1FAE5"/>
          </a:solidFill>
          <a:ln xmlns:a="http://schemas.openxmlformats.org/drawingml/2006/main" w="12700">
            <a:solidFill>
              <a:srgbClr val="D1FAE5"/>
            </a:solidFill>
            <a:prstDash val="solid"/>
          </a:ln>
        </p:spPr>
      </p:sp>
      <p:sp>
        <p:nvSpPr>
          <p:cNvPr id="17" name="Text 15">
            <a:extLst xmlns:a="http://schemas.openxmlformats.org/drawingml/2006/main">
              <a:ext uri="{FF2B5EF4-FFF2-40B4-BE49-F238E27FC236}">
                <a16:creationId xmlns:a16="http://schemas.microsoft.com/office/drawing/2014/main" id="{6FB1E2F3-0AE5-4149-89E0-87FF60A60296}"/>
              </a:ext>
            </a:extLst>
          </p:cNvPr>
          <p:cNvSpPr>
            <a:spLocks xmlns:a="http://schemas.openxmlformats.org/drawingml/2006/main" noGrp="1"/>
          </p:cNvSpPr>
          <p:nvPr/>
        </p:nvSpPr>
        <p:spPr>
          <a:xfrm xmlns:a="http://schemas.openxmlformats.org/drawingml/2006/main">
            <a:off x="8001000" y="4727448"/>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47857"/>
                </a:solidFill>
              </a:rPr>
              <a:t>DEPLOYMENT</a:t>
            </a:r>
            <a:endParaRPr sz="1100"/>
          </a:p>
        </p:txBody>
      </p:sp>
      <p:sp>
        <p:nvSpPr>
          <p:cNvPr id="18" name="Text 16">
            <a:extLst xmlns:a="http://schemas.openxmlformats.org/drawingml/2006/main">
              <a:ext uri="{FF2B5EF4-FFF2-40B4-BE49-F238E27FC236}">
                <a16:creationId xmlns:a16="http://schemas.microsoft.com/office/drawing/2014/main" id="{A3294D80-8692-4C59-BFD2-652136E35132}"/>
              </a:ext>
            </a:extLst>
          </p:cNvPr>
          <p:cNvSpPr>
            <a:spLocks xmlns:a="http://schemas.openxmlformats.org/drawingml/2006/main" noGrp="1"/>
          </p:cNvSpPr>
          <p:nvPr/>
        </p:nvSpPr>
        <p:spPr>
          <a:xfrm xmlns:a="http://schemas.openxmlformats.org/drawingml/2006/main">
            <a:off x="8915400" y="4727448"/>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4748B"/>
                </a:solidFill>
              </a:rPr>
              <a:t>Secure production stack</a:t>
            </a:r>
            <a:endParaRPr sz="1100"/>
          </a:p>
        </p:txBody>
      </p:sp>
      <p:sp>
        <p:nvSpPr>
          <p:cNvPr id="25" name="Slide Number Placeholder 0">
            <a:extLst xmlns:a="http://schemas.openxmlformats.org/drawingml/2006/main">
              <a:ext uri="{FF2B5EF4-FFF2-40B4-BE49-F238E27FC236}">
                <a16:creationId xmlns:a16="http://schemas.microsoft.com/office/drawing/2014/main" id="{A1B7B8EA-428F-4FAD-8BDA-FF203644A4EF}"/>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19</a:t>
            </a:fld>
            <a:endParaRPr/>
          </a:p>
        </p:txBody>
      </p:sp>
    </p:spTree>
    <p:extLst>
      <p:ext uri="{BB962C8B-B14F-4D97-AF65-F5344CB8AC3E}">
        <p14:creationId xmlns:p14="http://schemas.microsoft.com/office/powerpoint/2010/main" val="175415868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863A568-A389-4D8E-BDB7-062BC656CFBB}"/>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CONCLUSION</a:t>
            </a:r>
            <a:endParaRPr sz="1000"/>
          </a:p>
        </p:txBody>
      </p:sp>
      <p:sp>
        <p:nvSpPr>
          <p:cNvPr id="3" name="Text 1">
            <a:extLst xmlns:a="http://schemas.openxmlformats.org/drawingml/2006/main">
              <a:ext uri="{FF2B5EF4-FFF2-40B4-BE49-F238E27FC236}">
                <a16:creationId xmlns:a16="http://schemas.microsoft.com/office/drawing/2014/main" id="{56D75633-E55A-4AB3-92D3-C4B4CC047960}"/>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More Than a Fitness App</a:t>
            </a:r>
            <a:endParaRPr sz="2800"/>
          </a:p>
        </p:txBody>
      </p:sp>
      <p:sp>
        <p:nvSpPr>
          <p:cNvPr id="4" name="Text 2">
            <a:extLst xmlns:a="http://schemas.openxmlformats.org/drawingml/2006/main">
              <a:ext uri="{FF2B5EF4-FFF2-40B4-BE49-F238E27FC236}">
                <a16:creationId xmlns:a16="http://schemas.microsoft.com/office/drawing/2014/main" id="{FB40CAA8-0C3C-4ABD-820B-372B3B9642E2}"/>
              </a:ext>
            </a:extLst>
          </p:cNvPr>
          <p:cNvSpPr>
            <a:spLocks xmlns:a="http://schemas.openxmlformats.org/drawingml/2006/main" noGrp="1"/>
          </p:cNvSpPr>
          <p:nvPr/>
        </p:nvSpPr>
        <p:spPr>
          <a:xfrm xmlns:a="http://schemas.openxmlformats.org/drawingml/2006/main">
            <a:off x="685800" y="1325880"/>
            <a:ext cx="108356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0F172A"/>
                </a:solidFill>
              </a:rPr>
              <a:t>FROM USER DATA  →  TO AI  →  TO PERSONALIZED ACTION</a:t>
            </a:r>
            <a:endParaRPr sz="2800"/>
          </a:p>
        </p:txBody>
      </p:sp>
      <p:sp>
        <p:nvSpPr>
          <p:cNvPr id="5" name="Text 3">
            <a:extLst xmlns:a="http://schemas.openxmlformats.org/drawingml/2006/main">
              <a:ext uri="{FF2B5EF4-FFF2-40B4-BE49-F238E27FC236}">
                <a16:creationId xmlns:a16="http://schemas.microsoft.com/office/drawing/2014/main" id="{27FC503B-293D-4E94-AC55-5980CBC52DED}"/>
              </a:ext>
            </a:extLst>
          </p:cNvPr>
          <p:cNvSpPr>
            <a:spLocks xmlns:a="http://schemas.openxmlformats.org/drawingml/2006/main" noGrp="1"/>
          </p:cNvSpPr>
          <p:nvPr/>
        </p:nvSpPr>
        <p:spPr>
          <a:xfrm xmlns:a="http://schemas.openxmlformats.org/drawingml/2006/main">
            <a:off x="1143000" y="2331720"/>
            <a:ext cx="9921240" cy="146304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700">
                <a:solidFill>
                  <a:srgbClr val="111827"/>
                </a:solidFill>
              </a:rPr>
              <a:t>Elite Fitness demonstrates how mobile development, backend engineering, database systems, artificial intelligence, computer vision, safety validation, and gamification can work together inside one practical application. The key contribution is not a single AI model, but the integration of multiple specialized models into a complete personalized fitness ecosystem.</a:t>
            </a:r>
            <a:endParaRPr sz="1700"/>
          </a:p>
        </p:txBody>
      </p:sp>
      <p:sp>
        <p:nvSpPr>
          <p:cNvPr id="6" name="Shape 4">
            <a:extLst xmlns:a="http://schemas.openxmlformats.org/drawingml/2006/main">
              <a:ext uri="{FF2B5EF4-FFF2-40B4-BE49-F238E27FC236}">
                <a16:creationId xmlns:a16="http://schemas.microsoft.com/office/drawing/2014/main" id="{0618C091-2C9C-424A-852A-2FB6E7D2024B}"/>
              </a:ext>
            </a:extLst>
          </p:cNvPr>
          <p:cNvSpPr>
            <a:spLocks xmlns:a="http://schemas.openxmlformats.org/drawingml/2006/main" noGrp="1"/>
          </p:cNvSpPr>
          <p:nvPr/>
        </p:nvSpPr>
        <p:spPr>
          <a:xfrm xmlns:a="http://schemas.openxmlformats.org/drawingml/2006/main">
            <a:off x="685800" y="4343400"/>
            <a:ext cx="2606040" cy="1143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E2E8F0"/>
            </a:solidFill>
            <a:prstDash val="solid"/>
          </a:ln>
        </p:spPr>
      </p:sp>
      <p:sp>
        <p:nvSpPr>
          <p:cNvPr id="7" name="Text 5">
            <a:extLst xmlns:a="http://schemas.openxmlformats.org/drawingml/2006/main">
              <a:ext uri="{FF2B5EF4-FFF2-40B4-BE49-F238E27FC236}">
                <a16:creationId xmlns:a16="http://schemas.microsoft.com/office/drawing/2014/main" id="{9EF13A90-E847-4B33-8244-730030B145CB}"/>
              </a:ext>
            </a:extLst>
          </p:cNvPr>
          <p:cNvSpPr>
            <a:spLocks xmlns:a="http://schemas.openxmlformats.org/drawingml/2006/main" noGrp="1"/>
          </p:cNvSpPr>
          <p:nvPr/>
        </p:nvSpPr>
        <p:spPr>
          <a:xfrm xmlns:a="http://schemas.openxmlformats.org/drawingml/2006/main">
            <a:off x="868680" y="4572000"/>
            <a:ext cx="2240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0B981"/>
                </a:solidFill>
              </a:rPr>
              <a:t>TrainCore</a:t>
            </a:r>
            <a:endParaRPr sz="1500"/>
          </a:p>
        </p:txBody>
      </p:sp>
      <p:sp>
        <p:nvSpPr>
          <p:cNvPr id="8" name="Text 6">
            <a:extLst xmlns:a="http://schemas.openxmlformats.org/drawingml/2006/main">
              <a:ext uri="{FF2B5EF4-FFF2-40B4-BE49-F238E27FC236}">
                <a16:creationId xmlns:a16="http://schemas.microsoft.com/office/drawing/2014/main" id="{9C21D4B6-745F-4EC1-8F55-281E030D80FB}"/>
              </a:ext>
            </a:extLst>
          </p:cNvPr>
          <p:cNvSpPr>
            <a:spLocks xmlns:a="http://schemas.openxmlformats.org/drawingml/2006/main" noGrp="1"/>
          </p:cNvSpPr>
          <p:nvPr/>
        </p:nvSpPr>
        <p:spPr>
          <a:xfrm xmlns:a="http://schemas.openxmlformats.org/drawingml/2006/main">
            <a:off x="868680" y="4965192"/>
            <a:ext cx="22402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100">
                <a:solidFill>
                  <a:srgbClr val="111827"/>
                </a:solidFill>
              </a:rPr>
              <a:t>TRAIN SMARTER</a:t>
            </a:r>
            <a:endParaRPr sz="1050"/>
          </a:p>
        </p:txBody>
      </p:sp>
      <p:sp>
        <p:nvSpPr>
          <p:cNvPr id="9" name="Shape 7">
            <a:extLst xmlns:a="http://schemas.openxmlformats.org/drawingml/2006/main">
              <a:ext uri="{FF2B5EF4-FFF2-40B4-BE49-F238E27FC236}">
                <a16:creationId xmlns:a16="http://schemas.microsoft.com/office/drawing/2014/main" id="{C837BA3F-26AF-4CF1-B9DA-B6D1029D8040}"/>
              </a:ext>
            </a:extLst>
          </p:cNvPr>
          <p:cNvSpPr>
            <a:spLocks xmlns:a="http://schemas.openxmlformats.org/drawingml/2006/main" noGrp="1"/>
          </p:cNvSpPr>
          <p:nvPr/>
        </p:nvSpPr>
        <p:spPr>
          <a:xfrm xmlns:a="http://schemas.openxmlformats.org/drawingml/2006/main">
            <a:off x="3520440" y="4343400"/>
            <a:ext cx="2606040" cy="1143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E2E8F0"/>
            </a:solidFill>
            <a:prstDash val="solid"/>
          </a:ln>
        </p:spPr>
      </p:sp>
      <p:sp>
        <p:nvSpPr>
          <p:cNvPr id="10" name="Text 8">
            <a:extLst xmlns:a="http://schemas.openxmlformats.org/drawingml/2006/main">
              <a:ext uri="{FF2B5EF4-FFF2-40B4-BE49-F238E27FC236}">
                <a16:creationId xmlns:a16="http://schemas.microsoft.com/office/drawing/2014/main" id="{1AF51D20-F4EA-4AF5-9D00-AEEC8C92A6CC}"/>
              </a:ext>
            </a:extLst>
          </p:cNvPr>
          <p:cNvSpPr>
            <a:spLocks xmlns:a="http://schemas.openxmlformats.org/drawingml/2006/main" noGrp="1"/>
          </p:cNvSpPr>
          <p:nvPr/>
        </p:nvSpPr>
        <p:spPr>
          <a:xfrm xmlns:a="http://schemas.openxmlformats.org/drawingml/2006/main">
            <a:off x="3703320" y="4572000"/>
            <a:ext cx="2240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59E0B"/>
                </a:solidFill>
              </a:rPr>
              <a:t>NutriCore</a:t>
            </a:r>
            <a:endParaRPr sz="1500"/>
          </a:p>
        </p:txBody>
      </p:sp>
      <p:sp>
        <p:nvSpPr>
          <p:cNvPr id="11" name="Text 9">
            <a:extLst xmlns:a="http://schemas.openxmlformats.org/drawingml/2006/main">
              <a:ext uri="{FF2B5EF4-FFF2-40B4-BE49-F238E27FC236}">
                <a16:creationId xmlns:a16="http://schemas.microsoft.com/office/drawing/2014/main" id="{3D1B3F5F-5930-4E5B-AEFD-9EA21EBC8B1C}"/>
              </a:ext>
            </a:extLst>
          </p:cNvPr>
          <p:cNvSpPr>
            <a:spLocks xmlns:a="http://schemas.openxmlformats.org/drawingml/2006/main" noGrp="1"/>
          </p:cNvSpPr>
          <p:nvPr/>
        </p:nvSpPr>
        <p:spPr>
          <a:xfrm xmlns:a="http://schemas.openxmlformats.org/drawingml/2006/main">
            <a:off x="3703320" y="4965192"/>
            <a:ext cx="22402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100">
                <a:solidFill>
                  <a:srgbClr val="111827"/>
                </a:solidFill>
              </a:rPr>
              <a:t>EAT SMARTER</a:t>
            </a:r>
            <a:endParaRPr sz="1050"/>
          </a:p>
        </p:txBody>
      </p:sp>
      <p:sp>
        <p:nvSpPr>
          <p:cNvPr id="12" name="Shape 10">
            <a:extLst xmlns:a="http://schemas.openxmlformats.org/drawingml/2006/main">
              <a:ext uri="{FF2B5EF4-FFF2-40B4-BE49-F238E27FC236}">
                <a16:creationId xmlns:a16="http://schemas.microsoft.com/office/drawing/2014/main" id="{A822D455-BEC4-4EE6-92D1-E1994162402F}"/>
              </a:ext>
            </a:extLst>
          </p:cNvPr>
          <p:cNvSpPr>
            <a:spLocks xmlns:a="http://schemas.openxmlformats.org/drawingml/2006/main" noGrp="1"/>
          </p:cNvSpPr>
          <p:nvPr/>
        </p:nvSpPr>
        <p:spPr>
          <a:xfrm xmlns:a="http://schemas.openxmlformats.org/drawingml/2006/main">
            <a:off x="6355080" y="4343400"/>
            <a:ext cx="2606040" cy="1143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E2E8F0"/>
            </a:solidFill>
            <a:prstDash val="solid"/>
          </a:ln>
        </p:spPr>
      </p:sp>
      <p:sp>
        <p:nvSpPr>
          <p:cNvPr id="13" name="Text 11">
            <a:extLst xmlns:a="http://schemas.openxmlformats.org/drawingml/2006/main">
              <a:ext uri="{FF2B5EF4-FFF2-40B4-BE49-F238E27FC236}">
                <a16:creationId xmlns:a16="http://schemas.microsoft.com/office/drawing/2014/main" id="{FCF88048-08D1-4EAD-827E-338D9F8F935B}"/>
              </a:ext>
            </a:extLst>
          </p:cNvPr>
          <p:cNvSpPr>
            <a:spLocks xmlns:a="http://schemas.openxmlformats.org/drawingml/2006/main" noGrp="1"/>
          </p:cNvSpPr>
          <p:nvPr/>
        </p:nvSpPr>
        <p:spPr>
          <a:xfrm xmlns:a="http://schemas.openxmlformats.org/drawingml/2006/main">
            <a:off x="6537960" y="4572000"/>
            <a:ext cx="2240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B5CF6"/>
                </a:solidFill>
              </a:rPr>
              <a:t>PoseForm</a:t>
            </a:r>
            <a:endParaRPr sz="1500"/>
          </a:p>
        </p:txBody>
      </p:sp>
      <p:sp>
        <p:nvSpPr>
          <p:cNvPr id="14" name="Text 12">
            <a:extLst xmlns:a="http://schemas.openxmlformats.org/drawingml/2006/main">
              <a:ext uri="{FF2B5EF4-FFF2-40B4-BE49-F238E27FC236}">
                <a16:creationId xmlns:a16="http://schemas.microsoft.com/office/drawing/2014/main" id="{C7E24D14-A9A7-43F3-BA04-72B4E7C52927}"/>
              </a:ext>
            </a:extLst>
          </p:cNvPr>
          <p:cNvSpPr>
            <a:spLocks xmlns:a="http://schemas.openxmlformats.org/drawingml/2006/main" noGrp="1"/>
          </p:cNvSpPr>
          <p:nvPr/>
        </p:nvSpPr>
        <p:spPr>
          <a:xfrm xmlns:a="http://schemas.openxmlformats.org/drawingml/2006/main">
            <a:off x="6537960" y="4965192"/>
            <a:ext cx="22402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100">
                <a:solidFill>
                  <a:srgbClr val="111827"/>
                </a:solidFill>
              </a:rPr>
              <a:t>MOVE BETTER</a:t>
            </a:r>
            <a:endParaRPr sz="1050"/>
          </a:p>
        </p:txBody>
      </p:sp>
      <p:sp>
        <p:nvSpPr>
          <p:cNvPr id="15" name="Shape 13">
            <a:extLst xmlns:a="http://schemas.openxmlformats.org/drawingml/2006/main">
              <a:ext uri="{FF2B5EF4-FFF2-40B4-BE49-F238E27FC236}">
                <a16:creationId xmlns:a16="http://schemas.microsoft.com/office/drawing/2014/main" id="{9B8A4DEE-7403-4AAE-AFB3-3823B91574BB}"/>
              </a:ext>
            </a:extLst>
          </p:cNvPr>
          <p:cNvSpPr>
            <a:spLocks xmlns:a="http://schemas.openxmlformats.org/drawingml/2006/main" noGrp="1"/>
          </p:cNvSpPr>
          <p:nvPr/>
        </p:nvSpPr>
        <p:spPr>
          <a:xfrm xmlns:a="http://schemas.openxmlformats.org/drawingml/2006/main">
            <a:off x="9189720" y="4343400"/>
            <a:ext cx="2606040" cy="1143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E2E8F0"/>
            </a:solidFill>
            <a:prstDash val="solid"/>
          </a:ln>
        </p:spPr>
      </p:sp>
      <p:sp>
        <p:nvSpPr>
          <p:cNvPr id="16" name="Text 14">
            <a:extLst xmlns:a="http://schemas.openxmlformats.org/drawingml/2006/main">
              <a:ext uri="{FF2B5EF4-FFF2-40B4-BE49-F238E27FC236}">
                <a16:creationId xmlns:a16="http://schemas.microsoft.com/office/drawing/2014/main" id="{D41DDD1D-FC31-47FB-8355-A152FB0C4080}"/>
              </a:ext>
            </a:extLst>
          </p:cNvPr>
          <p:cNvSpPr>
            <a:spLocks xmlns:a="http://schemas.openxmlformats.org/drawingml/2006/main" noGrp="1"/>
          </p:cNvSpPr>
          <p:nvPr/>
        </p:nvSpPr>
        <p:spPr>
          <a:xfrm xmlns:a="http://schemas.openxmlformats.org/drawingml/2006/main">
            <a:off x="9372600" y="4572000"/>
            <a:ext cx="2240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EA5E9"/>
                </a:solidFill>
              </a:rPr>
              <a:t>PredictionAI</a:t>
            </a:r>
            <a:endParaRPr sz="1500"/>
          </a:p>
        </p:txBody>
      </p:sp>
      <p:sp>
        <p:nvSpPr>
          <p:cNvPr id="17" name="Text 15">
            <a:extLst xmlns:a="http://schemas.openxmlformats.org/drawingml/2006/main">
              <a:ext uri="{FF2B5EF4-FFF2-40B4-BE49-F238E27FC236}">
                <a16:creationId xmlns:a16="http://schemas.microsoft.com/office/drawing/2014/main" id="{2E0FFAD7-28D0-4D0E-AF09-CD6207C5C370}"/>
              </a:ext>
            </a:extLst>
          </p:cNvPr>
          <p:cNvSpPr>
            <a:spLocks xmlns:a="http://schemas.openxmlformats.org/drawingml/2006/main" noGrp="1"/>
          </p:cNvSpPr>
          <p:nvPr/>
        </p:nvSpPr>
        <p:spPr>
          <a:xfrm xmlns:a="http://schemas.openxmlformats.org/drawingml/2006/main">
            <a:off x="9372600" y="4965192"/>
            <a:ext cx="22402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100">
                <a:solidFill>
                  <a:srgbClr val="111827"/>
                </a:solidFill>
              </a:rPr>
              <a:t>TRACK THE FUTURE</a:t>
            </a:r>
            <a:endParaRPr sz="1050"/>
          </a:p>
        </p:txBody>
      </p:sp>
      <p:sp>
        <p:nvSpPr>
          <p:cNvPr id="25" name="Slide Number Placeholder 0">
            <a:extLst xmlns:a="http://schemas.openxmlformats.org/drawingml/2006/main">
              <a:ext uri="{FF2B5EF4-FFF2-40B4-BE49-F238E27FC236}">
                <a16:creationId xmlns:a16="http://schemas.microsoft.com/office/drawing/2014/main" id="{F58CDDBA-8C66-4748-9290-6C3F253AF809}"/>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20</a:t>
            </a:fld>
            <a:endParaRPr/>
          </a:p>
        </p:txBody>
      </p:sp>
    </p:spTree>
    <p:extLst>
      <p:ext uri="{BB962C8B-B14F-4D97-AF65-F5344CB8AC3E}">
        <p14:creationId xmlns:p14="http://schemas.microsoft.com/office/powerpoint/2010/main" val="76624976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916dccb384e34250"/>
          <a:srcRect xmlns:a="http://schemas.openxmlformats.org/drawingml/2006/main" l="0" t="7811" r="0" b="7811"/>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F7929250-52DA-414F-8B63-485C9585C2A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1F33">
              <a:alpha val="77000"/>
            </a:srgbClr>
          </a:solidFill>
          <a:ln xmlns:a="http://schemas.openxmlformats.org/drawingml/2006/main" w="12700">
            <a:solidFill>
              <a:srgbClr val="0B1F33">
                <a:alpha val="0"/>
              </a:srgbClr>
            </a:solidFill>
            <a:prstDash val="solid"/>
          </a:ln>
        </p:spPr>
      </p:sp>
      <p:sp>
        <p:nvSpPr>
          <p:cNvPr id="4" name="Shape 1">
            <a:extLst xmlns:a="http://schemas.openxmlformats.org/drawingml/2006/main">
              <a:ext uri="{FF2B5EF4-FFF2-40B4-BE49-F238E27FC236}">
                <a16:creationId xmlns:a16="http://schemas.microsoft.com/office/drawing/2014/main" id="{8F2BBF28-B162-40E1-97B3-9709504DAA8E}"/>
              </a:ext>
            </a:extLst>
          </p:cNvPr>
          <p:cNvSpPr>
            <a:spLocks xmlns:a="http://schemas.openxmlformats.org/drawingml/2006/main" noGrp="1"/>
          </p:cNvSpPr>
          <p:nvPr/>
        </p:nvSpPr>
        <p:spPr>
          <a:xfrm xmlns:a="http://schemas.openxmlformats.org/drawingml/2006/main">
            <a:off x="3090672" y="1417320"/>
            <a:ext cx="6016752" cy="3977640"/>
          </a:xfrm>
          <a:prstGeom xmlns:a="http://schemas.openxmlformats.org/drawingml/2006/main" prst="roundRect">
            <a:avLst>
              <a:gd name="adj" fmla="val 6437"/>
            </a:avLst>
          </a:prstGeom>
          <a:solidFill xmlns:a="http://schemas.openxmlformats.org/drawingml/2006/main">
            <a:srgbClr val="FFFFFF">
              <a:alpha val="92000"/>
            </a:srgbClr>
          </a:solidFill>
          <a:ln xmlns:a="http://schemas.openxmlformats.org/drawingml/2006/main" w="15240">
            <a:solidFill>
              <a:srgbClr val="FFFFFF">
                <a:alpha val="42000"/>
              </a:srgbClr>
            </a:solidFill>
            <a:prstDash val="solid"/>
          </a:ln>
        </p:spPr>
      </p:sp>
      <p:sp>
        <p:nvSpPr>
          <p:cNvPr id="5" name="Shape 2">
            <a:extLst xmlns:a="http://schemas.openxmlformats.org/drawingml/2006/main">
              <a:ext uri="{FF2B5EF4-FFF2-40B4-BE49-F238E27FC236}">
                <a16:creationId xmlns:a16="http://schemas.microsoft.com/office/drawing/2014/main" id="{C7C924F0-B282-4773-B784-D9589D4C9986}"/>
              </a:ext>
            </a:extLst>
          </p:cNvPr>
          <p:cNvSpPr>
            <a:spLocks xmlns:a="http://schemas.openxmlformats.org/drawingml/2006/main" noGrp="1"/>
          </p:cNvSpPr>
          <p:nvPr/>
        </p:nvSpPr>
        <p:spPr>
          <a:xfrm xmlns:a="http://schemas.openxmlformats.org/drawingml/2006/main">
            <a:off x="5138928" y="1901952"/>
            <a:ext cx="1874520" cy="274320"/>
          </a:xfrm>
          <a:prstGeom xmlns:a="http://schemas.openxmlformats.org/drawingml/2006/main" prst="roundRect">
            <a:avLst>
              <a:gd name="adj" fmla="val 50000"/>
            </a:avLst>
          </a:prstGeom>
          <a:solidFill xmlns:a="http://schemas.openxmlformats.org/drawingml/2006/main">
            <a:srgbClr val="EAF9F4"/>
          </a:solidFill>
          <a:ln xmlns:a="http://schemas.openxmlformats.org/drawingml/2006/main" w="12700">
            <a:solidFill>
              <a:srgbClr val="EAF9F4"/>
            </a:solidFill>
            <a:prstDash val="solid"/>
          </a:ln>
        </p:spPr>
      </p:sp>
      <p:sp>
        <p:nvSpPr>
          <p:cNvPr id="6" name="Text 3">
            <a:extLst xmlns:a="http://schemas.openxmlformats.org/drawingml/2006/main">
              <a:ext uri="{FF2B5EF4-FFF2-40B4-BE49-F238E27FC236}">
                <a16:creationId xmlns:a16="http://schemas.microsoft.com/office/drawing/2014/main" id="{B03A075A-ED7A-4469-AD26-B0B818200E28}"/>
              </a:ext>
            </a:extLst>
          </p:cNvPr>
          <p:cNvSpPr>
            <a:spLocks xmlns:a="http://schemas.openxmlformats.org/drawingml/2006/main" noGrp="1"/>
          </p:cNvSpPr>
          <p:nvPr/>
        </p:nvSpPr>
        <p:spPr>
          <a:xfrm xmlns:a="http://schemas.openxmlformats.org/drawingml/2006/main">
            <a:off x="5212080" y="1952244"/>
            <a:ext cx="172821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C79A"/>
                </a:solidFill>
              </a:rPr>
              <a:t>ELITE FITNESS</a:t>
            </a:r>
            <a:endParaRPr sz="950"/>
          </a:p>
        </p:txBody>
      </p:sp>
      <p:sp>
        <p:nvSpPr>
          <p:cNvPr id="7" name="Text 4">
            <a:extLst xmlns:a="http://schemas.openxmlformats.org/drawingml/2006/main">
              <a:ext uri="{FF2B5EF4-FFF2-40B4-BE49-F238E27FC236}">
                <a16:creationId xmlns:a16="http://schemas.microsoft.com/office/drawing/2014/main" id="{4FF0E10C-6FF7-456B-A07C-ABBD3466F120}"/>
              </a:ext>
            </a:extLst>
          </p:cNvPr>
          <p:cNvSpPr>
            <a:spLocks xmlns:a="http://schemas.openxmlformats.org/drawingml/2006/main" noGrp="1"/>
          </p:cNvSpPr>
          <p:nvPr/>
        </p:nvSpPr>
        <p:spPr>
          <a:xfrm xmlns:a="http://schemas.openxmlformats.org/drawingml/2006/main">
            <a:off x="3520440" y="2578608"/>
            <a:ext cx="5148072"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400" b="1">
                <a:solidFill>
                  <a:srgbClr val="0B1F33"/>
                </a:solidFill>
              </a:rPr>
              <a:t>THANK YOU</a:t>
            </a:r>
            <a:endParaRPr sz="4400"/>
          </a:p>
        </p:txBody>
      </p:sp>
      <p:sp>
        <p:nvSpPr>
          <p:cNvPr id="8" name="Text 5">
            <a:extLst xmlns:a="http://schemas.openxmlformats.org/drawingml/2006/main">
              <a:ext uri="{FF2B5EF4-FFF2-40B4-BE49-F238E27FC236}">
                <a16:creationId xmlns:a16="http://schemas.microsoft.com/office/drawing/2014/main" id="{5D71CFCB-2EEE-4056-AF26-C2EC2FDBDF8A}"/>
              </a:ext>
            </a:extLst>
          </p:cNvPr>
          <p:cNvSpPr>
            <a:spLocks xmlns:a="http://schemas.openxmlformats.org/drawingml/2006/main" noGrp="1"/>
          </p:cNvSpPr>
          <p:nvPr/>
        </p:nvSpPr>
        <p:spPr>
          <a:xfrm xmlns:a="http://schemas.openxmlformats.org/drawingml/2006/main">
            <a:off x="3794760" y="3493008"/>
            <a:ext cx="4617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300" b="1">
                <a:solidFill>
                  <a:srgbClr val="1677FF"/>
                </a:solidFill>
              </a:rPr>
              <a:t>Questions?</a:t>
            </a:r>
            <a:endParaRPr sz="2300"/>
          </a:p>
        </p:txBody>
      </p:sp>
      <p:sp>
        <p:nvSpPr>
          <p:cNvPr id="9" name="Text 6">
            <a:extLst xmlns:a="http://schemas.openxmlformats.org/drawingml/2006/main">
              <a:ext uri="{FF2B5EF4-FFF2-40B4-BE49-F238E27FC236}">
                <a16:creationId xmlns:a16="http://schemas.microsoft.com/office/drawing/2014/main" id="{0924E66F-04C6-4AD6-8FED-6DB2F97144F3}"/>
              </a:ext>
            </a:extLst>
          </p:cNvPr>
          <p:cNvSpPr>
            <a:spLocks xmlns:a="http://schemas.openxmlformats.org/drawingml/2006/main" noGrp="1"/>
          </p:cNvSpPr>
          <p:nvPr/>
        </p:nvSpPr>
        <p:spPr>
          <a:xfrm xmlns:a="http://schemas.openxmlformats.org/drawingml/2006/main">
            <a:off x="3794760" y="4251960"/>
            <a:ext cx="46177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667085"/>
                </a:solidFill>
              </a:rPr>
              <a:t>Nour Fakih  •  Oliver Mattar</a:t>
            </a:r>
            <a:endParaRPr sz="1300"/>
          </a:p>
        </p:txBody>
      </p:sp>
    </p:spTree>
    <p:extLst>
      <p:ext uri="{BB962C8B-B14F-4D97-AF65-F5344CB8AC3E}">
        <p14:creationId xmlns:p14="http://schemas.microsoft.com/office/powerpoint/2010/main" val="16406620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2026-10-04T22:28:34.6190000Z</dcterms:created>
  <dcterms:modified xsi:type="dcterms:W3CDTF">2026-10-04T22:28:34.6200000Z</dcterms:modified>
</coreProperties>
</file>